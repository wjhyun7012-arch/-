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328" r:id="rId80"/>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19.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논문의 장 순서대로 하겠습니다. 1장 왜 이 연구인가, 2장 무엇을 바탕으로 하였는가, 3장 무엇을 만들었는가, 4장 적용하면 어떻게 되고 무엇을 고치는가, 5장 결론입니다.</a:t>
            </a:r>
          </a:p>
          <a:p>
            <a:r>
              <a:t>3장이 판정의 기준을 만드는 장이고, 4장은 그 기준을 바꾸지 않고 한 기업에 적용한 결과와 개선 과제를 다룹니다. 조항별 판정과 문항 전문은 부록에 두었습니다.</a:t>
            </a:r>
          </a:p>
          <a:p>
            <a:r>
              <a:t>〔15초. 숫자(16종·55문항·2.85·ML2·3.15)는 4번에서. 화면에서 뺀 세부 — Ⅰ(1장) 이 연구를 한 장으로 · 두 표준에서 서로 비어 있는 곳 · 「LCA를 했다」의 두 상태 · 연구 목적과 연구 문제 / Ⅱ(2장) ISO 14001과 전과정 관점 · LCA의 4단계 · 따른 표준 · 선행연구와 연구 공백 / Ⅲ(3장) LMA 세 계층 · 조항 매핑 · 연계 지점 · 16종 · 55문항과 채점 기준 · 판정 규칙과 핵심 문항 · 한 장 요약과 검증 · 반복 개발 / Ⅳ(4장) 평가를 한 그림으로 · 객관성의 확보 · 영역별 결과 · 종합 판정 ML2 · 결과 요약 / Ⅴ(4.6) 개선 과제 R1~R5 · 개선 로드맵과 재평가 · 장점과 단점, 한계 / 결론(5장) 연구 전체 한 장 요약〕</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논문은 다섯 장이고, 이 그림이 장 사이의 연결입니다.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57·58.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먼저 이 연구를 한 장으로 말씀드리겠습니다.</a:t>
            </a:r>
          </a:p>
          <a:p>
            <a:r>
              <a:rPr sz="1200">
                <a:latin typeface="맑은 고딕"/>
              </a:rP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rPr sz="1200">
                <a:latin typeface="맑은 고딕"/>
              </a:rP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rPr sz="1200">
                <a:latin typeface="맑은 고딕"/>
              </a:rPr>
              <a:t>두 표준은 별개의 표준이라 한쪽이 다른 쪽을 요구하지 않습니다. 그래서 실무에서는 별도로 운영되는 경우가 많습니다. LCA 보고서를 받아 놓고 경영시스템에서는 쓰지 않는 식입니다.</a:t>
            </a:r>
          </a:p>
          <a:p>
            <a:r>
              <a:rPr sz="1200">
                <a:latin typeface="맑은 고딕"/>
              </a:rP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rPr sz="1200">
                <a:latin typeface="맑은 고딕"/>
              </a:rPr>
              <a:t>배경으로는 제품 전과정의 환경정보를 요구하는 규제가 늘고 있다는 점이 있습니다.</a:t>
            </a:r>
          </a:p>
          <a:p>
            <a:r>
              <a:rPr sz="1200">
                <a:latin typeface="맑은 고딕"/>
              </a:rP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14001은 환경측면의 결정에서 전과정 관점을 고려하도록 요구하되 정량적 평가 방법을 정하지 않았고, 전과정평가(LCA) 표준인 ISO 14044는 계산 방법을 정하되 언제 다시 할지는 정하지 않았습니다. 두 표준은 서로 비어 있는 곳을 상대가 채울 수 있습니다.</a:t>
            </a:r>
          </a:p>
          <a:p>
            <a:r>
              <a:rPr sz="1200">
                <a:latin typeface="맑은 고딕"/>
              </a:rP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rPr sz="1200">
                <a:latin typeface="맑은 고딕"/>
              </a:rPr>
              <a:t>그런데 「LCA를 했다」는 말은 두 가지 상태를 가립니다. 다음 장에서 말씀드리겠습니다.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같은 「LCA를 했다」에도 두 상태가 있습니다.</a:t>
            </a:r>
          </a:p>
          <a:p>
            <a:r>
              <a:rPr sz="1200">
                <a:latin typeface="맑은 고딕"/>
              </a:rPr>
              <a:t>왼쪽 상태 A는 보고서를 한 번 받아 두고 끝내는 회사입니다. LCA 결과가 경영시스템의 결정에 쓰이지 않습니다.</a:t>
            </a:r>
          </a:p>
          <a:p>
            <a:r>
              <a:rPr sz="1200">
                <a:latin typeface="맑은 고딕"/>
              </a:rPr>
              <a:t>오른쪽 상태 B는 LCA 결과를 받아 중대한 환경측면을 정하고, 환경목표를 세우고, 다음 해에 다시 측정해 확인하는 회사입니다. LCA가 경영시스템을 돌리는 입력이 됩니다.</a:t>
            </a:r>
          </a:p>
          <a:p>
            <a:r>
              <a:rPr sz="1200">
                <a:latin typeface="맑은 고딕"/>
              </a:rPr>
              <a:t>본 연구가 말하는 연계는 상태 B입니다. 있다 없다가 아니라 정도의 문제이고, 그 정도를 판정하는 것이 성숙도 모델입니다.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만든 모델을 그림으로 말씀드리겠습니다.</a:t>
            </a:r>
          </a:p>
          <a:p>
            <a:r>
              <a:t>위는 두 표준입니다. ISO 14001의 조항 서른 개와 LCA의 요구사항을 하나하나 대응시켰습니다. 이것이 매핑입니다. 두 표준이 결합하는 곳이 연계 지점이고, 그 가운데 꼭 있어야 할 네 곳이 핵심 연계 지점입니다.</a:t>
            </a:r>
          </a:p>
          <a:p>
            <a:r>
              <a:t>아래가 만든 것 셋입니다. 첫째, 참조 모델은 평가할 업무 목록으로 열여섯 가지입니다. 둘째, 평가 모델은 채점표로 문항 쉰다섯 개와 점수 기준입니다. 셋째, 성숙도 모델은 점수를 여섯 수준으로 바꾸는 규칙이고, 핵심 문항 넷 가운데 하나라도 빠지면 ML2에서 멈춥니다.</a:t>
            </a:r>
          </a:p>
          <a:p>
            <a:r>
              <a:t>이 셋을 합쳐 연계 성숙도 평가 모델, 영문으로 Linkage Maturity Assessment, 줄여서 LMA라고 합니다.</a:t>
            </a:r>
          </a:p>
          <a:p>
            <a:r>
              <a:t>만든 뒤에는 두 방향으로 검증했습니다. 문항마다 어느 조항에서 왔는지 따라간 추적성 검증과, 국제표준 요건 24건을 자체점검한 표준 적합성 검증입니다.</a:t>
            </a:r>
          </a:p>
          <a:p>
            <a:r>
              <a:t>이제 하나씩 보겠습니다. 먼저 두 표준의 조항을 어떻게 대응시켰는지입니다.</a:t>
            </a:r>
          </a:p>
          <a:p>
            <a:r>
              <a:t>〔논문 [그림 3-2] 전체는 백업 B-7. 1분〕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ISO 14001의 모든 조항, 서른 개에 같은 네 가지 질문을 같은 순서로 물었습니다. 전과정 관점을 요구하거나 그 결과를 직접 쓰는가, LCA 없이는 의무를 다 지킬 수 없는가, LCA 결과가 주요 입력인가, 보조 정보라도 주는가입니다.</a:t>
            </a:r>
          </a:p>
          <a:p>
            <a:r>
              <a:rPr sz="1200">
                <a:latin typeface="맑은 고딕"/>
                <a:ea typeface="맑은 고딕"/>
              </a:rPr>
              <a:t>「예」가 앞쪽 물음에서 나올수록 연계 가능성이 높고, 네 등급으로 매겼습니다.</a:t>
            </a:r>
          </a:p>
          <a:p>
            <a:r>
              <a:rPr sz="1200">
                <a:latin typeface="맑은 고딕"/>
                <a:ea typeface="맑은 고딕"/>
              </a:rPr>
              <a:t>매우 높음이 네 개 조항입니다. 환경측면 6.1.2, 환경목표 6.2.1, 운용기획 및 관리 8.1, 모니터링 9.1.1입니다. 이 네 곳이 뒤의 핵심 문항 4종의 자리가 됩니다. 높음이 열둘, 중간이 열, 낮음이 넷입니다.</a:t>
            </a:r>
          </a:p>
          <a:p>
            <a:r>
              <a:rPr sz="1200">
                <a:latin typeface="맑은 고딕"/>
                <a:ea typeface="맑은 고딕"/>
              </a:rPr>
              <a:t>매핑의 결과가 연계 지점입니다. 두 표준이 결합하는 지점이고, 그 가운데 꼭 있어야 할 네 곳이 핵심 연계 지점으로 뒤의 핵심 문항 4종이 됩니다. 연계 지점을 업무 단위로 묶으면 연계 프로세스 열여섯 가지, 그 업무가 되어 있는지 묻는 것이 쉰다섯 문항입니다.
이 네 조항이 두 표준의 관리 주기 어디에서 만나는지, 다음 장에서 보겠습니다.</a:t>
            </a:r>
          </a:p>
          <a:p>
            <a:r>
              <a:rPr sz="1200">
                <a:latin typeface="맑은 고딕"/>
                <a:ea typeface="맑은 고딕"/>
              </a:rPr>
              <a:t>〔「전조항을 매핑했는데 핵심은 4개뿐인가」 → 매핑(30조항) → 55문항·16종 → 연계 성립 지점 4곳. 등급별 판정 요건 전문은 백업 B-1a, 흐름은 B-1. 1분 30초〕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왼쪽이 환경경영시스템(ISO 14001)의 관리 주기, 오른쪽이 전과정평가(LCA)의 4단계입니다. 선이 두 표준이 맞닿는 곳, 곧 연계 지점입니다.</a:t>
            </a:r>
          </a:p>
          <a:p>
            <a:r>
              <a:rPr sz="1200">
                <a:latin typeface="맑은 고딕"/>
              </a:rPr>
              <a:t>그 가운데 굵은 선 네 개가 핵심 연계 지점입니다. 오른쪽에 풀어 두었습니다.</a:t>
            </a:r>
          </a:p>
          <a:p>
            <a:r>
              <a:rPr sz="1200">
                <a:latin typeface="맑은 고딕"/>
              </a:rP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rPr sz="1200">
                <a:latin typeface="맑은 고딕"/>
              </a:rPr>
              <a:t>이 넷 가운데 하나가 끊기면 순환이 그 단계에서 멈춥니다. 그래서 이 넷이 뒤의 핵심 문항 4종이 됩니다.</a:t>
            </a:r>
          </a:p>
          <a:p>
            <a:r>
              <a:rPr sz="1200">
                <a:latin typeface="맑은 고딕"/>
              </a:rPr>
              <a:t>이 지점들을 업무 단위로 묶은 것이 다음 장의 참조 모델입니다.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연계의 전제를 세우는 업무입니다.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둘입니다. LCA 결과를 설계·개발로 되돌리는 설계·개발 환경 피드백과, 공급망을 포함한 목록분석 데이터를 운용 통제 아래에서 수집·갱신하는 전과정 목록분석 운영입니다.</a:t>
            </a:r>
          </a:p>
          <a:p>
            <a:r>
              <a:t>점검 영역은 전과정 성과 모니터링·측정, 정밀검토, 심사 및 준수평가 연계의 셋이고, 개선 영역은 경영검토 피드백, 지속적 개선 및 사이클 향상, 전과정 결과 보고 및 비교주장 관리의 셋입니다.</a:t>
            </a:r>
          </a:p>
          <a:p>
            <a:r>
              <a:t>업무 하나는 제목·목적·성과·활동의 네 칸으로 적었습니다. 예를 들어 전과정 환경측면 결정은 목적이 「LCIA 결과에 기초하여 전과정 관점의 환경측면과 그 중대성을 결정한다」이고, 성과는 「환경측면이 전과정 관점에서 LCIA에 기초하여 결정된다」입니다. 이 형식은 데이터 품질관리 표준 KS X ISO 8000-61을 따른 것입니다.</a:t>
            </a:r>
          </a:p>
          <a:p>
            <a:r>
              <a:t>빨간 점이 핵심 문항 4종이 들어 있는 자리입니다. 계획에 둘, 실행과 점검에 하나씩입니다.</a:t>
            </a:r>
          </a:p>
          <a:p>
            <a:r>
              <a:t>각 업무의 성과가 되어 있는지 묻는 것이 다음 장의 평가 문항 쉰다섯 개입니다.</a:t>
            </a:r>
          </a:p>
          <a:p>
            <a:r>
              <a:t>〔1분 20초. 16종 이름은 [표 3-4] 그대로, 코드는 읽지 않는다. 「왜 16종인가, 원형은 20종인데」 → 백업 65(B-Q3). 16종 전문은 [표 3-4](45쪽), 백업 40.〕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 모델은 채점표입니다. 문항은 쉰다섯 개이고, 계획 30, 실행 6, 점검 10, 개선 9입니다.</a:t>
            </a:r>
          </a:p>
          <a:p>
            <a:r>
              <a:rPr sz="1200">
                <a:latin typeface="맑은 고딕"/>
              </a:rPr>
              <a:t>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rPr sz="1200">
                <a:latin typeface="맑은 고딕"/>
              </a:rPr>
              <a:t>그래서 점수는 평가자의 재량이 아니라 체크포인트 충족 개수로 정해집니다. 평가자가 달라도 같은 문서면 같은 점수가 나오게 한 것입니다.</a:t>
            </a:r>
          </a:p>
          <a:p>
            <a:r>
              <a:rPr sz="1200">
                <a:latin typeface="맑은 고딕"/>
              </a:rPr>
              <a:t>예를 하나 들면 D-1, 설계·개발 단계의 LCA 결과 반영 문항입니다. A사는 필수 세 개 가운데 두 개만 있어 2점이었고, 이 문항이 4장에서 판정을 정하였습니다.</a:t>
            </a:r>
          </a:p>
          <a:p>
            <a:r>
              <a:rPr sz="1200">
                <a:latin typeface="맑은 고딕"/>
              </a:rPr>
              <a:t>점수를 성숙도 수준으로 바꾸는 규칙이 다음 장의 성숙도 모델입니다.</a:t>
            </a:r>
          </a:p>
          <a:p>
            <a:r>
              <a:rPr sz="1200">
                <a:latin typeface="맑은 고딕"/>
              </a:rPr>
              <a:t>〔점수별 기준 전문(BARS 앵커)은 백업 B-10a, 부록 C.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성숙도 모델은 점수를 수준으로 바꾸는 규칙입니다. 수준은 ML0에서 ML5까지 여섯이고, 계단처럼 아래 조건을 모두 갖추어야 위로 올라갑니다.</a:t>
            </a:r>
          </a:p>
          <a:p>
            <a:r>
              <a:rPr sz="1200">
                <a:latin typeface="맑은 고딕"/>
              </a:rPr>
              <a:t>ML1은 핵심 문항 네 가지가 모두 2점 이상, ML2는 거기에 나머지 쉰한 문항 가운데 절반 이상이 3점, ML3은 핵심 문항 네 가지가 모두 3점 이상입니다. ML4와 ML5는 점검과 개선 영역까지 갖추어야 합니다.</a:t>
            </a:r>
          </a:p>
          <a:p>
            <a:r>
              <a:rPr sz="1200">
                <a:latin typeface="맑은 고딕"/>
              </a:rPr>
              <a:t>조건의 어느 항에도 평균은 쓰이지 않습니다. 연계가 아예 끊긴 것과 연계가 얕은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rPr sz="1200">
                <a:latin typeface="맑은 고딕"/>
              </a:rPr>
              <a:t>오른쪽이 핵심 문항 네 가지입니다. 환경측면 결정, 환경목표, 설계·개발, 성과 모니터링입니다. 핵심 문항 하나라도 3점 미만이면 평균이 높아도 ML2에서 멈춥니다. A사가 바로 그 자리입니다.</a:t>
            </a:r>
          </a:p>
          <a:p>
            <a:r>
              <a:rPr sz="1200">
                <a:latin typeface="맑은 고딕"/>
              </a:rPr>
              <a:t>만든 도구가 요건을 갖추었는지 한 장으로 정리하겠습니다.</a:t>
            </a:r>
          </a:p>
          <a:p>
            <a:r>
              <a:rPr sz="1200">
                <a:latin typeface="맑은 고딕"/>
              </a:rPr>
              <a:t>〔진입 조건·설계 근거 표 전문은 백업 B-11a, 수준별 기준은 B-11. 비교주장 조건부 shall(C-7·A-9)은 3.4.3 — 백업 B-Q5. 말로 풀 때만 비유 — 건강검진의 필수 검사(논문에 없음).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4장은 이 모델을 한 회사에 적용한 결과입니다. 평가가 어떻게 흘러갔는지 그림으로 먼저 보겠습니다.</a:t>
            </a:r>
          </a:p>
          <a:p>
            <a:r>
              <a:rPr sz="1200">
                <a:latin typeface="맑은 고딕"/>
              </a:rPr>
              <a:t>첫째, 문서를 받았습니다. 제조기업 A사의 환경경영시스템(ISO 14001)과 2025년 제품 전과정평가(LCA)에 관한 문서 열여섯 종, 서른세 건입니다. 매뉴얼, 절차서, 기록, 보고서입니다.</a:t>
            </a:r>
          </a:p>
          <a:p>
            <a:r>
              <a:rPr sz="1200">
                <a:latin typeface="맑은 고딕"/>
              </a:rPr>
              <a:t>둘째, 채점입니다. 쉰다섯 문항마다 확인 항목이 있는지 보고 채점하였습니다. 잠정 종합점수는 2.89였습니다.</a:t>
            </a:r>
          </a:p>
          <a:p>
            <a:r>
              <a:rPr sz="1200">
                <a:latin typeface="맑은 고딕"/>
              </a:rPr>
              <a:t>셋째, 다시 확인입니다. 잠정 점수를 증빙 문서로 하나씩 대조하였습니다. 올라간 것 일곱, 내려간 것 아홉으로 확정 종합점수는 2.85입니다.</a:t>
            </a:r>
          </a:p>
          <a:p>
            <a:r>
              <a:rPr sz="1200">
                <a:latin typeface="맑은 고딕"/>
              </a:rPr>
              <a:t>넷째, 판정입니다. 핵심 문항 네 가지를 확인하니 D-1이 2점이었고, 판정은 ML2, 관리화입니다.</a:t>
            </a:r>
          </a:p>
          <a:p>
            <a:r>
              <a:rPr sz="1200">
                <a:latin typeface="맑은 고딕"/>
              </a:rPr>
              <a:t>다섯째, 개선입니다. 낮은 점수의 원인 세 가지에서 개선 과제 다섯 건을 도출하였고, 모두 마치면 3.15, ML3이 전망됩니다.</a:t>
            </a:r>
          </a:p>
          <a:p>
            <a:r>
              <a:rPr sz="1200">
                <a:latin typeface="맑은 고딕"/>
              </a:rPr>
              <a:t>평가는 문서 심사만으로, 평가자 한 명이, 2026년 6월과 7월에 했습니다. 회사에 공식 등급을 주는 평가가 아니라, 모델의 판정 논리가 실제 자료에서 작동하는지 확인하는 연구 목적의 시범 적용입니다.</a:t>
            </a:r>
          </a:p>
          <a:p>
            <a:r>
              <a:rPr sz="1200">
                <a:latin typeface="맑은 고딕"/>
              </a:rPr>
              <a:t>평가자가 한 사람이므로 객관성을 어떻게 확보하였는지 먼저 말씀드리겠습니다.</a:t>
            </a:r>
          </a:p>
          <a:p>
            <a:r>
              <a:rPr sz="1200">
                <a:latin typeface="맑은 고딕"/>
              </a:rPr>
              <a:t>〔ISO/IEC 33002 평가 클래스 3 상당(4.2.3). 「회사가 쓰겠다던가」 → 백업 B-Q9.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핵심 문항 4종 중 P-9는 4점, P-14와 C-1은 3점으로 shall 충족 기준 이상으로 통과하였으나, D-1이 2점으로 미달하였습니다.</a:t>
            </a:r>
          </a:p>
          <a:p>
            <a:r>
              <a:rPr sz="1200">
                <a:latin typeface="맑은 고딕"/>
                <a:ea typeface="맑은 고딕"/>
              </a:rPr>
              <a:t>판정 경로는 아래 조건부터 차례로 묻습니다. ML1 진입 조건, 핵심 문항 4종이 모두 2점 이상이어서 통과입니다. ML2 진입 조건, 나머지 쉰한 문항 가운데 절반 이상이 3점이어서 통과입니다. 서른여섯, 70.6%입니다. ML3 진입 조건, 핵심 문항 4종이 모두 3점 이상이어야 하는데 D-1이 2점이라 미충족입니다. 그래서 판정은 ML2, 관리화입니다.</a:t>
            </a:r>
          </a:p>
          <a:p>
            <a:r>
              <a:rPr sz="1200">
                <a:latin typeface="맑은 고딕"/>
                <a:ea typeface="맑은 고딕"/>
              </a:rPr>
              <a:t>종합점수 2.85는 판정에 쓰지 않는 보조값입니다. 과반 기준을 50%에서 70%로 올려도, 핵심 문항의 기준을 4점이나 5점으로 올려도 이 판정은 변하지 않습니다.</a:t>
            </a:r>
          </a:p>
          <a:p>
            <a:r>
              <a:rPr sz="1200">
                <a:latin typeface="맑은 고딕"/>
                <a:ea typeface="맑은 고딕"/>
              </a:rPr>
              <a:t>판정은 점수의 크기가 아니라 핵심 문항의 충족 여부로 정해집니다. 그러면 낮은 점수는 어디에서 왔는지, 다음 장에서 보겠습니다.</a:t>
            </a:r>
          </a:p>
          <a:p>
            <a:r>
              <a:rPr sz="1200">
                <a:latin typeface="맑은 고딕"/>
                <a:ea typeface="맑은 고딕"/>
              </a:rPr>
              <a:t>〔「너무 가혹하지 않은가」 → 백업 B-Q1. 영역별 그래프는 백업 B-13a.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결과를 한 장으로 모았습니다. 가운데 2.85가 종합점수이고, 네 칸이 계획·실행·점검·개선입니다.</a:t>
            </a:r>
          </a:p>
          <a:p>
            <a:r>
              <a:rPr sz="1200">
                <a:latin typeface="맑은 고딕"/>
              </a:rPr>
              <a:t>왼쪽 초록 상자가 강점입니다. LCA가 문서 체계에 들어와 있습니다. 오른쪽 빨간 상자가 미비 사항 3건입니다. 설계·개발 절차에 환경 고려 단계가 없고, 정밀검토 체계가 없고, LCA를 다시 할 때가 아직 오지 않았습니다.</a:t>
            </a:r>
          </a:p>
          <a:p>
            <a:r>
              <a:rPr sz="1200">
                <a:latin typeface="맑은 고딕"/>
              </a:rPr>
              <a:t>낮은 점수는 이 세 가지로 모입니다. 역량의 문제가 아니라 절차를 공식화하고 주기가 오는 문제입니다.</a:t>
            </a:r>
          </a:p>
          <a:p>
            <a:r>
              <a:rPr sz="1200">
                <a:latin typeface="맑은 고딕"/>
              </a:rPr>
              <a:t>아래 띠가 판정 경로입니다. ML1, ML2는 통과하고 ML3에서 D-1 하나에 걸려 ML2입니다. 이 세 가지 미비가 그대로 개선 과제가 됩니다.</a:t>
            </a:r>
          </a:p>
          <a:p>
            <a:r>
              <a:rPr sz="1200">
                <a:latin typeface="맑은 고딕"/>
              </a:rPr>
              <a:t>〔2.85 → ML2 → R1~R5 → 3.15 → ML3.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미비 사항 3건에 대응하는 개선 과제 5건을 도출하였습니다. 과제마다 무엇을, 어느 부서가, 언제 할지와 대상 문항, 점수 효과를 적었습니다.</a:t>
            </a:r>
          </a:p>
          <a:p>
            <a:r>
              <a:rPr sz="1200">
                <a:latin typeface="맑은 고딕"/>
              </a:rPr>
              <a:t>개선 과제의 목표 상태는 평가 문항의 판정 기준과 같은 문구여서, 차기 평가에서 조치 완료 여부를 그대로 판정할 수 있습니다.</a:t>
            </a:r>
          </a:p>
          <a:p>
            <a:r>
              <a:rPr sz="1200">
                <a:latin typeface="맑은 고딕"/>
              </a:rPr>
              <a:t>진단이 채점에서 끝나지 않고 실행 계획으로 이어지는 것입니다. 과제를 추진 시기로 배치한 것이 개선 로드맵입니다.</a:t>
            </a:r>
          </a:p>
          <a:p>
            <a:r>
              <a:rPr sz="1200">
                <a:latin typeface="맑은 고딕"/>
              </a:rPr>
              <a:t>〔과제별 1매 카드는 백업 B-14. 1분 20초〕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여섯, 한계 셋입니다.</a:t>
            </a:r>
          </a:p>
          <a:p>
            <a:r>
              <a:t>장점입니다. 문항마다 근거 조항을 따라갈 수 있습니다. 판정 기준을 미리 적어 두어 같은 증거면 같은 점수가 나옵니다. 종합점수에 묻히는 미비를 판정에 드러냅니다. 고칠 목표가 다음 평가 기준과 같은 말이라 평가가 개선과 재평가로 이어집니다. 판정 구조와 평가 방법을 국제표준에서 가져왔습니다. ML3까지는 체계를 갖추는 단계, ML4부터는 숫자로 확인하는 단계로 수준의 뜻을 나누었습니다.</a:t>
            </a:r>
          </a:p>
          <a:p>
            <a:r>
              <a:t>단점입니다. 판정이 핵심 문항 4종에 좌우되는데 그 넷의 선택은 전문가 검토 전입니다. 과반 50% 같은 판정 기준값은 연구자가 정한 값입니다. 55문항을 문서로 확인해야 하고 평가자가 두 분야를 다 알아야 합니다. LCA를 하지 않는 회사는 점수 차이가 잘 나지 않습니다. 미비 하나가 여러 문항 점수에 함께 영향을 주고, 문서 심사라 형식적 이행은 가려내기 어렵습니다. 성숙도 수준과 실제 환경성과의 관계는 검증하지 않았습니다.</a:t>
            </a:r>
          </a:p>
          <a:p>
            <a:r>
              <a:t>한계는 셋입니다. 한 회사, 한 시점, 평가자 한 명입니다. 전문가 타당도 조사는 아직 하지 않았습니다. 가장 높은 두 수준은 사례로 확인하지 못했습니다. 이 셋이 그대로 향후 연구 과제입니다.</a:t>
            </a:r>
          </a:p>
          <a:p>
            <a:r>
              <a:t>끝으로 오늘 말씀드린 것을 한 장으로 정리하겠습니다.</a:t>
            </a:r>
          </a:p>
          <a:p>
            <a:r>
              <a:t>〔1분 30초. 화면 글은 쉬운 말판, 항목 이름은 [표 5-1] 그대로. 장점·단점 전문은 백업 54·55, 한계 여덟 항목은 백업 61.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〔질의응답. 백업은 이때 쓴다 — 30번 구분 슬라이드 뒤 B-1~B-17 그림·표, B-0 장별 요약, B-Q1~B-Q13 예상 질문. 전문은 예상 질문 v7(48문).〕</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600" b="1" i="0" a:lang="ko-KR">
                <a:solidFill>
                  <a:srgbClr val="1F3864"/>
                </a:solidFill>
                <a:latin typeface="맑은 고딕"/>
                <a:ea typeface="맑은 고딕"/>
              </a:rPr>
              <a:t>환경경영시스템(ISO 14001)과</a:t>
            </a:r>
          </a:p>
          <a:p>
            <a:pPr>
              <a:spcAft>
                <a:spcPts val="400"/>
              </a:spcAft>
            </a:pPr>
            <a:r>
              <a:rPr sz="2600" b="1" i="0" a:lang="ko-KR">
                <a:solidFill>
                  <a:srgbClr val="1F3864"/>
                </a:solidFill>
                <a:latin typeface="맑은 고딕"/>
                <a:ea typeface="맑은 고딕"/>
              </a:rPr>
              <a:t>전과정평가(LCA)의 프로세스</a:t>
            </a:r>
          </a:p>
          <a:p>
            <a:pPr>
              <a:spcAft>
                <a:spcPts val="400"/>
              </a:spcAft>
            </a:pPr>
            <a:r>
              <a:rPr sz="2600" b="1" i="0" a:lang="ko-KR">
                <a:solidFill>
                  <a:srgbClr val="1F3864"/>
                </a:solidFill>
                <a:latin typeface="맑은 고딕"/>
                <a:ea typeface="맑은 고딕"/>
              </a:rPr>
              <a:t>연계 모델 개발 및 성숙도 평가</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
        <p:nvSpPr>
          <p:cNvPr id="22" name="Rounded Rectangle 21"/>
          <p:cNvSpPr/>
          <p:nvPr/>
        </p:nvSpPr>
        <p:spPr>
          <a:xfrm>
            <a:off x="497190" y="5968000"/>
            <a:ext cx="9695214"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0" i="0" a:lang="ko-KR">
                <a:solidFill>
                  <a:srgbClr val="111111"/>
                </a:solidFill>
                <a:latin typeface="맑은 고딕"/>
                <a:ea typeface="맑은 고딕"/>
              </a:rPr>
              <a:t>오늘은 모델의 뼈대와 적용 결과를 중심으로 말씀드리고, 조항별 판정과 문항 전문은 부록에 두었습니다.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2.3, [표 2-3], 2.2.1</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「LCA를 했다」가 뜻하는 두 상태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모델(LMA)을 한 그림으로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조항을 대조하여 업무 목록</a:t>
            </a:r>
            <a:r>
              <a:rPr sz="1600" b="1" i="0" a:lang="ko-KR">
                <a:solidFill>
                  <a:srgbClr val="1F3864"/>
                </a:solidFill>
                <a:latin typeface="맑은 고딕"/>
                <a:ea typeface="맑은 고딕"/>
              </a:rPr>
              <a:t> → 채점표 → 수준 규칙의 순서로 만들었다.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200" b="0">
                <a:solidFill>
                  <a:srgbClr val="111111"/>
                </a:solidFill>
                <a:latin typeface="맑은 고딕"/>
                <a:ea typeface="맑은 고딕"/>
              </a:rPr>
              <a:t>조항 30개 (4~10절)</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200" b="0">
                <a:solidFill>
                  <a:srgbClr val="111111"/>
                </a:solidFill>
                <a:latin typeface="맑은 고딕"/>
                <a:ea typeface="맑은 고딕"/>
              </a:rPr>
              <a:t>요구사항 (shall·should)</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매핑 — 조항을 하나하나 대응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맞닿는 곳 = 연계 지점 · 그 가운데 필수인 네 곳 = 핵심 연계 지점</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업무마다 「되어 있는가」를 묻고,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같은 물음을 물어 연계 가능성을 네 등급으로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707992"/>
            <a:ext cx="9697620" cy="54864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ISO 14001 30개 조항(7.4.1~7.4.3은 7.4로 통합)을 전부 판정 — 55문항 중 44는 ISO 14001 조항에, 11은 ISO 14044 고유 요건에 대응. 조항별 판정 전문은 백업 B-1(흐름)·B-1a(등급표)·부록 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지점 — 두 관리 주기가 만나는 곳</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평가 모델 — 55문항과 채점 기준</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 — 판정 규칙과 핵심 문항</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19</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심사(면담·현장 관찰 없음),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종합 판정 — ML2 (관리화)</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결과 요약 — 낮은 점수는 세 가지 원인으로 모인다</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장점과 단점, 그리고 한계</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여섯, 한계 셋 — 한계는 그대로 향후 연구 과제다.</a:t>
            </a:r>
            <a:r>
              <a:rPr sz="1600" b="1" i="0" a:lang="ko-KR">
                <a:solidFill>
                  <a:srgbClr val="1F3864"/>
                </a:solidFill>
                <a:latin typeface="맑은 고딕"/>
                <a:ea typeface="맑은 고딕"/>
              </a:rPr>
              <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단점</a:t>
            </a:r>
          </a:p>
          <a:p>
            <a:pPr algn="l">
              <a:spcAft>
                <a:spcPts val="300"/>
              </a:spcAft>
            </a:pPr>
            <a:r>
              <a:rPr sz="1400" b="0">
                <a:solidFill>
                  <a:srgbClr val="111111"/>
                </a:solidFill>
                <a:latin typeface="맑은 고딕"/>
                <a:ea typeface="맑은 고딕"/>
              </a:rPr>
              <a:t>· 핵심 문항 4종에 대한 의존 — 네 문항의 선택은 전문가 검토 전</a:t>
            </a:r>
          </a:p>
          <a:p>
            <a:pPr algn="l">
              <a:spcAft>
                <a:spcPts val="300"/>
              </a:spcAft>
            </a:pPr>
            <a:r>
              <a:rPr sz="1400" b="0">
                <a:solidFill>
                  <a:srgbClr val="111111"/>
                </a:solidFill>
                <a:latin typeface="맑은 고딕"/>
                <a:ea typeface="맑은 고딕"/>
              </a:rPr>
              <a:t>· 판정 파라미터 — 과반 50% 등은 연구자가 정한 값</a:t>
            </a:r>
          </a:p>
          <a:p>
            <a:pPr algn="l">
              <a:spcAft>
                <a:spcPts val="300"/>
              </a:spcAft>
            </a:pPr>
            <a:r>
              <a:rPr sz="1400" b="0">
                <a:solidFill>
                  <a:srgbClr val="111111"/>
                </a:solidFill>
                <a:latin typeface="맑은 고딕"/>
                <a:ea typeface="맑은 고딕"/>
              </a:rPr>
              <a:t>· 평가의 부담 — 55문항 문서 확인, 두 분야를 다 알아야</a:t>
            </a:r>
          </a:p>
          <a:p>
            <a:pPr algn="l">
              <a:spcAft>
                <a:spcPts val="300"/>
              </a:spcAft>
            </a:pPr>
            <a:r>
              <a:rPr sz="1400" b="0">
                <a:solidFill>
                  <a:srgbClr val="111111"/>
                </a:solidFill>
                <a:latin typeface="맑은 고딕"/>
                <a:ea typeface="맑은 고딕"/>
              </a:rPr>
              <a:t>· 적용 대상의 제약 — LCA를 안 하는 회사는 차이가 안 난다</a:t>
            </a:r>
          </a:p>
          <a:p>
            <a:pPr algn="l">
              <a:spcAft>
                <a:spcPts val="300"/>
              </a:spcAft>
            </a:pPr>
            <a:r>
              <a:rPr sz="1400" b="0">
                <a:solidFill>
                  <a:srgbClr val="111111"/>
                </a:solidFill>
                <a:latin typeface="맑은 고딕"/>
                <a:ea typeface="맑은 고딕"/>
              </a:rPr>
              <a:t>· 문항 간 종속 · 문서 심사 방식 — 미비 하나가 여러 점수에, 형식적 이행은 못 가림</a:t>
            </a:r>
          </a:p>
          <a:p>
            <a:pPr algn="l">
              <a:spcAft>
                <a:spcPts val="300"/>
              </a:spcAft>
            </a:pPr>
            <a:r>
              <a:rPr sz="1400" b="0">
                <a:solidFill>
                  <a:srgbClr val="111111"/>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B-1~B-16 그림·표(B-1a 등급표 · B-10a 채점 기준 표 · B-11a 진입 조건 표 · B-13a 영역별 그래프 포함) · B-0 장별 요약(1·2장 한 장 요약, 5장 그림 세 장) · B-Q1~B-Q12 예상 질문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