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Lst>
  <p:sldSz cx="10692000" cy="7560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a:latin typeface="맑은 고딕"/>
              </a:rPr>
              <a:t>55문항 점수 분포</a:t>
            </a:r>
          </a:p>
        </c:rich>
      </c:tx>
      <c:layout/>
      <c:overlay val="0"/>
    </c:title>
    <c:autoTitleDeleted val="0"/>
    <c:plotArea>
      <c:barChart>
        <c:barDir val="col"/>
        <c:grouping val="clustered"/>
        <c:ser>
          <c:idx val="0"/>
          <c:order val="0"/>
          <c:tx>
            <c:strRef>
              <c:f>Sheet1!$B$1</c:f>
              <c:strCache>
                <c:ptCount val="1"/>
                <c:pt idx="0">
                  <c:v>문항 수</c:v>
                </c:pt>
              </c:strCache>
            </c:strRef>
          </c:tx>
          <c:spPr>
            <a:solidFill>
              <a:srgbClr val="1F3864"/>
            </a:solidFill>
          </c:spPr>
          <c:cat>
            <c:strRef>
              <c:f>Sheet1!$A$2:$A$6</c:f>
              <c:strCache>
                <c:ptCount val="5"/>
                <c:pt idx="0">
                  <c:v>1점</c:v>
                </c:pt>
                <c:pt idx="1">
                  <c:v>2점</c:v>
                </c:pt>
                <c:pt idx="2">
                  <c:v>3점</c:v>
                </c:pt>
                <c:pt idx="3">
                  <c:v>4점</c:v>
                </c:pt>
                <c:pt idx="4">
                  <c:v>5점</c:v>
                </c:pt>
              </c:strCache>
            </c:strRef>
          </c:cat>
          <c:val>
            <c:numRef>
              <c:f>Sheet1!$B$2:$B$6</c:f>
              <c:numCache>
                <c:formatCode>General</c:formatCode>
                <c:ptCount val="5"/>
                <c:pt idx="0">
                  <c:v>5</c:v>
                </c:pt>
                <c:pt idx="1">
                  <c:v>11</c:v>
                </c:pt>
                <c:pt idx="2">
                  <c:v>26</c:v>
                </c:pt>
                <c:pt idx="3">
                  <c:v>13</c:v>
                </c:pt>
                <c:pt idx="4">
                  <c:v>0</c:v>
                </c:pt>
              </c:numCache>
            </c:numRef>
          </c:val>
        </c:ser>
        <c:dLbls>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안녕하십니까. 산업경영공학과 현욱진입니다. 「환경경영시스템(ISO 14001)과 전과정평가(LCA)의 프로세스 연계 모델 개발 및 성숙도 평가」를 발표하겠습니다.</a:t>
            </a:r>
          </a:p>
          <a:p>
            <a:r>
              <a:rPr sz="1200">
                <a:latin typeface="맑은 고딕"/>
              </a:rPr>
              <a:t>한 문장으로 먼저 말씀드리면, 두 국제표준이 서로를 전제하지 않는 탓에 현장에서 따로 운영되는 것을, 조항 단위로 연계를 확인하고 성숙도 수준으로 판정하는 모델로 다룬 연구입니다.</a:t>
            </a:r>
          </a:p>
          <a:p>
            <a:r>
              <a:rPr sz="1200">
                <a:latin typeface="맑은 고딕"/>
              </a:rPr>
              <a:t>〔제목을 읽어 내리지 않는다. 20초〕</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발표는 다섯 부와 맺음으로 구성하였습니다. 왜 이 연구인가, 무엇을 바탕으로 하였는가, 무엇을 만들었는가, 적용하면 어떻게 되는가, 무엇을 고치는가입니다.</a:t>
            </a:r>
          </a:p>
          <a:p>
            <a:r>
              <a:rPr sz="1200">
                <a:latin typeface="맑은 고딕"/>
              </a:rPr>
              <a:t>3부가 판정의 기준을 만드는 장이고, 4부는 그 기준을 바꾸지 않고 한 기업에 적용한 결과만 다루는 장입니다.</a:t>
            </a:r>
          </a:p>
          <a:p>
            <a:r>
              <a:rPr sz="1200">
                <a:latin typeface="맑은 고딕"/>
              </a:rPr>
              <a:t>만든 것은 연계 프로세스 16종, 평가 문항 55개, 핵심 문항 4종, 성숙도 수준 ML0부터 ML5까지이고, 적용해 본 결과는 종합점수 2.85, 판정 ML2, 개선 과제를 마치면 3.15와 ML3 전망입니다.</a:t>
            </a:r>
          </a:p>
          <a:p>
            <a:r>
              <a:rPr sz="1200">
                <a:latin typeface="맑은 고딕"/>
              </a:rPr>
              <a:t>오늘은 모델의 뼈대와 적용 결과를 중심으로 말씀드리고, 조항별 판정과 문항 전문은 부록에 두었습니다.</a:t>
            </a:r>
          </a:p>
          <a:p>
            <a:r>
              <a:rPr sz="1200">
                <a:latin typeface="맑은 고딕"/>
              </a:rPr>
              <a:t>〔40초. 화면에서 뺀 세부 — Ⅰ 왜 지금인가 · 두 표준이 서로 비워 둔 곳 · 「LCA를 했다」의 두 상태 · 연구 문제 / Ⅱ ISO 14001의 전과정 관점 · LCA의 4단계 · 따른 표준 · 선행연구와 연구 공백 / Ⅲ LMA 3계층 · 조항 매핑 · 연계 지점 · 16종 · 55문항 · 판정 규칙 · 검증 / Ⅳ 적용 개요 · 객관성의 확보 · 영역별 결과 · 종합 판정 ML2 · 결과 요약 / Ⅴ 개선 과제 R1~R5 · 개선 로드맵과 재평가 · 장점과 단점, 한계 / 맺음 연구 전체 한 장 요약〕</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논문은 전체 5개 장과 부록으로 구성됩니다.</a:t>
            </a:r>
          </a:p>
          <a:p>
            <a:r>
              <a:rPr sz="1200">
                <a:latin typeface="맑은 고딕"/>
              </a:rPr>
              <a:t>제1장 서론입니다. 규제는 제품 전과정의 정량 환경정보를 요구합니다. 기업은 ISO 14001과 LCA를 함께 운영해야 하는데, 실무에서는 두 체계가 별도로 운영되는 경우가 많습니다. 그래서 연계 수준을 측정하는 기준이 없다는 것이 문제입니다.</a:t>
            </a:r>
          </a:p>
          <a:p>
            <a:r>
              <a:rPr sz="1200">
                <a:latin typeface="맑은 고딕"/>
              </a:rPr>
              <a:t>제2장 이론적 배경입니다. 연계 대상인 두 표준은 한쪽은 방법이 없고 다른 쪽은 주기가 없습니다. 판정 체계의 표준은 ISO/IEC 33000 계열과 KS X ISO 8000-61·62이고, 여기서 참조·평가·성숙도의 3계층 구조를 가져왔습니다. 선행연구를 검토하여 두 표준의 연계 수준을 측정한 연구를 찾아보기 어려움을 확인하였습니다.</a:t>
            </a:r>
          </a:p>
          <a:p>
            <a:r>
              <a:rPr sz="1200">
                <a:latin typeface="맑은 고딕"/>
              </a:rPr>
              <a:t>제3장 모델 개발입니다. 두 표준의 조항을 매핑하여 연계 프로세스 16종의 참조 모델을 만들고, 55개 평가 문항의 평가 모델과 성숙도 수준 ML0~ML5의 판정 규칙을 정하는 성숙도 모델을 차례로 개발하였습니다. 연계 성립의 네 지점 가운데 하나라도 빠지면 평균이 높아도 ML3 이상으로 가지 못하며, 모델의 타당성은 두 방향으로 검증하였습니다.</a:t>
            </a:r>
          </a:p>
          <a:p>
            <a:r>
              <a:rPr sz="1200">
                <a:latin typeface="맑은 고딕"/>
              </a:rPr>
              <a:t>제4장 사례 연구입니다. 제조기업 A사에 시범 적용하여 증빙 문서 심사로 55문항을 판정하였습니다. 종합점수는 2.85이지만 핵심 문항 D-1 하나가 미달하여 ML2(관리화)입니다. 종합점수는 판정에 쓰지 않는 보조값이며, 판정 규칙이 예상대로 작동한 것입니다. 낮은 점수의 원인은 미비 사항 3건으로 모아지고, 개선 과제 R1~R5와 로드맵으로 이어져 완수 시 ML3가 전망됩니다. 제4장은 제3장의 기준을 바꾸지 않고 그대로 적용한 결과만을 말합니다.</a:t>
            </a:r>
          </a:p>
          <a:p>
            <a:r>
              <a:rPr sz="1200">
                <a:latin typeface="맑은 고딕"/>
              </a:rPr>
              <a:t>제5장 결론입니다. 네 가지 연구 문제의 답을 정리하고 연구의 의의와 한계, 향후 연구 과제를 제시합니다.</a:t>
            </a:r>
          </a:p>
          <a:p>
            <a:r>
              <a:rPr sz="1200">
                <a:latin typeface="맑은 고딕"/>
              </a:rPr>
              <a:t>맨 아래 한 줄이 논문 전체입니다. 연계, 모델링, 평가, 지속적 개선, 환경영향 저감입니다. 이 모델로 조직을 평가하여, 그 결과를 환경경영시스템(ISO 14001)의 지속적 개선으로 연결함으로써 전과정의 환경영향을 줄이는 데 기여하고자 합니다.</a:t>
            </a:r>
          </a:p>
          <a:p>
            <a:r>
              <a:rPr sz="1200">
                <a:latin typeface="맑은 고딕"/>
              </a:rPr>
              <a:t>〔1분 30초〕</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탄소국경조정제도(CBAM)와 ESG 공시처럼 제품의 전과정 환경정보를 요구하는 규제가 늘면서, 기업은 환경경영시스템(ISO 14001)과 전과정평가(LCA)를 함께 운영해야 하는 상황에 놓였습니다. 그러나 실무에서는 두 체계가 별도로 운영되는 경우가 많습니다.</a:t>
            </a:r>
          </a:p>
          <a:p>
            <a:r>
              <a:rPr sz="1200">
                <a:latin typeface="맑은 고딕"/>
              </a:rPr>
              <a:t>환경경영시스템(ISO 14001)은 전과정 관점을 고려하도록 요구하면서도 그 구체적 방법은 정하지 않았고, 전과정평가(LCA)의 방법은 별개 표준인 ISO 14044에 규정되어 있습니다.</a:t>
            </a:r>
          </a:p>
          <a:p>
            <a:r>
              <a:rPr sz="1200">
                <a:latin typeface="맑은 고딕"/>
              </a:rPr>
              <a:t>두 표준을 연계하는 프로세스나 그 연계 수준을 측정하는 기준은 찾아보기 어렵습니다.</a:t>
            </a:r>
          </a:p>
          <a:p>
            <a:r>
              <a:rPr sz="1200">
                <a:latin typeface="맑은 고딕"/>
              </a:rPr>
              <a:t>〔초록 [1] 문장 그대로. 마지막 줄만 힘을 준다. 「ISO 14001은 많이 쓰이나」가 나오면 — 국내 유효 인증 28,137건, 세계 676,232건(ISO Survey 2024), 2.1.1. 1분 10초〕</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ISO 14001은 환경측면의 결정에서 전과정 관점을 고려하도록 요구하되 정량적 평가 방법을 정하지 않았고, ISO 14044는 정량적 평가 방법을 규정하되 그 평가를 되풀이하는 관리 주기를 정하지 않았습니다. 두 표준은 서로의 빈 곳을 채울 수 있는 것을 갖고 있습니다.</a:t>
            </a:r>
          </a:p>
          <a:p>
            <a:r>
              <a:rPr sz="1200">
                <a:latin typeface="맑은 고딕"/>
              </a:rPr>
              <a:t>아래 두 수치로 규모의 차이를 보실 수 있습니다. 환경경영시스템(ISO 14001) 유효 인증은 국내 28,137건으로 세계 2위이고, LCA 수행을 전제하는 환경성적표지 유효 인증은 707개 기업입니다. 두 체계를 함께 운영하는 조직은 아직 제한적입니다.</a:t>
            </a:r>
          </a:p>
          <a:p>
            <a:r>
              <a:rPr sz="1200">
                <a:latin typeface="맑은 고딕"/>
              </a:rPr>
              <a:t>그런데 「LCA를 했다」는 말은 두 가지 상태를 가립니다. 다음 장에서 말씀드리겠습니다.</a:t>
            </a:r>
          </a:p>
          <a:p>
            <a:r>
              <a:rPr sz="1200">
                <a:latin typeface="맑은 고딕"/>
              </a:rPr>
              <a:t>〔1분 10초〕</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상태 A의 기업은 인증 갱신이나 고객 요구에 맞추어 한 차례 LCA 보고서를 받아 두고 그것으로 끝냅니다. 상태 B의 기업은 그 결과로 중대한 환경측면을 다시 결정하고, 이를 고려하여 환경목표의 수치를 정하며, 다음 해에 다시 산정하여 목표 달성을 확인합니다.</a:t>
            </a:r>
          </a:p>
          <a:p>
            <a:r>
              <a:rPr sz="1200">
                <a:latin typeface="맑은 고딕"/>
              </a:rPr>
              <a:t>둘 다 「LCA를 했다」고 말하지만, 앞은 경영시스템과 분리된 보고서이고 뒤는 경영시스템의 운영에 쓰이는 입력입니다. 본 연구가 말하는 연계는 상태 B입니다.</a:t>
            </a:r>
          </a:p>
          <a:p>
            <a:r>
              <a:rPr sz="1200">
                <a:latin typeface="맑은 고딕"/>
              </a:rPr>
              <a:t>연계는 있다 없다의 문제가 아니라 정도의 문제이고, 정도의 문제라면 그 정도를 잴 척도가 있어야 합니다. 그 척도가 성숙도 모델입니다.</a:t>
            </a:r>
          </a:p>
          <a:p>
            <a:r>
              <a:rPr sz="1200">
                <a:latin typeface="맑은 고딕"/>
              </a:rPr>
              <a:t>〔이야기의 뼈대. 이 차이를 어떻게 측정하나(3부) → 측정해 보니(4부) → 무엇을 고치나(5부). 1분 10초〕</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본 연구의 목적은 환경경영시스템(ISO 14001)과 전과정평가(LCA)의 프로세스를 연계한 모델을 개발하고, 이를 기준으로 조직의 연계 성숙도를 평가하며, 그 결과를 개선 과제로 도출하여 조직의 환경경영시스템(ISO 14001)을 효과적으로 개선하는 데 있습니다. 곧 연계, 모델링, 성숙도 평가, 개선의 순서입니다.</a:t>
            </a:r>
          </a:p>
          <a:p>
            <a:r>
              <a:rPr sz="1200">
                <a:latin typeface="맑은 고딕"/>
              </a:rPr>
              <a:t>네 가지 연구 문제는 이 네 가지 목적과 같은 순서로, RQ1은 연계에, RQ2와 RQ3은 모델링에, RQ4는 평가와 개선에 해당합니다. 또한 각 연구 문제는 앞의 문제에 답해야 다음 문제를 제기할 수 있는 순서로 구성하였습니다. 오늘 발표도 이 순서를 따릅니다.</a:t>
            </a:r>
          </a:p>
          <a:p>
            <a:r>
              <a:rPr sz="1200">
                <a:latin typeface="맑은 고딕"/>
              </a:rPr>
              <a:t>먼저 두 표준이 어떤 구조인지 짧게 보겠습니다.</a:t>
            </a:r>
          </a:p>
          <a:p>
            <a:r>
              <a:rPr sz="1200">
                <a:latin typeface="맑은 고딕"/>
              </a:rPr>
              <a:t>〔왼쪽 흐름도의 여섯 단계와 연구 문제의 대응만 짚고 넘어간다. 1분〕</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ISO 14001의 조항은 조직 상황(4절)부터 개선(10절)까지 일곱 군으로 묶여 PDCA로 순환합니다.</a:t>
            </a:r>
          </a:p>
          <a:p>
            <a:r>
              <a:rPr sz="1200">
                <a:latin typeface="맑은 고딕"/>
              </a:rPr>
              <a:t>전과정 관점의 고려가 요구되는 곳은 환경측면의 결정(6.1.2)과 운용기획 및 관리(8.1)입니다. 뒤에서 핵심 문항이 놓이는 자리가 여기입니다.</a:t>
            </a:r>
          </a:p>
          <a:p>
            <a:r>
              <a:rPr sz="1200">
                <a:latin typeface="맑은 고딕"/>
              </a:rPr>
              <a:t>표준은 전과정 관점을 요구하지만 그 이행 방법은 표준 안에 없습니다. 그 방법을 규정한 것이 ISO 14044입니다. 다음 장입니다.</a:t>
            </a:r>
          </a:p>
          <a:p>
            <a:r>
              <a:rPr sz="1200">
                <a:latin typeface="맑은 고딕"/>
              </a:rPr>
              <a:t>〔「LCA는 14001과 무슨 관계인가」가 나오면 — 14001이 요구하는 전과정 관점을 실제로 채우는 방법이 LCA(ISO 14044), 2.3.1. 1분 10초〕</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LCA는 목적 및 범위 정의, 전과정 목록분석(LCI), 전과정 영향평가(LCIA), 해석의 네 단계로 이루어집니다. 해석은 세 단계 모두와 양방향으로 이어집니다.</a:t>
            </a:r>
          </a:p>
          <a:p>
            <a:r>
              <a:rPr sz="1200">
                <a:latin typeface="맑은 고딕"/>
              </a:rPr>
              <a:t>한 번의 수행은 이 안에서 완결되지만, 되풀이하는 관리 주기는 ISO 14044의 범위가 아닙니다.</a:t>
            </a:r>
          </a:p>
          <a:p>
            <a:r>
              <a:rPr sz="1200">
                <a:latin typeface="맑은 고딕"/>
              </a:rPr>
              <a:t>그래서 두 표준을 연결하고 그 수준을 측정하려면 성숙도 모델의 방법을 빌려야 합니다.</a:t>
            </a:r>
          </a:p>
          <a:p>
            <a:r>
              <a:rPr sz="1200">
                <a:latin typeface="맑은 고딕"/>
              </a:rPr>
              <a:t>〔1분 10초〕</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모델의 뼈대는 모두 표준에서 가져왔습니다.</a:t>
            </a:r>
          </a:p>
          <a:p>
            <a:r>
              <a:rPr sz="1200">
                <a:latin typeface="맑은 고딕"/>
              </a:rPr>
              <a:t>측정 대상은 환경경영시스템(ISO 14001)과 전과정평가(LCA, ISO 14044)의 연계입니다.</a:t>
            </a:r>
          </a:p>
          <a:p>
            <a:r>
              <a:rPr sz="1200">
                <a:latin typeface="맑은 고딕"/>
              </a:rPr>
              <a:t>판정 구조는 KS X ISO 8000-62를, 모델 형식과 평가 방법은 ISO/IEC 33000 계열을, 프로세스 기술 형식은 KS X ISO 8000-61을 따랐으며, 그 적용 선례는 국내 공공데이터 연구입니다. 참조 모델은 평가 모델의, 평가 모델은 성숙도 모델의 기초가 됩니다. 평가의 수행은 ISO/IEC 33002를 따랐습니다.</a:t>
            </a:r>
          </a:p>
          <a:p>
            <a:r>
              <a:rPr sz="1200">
                <a:latin typeface="맑은 고딕"/>
              </a:rPr>
              <a:t>그러면 이 대상을 다룬 연구는 이미 있었는가. 다음 장입니다.</a:t>
            </a:r>
          </a:p>
          <a:p>
            <a:r>
              <a:rPr sz="1200">
                <a:latin typeface="맑은 고딕"/>
              </a:rPr>
              <a:t>〔조항 번호는 읽지 않는다. 선행 모델은 논문 제목으로 부른다(PPDQM3·APDQM3라 하지 않는다). 1분 10초〕</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선행연구는 두 축으로 검토하였습니다.</a:t>
            </a:r>
          </a:p>
          <a:p>
            <a:r>
              <a:rPr sz="1200">
                <a:latin typeface="맑은 고딕"/>
              </a:rPr>
              <a:t>방법론 축은 판정의 원리를 주었으나 적용 분야가 소프트웨어와 데이터에 한정됩니다. 분야 축은 환경을 다루되 환경경영 운영, 제품 설계, LCA 활용이라는 단일 측면에 머뭅니다.</a:t>
            </a:r>
          </a:p>
          <a:p>
            <a:r>
              <a:rPr sz="1200">
                <a:latin typeface="맑은 고딕"/>
              </a:rPr>
              <a:t>두 표준의 연계 자체를 조항 단위로 판정하는 모델은 검토한 선행연구에서 찾아보기 어렵습니다. 이것이 연구 공백입니다.</a:t>
            </a:r>
          </a:p>
          <a:p>
            <a:r>
              <a:rPr sz="1200">
                <a:latin typeface="맑은 고딕"/>
              </a:rPr>
              <a:t>그 자리에 무엇을 만들었는지 말씀드리겠습니다.</a:t>
            </a:r>
          </a:p>
          <a:p>
            <a:r>
              <a:rPr sz="1200">
                <a:latin typeface="맑은 고딕"/>
              </a:rPr>
              <a:t>〔2.5.4. 선행 모델은 논문 제목으로 부른다. 1분〕</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본 논문의 연계 모델은 평가 대상인 참조 모델, 채점인 평가 모델, 수준 판정인 성숙도 모델의 세 계층으로 개발하였으며, 이를 연계 성숙도 평가 모델, LMA라 합니다.</a:t>
            </a:r>
          </a:p>
          <a:p>
            <a:r>
              <a:rPr sz="1200">
                <a:latin typeface="맑은 고딕"/>
              </a:rPr>
              <a:t>참조 모델은 연계 프로세스 16종, 평가 모델은 55개 평가 문항과 문항별 판정 기준, 성숙도 모델은 ML0부터 ML5까지의 판정 규칙과 핵심 문항 4종입니다.</a:t>
            </a:r>
          </a:p>
          <a:p>
            <a:r>
              <a:rPr sz="1200">
                <a:latin typeface="맑은 고딕"/>
              </a:rPr>
              <a:t>그림의 위 띠가 입력인 따른 표준, 가운데가 연계 프로세스가 도는 관리 주기, 아래 띠가 개발한 세 가지 모델과 그 적용입니다.</a:t>
            </a:r>
          </a:p>
          <a:p>
            <a:r>
              <a:rPr sz="1200">
                <a:latin typeface="맑은 고딕"/>
              </a:rPr>
              <a:t>먼저 두 표준을 어떻게 맞대었는지부터 말씀드리겠습니다.</a:t>
            </a:r>
          </a:p>
          <a:p>
            <a:r>
              <a:rPr sz="1200">
                <a:latin typeface="맑은 고딕"/>
              </a:rPr>
              <a:t>〔숫자 사슬 16 → 55 → 4 → ML0~5. 「검증은 했나」가 나오면 — 두 방향. 추적성 검증(55문항을 근거 조항까지)과 표준 적합성 검증(ISO/IEC 33004 요구사항 24건 자체점검 — 충족 22 · 해당 없음 1 · 보완 1). 전문가 내용타당도 조사(CVI)는 조사지 설계까지, 실시는 향후 과제 — 3.5. 1분 10초〕</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ISO 14001의 모든 조항에 대하여 같은 네 가지 질문을 같은 순서로 물었습니다. 전과정 관점을 명시적으로 요구하거나 그 결과를 직접 입력으로 삼는가, LCA 산출물 없이는 shall 이행이 불완전한가, LCA 결과가 주요 입력값인가, 보조 정보라도 제공하는가입니다.</a:t>
            </a:r>
          </a:p>
          <a:p>
            <a:r>
              <a:rPr sz="1200">
                <a:latin typeface="맑은 고딕"/>
              </a:rPr>
              <a:t>「매우 높음」의 판정 요건은 전과정 관점의 명시적 요구 또는 그 결과의 직접 사용, LCA 없는 shall 이행의 사실상 불완전, LCA 결과의 핵심 산출물 지위로, 연계의 성립 여부를 가르는 관찰입니다. 이 등급의 4개 조항이 6.1.2·6.2.1·8.1·9.1.1이며, 이 네 곳이 뒤의 핵심 문항 4종의 자리가 됩니다.</a:t>
            </a:r>
          </a:p>
          <a:p>
            <a:r>
              <a:rPr sz="1200">
                <a:latin typeface="맑은 고딕"/>
              </a:rPr>
              <a:t>네 지점이 어디에 놓이는지 그림으로 보겠습니다.</a:t>
            </a:r>
          </a:p>
          <a:p>
            <a:r>
              <a:rPr sz="1200">
                <a:latin typeface="맑은 고딕"/>
              </a:rPr>
              <a:t>〔「전조항을 매핑했는데 핵심은 4개뿐인가」가 나오면 셋으로 나누어 답한다 — 매핑(30조항) → 55문항·16종 → 연계 성립 지점 4곳. 1분 20초〕</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왼쪽이 ISO 14001의 관리 주기, 오른쪽이 ISO 14044의 4단계입니다.</a:t>
            </a:r>
          </a:p>
          <a:p>
            <a:r>
              <a:rPr sz="1200">
                <a:latin typeface="맑은 고딕"/>
              </a:rPr>
              <a:t>두 표준의 조항을 서로 대응시키는 것을 매핑이라 하고, 매핑에서 확인된 두 표준의 결합 지점을 연계 지점이라 합니다. 연계 지점 가운데 연계가 성립하기 위해 반드시 갖추어야 할 네 곳을 핵심 연계 지점이라 하며, 굵은 선 네 개가 그 지점입니다.</a:t>
            </a:r>
          </a:p>
          <a:p>
            <a:r>
              <a:rPr sz="1200">
                <a:latin typeface="맑은 고딕"/>
              </a:rPr>
              <a:t>네 지점 가운데 하나가 끊기면 순환이 그 단계에서 멈춥니다.</a:t>
            </a:r>
          </a:p>
          <a:p>
            <a:r>
              <a:rPr sz="1200">
                <a:latin typeface="맑은 고딕"/>
              </a:rPr>
              <a:t>연계 지점을 업무 단위로 묶은 것이 연계 프로세스이고, 그것이 참조 모델입니다.</a:t>
            </a:r>
          </a:p>
          <a:p>
            <a:r>
              <a:rPr sz="1200">
                <a:latin typeface="맑은 고딕"/>
              </a:rPr>
              <a:t>〔1분〕</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참조 모델은 두 표준의 모든 조항을 서로 대응시켜 도출한 연계 프로세스 16종으로, 계획 8종, 실행 2종, 점검 3종, 개선 3종입니다.</a:t>
            </a:r>
          </a:p>
          <a:p>
            <a:r>
              <a:rPr sz="1200">
                <a:latin typeface="맑은 고딕"/>
              </a:rPr>
              <a:t>각 프로세스는 제목·목적·성과·활동의 형식으로 기술하였으며, 이 형식은 KS X ISO 8000-61 5.3을 따른 것입니다. 코드의 L은 연계, 그 뒤가 PDCA 영역입니다.</a:t>
            </a:r>
          </a:p>
          <a:p>
            <a:r>
              <a:rPr sz="1200">
                <a:latin typeface="맑은 고딕"/>
              </a:rPr>
              <a:t>각 프로세스의 성과를 묻는 물음이 평가 문항이 됩니다.</a:t>
            </a:r>
          </a:p>
          <a:p>
            <a:r>
              <a:rPr sz="1200">
                <a:latin typeface="맑은 고딕"/>
              </a:rPr>
              <a:t>〔영역 이름은 KS I ISO 14001 개요 0.4의 PDCA 풀이를 따르되 A는 「개선」(2.1.2). 「왜 16종인가, 원형은 20종인데」가 나오면 백업 B-Q3. 1분 10초〕</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평가 모델은 55개 평가 문항과 문항별 판정 기준, 객관적 증거 목록입니다. 문항은 계획 30, 실행 6, 점검 10, 개선 9입니다.</a:t>
            </a:r>
          </a:p>
          <a:p>
            <a:r>
              <a:rPr sz="1200">
                <a:latin typeface="맑은 고딕"/>
              </a:rPr>
              <a:t>문항마다 무엇을 증거로 볼지와 어느 상태를 몇 점으로 볼지를 미리 정해 두었습니다. 점수는 평가자의 재량이 아니라 체크포인트 충족 개수로 정해지며, 3점이 필수 체크포인트 전부 충족, 곧 shall 충족 기준입니다.</a:t>
            </a:r>
          </a:p>
          <a:p>
            <a:r>
              <a:rPr sz="1200">
                <a:latin typeface="맑은 고딕"/>
              </a:rPr>
              <a:t>오른쪽이 D-1 한 문항의 5점 기준입니다. 4장에서 A사가 2점을 받은 바로 그 문항입니다.</a:t>
            </a:r>
          </a:p>
          <a:p>
            <a:r>
              <a:rPr sz="1200">
                <a:latin typeface="맑은 고딕"/>
              </a:rPr>
              <a:t>점수를 성숙도 수준으로 바꾸는 규칙이 성숙도 모델입니다.</a:t>
            </a:r>
          </a:p>
          <a:p>
            <a:r>
              <a:rPr sz="1200">
                <a:latin typeface="맑은 고딕"/>
              </a:rPr>
              <a:t>〔1분 20초〕</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성숙도 수준은 ML0에서 ML5까지 여섯이고 진입 조건은 누적입니다. 조건의 어느 항에도 평균은 쓰이지 않습니다.</a:t>
            </a:r>
          </a:p>
          <a:p>
            <a:r>
              <a:rPr sz="1200">
                <a:latin typeface="맑은 고딕"/>
              </a:rPr>
              <a:t>연계가 성립하지 않는 지점과 연계가 얕은 지점은 다르므로, 연계 성립의 필요조건인 핵심 문항 4종에만 최소충족 판정을 적용하였습니다. 이 원리는 KS X ISO 8000-62 4.5.1에서 가져오고 적용 범위만 네 문항으로 한정한 것입니다.</a:t>
            </a:r>
          </a:p>
          <a:p>
            <a:r>
              <a:rPr sz="1200">
                <a:latin typeface="맑은 고딕"/>
              </a:rPr>
              <a:t>핵심 문항 하나라도 3점 미만이면 평균과 관계없이 상한은 ML2입니다.</a:t>
            </a:r>
          </a:p>
          <a:p>
            <a:r>
              <a:rPr sz="1200">
                <a:latin typeface="맑은 고딕"/>
              </a:rPr>
              <a:t>만든 도구가 요건을 갖추었는지 한 장으로 정리하겠습니다.</a:t>
            </a:r>
          </a:p>
          <a:p>
            <a:r>
              <a:rPr sz="1200">
                <a:latin typeface="맑은 고딕"/>
              </a:rPr>
              <a:t>〔비교주장을 하지 않는 조직의 C-7·A-9는 3.4.3의 기준대로 1점, 미수행 정책을 문서화하면 3점. 말로 풀 때만 비유 — 평균이 높아도 필수 넷 중 하나가 빠지면 등급이 안 올라간다, 건강검진의 필수 검사와 같다(논문 안에는 비유 없음). 1분 30초〕</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모델은 세 계층, 16종, 55문항, 여섯 수준으로 갖추어졌고, 타당성은 두 가지 방향으로 검증하였습니다.</a:t>
            </a:r>
          </a:p>
          <a:p>
            <a:r>
              <a:rPr sz="1200">
                <a:latin typeface="맑은 고딕"/>
              </a:rPr>
              <a:t>첫째 방향은 추적성 검증으로, 55개 문항을 두 표준의 전 조항 대조에서 나온 근거 조항까지 추적하여 문항의 내용타당도 근거를 마련하였습니다. 둘째 방향은 표준 적합성 검증으로, 세 모델의 요건을 정한 ISO/IEC 33004의 24개 요구사항을 자체 점검하였습니다. 충족 22건, 해당 없음 1건, 보완 1건입니다.</a:t>
            </a:r>
          </a:p>
          <a:p>
            <a:r>
              <a:rPr sz="1200">
                <a:latin typeface="맑은 고딕"/>
              </a:rPr>
              <a:t>보완 1건은 55문항과 핵심 문항 지정에 대한 전문가 합의로, 전문가 내용타당도 조사(CVI)는 조사지 설계까지 마쳤으며 실시는 향후 연구 과제로 두었습니다. 그 사실을 논문에 적어 두었습니다.</a:t>
            </a:r>
          </a:p>
          <a:p>
            <a:r>
              <a:rPr sz="1200">
                <a:latin typeface="맑은 고딕"/>
              </a:rPr>
              <a:t>한 줄로 말씀드리면, 표준의 틀을 따르고 표준이 비워 둔 세 곳을 이 연구가 채웠습니다.</a:t>
            </a:r>
          </a:p>
          <a:p>
            <a:r>
              <a:rPr sz="1200">
                <a:latin typeface="맑은 고딕"/>
              </a:rPr>
              <a:t>이제 이 도구로 한 기업을 평가한 결과입니다.</a:t>
            </a:r>
          </a:p>
          <a:p>
            <a:r>
              <a:rPr sz="1200">
                <a:latin typeface="맑은 고딕"/>
              </a:rPr>
              <a:t>〔1분 30초〕</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제조기업 A사의 환경경영시스템(ISO 14001)과 2025년 제품 전과정평가(LCA)를 대상으로, 증빙 문서 16종, 개별 33건에 대한 문서 심사로 수행하였습니다. 사내표준과 기록을 확인하여 체크포인트 단위로 판정하였고, 평가 기간은 2026년 6~7월입니다.</a:t>
            </a:r>
          </a:p>
          <a:p>
            <a:r>
              <a:rPr sz="1200">
                <a:latin typeface="맑은 고딕"/>
              </a:rPr>
              <a:t>본 평가는 ISO/IEC 33002의 평가 클래스 3에 상당합니다. 따라서 본 연구의 판정은 모델의 작동을 확인하는 시범 적용의 결과이며, 조직의 공식 성숙도 등급을 주는 평가가 아닙니다.</a:t>
            </a:r>
          </a:p>
          <a:p>
            <a:r>
              <a:rPr sz="1200">
                <a:latin typeface="맑은 고딕"/>
              </a:rPr>
              <a:t>평가자가 한 사람이므로 객관성을 어떻게 확보하였는지 먼저 말씀드리겠습니다.</a:t>
            </a:r>
          </a:p>
          <a:p>
            <a:r>
              <a:rPr sz="1200">
                <a:latin typeface="맑은 고딕"/>
              </a:rPr>
              <a:t>〔「회사가 쓰겠다던가」가 나오면 — 연구 목적의 시범 적용이라 공식 판정으로 전달하지 않았고, 공식 등급은 클래스 1·2 요건의 재평가가 필요하며 복수 기업 적용과 함께 향후 연구 과제 — 4.1, 4.7, 5.3, 백업 B-Q9. 1분 10초〕</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판정 관례를 사전에 명문화하고 잠정 채점을 증빙으로 재검증하는 방식으로 평가자 편향의 위험을 줄였습니다. 구두 진술만으로는 충족을 인정하지 않고, 양식만 있고 기입이 없으면 미충족으로, 판단이 곤란한 경우도 미충족으로 처리하였습니다.</a:t>
            </a:r>
          </a:p>
          <a:p>
            <a:r>
              <a:rPr sz="1200">
                <a:latin typeface="맑은 고딕"/>
              </a:rPr>
              <a:t>재검증에서 실현된 변동은 상향 7건, 하향 9건이며, 종합점수는 2.89점에서 2.85점으로 낮아졌습니다. 재검증이 관대화를 억제하는 방향으로 작동한 것입니다.</a:t>
            </a:r>
          </a:p>
          <a:p>
            <a:r>
              <a:rPr sz="1200">
                <a:latin typeface="맑은 고딕"/>
              </a:rPr>
              <a:t>평가자가 대상 조직의 환경경영 업무를 지원한 이력은 공평성 고려 사항으로 밝혔으며, 판정은 조직이 생성·기입한 기록의 실재를 기준으로 하였습니다.</a:t>
            </a:r>
          </a:p>
          <a:p>
            <a:r>
              <a:rPr sz="1200">
                <a:latin typeface="맑은 고딕"/>
              </a:rPr>
              <a:t>아래는 평가 기록부의 실제 기입으로, 핵심 문항 4종만 발췌한 것입니다. D-1 행이 뒤의 판정을 가릅니다.</a:t>
            </a:r>
          </a:p>
          <a:p>
            <a:r>
              <a:rPr sz="1200">
                <a:latin typeface="맑은 고딕"/>
              </a:rPr>
              <a:t>〔1분 20초〕</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영역 평점은 계획 3.23, 실행 3.00, 점검 2.10, 개선 2.33이고, 종합점수는 2.85입니다. 55문항 중 39문항이 3점 이상이고 5점에 도달한 문항은 없습니다.</a:t>
            </a:r>
          </a:p>
          <a:p>
            <a:r>
              <a:rPr sz="1200">
                <a:latin typeface="맑은 고딕"/>
              </a:rPr>
              <a:t>영역별 평점이 계획·실행은 3점 이상, 점검·개선은 2점대로 나뉩니다. 전과정평가(LCA) 결과가 환경측면과 목표에는 반영되나 검토·재수행으로는 이어지지 않는 A사의 연계 상태를 나타냅니다.</a:t>
            </a:r>
          </a:p>
          <a:p>
            <a:r>
              <a:rPr sz="1200">
                <a:latin typeface="맑은 고딕"/>
              </a:rPr>
              <a:t>다만 종합점수는 판정에 쓰지 않는 보조값이고, 판정은 핵심 문항이 정합니다. 다음 장입니다.</a:t>
            </a:r>
          </a:p>
          <a:p>
            <a:r>
              <a:rPr sz="1200">
                <a:latin typeface="맑은 고딕"/>
              </a:rPr>
              <a:t>〔1분 10초〕</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핵심 문항 4종 중 P-9는 4점, P-14와 C-1은 3점으로 shall 충족 기준 이상으로 통과하였으나, D-1이 2점으로 미달하였습니다. 최소충족 원리에 따라 판정 상한이 ML2로 제한되었습니다.</a:t>
            </a:r>
          </a:p>
          <a:p>
            <a:r>
              <a:rPr sz="1200">
                <a:latin typeface="맑은 고딕"/>
              </a:rPr>
              <a:t>종합점수 2.85는 판정에 쓰지 않는 보조값입니다. ML3 진입 조건인 「모든 핵심 문항 3점 이상」이 D-1에서 미달하여 ML2(관리화)로 판정됩니다.</a:t>
            </a:r>
          </a:p>
          <a:p>
            <a:r>
              <a:rPr sz="1200">
                <a:latin typeface="맑은 고딕"/>
              </a:rPr>
              <a:t>과반 기준을 50%에서 70%로 올려도, 핵심 문항의 임계를 4점이나 5점으로 올려도 이 판정은 변하지 않습니다.</a:t>
            </a:r>
          </a:p>
          <a:p>
            <a:r>
              <a:rPr sz="1200">
                <a:latin typeface="맑은 고딕"/>
              </a:rPr>
              <a:t>판정을 가른 것은 점수의 크기가 아니라 필요조건의 충족 여부입니다. 그러면 낮은 점수는 어디에서 왔는가. 다음 장입니다.</a:t>
            </a:r>
          </a:p>
          <a:p>
            <a:r>
              <a:rPr sz="1200">
                <a:latin typeface="맑은 고딕"/>
              </a:rPr>
              <a:t>〔「너무 가혹하지 않은가」가 나오면 백업 B-Q1. 1분 30초〕</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낮은 점수는 세 가지 원인으로 모입니다. 설계·개발 절차에 환경 고려 단계가 없고, 정밀검토 체계가 없으며, LCA 재수행 사이클이 아직 오지 않았습니다. 이 미비 사항 3건이 낮은 문항의 대부분을 설명합니다.</a:t>
            </a:r>
          </a:p>
          <a:p>
            <a:r>
              <a:rPr sz="1200">
                <a:latin typeface="맑은 고딕"/>
              </a:rPr>
              <a:t>강점도 있습니다. LCA가 문서 체계에 실질적으로 들어와 있어, 환경매뉴얼의 적용범위 조항과 연 1회 LCA 수행·최고경영자 보고 규정, 영향평가 결과에 근거한 환경측면 평가와 정량 목표, 공급망 1차 데이터가 확인되었습니다.</a:t>
            </a:r>
          </a:p>
          <a:p>
            <a:r>
              <a:rPr sz="1200">
                <a:latin typeface="맑은 고딕"/>
              </a:rPr>
              <a:t>미비는 역량이 아니라 절차의 공식화와 주기 도래에 있습니다. 미비 세 가지가 그대로 개선 과제가 됩니다.</a:t>
            </a:r>
          </a:p>
          <a:p>
            <a:r>
              <a:rPr sz="1200">
                <a:latin typeface="맑은 고딕"/>
              </a:rPr>
              <a:t>〔숫자 사슬 2.85 → ML2 → R1~R5 → 3.15 → ML3. 1분 10초〕</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미비 사항 3건에 대응하는 개선 과제 5건을 도출하였습니다. 과제마다 무엇을, 어느 부서가, 언제 할지와 대상 문항, 점수 효과를 적었습니다.</a:t>
            </a:r>
          </a:p>
          <a:p>
            <a:r>
              <a:rPr sz="1200">
                <a:latin typeface="맑은 고딕"/>
              </a:rPr>
              <a:t>개선 과제의 목표 상태는 평가 문항의 판정 기준과 같은 문구여서, 차기 평가에서 조치 완료 여부를 그대로 판정할 수 있습니다.</a:t>
            </a:r>
          </a:p>
          <a:p>
            <a:r>
              <a:rPr sz="1200">
                <a:latin typeface="맑은 고딕"/>
              </a:rPr>
              <a:t>진단이 채점에서 끝나지 않고 실행 계획으로 이어지는 것입니다. 과제를 추진 시기로 배치한 것이 개선 로드맵입니다.</a:t>
            </a:r>
          </a:p>
          <a:p>
            <a:r>
              <a:rPr sz="1200">
                <a:latin typeface="맑은 고딕"/>
              </a:rPr>
              <a:t>〔과제별 1매 카드는 백업 B-14. 1분 20초〕</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과제를 단기, 중기, 장기로 배치하였습니다. 단기는 1년 이내, 중기는 3년 이내, 장기는 3년 초과이며, 1년은 A사 환경매뉴얼의 LCA 연 1회 재수행 주기, 3년은 환경경영시스템(ISO 14001) 인증의 갱신 주기입니다.</a:t>
            </a:r>
          </a:p>
          <a:p>
            <a:r>
              <a:rPr sz="1200">
                <a:latin typeface="맑은 고딕"/>
              </a:rPr>
              <a:t>다섯 과제를 모두 마치면 종합 3.15점, 핵심 문항 4종 모두 통과로 ML3 진입이 전망됩니다. 다만 이는 확정 점수를 기준으로 한 재산정이며 이행 결과가 아닙니다.</a:t>
            </a:r>
          </a:p>
          <a:p>
            <a:r>
              <a:rPr sz="1200">
                <a:latin typeface="맑은 고딕"/>
              </a:rPr>
              <a:t>평가와 개선과 재평가가 같은 문구로 이어집니다.</a:t>
            </a:r>
          </a:p>
          <a:p>
            <a:r>
              <a:rPr sz="1200">
                <a:latin typeface="맑은 고딕"/>
              </a:rPr>
              <a:t>끝으로 이 모델의 장점과 단점, 그리고 한계입니다.</a:t>
            </a:r>
          </a:p>
          <a:p>
            <a:r>
              <a:rPr sz="1200">
                <a:latin typeface="맑은 고딕"/>
              </a:rPr>
              <a:t>〔「3.15의 근거」가 나오면 — 목표 상태가 채점 기준과 같은 문구라 완료 시 점수가 기준에서 바로 정해진다, 4.6.2 [표 4-16]·[표 4-17]. 1분 20초〕</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말할 수 있는 범위와 말할 수 없는 범위를 갈라 두겠습니다.</a:t>
            </a:r>
          </a:p>
          <a:p>
            <a:r>
              <a:rPr sz="1200">
                <a:latin typeface="맑은 고딕"/>
              </a:rPr>
              <a:t>장점은 문항의 출처를 조항까지 따라갈 수 있다는 것, 판정 기준을 미리 정해 두어 같은 증거에 같은 점수가 나온다는 것, 종합점수에 묻히는 미비를 판정에 반영한다는 것, 평가가 개선과 재평가로 이어진다는 것입니다.</a:t>
            </a:r>
          </a:p>
          <a:p>
            <a:r>
              <a:rPr sz="1200">
                <a:latin typeface="맑은 고딕"/>
              </a:rPr>
              <a:t>단점은 핵심 문항 4종에 판정이 좌우된다는 것, 판정 파라미터가 연구자 확정값이라는 것, 평가에 손이 많이 간다는 것, 문서 심사여서 형식적 이행을 가려내기 어렵다는 것, 그리고 성숙도 수준과 실제 환경성과의 관계는 검증하지 않았다는 것입니다.</a:t>
            </a:r>
          </a:p>
          <a:p>
            <a:r>
              <a:rPr sz="1200">
                <a:latin typeface="맑은 고딕"/>
              </a:rPr>
              <a:t>한계는 한 회사, 한 시점, 평가자 한 명이라는 것, 전문가 타당도 조사를 아직 하지 않았다는 것, 가장 높은 두 수준은 사례로 확인하지 못했다는 것입니다. 이 셋이 그대로 향후 연구 과제입니다.</a:t>
            </a:r>
          </a:p>
          <a:p>
            <a:r>
              <a:rPr sz="1200">
                <a:latin typeface="맑은 고딕"/>
              </a:rPr>
              <a:t>끝으로 오늘 말씀드린 것을 한 장으로 정리하겠습니다.</a:t>
            </a:r>
          </a:p>
          <a:p>
            <a:r>
              <a:rPr sz="1200">
                <a:latin typeface="맑은 고딕"/>
              </a:rPr>
              <a:t>〔화면 글은 쉬운 말판, 항목 이름은 [표 5-1] 그대로. 1분 20초〕</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문제에서 방법, 결과, 의의, 한계까지 한 표로 정리하였습니다.</a:t>
            </a:r>
          </a:p>
          <a:p>
            <a:r>
              <a:rPr sz="1200">
                <a:latin typeface="맑은 고딕"/>
              </a:rPr>
              <a:t>두 표준은 서로를 전제하지 않아 현장에서 따로 운영되고, 연계 수준을 측정하는 기준은 찾아보기 어려웠습니다. 두 표준의 전조항을 양방향으로 매핑하여 참조·평가·성숙도의 세 계층으로 모델을 만들고, 두 방향으로 검증하였습니다. 제조기업 A사에 시범 적용한 결과 종합 2.85, 핵심 문항 D-1 미달로 ML2이며, 개선 과제 완수 시 3.15와 ML3가 전망됩니다. 의의는 연계를 조직 단위로 판정하는 척도를 만들고, 평가 결과가 곧 개선 과제로 이어지는 순환 구조를 설계한 것입니다. 한계는 단일 기업, 단일 시점, 단일 평가자입니다.</a:t>
            </a:r>
          </a:p>
          <a:p>
            <a:r>
              <a:rPr sz="1200">
                <a:latin typeface="맑은 고딕"/>
              </a:rPr>
              <a:t>맨 아래 한 줄이 논문 전체입니다. 연계, 모델링, 평가, 지속적 개선, 환경영향 저감입니다.</a:t>
            </a:r>
          </a:p>
          <a:p>
            <a:r>
              <a:rPr sz="1200">
                <a:latin typeface="맑은 고딕"/>
              </a:rPr>
              <a:t>〔덧붙이지 않는다. 다음 장에서 마지막 문장. 1분〕</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환경경영시스템(ISO 14001)과 전과정평가(LCA)는 각각 성숙한 표준이나 서로를 전제하지 않습니다.</a:t>
            </a:r>
          </a:p>
          <a:p>
            <a:r>
              <a:rPr sz="1200">
                <a:latin typeface="맑은 고딕"/>
              </a:rPr>
              <a:t>본 연구는 두 표준의 연계를 조항 단위로 확인하고 성숙도 수준으로 판정하며 개선 과제로 연결하는 연계 성숙도 평가 모델(LMA)을 개발하고, 이를 한 기업에 적용하여 작동함을 확인하였습니다.</a:t>
            </a:r>
          </a:p>
          <a:p>
            <a:r>
              <a:rPr sz="1200">
                <a:latin typeface="맑은 고딕"/>
              </a:rPr>
              <a:t>두 표준의 조항을 연계하여 LMA를 만들고, 이 모델로 조직을 평가하여, 그 결과를 환경경영시스템(ISO 14001)의 지속적 개선으로 연결함으로써 전과정의 환경영향을 줄이는 데 기여하고자 합니다.</a:t>
            </a:r>
          </a:p>
          <a:p>
            <a:r>
              <a:rPr sz="1200">
                <a:latin typeface="맑은 고딕"/>
              </a:rPr>
              <a:t>이상으로 발표를 마치겠습니다. 감사합니다.</a:t>
            </a:r>
          </a:p>
          <a:p>
            <a:r>
              <a:rPr sz="1200">
                <a:latin typeface="맑은 고딕"/>
              </a:rPr>
              <a:t>〔논문 마지막 문단의 문장. 덧붙이지 않는다. 40초〕</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〔질의응답. 백업은 이때 쓴다 — 30번 구분 슬라이드 뒤 B-1~B-17 그림·표, B-0 장별 요약, B-Q1~B-Q12 예상 질문. 전문은 예상 질문 v5(48문).〕</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구분용. 발표에서는 넘긴다.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매핑의 판정 질문 Q1~Q4가 어떻게 이어지는지를 묻는 경우. 논문의 [그림 3-3](Q1 = 전과정 관점의 명시적 요구 또는 그 결과의 직접 입력). 그림은 ISO 14001 조항에서 LCA로의 판정이며, ISO 14044 조항에서 ISO 14001로의 대응은 부록 A.2. 3.2.2, [표 3-2].</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표준들의 상하 관계를 한 번에 보여 달라는 경우. 무엇을·어떻게 측정·어떻게 수행의 3단과 오른쪽 문장·용어·운영 준거. 1.3.3 [표 1-1], [그림 1-3].</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조항이 PDCA에 어떻게 배열되는지를 묻는 경우. 이 편성이 55문항을 P·D·C·A 네 영역으로 나눈 원리다. 2.1.</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다른 경영시스템과의 관계를 묻는 경우. 왼쪽이 공통 구조(4~10절), 오른쪽이 분야별 추가 요구사항. 2.1.</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수준이 오르면 무엇이 달라지느냐는 물음. 아래 띠가 P·D·C·A ↔ LCA 4단계의 네 대응과 요구 수준, 위 계단이 ML0~ML5. 2.3, [그림 2-5], [표 3-8].</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판정 구조·평가 내용·기법과 도구의 관계를 묻는 경우. 3.1.</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논문의 [그림 3-2]. 세 계층과 입력(두 표준·조항 매핑)·출력(개선 과제·성숙도 수준)을 묻는 경우. 3.1.2.</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데이터 품질 표준을 왜 환경에 쓰느냐는 물음. 실행·데이터 관련 지원·자원 제공 프로세스, 실행은 PDCA 형태 — 본 모델 P·D·C·A 편성의 참조 원형. 2.4, 3.1.1, [그림 3-5].</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판정 규칙의 순서를 그림으로 묻는 경우. [표 3-7]의 조건을 위에서 아래로 적용. 3.4.3, [그림 3-9].</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핵심 문항 규칙·수준 진입 조건·수준별 기준의 관계. 3.4, [그림 3-10].</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 3-8]. ML3까지는 체계의 확립, ML4부터는 재수행에 의한 정량 검증 — 수준의 상승이 무엇을 뜻하는지가 여기에 정해져 있다.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규칙을 조건의 순서대로 적용한 결과가 확정 판정(ML2)과 전망(ML3·3.15)과 일치함을 보이는 표. 4.6.2, [표 4-17].</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강점과 미비를 함께 물을 때. 미비는 역량이 아니라 절차의 공식화와 주기 도래에 있다. 4.5.1, [그림 4-4].</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BARS 앵커 문구와 같다. 4.6.1, [그림 4-5].</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BARS 앵커 문구와 같다. 4.6.1, [그림 4-6].</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BARS 앵커 문구와 같다. 4.6.1, [그림 4-7].</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BARS 앵커 문구와 같다. 4.6.1, [그림 4-8].</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BARS 앵커 문구와 같다. 4.6.1, [그림 4-9].</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 5-1] 전문 — 장점. 5.2.</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 5-1] 전문 — 단점. 5.2.</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「24건 중 1건이 보완인데 그대로 두어도 되는가」 — 보완으로 남긴 항목이 무엇이고 왜 남았는지를 자체점검표에 그대로 적었다. 충족으로 바꾸어 적지 않고 미충족 상태를 드러내는 것이 자체 점검의 취지에 맞다고 보았다. 3.5.2, [표 3-9], 부록 E.</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처음 설계와 많이 달라졌다는 물음에는 이 순서로 답한다 — 3월의 55문항·shall/should 기준표가 뼈대이고, 6~7월의 채점과 재검증이 문항을 확정했으며, 8월의 표준 대조가 판정 규칙(최소충족)·프로세스 집합(16종)·기술 형식을 보완했다. 표준 대조가 모델을 실제로 바꾼 세 곳을 말한다. 예상 질문 8·9·43번.</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1장 전체 — 인쇄 배포용. 화면에서는 작다.</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2장 전체 — 11·12번은 이 그림의 가운데·위 띠. 인쇄 배포용.</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5.1 — 수행의 경과(모델 개발 · 사례 평가 · 개선 수립)와 RQ1~RQ4의 답. 논문 [그림 5-1].</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5.2 — 학문적 기여 세 가지, 실무적 기여(55문항 실물 도구와 세 쓰임 — 사례에서 수행된 것은 첫째 쓰임), [표 5-1] 요약, 기대 효과(확인된 것은 아님). 논문 [그림 5-2].</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5.3 — 한계 여덟 항목을 데이터 조건의 경계·심화·유지·고도화·확장·표준화로 나눔. 논문 [그림 5-3].</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B-Q2의 그림. 위가 ISO/IEC 33020의 틀(평가 대상 → 무엇을 측정 → 어떻게 측정 → 어떻게 판정), 아래가 본 모델이 같은 네 자리에 놓은 것. 본 모델이 바꾼 것은 셋째 자리의 측정 척도뿐. 2.4.</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ver.png"/>
          <p:cNvPicPr>
            <a:picLocks noChangeAspect="1"/>
          </p:cNvPicPr>
          <p:nvPr/>
        </p:nvPicPr>
        <p:blipFill>
          <a:blip r:embed="rId2"/>
          <a:stretch>
            <a:fillRect/>
          </a:stretch>
        </p:blipFill>
        <p:spPr>
          <a:xfrm>
            <a:off x="6085440" y="0"/>
            <a:ext cx="4606560" cy="7560000"/>
          </a:xfrm>
          <a:prstGeom prst="rect">
            <a:avLst/>
          </a:prstGeom>
        </p:spPr>
      </p:pic>
      <p:sp>
        <p:nvSpPr>
          <p:cNvPr id="3" name="Rectangle 2"/>
          <p:cNvSpPr/>
          <p:nvPr/>
        </p:nvSpPr>
        <p:spPr>
          <a:xfrm>
            <a:off x="497190" y="2016000"/>
            <a:ext cx="5408250" cy="35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97190" y="1008000"/>
            <a:ext cx="6054496" cy="604800"/>
          </a:xfrm>
          <a:prstGeom prst="rect">
            <a:avLst/>
          </a:prstGeom>
          <a:noFill/>
        </p:spPr>
        <p:txBody>
          <a:bodyPr wrap="square" anchor="t" lIns="0" rIns="0" tIns="0" bIns="0">
            <a:spAutoFit/>
          </a:bodyPr>
          <a:lstStyle/>
          <a:p>
            <a:r>
              <a:rPr sz="1400" b="0" i="0" a:lang="ko-KR">
                <a:solidFill>
                  <a:srgbClr val="595959"/>
                </a:solidFill>
                <a:latin typeface="맑은 고딕"/>
                <a:ea typeface="맑은 고딕"/>
              </a:rPr>
              <a:t>박사학위 논문 예비심사</a:t>
            </a:r>
          </a:p>
        </p:txBody>
      </p:sp>
      <p:sp>
        <p:nvSpPr>
          <p:cNvPr id="5" name="TextBox 4"/>
          <p:cNvSpPr txBox="1"/>
          <p:nvPr/>
        </p:nvSpPr>
        <p:spPr>
          <a:xfrm>
            <a:off x="497190" y="2116799"/>
            <a:ext cx="6054496" cy="2419200"/>
          </a:xfrm>
          <a:prstGeom prst="rect">
            <a:avLst/>
          </a:prstGeom>
          <a:noFill/>
        </p:spPr>
        <p:txBody>
          <a:bodyPr wrap="square" anchor="t" lIns="0" rIns="0" tIns="0" bIns="0">
            <a:spAutoFit/>
          </a:bodyPr>
          <a:lstStyle/>
          <a:p>
            <a:pPr>
              <a:spcAft>
                <a:spcPts val="400"/>
              </a:spcAft>
            </a:pPr>
            <a:r>
              <a:rPr sz="2600" b="1" i="0" a:lang="ko-KR">
                <a:solidFill>
                  <a:srgbClr val="1F3864"/>
                </a:solidFill>
                <a:latin typeface="맑은 고딕"/>
                <a:ea typeface="맑은 고딕"/>
              </a:rPr>
              <a:t>환경경영시스템(ISO 14001)과</a:t>
            </a:r>
          </a:p>
          <a:p>
            <a:pPr>
              <a:spcAft>
                <a:spcPts val="400"/>
              </a:spcAft>
            </a:pPr>
            <a:r>
              <a:rPr sz="2600" b="1" i="0" a:lang="ko-KR">
                <a:solidFill>
                  <a:srgbClr val="1F3864"/>
                </a:solidFill>
                <a:latin typeface="맑은 고딕"/>
                <a:ea typeface="맑은 고딕"/>
              </a:rPr>
              <a:t>전과정평가(LCA)의 프로세스</a:t>
            </a:r>
          </a:p>
          <a:p>
            <a:pPr>
              <a:spcAft>
                <a:spcPts val="400"/>
              </a:spcAft>
            </a:pPr>
            <a:r>
              <a:rPr sz="2600" b="1" i="0" a:lang="ko-KR">
                <a:solidFill>
                  <a:srgbClr val="1F3864"/>
                </a:solidFill>
                <a:latin typeface="맑은 고딕"/>
                <a:ea typeface="맑은 고딕"/>
              </a:rPr>
              <a:t>연계 모델 개발 및 성숙도 평가</a:t>
            </a:r>
          </a:p>
        </p:txBody>
      </p:sp>
      <p:sp>
        <p:nvSpPr>
          <p:cNvPr id="6" name="TextBox 5"/>
          <p:cNvSpPr txBox="1"/>
          <p:nvPr/>
        </p:nvSpPr>
        <p:spPr>
          <a:xfrm>
            <a:off x="497190" y="4838400"/>
            <a:ext cx="6054496" cy="1612800"/>
          </a:xfrm>
          <a:prstGeom prst="rect">
            <a:avLst/>
          </a:prstGeom>
          <a:noFill/>
        </p:spPr>
        <p:txBody>
          <a:bodyPr wrap="square" anchor="t" lIns="0" rIns="0" tIns="0" bIns="0">
            <a:spAutoFit/>
          </a:bodyPr>
          <a:lstStyle/>
          <a:p>
            <a:pPr>
              <a:spcAft>
                <a:spcPts val="600"/>
              </a:spcAft>
            </a:pPr>
            <a:r>
              <a:rPr sz="1600" b="0" i="0" a:lang="ko-KR">
                <a:solidFill>
                  <a:srgbClr val="111111"/>
                </a:solidFill>
                <a:latin typeface="맑은 고딕"/>
                <a:ea typeface="맑은 고딕"/>
              </a:rPr>
              <a:t>강원대학교대학원  산업경영공학과</a:t>
            </a:r>
          </a:p>
          <a:p>
            <a:pPr>
              <a:spcAft>
                <a:spcPts val="600"/>
              </a:spcAft>
            </a:pPr>
            <a:r>
              <a:rPr sz="1900" b="1" i="0" a:lang="ko-KR">
                <a:solidFill>
                  <a:srgbClr val="111111"/>
                </a:solidFill>
                <a:latin typeface="맑은 고딕"/>
                <a:ea typeface="맑은 고딕"/>
              </a:rPr>
              <a:t>현 욱 진</a:t>
            </a:r>
          </a:p>
          <a:p>
            <a:r>
              <a:rPr sz="1600" b="0" i="0" a:lang="ko-KR">
                <a:solidFill>
                  <a:srgbClr val="111111"/>
                </a:solidFill>
                <a:latin typeface="맑은 고딕"/>
                <a:ea typeface="맑은 고딕"/>
              </a:rPr>
              <a:t>지도교수  이 창 수</a:t>
            </a:r>
          </a:p>
        </p:txBody>
      </p:sp>
      <p:sp>
        <p:nvSpPr>
          <p:cNvPr id="7" name="TextBox 6"/>
          <p:cNvSpPr txBox="1"/>
          <p:nvPr/>
        </p:nvSpPr>
        <p:spPr>
          <a:xfrm>
            <a:off x="497190" y="6451199"/>
            <a:ext cx="6054496" cy="403200"/>
          </a:xfrm>
          <a:prstGeom prst="rect">
            <a:avLst/>
          </a:prstGeom>
          <a:noFill/>
        </p:spPr>
        <p:txBody>
          <a:bodyPr wrap="square" anchor="t" lIns="0" rIns="0" tIns="0" bIns="0">
            <a:spAutoFit/>
          </a:bodyPr>
          <a:lstStyle/>
          <a:p>
            <a:r>
              <a:rPr sz="1300" b="0" i="0" a:lang="ko-KR">
                <a:solidFill>
                  <a:srgbClr val="595959"/>
                </a:solidFill>
                <a:latin typeface="맑은 고딕"/>
                <a:ea typeface="맑은 고딕"/>
              </a:rPr>
              <a:t>2026. 10. 22.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목차</a:t>
            </a:r>
          </a:p>
        </p:txBody>
      </p:sp>
      <p:sp>
        <p:nvSpPr>
          <p:cNvPr id="3" name="Rectangle 2"/>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a:t>
            </a:r>
          </a:p>
        </p:txBody>
      </p:sp>
      <p:sp>
        <p:nvSpPr>
          <p:cNvPr id="5" name="TextBox 4"/>
          <p:cNvSpPr txBox="1"/>
          <p:nvPr/>
        </p:nvSpPr>
        <p:spPr>
          <a:xfrm>
            <a:off x="497190" y="1180000"/>
            <a:ext cx="9695214" cy="5443200"/>
          </a:xfrm>
          <a:prstGeom prst="rect">
            <a:avLst/>
          </a:prstGeom>
          <a:noFill/>
        </p:spPr>
        <p:txBody>
          <a:bodyPr wrap="square" anchor="t" lIns="0" rIns="0" tIns="0" bIns="0">
            <a:spAutoFit/>
          </a:bodyPr>
          <a:lstStyle/>
          <a:p>
            <a:pPr>
              <a:spcAft>
                <a:spcPts val="1800"/>
              </a:spcAft>
            </a:pPr>
            <a:r>
              <a:rPr sz="2800" b="1" i="0" a:lang="ko-KR">
                <a:solidFill>
                  <a:srgbClr val="1F3864"/>
                </a:solidFill>
                <a:latin typeface="맑은 고딕"/>
                <a:ea typeface="맑은 고딕"/>
              </a:rPr>
              <a:t>Ⅰ.  개요 — 왜 이 연구인가</a:t>
            </a:r>
          </a:p>
          <a:p>
            <a:pPr>
              <a:spcAft>
                <a:spcPts val="1800"/>
              </a:spcAft>
            </a:pPr>
            <a:r>
              <a:rPr sz="2800" b="1" i="0" a:lang="ko-KR">
                <a:solidFill>
                  <a:srgbClr val="1F3864"/>
                </a:solidFill>
                <a:latin typeface="맑은 고딕"/>
                <a:ea typeface="맑은 고딕"/>
              </a:rPr>
              <a:t>Ⅱ.  학술적 배경 — 무엇을 바탕으로</a:t>
            </a:r>
          </a:p>
          <a:p>
            <a:pPr>
              <a:spcAft>
                <a:spcPts val="1800"/>
              </a:spcAft>
            </a:pPr>
            <a:r>
              <a:rPr sz="2800" b="1" i="0" a:lang="ko-KR">
                <a:solidFill>
                  <a:srgbClr val="1F3864"/>
                </a:solidFill>
                <a:latin typeface="맑은 고딕"/>
                <a:ea typeface="맑은 고딕"/>
              </a:rPr>
              <a:t>Ⅲ.  모델링 — 무엇을 만들었나</a:t>
            </a:r>
          </a:p>
          <a:p>
            <a:pPr>
              <a:spcAft>
                <a:spcPts val="1800"/>
              </a:spcAft>
            </a:pPr>
            <a:r>
              <a:rPr sz="2800" b="1" i="0" a:lang="ko-KR">
                <a:solidFill>
                  <a:srgbClr val="1F3864"/>
                </a:solidFill>
                <a:latin typeface="맑은 고딕"/>
                <a:ea typeface="맑은 고딕"/>
              </a:rPr>
              <a:t>Ⅳ.  성숙도 평가 — 적용하면 어떻게 되나</a:t>
            </a:r>
          </a:p>
          <a:p>
            <a:pPr>
              <a:spcAft>
                <a:spcPts val="1800"/>
              </a:spcAft>
            </a:pPr>
            <a:r>
              <a:rPr sz="2800" b="1" i="0" a:lang="ko-KR">
                <a:solidFill>
                  <a:srgbClr val="1F3864"/>
                </a:solidFill>
                <a:latin typeface="맑은 고딕"/>
                <a:ea typeface="맑은 고딕"/>
              </a:rPr>
              <a:t>Ⅴ.  개선 과제 — 무엇을 고치나</a:t>
            </a:r>
          </a:p>
          <a:p>
            <a:pPr>
              <a:spcAft>
                <a:spcPts val="1800"/>
              </a:spcAft>
            </a:pPr>
            <a:r>
              <a:rPr sz="2800" b="1" i="0" a:lang="ko-KR">
                <a:solidFill>
                  <a:srgbClr val="1F3864"/>
                </a:solidFill>
                <a:latin typeface="맑은 고딕"/>
                <a:ea typeface="맑은 고딕"/>
              </a:rPr>
              <a:t>맺음 — 답한 것 · 기여 · 남은 것</a:t>
            </a:r>
          </a:p>
        </p:txBody>
      </p:sp>
      <p:sp>
        <p:nvSpPr>
          <p:cNvPr id="22" name="Rounded Rectangle 21"/>
          <p:cNvSpPr/>
          <p:nvPr/>
        </p:nvSpPr>
        <p:spPr>
          <a:xfrm>
            <a:off x="497190" y="5968000"/>
            <a:ext cx="9695214"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0" i="0" a:lang="ko-KR">
                <a:solidFill>
                  <a:srgbClr val="111111"/>
                </a:solidFill>
                <a:latin typeface="맑은 고딕"/>
                <a:ea typeface="맑은 고딕"/>
              </a:rPr>
              <a:t>오늘은 모델의 뼈대와 적용 결과를 중심으로 말씀드리고, 조항별 판정과 문항 전문은 부록에 두었습니다.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논문의 구성과 장 간 연결</a:t>
            </a:r>
          </a:p>
        </p:txBody>
      </p:sp>
      <p:sp>
        <p:nvSpPr>
          <p:cNvPr id="3" name="Rectangle 2"/>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a:t>
            </a:r>
          </a:p>
        </p:txBody>
      </p:sp>
      <p:sp>
        <p:nvSpPr>
          <p:cNvPr id="5" name="TextBox 4"/>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1.5, [그림 1-4]</a:t>
            </a:r>
          </a:p>
        </p:txBody>
      </p:sp>
      <p:pic>
        <p:nvPicPr>
          <p:cNvPr id="6" name="Picture 5" descr="ch0.png"/>
          <p:cNvPicPr>
            <a:picLocks noChangeAspect="1"/>
          </p:cNvPicPr>
          <p:nvPr/>
        </p:nvPicPr>
        <p:blipFill>
          <a:blip r:embed="rId2"/>
          <a:stretch>
            <a:fillRect/>
          </a:stretch>
        </p:blipFill>
        <p:spPr>
          <a:xfrm>
            <a:off x="1682842" y="1150000"/>
            <a:ext cx="7326315" cy="5799999"/>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왜 지금인가</a:t>
            </a:r>
          </a:p>
        </p:txBody>
      </p:sp>
      <p:sp>
        <p:nvSpPr>
          <p:cNvPr id="3" name="TextBox 2"/>
          <p:cNvSpPr txBox="1"/>
          <p:nvPr/>
        </p:nvSpPr>
        <p:spPr>
          <a:xfrm>
            <a:off x="7706852" y="110000"/>
            <a:ext cx="248555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Ⅰ. 개요 — 왜 이 연구인가</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제품 전과정의 정량 환경정보를 요구하는 규제가 늘고 있다.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1.1, 초록 [1]</a:t>
            </a:r>
          </a:p>
        </p:txBody>
      </p:sp>
      <p:sp>
        <p:nvSpPr>
          <p:cNvPr id="8" name="Rounded Rectangle 7"/>
          <p:cNvSpPr/>
          <p:nvPr/>
        </p:nvSpPr>
        <p:spPr>
          <a:xfrm>
            <a:off x="497190" y="1180000"/>
            <a:ext cx="1844416" cy="8064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규제</a:t>
            </a:r>
          </a:p>
        </p:txBody>
      </p:sp>
      <p:sp>
        <p:nvSpPr>
          <p:cNvPr id="9" name="Rounded Rectangle 8"/>
          <p:cNvSpPr/>
          <p:nvPr/>
        </p:nvSpPr>
        <p:spPr>
          <a:xfrm>
            <a:off x="2461895" y="1180000"/>
            <a:ext cx="7730509" cy="806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700" b="0" i="0" a:lang="ko-KR">
                <a:solidFill>
                  <a:srgbClr val="111111"/>
                </a:solidFill>
                <a:latin typeface="맑은 고딕"/>
                <a:ea typeface="맑은 고딕"/>
              </a:rPr>
              <a:t>탄소국경조정제도(CBAM)와 ESG 공시처럼 제품의 전과정 환경정보를 요구하는 규제가 늘고 있다</a:t>
            </a:r>
          </a:p>
        </p:txBody>
      </p:sp>
      <p:sp>
        <p:nvSpPr>
          <p:cNvPr id="10" name="Down Arrow 9"/>
          <p:cNvSpPr/>
          <p:nvPr/>
        </p:nvSpPr>
        <p:spPr>
          <a:xfrm>
            <a:off x="1299110" y="2006560"/>
            <a:ext cx="240576" cy="262080"/>
          </a:xfrm>
          <a:prstGeom prst="down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7190" y="2288800"/>
            <a:ext cx="1844416" cy="8064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함께 운영</a:t>
            </a:r>
          </a:p>
        </p:txBody>
      </p:sp>
      <p:sp>
        <p:nvSpPr>
          <p:cNvPr id="12" name="Rounded Rectangle 11"/>
          <p:cNvSpPr/>
          <p:nvPr/>
        </p:nvSpPr>
        <p:spPr>
          <a:xfrm>
            <a:off x="2461895" y="2288800"/>
            <a:ext cx="7730509" cy="806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700" b="0" i="0" a:lang="ko-KR">
                <a:solidFill>
                  <a:srgbClr val="111111"/>
                </a:solidFill>
                <a:latin typeface="맑은 고딕"/>
                <a:ea typeface="맑은 고딕"/>
              </a:rPr>
              <a:t>기업은 환경경영시스템(ISO 14001)과 전과정평가(LCA)를 함께 운영해야 하는 상황에 놓였다</a:t>
            </a:r>
          </a:p>
        </p:txBody>
      </p:sp>
      <p:sp>
        <p:nvSpPr>
          <p:cNvPr id="13" name="Down Arrow 12"/>
          <p:cNvSpPr/>
          <p:nvPr/>
        </p:nvSpPr>
        <p:spPr>
          <a:xfrm>
            <a:off x="1299110" y="3115360"/>
            <a:ext cx="240576" cy="262080"/>
          </a:xfrm>
          <a:prstGeom prst="down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97190" y="3397599"/>
            <a:ext cx="1844416" cy="8064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그러나 별도 운영</a:t>
            </a:r>
          </a:p>
        </p:txBody>
      </p:sp>
      <p:sp>
        <p:nvSpPr>
          <p:cNvPr id="15" name="Rounded Rectangle 14"/>
          <p:cNvSpPr/>
          <p:nvPr/>
        </p:nvSpPr>
        <p:spPr>
          <a:xfrm>
            <a:off x="2461895" y="3397599"/>
            <a:ext cx="7730509" cy="806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700" b="0" i="0" a:lang="ko-KR">
                <a:solidFill>
                  <a:srgbClr val="111111"/>
                </a:solidFill>
                <a:latin typeface="맑은 고딕"/>
                <a:ea typeface="맑은 고딕"/>
              </a:rPr>
              <a:t>실무에서는 두 체계가 별도로 운영되는 경우가 많다</a:t>
            </a:r>
          </a:p>
        </p:txBody>
      </p:sp>
      <p:sp>
        <p:nvSpPr>
          <p:cNvPr id="16" name="Down Arrow 15"/>
          <p:cNvSpPr/>
          <p:nvPr/>
        </p:nvSpPr>
        <p:spPr>
          <a:xfrm>
            <a:off x="1299110" y="4224160"/>
            <a:ext cx="240576" cy="262080"/>
          </a:xfrm>
          <a:prstGeom prst="down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97190" y="4506400"/>
            <a:ext cx="1844416" cy="8064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측정 기준의 부재</a:t>
            </a:r>
          </a:p>
        </p:txBody>
      </p:sp>
      <p:sp>
        <p:nvSpPr>
          <p:cNvPr id="18" name="Rounded Rectangle 17"/>
          <p:cNvSpPr/>
          <p:nvPr/>
        </p:nvSpPr>
        <p:spPr>
          <a:xfrm>
            <a:off x="2461895" y="4506400"/>
            <a:ext cx="7730509" cy="8064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700" b="1" i="0" a:lang="ko-KR">
                <a:solidFill>
                  <a:srgbClr val="C00000"/>
                </a:solidFill>
                <a:latin typeface="맑은 고딕"/>
                <a:ea typeface="맑은 고딕"/>
              </a:rPr>
              <a:t>두 표준을 연계하는 프로세스나 그 연계 수준을 측정하는 기준은 찾아보기 어렵다</a:t>
            </a:r>
          </a:p>
        </p:txBody>
      </p:sp>
      <p:sp>
        <p:nvSpPr>
          <p:cNvPr id="19" name="TextBox 18"/>
          <p:cNvSpPr txBox="1"/>
          <p:nvPr/>
        </p:nvSpPr>
        <p:spPr>
          <a:xfrm>
            <a:off x="497190" y="5615200"/>
            <a:ext cx="9695214" cy="604800"/>
          </a:xfrm>
          <a:prstGeom prst="rect">
            <a:avLst/>
          </a:prstGeom>
          <a:noFill/>
        </p:spPr>
        <p:txBody>
          <a:bodyPr wrap="square" anchor="t" lIns="0" rIns="0" tIns="0" bIns="0">
            <a:spAutoFit/>
          </a:bodyPr>
          <a:lstStyle/>
          <a:p>
            <a:r>
              <a:rPr sz="1400" b="0" i="0" a:lang="ko-KR">
                <a:solidFill>
                  <a:srgbClr val="595959"/>
                </a:solidFill>
                <a:latin typeface="맑은 고딕"/>
                <a:ea typeface="맑은 고딕"/>
              </a:rPr>
              <a:t>환경경영시스템(ISO 14001)은 전과정 관점을 고려하도록 요구하면서도 그 구체적 방법은 정하지 않았고, 전과정평가(LCA)의 방법은 별개 표준인 ISO 14044에 규정되어 있다.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두 표준이 서로 비워 둔 곳</a:t>
            </a:r>
          </a:p>
        </p:txBody>
      </p:sp>
      <p:sp>
        <p:nvSpPr>
          <p:cNvPr id="3" name="TextBox 2"/>
          <p:cNvSpPr txBox="1"/>
          <p:nvPr/>
        </p:nvSpPr>
        <p:spPr>
          <a:xfrm>
            <a:off x="7706852" y="110000"/>
            <a:ext cx="248555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Ⅰ. 개요 — 왜 이 연구인가</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한쪽은 방법이 없고, 다른 쪽은 주기가 없다.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1.1, 2.3, [표 2-3], 2.2.1</a:t>
            </a:r>
          </a:p>
        </p:txBody>
      </p:sp>
      <p:graphicFrame>
        <p:nvGraphicFramePr>
          <p:cNvPr id="8" name="Table 7"/>
          <p:cNvGraphicFramePr>
            <a:graphicFrameLocks noGrp="1"/>
          </p:cNvGraphicFramePr>
          <p:nvPr/>
        </p:nvGraphicFramePr>
        <p:xfrm>
          <a:off x="534479" y="1180000"/>
          <a:ext cx="9623040" cy="3435456"/>
        </p:xfrm>
        <a:graphic>
          <a:graphicData uri="http://schemas.openxmlformats.org/drawingml/2006/table">
            <a:tbl>
              <a:tblPr firstRow="1" bandRow="1">
                <a:tableStyleId>{5C22544A-7EE6-4342-B048-85BDC9FD1C3A}</a:tableStyleId>
              </a:tblPr>
              <a:tblGrid>
                <a:gridCol w="1924608"/>
                <a:gridCol w="2566144"/>
                <a:gridCol w="2566144"/>
                <a:gridCol w="2566144"/>
              </a:tblGrid>
              <a:tr h="624960">
                <a:tc>
                  <a:txBody>
                    <a:bodyPr wrap="square"/>
                    <a:lstStyle/>
                    <a:p>
                      <a:pPr algn="ctr"/>
                      <a:r>
                        <a:rPr sz="1400" b="1" i="0" a:lang="ko-KR">
                          <a:solidFill>
                            <a:srgbClr val="FFFFFF"/>
                          </a:solidFill>
                          <a:latin typeface="맑은 고딕"/>
                          <a:ea typeface="맑은 고딕"/>
                        </a:rPr>
                        <a:t>비교 항목</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환경경영시스템(ISO 14001) 단독</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전과정평가(LCA) 단독</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연계 운영</a:t>
                      </a:r>
                    </a:p>
                  </a:txBody>
                  <a:tcPr marL="64008" marR="64008" marT="27432" marB="27432" anchor="ctr">
                    <a:solidFill>
                      <a:srgbClr val="1F3864"/>
                    </a:solidFill>
                  </a:tcPr>
                </a:tc>
              </a:tr>
              <a:tr h="780288">
                <a:tc>
                  <a:txBody>
                    <a:bodyPr wrap="square"/>
                    <a:lstStyle/>
                    <a:p>
                      <a:pPr algn="l"/>
                      <a:r>
                        <a:rPr sz="1400" b="0" i="0" a:lang="ko-KR">
                          <a:solidFill>
                            <a:srgbClr val="111111"/>
                          </a:solidFill>
                          <a:latin typeface="맑은 고딕"/>
                          <a:ea typeface="맑은 고딕"/>
                        </a:rPr>
                        <a:t>접근의 성격</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관리적 프레임워크 — 전과정 관점은 고려 사항(6.1.2)</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정량적 분석 방법론 — 평가의 방법과 절차를 요구사항으로 규정</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관리 프레임워크와 정량 방법론의 결합</a:t>
                      </a:r>
                    </a:p>
                  </a:txBody>
                  <a:tcPr marL="64008" marR="64008" marT="27432" marB="27432" anchor="ctr">
                    <a:solidFill>
                      <a:srgbClr val="FFFFFF"/>
                    </a:solidFill>
                  </a:tcPr>
                </a:tc>
              </a:tr>
              <a:tr h="780288">
                <a:tc>
                  <a:txBody>
                    <a:bodyPr wrap="square"/>
                    <a:lstStyle/>
                    <a:p>
                      <a:pPr algn="l"/>
                      <a:r>
                        <a:rPr sz="1400" b="0" i="0" a:lang="ko-KR">
                          <a:solidFill>
                            <a:srgbClr val="111111"/>
                          </a:solidFill>
                          <a:latin typeface="맑은 고딕"/>
                          <a:ea typeface="맑은 고딕"/>
                        </a:rPr>
                        <a:t>전과정 환경영향의 정량 평가</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미흡</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수행(LCI·LCIA·해석)</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LCA 결과를 환경측면 결정·목표설정·성과평가의 객관적 데이터로 투입</a:t>
                      </a:r>
                    </a:p>
                  </a:txBody>
                  <a:tcPr marL="64008" marR="64008" marT="27432" marB="27432" anchor="ctr">
                    <a:solidFill>
                      <a:srgbClr val="E8EEF7"/>
                    </a:solidFill>
                  </a:tcPr>
                </a:tc>
              </a:tr>
              <a:tr h="624960">
                <a:tc>
                  <a:txBody>
                    <a:bodyPr wrap="square"/>
                    <a:lstStyle/>
                    <a:p>
                      <a:pPr algn="l"/>
                      <a:r>
                        <a:rPr sz="1400" b="0" i="0" a:lang="ko-KR">
                          <a:solidFill>
                            <a:srgbClr val="111111"/>
                          </a:solidFill>
                          <a:latin typeface="맑은 고딕"/>
                          <a:ea typeface="맑은 고딕"/>
                        </a:rPr>
                        <a:t>경영시스템과의 통합·실행 구조</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PDCA 관리 구조 보유</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통합 미흡, 실행 전략·운영 지침 부재</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PDCA 관리 주기에 LCA 연결</a:t>
                      </a:r>
                    </a:p>
                  </a:txBody>
                  <a:tcPr marL="64008" marR="64008" marT="27432" marB="27432" anchor="ctr">
                    <a:solidFill>
                      <a:srgbClr val="FFFFFF"/>
                    </a:solidFill>
                  </a:tcPr>
                </a:tc>
              </a:tr>
              <a:tr h="624960">
                <a:tc>
                  <a:txBody>
                    <a:bodyPr wrap="square"/>
                    <a:lstStyle/>
                    <a:p>
                      <a:pPr algn="l"/>
                      <a:r>
                        <a:rPr sz="1400" b="0" i="0" a:lang="ko-KR">
                          <a:solidFill>
                            <a:srgbClr val="111111"/>
                          </a:solidFill>
                          <a:latin typeface="맑은 고딕"/>
                          <a:ea typeface="맑은 고딕"/>
                        </a:rPr>
                        <a:t>지속성(반복 수행)</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관리 주기는 있으나 되풀이할 정량 평가 방법이 없음</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일회성 평가로 종결되기 쉬움</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주기적 반복 수행이 가능한 관리 구조</a:t>
                      </a:r>
                    </a:p>
                  </a:txBody>
                  <a:tcPr marL="64008" marR="64008" marT="27432" marB="27432" anchor="ctr">
                    <a:solidFill>
                      <a:srgbClr val="E8EEF7"/>
                    </a:solidFill>
                  </a:tcPr>
                </a:tc>
              </a:tr>
            </a:tbl>
          </a:graphicData>
        </a:graphic>
      </p:graphicFrame>
      <p:sp>
        <p:nvSpPr>
          <p:cNvPr id="9" name="Rounded Rectangle 8"/>
          <p:cNvSpPr/>
          <p:nvPr/>
        </p:nvSpPr>
        <p:spPr>
          <a:xfrm>
            <a:off x="497190" y="4705456"/>
            <a:ext cx="4731328" cy="1008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1F3864"/>
                </a:solidFill>
                <a:latin typeface="맑은 고딕"/>
                <a:ea typeface="맑은 고딕"/>
              </a:rPr>
              <a:t>환경경영시스템(ISO 14001) 유효 인증</a:t>
            </a:r>
          </a:p>
          <a:p>
            <a:pPr algn="ctr"/>
            <a:r>
              <a:rPr sz="1500" b="0" i="0" a:lang="ko-KR">
                <a:solidFill>
                  <a:srgbClr val="111111"/>
                </a:solidFill>
                <a:latin typeface="맑은 고딕"/>
                <a:ea typeface="맑은 고딕"/>
              </a:rPr>
              <a:t>국내 28,137건 (세계 2위, ISO Survey 2024)</a:t>
            </a:r>
          </a:p>
        </p:txBody>
      </p:sp>
      <p:sp>
        <p:nvSpPr>
          <p:cNvPr id="10" name="Rounded Rectangle 9"/>
          <p:cNvSpPr/>
          <p:nvPr/>
        </p:nvSpPr>
        <p:spPr>
          <a:xfrm>
            <a:off x="5461076" y="4705456"/>
            <a:ext cx="4731328" cy="1008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1F3864"/>
                </a:solidFill>
                <a:latin typeface="맑은 고딕"/>
                <a:ea typeface="맑은 고딕"/>
              </a:rPr>
              <a:t>환경성적표지 유효 인증 (LCA 수행 전제)</a:t>
            </a:r>
          </a:p>
          <a:p>
            <a:pPr algn="ctr"/>
            <a:r>
              <a:rPr sz="1500" b="0" i="0" a:lang="ko-KR">
                <a:solidFill>
                  <a:srgbClr val="111111"/>
                </a:solidFill>
                <a:latin typeface="맑은 고딕"/>
                <a:ea typeface="맑은 고딕"/>
              </a:rPr>
              <a:t>707개 기업 · 3,595개 제품 (2026.8.31. 기준)</a:t>
            </a:r>
          </a:p>
        </p:txBody>
      </p:sp>
      <p:sp>
        <p:nvSpPr>
          <p:cNvPr id="11" name="TextBox 10"/>
          <p:cNvSpPr txBox="1"/>
          <p:nvPr/>
        </p:nvSpPr>
        <p:spPr>
          <a:xfrm>
            <a:off x="497190" y="5915056"/>
            <a:ext cx="9695214" cy="705600"/>
          </a:xfrm>
          <a:prstGeom prst="rect">
            <a:avLst/>
          </a:prstGeom>
          <a:noFill/>
        </p:spPr>
        <p:txBody>
          <a:bodyPr wrap="square" anchor="t" lIns="0" rIns="0" tIns="0" bIns="0">
            <a:spAutoFit/>
          </a:bodyPr>
          <a:lstStyle/>
          <a:p>
            <a:r>
              <a:rPr sz="1400" b="0" i="0" a:lang="ko-KR">
                <a:solidFill>
                  <a:srgbClr val="595959"/>
                </a:solidFill>
                <a:latin typeface="맑은 고딕"/>
                <a:ea typeface="맑은 고딕"/>
              </a:rPr>
              <a:t>두 표준은 서로 필요한 것을 갖고 있다 — 관리 주기(14001)와 정량적 방법(LCA). 두 체계를 함께 운영하는 조직은 아직 제한적이다(인증 없이 수행되는 LCA는 집계 밖).</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「LCA를 했다」가 뜻하는 두 상태</a:t>
            </a:r>
          </a:p>
        </p:txBody>
      </p:sp>
      <p:sp>
        <p:nvSpPr>
          <p:cNvPr id="3" name="TextBox 2"/>
          <p:cNvSpPr txBox="1"/>
          <p:nvPr/>
        </p:nvSpPr>
        <p:spPr>
          <a:xfrm>
            <a:off x="7706852" y="110000"/>
            <a:ext cx="248555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Ⅰ. 개요 — 왜 이 연구인가</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연계는 있고 없고가 아니라 정도의 문제다.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1.2.1, [그림 1-1]</a:t>
            </a:r>
          </a:p>
        </p:txBody>
      </p:sp>
      <p:pic>
        <p:nvPicPr>
          <p:cNvPr id="8" name="Picture 7" descr="g1-1.png"/>
          <p:cNvPicPr>
            <a:picLocks noChangeAspect="1"/>
          </p:cNvPicPr>
          <p:nvPr/>
        </p:nvPicPr>
        <p:blipFill>
          <a:blip r:embed="rId2"/>
          <a:stretch>
            <a:fillRect/>
          </a:stretch>
        </p:blipFill>
        <p:spPr>
          <a:xfrm>
            <a:off x="982723" y="1233360"/>
            <a:ext cx="8726553" cy="4508719"/>
          </a:xfrm>
          <a:prstGeom prst="rect">
            <a:avLst/>
          </a:prstGeom>
        </p:spPr>
      </p:pic>
      <p:sp>
        <p:nvSpPr>
          <p:cNvPr id="9" name="TextBox 8"/>
          <p:cNvSpPr txBox="1"/>
          <p:nvPr/>
        </p:nvSpPr>
        <p:spPr>
          <a:xfrm>
            <a:off x="497190" y="5812080"/>
            <a:ext cx="9695214" cy="1137920"/>
          </a:xfrm>
          <a:prstGeom prst="rect">
            <a:avLst/>
          </a:prstGeom>
          <a:noFill/>
        </p:spPr>
        <p:txBody>
          <a:bodyPr wrap="square" anchor="t" lIns="0" rIns="0" tIns="0" bIns="0">
            <a:spAutoFit/>
          </a:bodyPr>
          <a:lstStyle/>
          <a:p>
            <a:pPr>
              <a:spcAft>
                <a:spcPts val="400"/>
              </a:spcAft>
            </a:pPr>
            <a:r>
              <a:rPr sz="1500" b="0" i="0" a:lang="ko-KR">
                <a:solidFill>
                  <a:srgbClr val="111111"/>
                </a:solidFill>
                <a:latin typeface="맑은 고딕"/>
                <a:ea typeface="맑은 고딕"/>
              </a:rPr>
              <a:t>상태 A — 인증 갱신·고객 요구에 맞춰 보고서를 한 차례 받아 두고 끝냄 → LCA는 경영시스템과 분리된 보고서</a:t>
            </a:r>
          </a:p>
          <a:p>
            <a:pPr>
              <a:spcAft>
                <a:spcPts val="400"/>
              </a:spcAft>
            </a:pPr>
            <a:r>
              <a:rPr sz="1500" b="0" i="0" a:lang="ko-KR">
                <a:solidFill>
                  <a:srgbClr val="111111"/>
                </a:solidFill>
                <a:latin typeface="맑은 고딕"/>
                <a:ea typeface="맑은 고딕"/>
              </a:rPr>
              <a:t>상태 B — 그 결과로 중대한 환경측면을 다시 결정하고 환경목표를 정하며 다음 해에 다시 산정 → LCA는 경영시스템의 운영에 쓰이는 입력</a:t>
            </a:r>
          </a:p>
          <a:p>
            <a:r>
              <a:rPr sz="1500" b="1" i="0" a:lang="ko-KR">
                <a:solidFill>
                  <a:srgbClr val="C00000"/>
                </a:solidFill>
                <a:latin typeface="맑은 고딕"/>
                <a:ea typeface="맑은 고딕"/>
              </a:rPr>
              <a:t>본 연구가 말하는 연계 = 상태 B. 그 정도를 측정할 척도가 필요하다 → 성숙도 모델</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연구 목적과 연구 문제</a:t>
            </a:r>
          </a:p>
        </p:txBody>
      </p:sp>
      <p:sp>
        <p:nvSpPr>
          <p:cNvPr id="3" name="TextBox 2"/>
          <p:cNvSpPr txBox="1"/>
          <p:nvPr/>
        </p:nvSpPr>
        <p:spPr>
          <a:xfrm>
            <a:off x="7706852" y="110000"/>
            <a:ext cx="248555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Ⅰ. 개요 — 왜 이 연구인가</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두 표준을 연계한 모델을 만들고, 그 모델로 성숙도를 평가하여, 결과를 개선 과제로 연결한다.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1.2.1, 1.2.2, 1.3.2, [그림 1-2]</a:t>
            </a:r>
          </a:p>
        </p:txBody>
      </p:sp>
      <p:pic>
        <p:nvPicPr>
          <p:cNvPr id="8" name="Picture 7" descr="f1-2.png"/>
          <p:cNvPicPr>
            <a:picLocks noChangeAspect="1"/>
          </p:cNvPicPr>
          <p:nvPr/>
        </p:nvPicPr>
        <p:blipFill>
          <a:blip r:embed="rId2"/>
          <a:stretch>
            <a:fillRect/>
          </a:stretch>
        </p:blipFill>
        <p:spPr>
          <a:xfrm>
            <a:off x="550000" y="1233360"/>
            <a:ext cx="5955744" cy="3929905"/>
          </a:xfrm>
          <a:prstGeom prst="rect">
            <a:avLst/>
          </a:prstGeom>
        </p:spPr>
      </p:pic>
      <p:sp>
        <p:nvSpPr>
          <p:cNvPr id="9" name="Rounded Rectangle 8"/>
          <p:cNvSpPr/>
          <p:nvPr/>
        </p:nvSpPr>
        <p:spPr>
          <a:xfrm>
            <a:off x="6575744" y="1562400"/>
            <a:ext cx="681632" cy="9576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RQ1</a:t>
            </a:r>
          </a:p>
        </p:txBody>
      </p:sp>
      <p:sp>
        <p:nvSpPr>
          <p:cNvPr id="10" name="Rounded Rectangle 9"/>
          <p:cNvSpPr/>
          <p:nvPr/>
        </p:nvSpPr>
        <p:spPr>
          <a:xfrm>
            <a:off x="7337569" y="1562400"/>
            <a:ext cx="2846816" cy="957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두 표준의 조항은 서로 어떻게 매핑되는가</a:t>
            </a:r>
          </a:p>
          <a:p>
            <a:pPr algn="l"/>
            <a:r>
              <a:rPr sz="1100" b="0" i="0" a:lang="ko-KR">
                <a:solidFill>
                  <a:srgbClr val="595959"/>
                </a:solidFill>
                <a:latin typeface="맑은 고딕"/>
                <a:ea typeface="맑은 고딕"/>
              </a:rPr>
              <a:t>목적 ① 연계 · 2장 · 3.2.2</a:t>
            </a:r>
          </a:p>
        </p:txBody>
      </p:sp>
      <p:sp>
        <p:nvSpPr>
          <p:cNvPr id="11" name="Rounded Rectangle 10"/>
          <p:cNvSpPr/>
          <p:nvPr/>
        </p:nvSpPr>
        <p:spPr>
          <a:xfrm>
            <a:off x="6575744" y="2691360"/>
            <a:ext cx="681632" cy="9576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RQ2</a:t>
            </a:r>
          </a:p>
        </p:txBody>
      </p:sp>
      <p:sp>
        <p:nvSpPr>
          <p:cNvPr id="12" name="Rounded Rectangle 11"/>
          <p:cNvSpPr/>
          <p:nvPr/>
        </p:nvSpPr>
        <p:spPr>
          <a:xfrm>
            <a:off x="7337569" y="2691360"/>
            <a:ext cx="2846816" cy="957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연계 프로세스와 평가지표는 어떻게 구성되는가</a:t>
            </a:r>
          </a:p>
          <a:p>
            <a:pPr algn="l"/>
            <a:r>
              <a:rPr sz="1100" b="0" i="0" a:lang="ko-KR">
                <a:solidFill>
                  <a:srgbClr val="595959"/>
                </a:solidFill>
                <a:latin typeface="맑은 고딕"/>
                <a:ea typeface="맑은 고딕"/>
              </a:rPr>
              <a:t>목적 ② 모델링(참조·평가) · 3.2 · 3.3</a:t>
            </a:r>
          </a:p>
        </p:txBody>
      </p:sp>
      <p:sp>
        <p:nvSpPr>
          <p:cNvPr id="13" name="Rounded Rectangle 12"/>
          <p:cNvSpPr/>
          <p:nvPr/>
        </p:nvSpPr>
        <p:spPr>
          <a:xfrm>
            <a:off x="6575744" y="3820320"/>
            <a:ext cx="681632" cy="9576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RQ3</a:t>
            </a:r>
          </a:p>
        </p:txBody>
      </p:sp>
      <p:sp>
        <p:nvSpPr>
          <p:cNvPr id="14" name="Rounded Rectangle 13"/>
          <p:cNvSpPr/>
          <p:nvPr/>
        </p:nvSpPr>
        <p:spPr>
          <a:xfrm>
            <a:off x="7337569" y="3820320"/>
            <a:ext cx="2846816" cy="957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성숙도는 어떤 규칙으로 판정되는가</a:t>
            </a:r>
          </a:p>
          <a:p>
            <a:pPr algn="l"/>
            <a:r>
              <a:rPr sz="1100" b="0" i="0" a:lang="ko-KR">
                <a:solidFill>
                  <a:srgbClr val="595959"/>
                </a:solidFill>
                <a:latin typeface="맑은 고딕"/>
                <a:ea typeface="맑은 고딕"/>
              </a:rPr>
              <a:t>목적 ② 모델링(성숙도) · 3.4</a:t>
            </a:r>
          </a:p>
        </p:txBody>
      </p:sp>
      <p:sp>
        <p:nvSpPr>
          <p:cNvPr id="15" name="Rounded Rectangle 14"/>
          <p:cNvSpPr/>
          <p:nvPr/>
        </p:nvSpPr>
        <p:spPr>
          <a:xfrm>
            <a:off x="6575744" y="4949280"/>
            <a:ext cx="681632" cy="9576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RQ4</a:t>
            </a:r>
          </a:p>
        </p:txBody>
      </p:sp>
      <p:sp>
        <p:nvSpPr>
          <p:cNvPr id="16" name="Rounded Rectangle 15"/>
          <p:cNvSpPr/>
          <p:nvPr/>
        </p:nvSpPr>
        <p:spPr>
          <a:xfrm>
            <a:off x="7337569" y="4949280"/>
            <a:ext cx="2846816" cy="957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그 판정 결과가 실제 조직에서 어떤 의미를 갖는가</a:t>
            </a:r>
          </a:p>
          <a:p>
            <a:pPr algn="l"/>
            <a:r>
              <a:rPr sz="1100" b="0" i="0" a:lang="ko-KR">
                <a:solidFill>
                  <a:srgbClr val="595959"/>
                </a:solidFill>
                <a:latin typeface="맑은 고딕"/>
                <a:ea typeface="맑은 고딕"/>
              </a:rPr>
              <a:t>목적 ③ 평가 · ④ 개선 · 4장 · 5장</a:t>
            </a:r>
          </a:p>
        </p:txBody>
      </p:sp>
      <p:sp>
        <p:nvSpPr>
          <p:cNvPr id="17" name="TextBox 16"/>
          <p:cNvSpPr txBox="1"/>
          <p:nvPr/>
        </p:nvSpPr>
        <p:spPr>
          <a:xfrm>
            <a:off x="6575744" y="6148800"/>
            <a:ext cx="3608640" cy="604800"/>
          </a:xfrm>
          <a:prstGeom prst="rect">
            <a:avLst/>
          </a:prstGeom>
          <a:noFill/>
        </p:spPr>
        <p:txBody>
          <a:bodyPr wrap="square" anchor="t" lIns="0" rIns="0" tIns="0" bIns="0">
            <a:spAutoFit/>
          </a:bodyPr>
          <a:lstStyle/>
          <a:p>
            <a:r>
              <a:rPr sz="1300" b="0" i="0" a:lang="ko-KR">
                <a:solidFill>
                  <a:srgbClr val="595959"/>
                </a:solidFill>
                <a:latin typeface="맑은 고딕"/>
                <a:ea typeface="맑은 고딕"/>
              </a:rPr>
              <a:t>네 목적(① 연계 ② 모델링 ③ 성숙도 평가 ④ 개선)과 같은 순서 — 오늘 발표도 이 순서를 따른다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200" b="1" i="0" a:lang="ko-KR">
                <a:solidFill>
                  <a:srgbClr val="1F3864"/>
                </a:solidFill>
                <a:latin typeface="맑은 고딕"/>
                <a:ea typeface="맑은 고딕"/>
              </a:rPr>
              <a:t>환경경영시스템(ISO 14001)과 전과정 관점</a:t>
            </a:r>
          </a:p>
        </p:txBody>
      </p:sp>
      <p:sp>
        <p:nvSpPr>
          <p:cNvPr id="3" name="TextBox 2"/>
          <p:cNvSpPr txBox="1"/>
          <p:nvPr/>
        </p:nvSpPr>
        <p:spPr>
          <a:xfrm>
            <a:off x="6924532" y="110000"/>
            <a:ext cx="326787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Ⅱ. 학술적 배경 — 무엇을 바탕으로</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전과정 관점은 요구되지만 그 이행 방법은 표준 안에 없다.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8</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2.1, [그림 2-3]</a:t>
            </a:r>
          </a:p>
        </p:txBody>
      </p:sp>
      <p:pic>
        <p:nvPicPr>
          <p:cNvPr id="8" name="Picture 7" descr="f2-3.png"/>
          <p:cNvPicPr>
            <a:picLocks noChangeAspect="1"/>
          </p:cNvPicPr>
          <p:nvPr/>
        </p:nvPicPr>
        <p:blipFill>
          <a:blip r:embed="rId2"/>
          <a:stretch>
            <a:fillRect/>
          </a:stretch>
        </p:blipFill>
        <p:spPr>
          <a:xfrm>
            <a:off x="480000" y="1233360"/>
            <a:ext cx="9732000" cy="4527181"/>
          </a:xfrm>
          <a:prstGeom prst="rect">
            <a:avLst/>
          </a:prstGeom>
        </p:spPr>
      </p:pic>
      <p:sp>
        <p:nvSpPr>
          <p:cNvPr id="9" name="TextBox 8"/>
          <p:cNvSpPr txBox="1"/>
          <p:nvPr/>
        </p:nvSpPr>
        <p:spPr>
          <a:xfrm>
            <a:off x="497190" y="5830541"/>
            <a:ext cx="9695214" cy="930656"/>
          </a:xfrm>
          <a:prstGeom prst="rect">
            <a:avLst/>
          </a:prstGeom>
          <a:noFill/>
        </p:spPr>
        <p:txBody>
          <a:bodyPr wrap="square" anchor="t" lIns="0" rIns="0" tIns="0" bIns="0">
            <a:spAutoFit/>
          </a:bodyPr>
          <a:lstStyle/>
          <a:p>
            <a:pPr>
              <a:spcAft>
                <a:spcPts val="400"/>
              </a:spcAft>
            </a:pPr>
            <a:r>
              <a:rPr sz="1600" b="0" i="0" a:lang="ko-KR">
                <a:solidFill>
                  <a:srgbClr val="111111"/>
                </a:solidFill>
                <a:latin typeface="맑은 고딕"/>
                <a:ea typeface="맑은 고딕"/>
              </a:rPr>
              <a:t>조항은 조직 상황(4)부터 개선(10)까지 일곱 군으로 묶여 PDCA로 순환한다.</a:t>
            </a:r>
          </a:p>
          <a:p>
            <a:pPr>
              <a:spcAft>
                <a:spcPts val="400"/>
              </a:spcAft>
            </a:pPr>
            <a:r>
              <a:rPr sz="1600" b="1" i="0" a:lang="ko-KR">
                <a:solidFill>
                  <a:srgbClr val="C00000"/>
                </a:solidFill>
                <a:latin typeface="맑은 고딕"/>
                <a:ea typeface="맑은 고딕"/>
              </a:rPr>
              <a:t>전과정 관점의 고려가 요구되는 곳 — 환경측면의 결정(6.1.2)과 운용기획 및 관리(8.1). 뒤에서 핵심 문항이 놓이는 자리다.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전과정평가(LCA)의 4단계</a:t>
            </a:r>
          </a:p>
        </p:txBody>
      </p:sp>
      <p:sp>
        <p:nvSpPr>
          <p:cNvPr id="3" name="TextBox 2"/>
          <p:cNvSpPr txBox="1"/>
          <p:nvPr/>
        </p:nvSpPr>
        <p:spPr>
          <a:xfrm>
            <a:off x="6924532" y="110000"/>
            <a:ext cx="326787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Ⅱ. 학술적 배경 — 무엇을 바탕으로</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한 번의 평가를 완결시키는 규정이며, 반복의 주기는 규정하지 않는다.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9</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2.2, [그림 2-4]</a:t>
            </a:r>
          </a:p>
        </p:txBody>
      </p:sp>
      <p:pic>
        <p:nvPicPr>
          <p:cNvPr id="8" name="Picture 7" descr="g2-4.png"/>
          <p:cNvPicPr>
            <a:picLocks noChangeAspect="1"/>
          </p:cNvPicPr>
          <p:nvPr/>
        </p:nvPicPr>
        <p:blipFill>
          <a:blip r:embed="rId2"/>
          <a:stretch>
            <a:fillRect/>
          </a:stretch>
        </p:blipFill>
        <p:spPr>
          <a:xfrm>
            <a:off x="1144508" y="1233360"/>
            <a:ext cx="8402983" cy="4766783"/>
          </a:xfrm>
          <a:prstGeom prst="rect">
            <a:avLst/>
          </a:prstGeom>
        </p:spPr>
      </p:pic>
      <p:sp>
        <p:nvSpPr>
          <p:cNvPr id="9" name="TextBox 8"/>
          <p:cNvSpPr txBox="1"/>
          <p:nvPr/>
        </p:nvSpPr>
        <p:spPr>
          <a:xfrm>
            <a:off x="497190" y="6070144"/>
            <a:ext cx="9695214" cy="879856"/>
          </a:xfrm>
          <a:prstGeom prst="rect">
            <a:avLst/>
          </a:prstGeom>
          <a:noFill/>
        </p:spPr>
        <p:txBody>
          <a:bodyPr wrap="square" anchor="t" lIns="0" rIns="0" tIns="0" bIns="0">
            <a:spAutoFit/>
          </a:bodyPr>
          <a:lstStyle/>
          <a:p>
            <a:pPr>
              <a:spcAft>
                <a:spcPts val="400"/>
              </a:spcAft>
            </a:pPr>
            <a:r>
              <a:rPr sz="1600" b="0" i="0" a:lang="ko-KR">
                <a:solidFill>
                  <a:srgbClr val="111111"/>
                </a:solidFill>
                <a:latin typeface="맑은 고딕"/>
                <a:ea typeface="맑은 고딕"/>
              </a:rPr>
              <a:t>목적 및 범위 정의 → 목록분석(LCI) → 영향평가(LCIA) → 해석. 해석은 세 단계 모두와 양방향으로 이어진다.</a:t>
            </a:r>
          </a:p>
          <a:p>
            <a:r>
              <a:rPr sz="1600" b="1" i="0" a:lang="ko-KR">
                <a:solidFill>
                  <a:srgbClr val="C00000"/>
                </a:solidFill>
                <a:latin typeface="맑은 고딕"/>
                <a:ea typeface="맑은 고딕"/>
              </a:rPr>
              <a:t>한 번의 수행은 이 안에서 완결되지만, 되풀이하는 관리 주기는 ISO 14044의 범위가 아니다.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600" b="1" i="0" a:lang="ko-KR">
                <a:solidFill>
                  <a:srgbClr val="1F3864"/>
                </a:solidFill>
                <a:latin typeface="맑은 고딕"/>
                <a:ea typeface="맑은 고딕"/>
              </a:rPr>
              <a:t>무엇을 어떻게 측정하는가 — 따른 표준</a:t>
            </a:r>
          </a:p>
        </p:txBody>
      </p:sp>
      <p:sp>
        <p:nvSpPr>
          <p:cNvPr id="3" name="TextBox 2"/>
          <p:cNvSpPr txBox="1"/>
          <p:nvPr/>
        </p:nvSpPr>
        <p:spPr>
          <a:xfrm>
            <a:off x="6924532" y="110000"/>
            <a:ext cx="326787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Ⅱ. 학술적 배경 — 무엇을 바탕으로</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모델의 뼈대는 모두 표준에서 가져왔다.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10</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1.3.3 [표 1-1], 2.4, 3.1.2</a:t>
            </a:r>
          </a:p>
        </p:txBody>
      </p:sp>
      <p:sp>
        <p:nvSpPr>
          <p:cNvPr id="8" name="Rounded Rectangle 7"/>
          <p:cNvSpPr/>
          <p:nvPr/>
        </p:nvSpPr>
        <p:spPr>
          <a:xfrm>
            <a:off x="497190" y="1180000"/>
            <a:ext cx="9695214"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1F3864"/>
                </a:solidFill>
                <a:latin typeface="맑은 고딕"/>
                <a:ea typeface="맑은 고딕"/>
              </a:rPr>
              <a:t>측정 대상 — 환경경영시스템(ISO 14001)과 전과정평가(LCA, ISO 14044)의 연계  ·  전조항 양방향 매핑</a:t>
            </a:r>
          </a:p>
        </p:txBody>
      </p:sp>
      <p:sp>
        <p:nvSpPr>
          <p:cNvPr id="9" name="Rounded Rectangle 8"/>
          <p:cNvSpPr/>
          <p:nvPr/>
        </p:nvSpPr>
        <p:spPr>
          <a:xfrm>
            <a:off x="497190" y="1966240"/>
            <a:ext cx="1603840" cy="1058400"/>
          </a:xfrm>
          <a:prstGeom prst="roundRect">
            <a:avLst>
              <a:gd name="adj" fmla="val 8000"/>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참조 모델</a:t>
            </a:r>
          </a:p>
          <a:p>
            <a:pPr algn="ctr"/>
            <a:r>
              <a:rPr sz="1300" b="0" i="0" a:lang="ko-KR">
                <a:solidFill>
                  <a:srgbClr val="FFFFFF"/>
                </a:solidFill>
                <a:latin typeface="맑은 고딕"/>
                <a:ea typeface="맑은 고딕"/>
              </a:rPr>
              <a:t>연계 프로세스 16종</a:t>
            </a:r>
          </a:p>
        </p:txBody>
      </p:sp>
      <p:sp>
        <p:nvSpPr>
          <p:cNvPr id="10" name="Rounded Rectangle 9"/>
          <p:cNvSpPr/>
          <p:nvPr/>
        </p:nvSpPr>
        <p:spPr>
          <a:xfrm>
            <a:off x="2221319" y="1966240"/>
            <a:ext cx="7971085" cy="1058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0" i="0" a:lang="ko-KR">
                <a:solidFill>
                  <a:srgbClr val="111111"/>
                </a:solidFill>
                <a:latin typeface="맑은 고딕"/>
                <a:ea typeface="맑은 고딕"/>
              </a:rPr>
              <a:t>ISO/IEC 33004  5.2·5.4 (형식의 요건)</a:t>
            </a:r>
          </a:p>
          <a:p>
            <a:pPr algn="l"/>
            <a:r>
              <a:rPr sz="1300" b="0" i="0" a:lang="ko-KR">
                <a:solidFill>
                  <a:srgbClr val="111111"/>
                </a:solidFill>
                <a:latin typeface="맑은 고딕"/>
                <a:ea typeface="맑은 고딕"/>
              </a:rPr>
              <a:t>KS X ISO 8000-61  5.1·5.3 (기술 형식 · PDCA 편성)</a:t>
            </a:r>
          </a:p>
          <a:p>
            <a:pPr algn="l"/>
            <a:r>
              <a:rPr sz="1300" b="0" i="0" a:lang="ko-KR">
                <a:solidFill>
                  <a:srgbClr val="111111"/>
                </a:solidFill>
                <a:latin typeface="맑은 고딕"/>
                <a:ea typeface="맑은 고딕"/>
              </a:rPr>
              <a:t>김선호·이창수(2013) 참조 모델의 원형</a:t>
            </a:r>
          </a:p>
        </p:txBody>
      </p:sp>
      <p:sp>
        <p:nvSpPr>
          <p:cNvPr id="11" name="Down Arrow 10"/>
          <p:cNvSpPr/>
          <p:nvPr/>
        </p:nvSpPr>
        <p:spPr>
          <a:xfrm>
            <a:off x="1178822" y="3034720"/>
            <a:ext cx="240576" cy="221760"/>
          </a:xfrm>
          <a:prstGeom prst="down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7190" y="3276639"/>
            <a:ext cx="1603840" cy="1058400"/>
          </a:xfrm>
          <a:prstGeom prst="roundRect">
            <a:avLst>
              <a:gd name="adj" fmla="val 8000"/>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평가 모델</a:t>
            </a:r>
          </a:p>
          <a:p>
            <a:pPr algn="ctr"/>
            <a:r>
              <a:rPr sz="1300" b="0" i="0" a:lang="ko-KR">
                <a:solidFill>
                  <a:srgbClr val="FFFFFF"/>
                </a:solidFill>
                <a:latin typeface="맑은 고딕"/>
                <a:ea typeface="맑은 고딕"/>
              </a:rPr>
              <a:t>55문항 · 채점 기준</a:t>
            </a:r>
          </a:p>
        </p:txBody>
      </p:sp>
      <p:sp>
        <p:nvSpPr>
          <p:cNvPr id="13" name="Rounded Rectangle 12"/>
          <p:cNvSpPr/>
          <p:nvPr/>
        </p:nvSpPr>
        <p:spPr>
          <a:xfrm>
            <a:off x="2221319" y="3276639"/>
            <a:ext cx="7971085" cy="1058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0" i="0" a:lang="ko-KR">
                <a:solidFill>
                  <a:srgbClr val="111111"/>
                </a:solidFill>
                <a:latin typeface="맑은 고딕"/>
                <a:ea typeface="맑은 고딕"/>
              </a:rPr>
              <a:t>ISO/IEC 33004  6.1·6.3.2 (참조 모델 + 측정 틀)</a:t>
            </a:r>
          </a:p>
          <a:p>
            <a:pPr algn="l"/>
            <a:r>
              <a:rPr sz="1300" b="0" i="0" a:lang="ko-KR">
                <a:solidFill>
                  <a:srgbClr val="111111"/>
                </a:solidFill>
                <a:latin typeface="맑은 고딕"/>
                <a:ea typeface="맑은 고딕"/>
              </a:rPr>
              <a:t>KS X ISO 8000-62  4.3·4.7·4.9 (평가 산출물)</a:t>
            </a:r>
          </a:p>
          <a:p>
            <a:pPr algn="l"/>
            <a:r>
              <a:rPr sz="1300" b="0" i="0" a:lang="ko-KR">
                <a:solidFill>
                  <a:srgbClr val="111111"/>
                </a:solidFill>
                <a:latin typeface="맑은 고딕"/>
                <a:ea typeface="맑은 고딕"/>
              </a:rPr>
              <a:t>ISO/IEC 33020  5.3·PA (N·P·L·F 부분 충족)  ·  33001 용어</a:t>
            </a:r>
          </a:p>
        </p:txBody>
      </p:sp>
      <p:sp>
        <p:nvSpPr>
          <p:cNvPr id="14" name="Down Arrow 13"/>
          <p:cNvSpPr/>
          <p:nvPr/>
        </p:nvSpPr>
        <p:spPr>
          <a:xfrm>
            <a:off x="1178822" y="4345119"/>
            <a:ext cx="240576" cy="221760"/>
          </a:xfrm>
          <a:prstGeom prst="down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97190" y="4587039"/>
            <a:ext cx="1603840" cy="1058400"/>
          </a:xfrm>
          <a:prstGeom prst="roundRect">
            <a:avLst>
              <a:gd name="adj" fmla="val 8000"/>
            </a:avLst>
          </a:prstGeom>
          <a:solidFill>
            <a:srgbClr val="6A3D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성숙도 모델</a:t>
            </a:r>
          </a:p>
          <a:p>
            <a:pPr algn="ctr"/>
            <a:r>
              <a:rPr sz="1300" b="0" i="0" a:lang="ko-KR">
                <a:solidFill>
                  <a:srgbClr val="FFFFFF"/>
                </a:solidFill>
                <a:latin typeface="맑은 고딕"/>
                <a:ea typeface="맑은 고딕"/>
              </a:rPr>
              <a:t>ML0~ML5 · 핵심 문항 4종</a:t>
            </a:r>
          </a:p>
        </p:txBody>
      </p:sp>
      <p:sp>
        <p:nvSpPr>
          <p:cNvPr id="16" name="Rounded Rectangle 15"/>
          <p:cNvSpPr/>
          <p:nvPr/>
        </p:nvSpPr>
        <p:spPr>
          <a:xfrm>
            <a:off x="2221319" y="4587039"/>
            <a:ext cx="7971085" cy="1058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0" i="0" a:lang="ko-KR">
                <a:solidFill>
                  <a:srgbClr val="111111"/>
                </a:solidFill>
                <a:latin typeface="맑은 고딕"/>
                <a:ea typeface="맑은 고딕"/>
              </a:rPr>
              <a:t>ISO/IEC 33004  7.1·7.3.5·7.3.6 (수준의 요건)</a:t>
            </a:r>
          </a:p>
          <a:p>
            <a:pPr algn="l"/>
            <a:r>
              <a:rPr sz="1300" b="0" i="0" a:lang="ko-KR">
                <a:solidFill>
                  <a:srgbClr val="111111"/>
                </a:solidFill>
                <a:latin typeface="맑은 고딕"/>
                <a:ea typeface="맑은 고딕"/>
              </a:rPr>
              <a:t>KS X ISO 8000-62  4.5.1·부속서 C (최소충족 판정)</a:t>
            </a:r>
          </a:p>
          <a:p>
            <a:pPr algn="l"/>
            <a:r>
              <a:rPr sz="1300" b="0" i="0" a:lang="ko-KR">
                <a:solidFill>
                  <a:srgbClr val="111111"/>
                </a:solidFill>
                <a:latin typeface="맑은 고딕"/>
                <a:ea typeface="맑은 고딕"/>
              </a:rPr>
              <a:t>ISO/IEC 33003  3.7·3.12 (형성형 · 비보상)  ·  33020 5.5</a:t>
            </a:r>
          </a:p>
        </p:txBody>
      </p:sp>
      <p:sp>
        <p:nvSpPr>
          <p:cNvPr id="17" name="Rounded Rectangle 16"/>
          <p:cNvSpPr/>
          <p:nvPr/>
        </p:nvSpPr>
        <p:spPr>
          <a:xfrm>
            <a:off x="497190" y="5796640"/>
            <a:ext cx="9695214" cy="68544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0" i="0" a:lang="ko-KR">
                <a:solidFill>
                  <a:srgbClr val="111111"/>
                </a:solidFill>
                <a:latin typeface="맑은 고딕"/>
                <a:ea typeface="맑은 고딕"/>
              </a:rPr>
              <a:t>평가의 수행 — ISO/IEC 33002 (평가 클래스)  ·  운영 준거 — KS Q ISO 19011 · ISO/IEC 17024 · KS Q ISO 10015 · KS I ISO 14004  ·  문장 판별 — KS A 0001  ·  「핵심 문항」 용어 — KS Q 8001·8002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선행연구와 연구 공백</a:t>
            </a:r>
          </a:p>
        </p:txBody>
      </p:sp>
      <p:sp>
        <p:nvSpPr>
          <p:cNvPr id="3" name="TextBox 2"/>
          <p:cNvSpPr txBox="1"/>
          <p:nvPr/>
        </p:nvSpPr>
        <p:spPr>
          <a:xfrm>
            <a:off x="6924532" y="110000"/>
            <a:ext cx="326787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Ⅱ. 학술적 배경 — 무엇을 바탕으로</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 자체를 조항 단위로 판정한 모델은 찾아보기 어렵다.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11</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2.5, [표 2-4], [표 2-5], [그림 2-7]</a:t>
            </a:r>
          </a:p>
        </p:txBody>
      </p:sp>
      <p:pic>
        <p:nvPicPr>
          <p:cNvPr id="8" name="Picture 7" descr="f2-7.png"/>
          <p:cNvPicPr>
            <a:picLocks noChangeAspect="1"/>
          </p:cNvPicPr>
          <p:nvPr/>
        </p:nvPicPr>
        <p:blipFill>
          <a:blip r:embed="rId2"/>
          <a:stretch>
            <a:fillRect/>
          </a:stretch>
        </p:blipFill>
        <p:spPr>
          <a:xfrm>
            <a:off x="1567672" y="1233360"/>
            <a:ext cx="7556656" cy="4257767"/>
          </a:xfrm>
          <a:prstGeom prst="rect">
            <a:avLst/>
          </a:prstGeom>
        </p:spPr>
      </p:pic>
      <p:sp>
        <p:nvSpPr>
          <p:cNvPr id="9" name="TextBox 8"/>
          <p:cNvSpPr txBox="1"/>
          <p:nvPr/>
        </p:nvSpPr>
        <p:spPr>
          <a:xfrm>
            <a:off x="497190" y="5561128"/>
            <a:ext cx="9695214" cy="1388872"/>
          </a:xfrm>
          <a:prstGeom prst="rect">
            <a:avLst/>
          </a:prstGeom>
          <a:noFill/>
        </p:spPr>
        <p:txBody>
          <a:bodyPr wrap="square" anchor="t" lIns="0" rIns="0" tIns="0" bIns="0">
            <a:spAutoFit/>
          </a:bodyPr>
          <a:lstStyle/>
          <a:p>
            <a:pPr>
              <a:spcAft>
                <a:spcPts val="300"/>
              </a:spcAft>
            </a:pPr>
            <a:r>
              <a:rPr sz="1400" b="0" i="0" a:lang="ko-KR">
                <a:solidFill>
                  <a:srgbClr val="111111"/>
                </a:solidFill>
                <a:latin typeface="맑은 고딕"/>
                <a:ea typeface="맑은 고딕"/>
              </a:rPr>
              <a:t>방법론 축 — 판정의 원리를 주었으나 적용 분야가 소프트웨어·데이터에 한정   /   분야 축 — 환경을 다루되 환경경영 운영·제품 설계·LCA 활용의 단일 측면에 머묾</a:t>
            </a:r>
          </a:p>
          <a:p>
            <a:pPr>
              <a:spcAft>
                <a:spcPts val="300"/>
              </a:spcAft>
            </a:pPr>
            <a:r>
              <a:rPr sz="1200" b="0" i="0" a:lang="ko-KR">
                <a:solidFill>
                  <a:srgbClr val="595959"/>
                </a:solidFill>
                <a:latin typeface="맑은 고딕"/>
                <a:ea typeface="맑은 고딕"/>
              </a:rPr>
              <a:t>※ 방법론 축 — 「공공데이터 품질관리를 위한 조직 성숙도 평가 모델」(김선호·이창수 외, 2015), 「활동능력수준 기반의 공공데이터 품질관리 성숙수준 평가 모델」(김선호·이진우·이창수, 2017)</a:t>
            </a:r>
          </a:p>
          <a:p>
            <a:r>
              <a:rPr sz="1200" b="0" i="0" a:lang="ko-KR">
                <a:solidFill>
                  <a:srgbClr val="595959"/>
                </a:solidFill>
                <a:latin typeface="맑은 고딕"/>
                <a:ea typeface="맑은 고딕"/>
              </a:rPr>
              <a:t>※ 분야 축 — EMM: 환경경영 성숙도 모델(Ormazabal 외, 2017) · EcoM2: 에코디자인 성숙도 모델(Pigosso 외, 2013·2014) · LCM CMM: 전과정경영 역량 성숙도 모델(Swarr 외, UNEP/SETAC 2011)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200" b="1" i="0" a:lang="ko-KR">
                <a:solidFill>
                  <a:srgbClr val="1F3864"/>
                </a:solidFill>
                <a:latin typeface="맑은 고딕"/>
                <a:ea typeface="맑은 고딕"/>
              </a:rPr>
              <a:t>연계 성숙도 평가 모델(LMA) — 입력 · 과정 · 출력</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참조·평가·성숙도의 세 계층으로 만들었다.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12</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3.1.2, 3.2~3.4, [그림 3-2]</a:t>
            </a:r>
          </a:p>
        </p:txBody>
      </p:sp>
      <p:pic>
        <p:nvPicPr>
          <p:cNvPr id="8" name="Picture 7" descr="ch3.png"/>
          <p:cNvPicPr>
            <a:picLocks noChangeAspect="1"/>
          </p:cNvPicPr>
          <p:nvPr/>
        </p:nvPicPr>
        <p:blipFill>
          <a:blip r:embed="rId2"/>
          <a:stretch>
            <a:fillRect/>
          </a:stretch>
        </p:blipFill>
        <p:spPr>
          <a:xfrm>
            <a:off x="2487680" y="1233360"/>
            <a:ext cx="5716639" cy="5716639"/>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두 표준을 맞댄 방법 — 조항 매핑</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조항마다 같은 물음을 물어 연계 가능성을 등급으로 매겼다.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13</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3.2.2, [표 3-2], 부록 A·B.1</a:t>
            </a:r>
          </a:p>
        </p:txBody>
      </p:sp>
      <p:sp>
        <p:nvSpPr>
          <p:cNvPr id="8" name="TextBox 7"/>
          <p:cNvSpPr txBox="1"/>
          <p:nvPr/>
        </p:nvSpPr>
        <p:spPr>
          <a:xfrm>
            <a:off x="497190" y="1180000"/>
            <a:ext cx="4490752" cy="2363184"/>
          </a:xfrm>
          <a:prstGeom prst="rect">
            <a:avLst/>
          </a:prstGeom>
          <a:noFill/>
        </p:spPr>
        <p:txBody>
          <a:bodyPr wrap="square" anchor="t" lIns="0" rIns="0" tIns="0" bIns="0">
            <a:spAutoFit/>
          </a:bodyPr>
          <a:lstStyle/>
          <a:p>
            <a:pPr>
              <a:spcAft>
                <a:spcPts val="400"/>
              </a:spcAft>
            </a:pPr>
            <a:r>
              <a:rPr sz="1600" b="1" i="0" a:lang="ko-KR">
                <a:solidFill>
                  <a:srgbClr val="2E74B5"/>
                </a:solidFill>
                <a:latin typeface="맑은 고딕"/>
                <a:ea typeface="맑은 고딕"/>
              </a:rPr>
              <a:t>네 가지 판정 질문 — 전조항에 같은 순서로</a:t>
            </a:r>
          </a:p>
          <a:p>
            <a:pPr>
              <a:spcAft>
                <a:spcPts val="300"/>
              </a:spcAft>
            </a:pPr>
            <a:r>
              <a:rPr sz="1500" b="0" i="0" a:lang="ko-KR">
                <a:solidFill>
                  <a:srgbClr val="111111"/>
                </a:solidFill>
                <a:latin typeface="맑은 고딕"/>
                <a:ea typeface="맑은 고딕"/>
              </a:rPr>
              <a:t>Q1 전과정 관점을 명시적으로 요구하거나 그 결과를 직접 입력으로 삼는가?</a:t>
            </a:r>
          </a:p>
          <a:p>
            <a:pPr>
              <a:spcAft>
                <a:spcPts val="300"/>
              </a:spcAft>
            </a:pPr>
            <a:r>
              <a:rPr sz="1500" b="0" i="0" a:lang="ko-KR">
                <a:solidFill>
                  <a:srgbClr val="111111"/>
                </a:solidFill>
                <a:latin typeface="맑은 고딕"/>
                <a:ea typeface="맑은 고딕"/>
              </a:rPr>
              <a:t>Q2 LCA 산출물 없이는 shall 이행이 불완전한가?</a:t>
            </a:r>
          </a:p>
          <a:p>
            <a:pPr>
              <a:spcAft>
                <a:spcPts val="300"/>
              </a:spcAft>
            </a:pPr>
            <a:r>
              <a:rPr sz="1500" b="0" i="0" a:lang="ko-KR">
                <a:solidFill>
                  <a:srgbClr val="111111"/>
                </a:solidFill>
                <a:latin typeface="맑은 고딕"/>
                <a:ea typeface="맑은 고딕"/>
              </a:rPr>
              <a:t>Q3 LCA 결과가 주요 입력값인가?</a:t>
            </a:r>
          </a:p>
          <a:p>
            <a:pPr>
              <a:spcAft>
                <a:spcPts val="300"/>
              </a:spcAft>
            </a:pPr>
            <a:r>
              <a:rPr sz="1500" b="0" i="0" a:lang="ko-KR">
                <a:solidFill>
                  <a:srgbClr val="111111"/>
                </a:solidFill>
                <a:latin typeface="맑은 고딕"/>
                <a:ea typeface="맑은 고딕"/>
              </a:rPr>
              <a:t>Q4 보조 정보라도 제공하는가?</a:t>
            </a:r>
          </a:p>
        </p:txBody>
      </p:sp>
      <p:graphicFrame>
        <p:nvGraphicFramePr>
          <p:cNvPr id="9" name="Table 8"/>
          <p:cNvGraphicFramePr>
            <a:graphicFrameLocks noGrp="1"/>
          </p:cNvGraphicFramePr>
          <p:nvPr/>
        </p:nvGraphicFramePr>
        <p:xfrm>
          <a:off x="5052096" y="1180000"/>
          <a:ext cx="5132288" cy="4759616"/>
        </p:xfrm>
        <a:graphic>
          <a:graphicData uri="http://schemas.openxmlformats.org/drawingml/2006/table">
            <a:tbl>
              <a:tblPr firstRow="1" bandRow="1">
                <a:tableStyleId>{5C22544A-7EE6-4342-B048-85BDC9FD1C3A}</a:tableStyleId>
              </a:tblPr>
              <a:tblGrid>
                <a:gridCol w="865240"/>
                <a:gridCol w="2646336"/>
                <a:gridCol w="1620712"/>
              </a:tblGrid>
              <a:tr h="725760">
                <a:tc>
                  <a:txBody>
                    <a:bodyPr wrap="square"/>
                    <a:lstStyle/>
                    <a:p>
                      <a:pPr algn="ctr"/>
                      <a:r>
                        <a:rPr sz="1400" b="1" i="0" a:lang="ko-KR">
                          <a:solidFill>
                            <a:srgbClr val="FFFFFF"/>
                          </a:solidFill>
                          <a:latin typeface="맑은 고딕"/>
                          <a:ea typeface="맑은 고딕"/>
                        </a:rPr>
                        <a:t>판정 등급</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판정 요건 (요지)</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해당 조항</a:t>
                      </a:r>
                    </a:p>
                  </a:txBody>
                  <a:tcPr marL="64008" marR="64008" marT="27432" marB="27432" anchor="ctr">
                    <a:solidFill>
                      <a:srgbClr val="1F3864"/>
                    </a:solidFill>
                  </a:tcPr>
                </a:tc>
              </a:tr>
              <a:tr h="1263904">
                <a:tc>
                  <a:txBody>
                    <a:bodyPr wrap="square"/>
                    <a:lstStyle/>
                    <a:p>
                      <a:pPr algn="l"/>
                      <a:r>
                        <a:rPr sz="1400" b="1" i="0" a:lang="ko-KR">
                          <a:solidFill>
                            <a:srgbClr val="C00000"/>
                          </a:solidFill>
                          <a:latin typeface="맑은 고딕"/>
                          <a:ea typeface="맑은 고딕"/>
                        </a:rPr>
                        <a:t>매우 높음 (4)</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① 전과정 관점 명시적 요구 또는 그 결과의 직접 사용 ② LCA 없이 shall 이행 사실상 불완전 ③ LCA 결과가 핵심 산출물</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6.1.2 · 6.2.1 · 8.1 · 9.1.1</a:t>
                      </a:r>
                    </a:p>
                  </a:txBody>
                  <a:tcPr marL="64008" marR="64008" marT="27432" marB="27432" anchor="ctr">
                    <a:solidFill>
                      <a:srgbClr val="FFFFFF"/>
                    </a:solidFill>
                  </a:tcPr>
                </a:tc>
              </a:tr>
              <a:tr h="1263904">
                <a:tc>
                  <a:txBody>
                    <a:bodyPr wrap="square"/>
                    <a:lstStyle/>
                    <a:p>
                      <a:pPr algn="l"/>
                      <a:r>
                        <a:rPr sz="1400" b="0" i="0" a:lang="ko-KR">
                          <a:solidFill>
                            <a:srgbClr val="111111"/>
                          </a:solidFill>
                          <a:latin typeface="맑은 고딕"/>
                          <a:ea typeface="맑은 고딕"/>
                        </a:rPr>
                        <a:t>높음 (12)</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LCA 결과가 주요 입력값 또는 근거 — 없이도 이행 가능하나 품질 저하</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4.2, 4.3, 5.2, 6.1.1, 6.1.4, 6.2.2, 7.2, 7.4, 7.5.1, 9.3, 10.1, 10.3</a:t>
                      </a:r>
                    </a:p>
                  </a:txBody>
                  <a:tcPr marL="64008" marR="64008" marT="27432" marB="27432" anchor="ctr">
                    <a:solidFill>
                      <a:srgbClr val="E8EEF7"/>
                    </a:solidFill>
                  </a:tcPr>
                </a:tc>
              </a:tr>
              <a:tr h="780288">
                <a:tc>
                  <a:txBody>
                    <a:bodyPr wrap="square"/>
                    <a:lstStyle/>
                    <a:p>
                      <a:pPr algn="l"/>
                      <a:r>
                        <a:rPr sz="1400" b="0" i="0" a:lang="ko-KR">
                          <a:solidFill>
                            <a:srgbClr val="111111"/>
                          </a:solidFill>
                          <a:latin typeface="맑은 고딕"/>
                          <a:ea typeface="맑은 고딕"/>
                        </a:rPr>
                        <a:t>중간 (10)</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부가적 정보 제공 — 대체 수단으로 충분히 이행 가능</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4.1, 4.4, 5.1, 5.3, 7.1, 7.3, 7.5.2, 7.5.3, 9.2.1, 9.2.2</a:t>
                      </a:r>
                    </a:p>
                  </a:txBody>
                  <a:tcPr marL="64008" marR="64008" marT="27432" marB="27432" anchor="ctr">
                    <a:solidFill>
                      <a:srgbClr val="FFFFFF"/>
                    </a:solidFill>
                  </a:tcPr>
                </a:tc>
              </a:tr>
              <a:tr h="725760">
                <a:tc>
                  <a:txBody>
                    <a:bodyPr wrap="square"/>
                    <a:lstStyle/>
                    <a:p>
                      <a:pPr algn="l"/>
                      <a:r>
                        <a:rPr sz="1400" b="0" i="0" a:lang="ko-KR">
                          <a:solidFill>
                            <a:srgbClr val="111111"/>
                          </a:solidFill>
                          <a:latin typeface="맑은 고딕"/>
                          <a:ea typeface="맑은 고딕"/>
                        </a:rPr>
                        <a:t>낮음 (4)</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간접적 기초 데이터 제공 — 조항 본질이 LCA 영역 밖</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6.1.3, 8.2, 9.1.2, 10.2</a:t>
                      </a:r>
                    </a:p>
                  </a:txBody>
                  <a:tcPr marL="64008" marR="64008" marT="27432" marB="27432" anchor="ctr">
                    <a:solidFill>
                      <a:srgbClr val="E8EEF7"/>
                    </a:solidFill>
                  </a:tcPr>
                </a:tc>
              </a:tr>
            </a:tbl>
          </a:graphicData>
        </a:graphic>
      </p:graphicFrame>
      <p:sp>
        <p:nvSpPr>
          <p:cNvPr id="10" name="Rounded Rectangle 9"/>
          <p:cNvSpPr/>
          <p:nvPr/>
        </p:nvSpPr>
        <p:spPr>
          <a:xfrm>
            <a:off x="497190" y="4050800"/>
            <a:ext cx="4490752" cy="11088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C00000"/>
                </a:solidFill>
                <a:latin typeface="맑은 고딕"/>
                <a:ea typeface="맑은 고딕"/>
              </a:rPr>
              <a:t>「매우 높음」 4개 조항 = 뒤의 핵심 문항 4종의 자리</a:t>
            </a:r>
          </a:p>
          <a:p>
            <a:pPr algn="ctr"/>
            <a:r>
              <a:rPr sz="1400" b="0" i="0" a:lang="ko-KR">
                <a:solidFill>
                  <a:srgbClr val="111111"/>
                </a:solidFill>
                <a:latin typeface="맑은 고딕"/>
                <a:ea typeface="맑은 고딕"/>
              </a:rPr>
              <a:t>6.1.2 환경측면 · 6.2.1 환경목표 · 8.1 운용기획 및 관리 · 9.1.1 모니터링</a:t>
            </a:r>
          </a:p>
        </p:txBody>
      </p:sp>
      <p:sp>
        <p:nvSpPr>
          <p:cNvPr id="11" name="TextBox 10"/>
          <p:cNvSpPr txBox="1"/>
          <p:nvPr/>
        </p:nvSpPr>
        <p:spPr>
          <a:xfrm>
            <a:off x="497190" y="5742000"/>
            <a:ext cx="9695214" cy="1008000"/>
          </a:xfrm>
          <a:prstGeom prst="rect">
            <a:avLst/>
          </a:prstGeom>
          <a:noFill/>
        </p:spPr>
        <p:txBody>
          <a:bodyPr wrap="square" anchor="t" lIns="0" rIns="0" tIns="0" bIns="0">
            <a:spAutoFit/>
          </a:bodyPr>
          <a:lstStyle/>
          <a:p>
            <a:pPr>
              <a:spcAft>
                <a:spcPts val="300"/>
              </a:spcAft>
            </a:pPr>
            <a:r>
              <a:rPr sz="1100" b="0" i="0" a:lang="ko-KR">
                <a:solidFill>
                  <a:srgbClr val="595959"/>
                </a:solidFill>
                <a:latin typeface="맑은 고딕"/>
                <a:ea typeface="맑은 고딕"/>
              </a:rPr>
              <a:t>ISO 14001 30개 조항 단위(7.4.1~7.4.3은 7.4로 통합)의 전 조항 판정 — 조항별 판정 전문은 부록 A·B.1. 판정 질문의 적용 흐름은 [그림 3-3](백업 B-1).</a:t>
            </a:r>
          </a:p>
          <a:p>
            <a:r>
              <a:rPr sz="1100" b="0" i="0" a:lang="ko-KR">
                <a:solidFill>
                  <a:srgbClr val="595959"/>
                </a:solidFill>
                <a:latin typeface="맑은 고딕"/>
                <a:ea typeface="맑은 고딕"/>
              </a:rPr>
              <a:t>55문항 중 44문항은 ISO 14001 조항에, 11문항은 ISO 14044 고유 요건(목적·범위 정의, 목록분석, 보고, 정밀검토)에 대응한다.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연계 지점 — 두 관리 주기가 만나는 곳</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네 지점 가운데 하나가 끊기면 순환이 그 단계에서 멈춘다.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14</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3.2.2, [그림 3-4]</a:t>
            </a:r>
          </a:p>
        </p:txBody>
      </p:sp>
      <p:pic>
        <p:nvPicPr>
          <p:cNvPr id="8" name="Picture 7" descr="f3-3.jpg"/>
          <p:cNvPicPr>
            <a:picLocks noChangeAspect="1"/>
          </p:cNvPicPr>
          <p:nvPr/>
        </p:nvPicPr>
        <p:blipFill>
          <a:blip r:embed="rId2"/>
          <a:stretch>
            <a:fillRect/>
          </a:stretch>
        </p:blipFill>
        <p:spPr>
          <a:xfrm>
            <a:off x="1927013" y="1233360"/>
            <a:ext cx="6837974" cy="5128479"/>
          </a:xfrm>
          <a:prstGeom prst="rect">
            <a:avLst/>
          </a:prstGeom>
        </p:spPr>
      </p:pic>
      <p:sp>
        <p:nvSpPr>
          <p:cNvPr id="9" name="TextBox 8"/>
          <p:cNvSpPr txBox="1"/>
          <p:nvPr/>
        </p:nvSpPr>
        <p:spPr>
          <a:xfrm>
            <a:off x="497190" y="6431840"/>
            <a:ext cx="9695214" cy="518160"/>
          </a:xfrm>
          <a:prstGeom prst="rect">
            <a:avLst/>
          </a:prstGeom>
          <a:noFill/>
        </p:spPr>
        <p:txBody>
          <a:bodyPr wrap="square" anchor="t" lIns="0" rIns="0" tIns="0" bIns="0">
            <a:spAutoFit/>
          </a:bodyPr>
          <a:lstStyle/>
          <a:p>
            <a:r>
              <a:rPr sz="1500" b="0" i="0" a:lang="ko-KR">
                <a:solidFill>
                  <a:srgbClr val="111111"/>
                </a:solidFill>
                <a:latin typeface="맑은 고딕"/>
                <a:ea typeface="맑은 고딕"/>
              </a:rPr>
              <a:t>왼쪽 — ISO 14001의 관리 주기 / 오른쪽 — ISO 14044의 4단계. 굵은 선 네 개가 연계 성립의 필요조건에 해당하는 핵심 연계 지점 ①~④(6.1.2 · 6.2.1 · 8.1 · 9.1.1)이다.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참조 모델 — 연계 프로세스 16종</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 지점을 업무 단위로 묶고 표준의 형식으로 기술하였다.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15</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3.2.1, 3.2.3, [그림 3-6], [표 3-4]</a:t>
            </a:r>
          </a:p>
        </p:txBody>
      </p:sp>
      <p:pic>
        <p:nvPicPr>
          <p:cNvPr id="8" name="Picture 7" descr="f3-5.png"/>
          <p:cNvPicPr>
            <a:picLocks noChangeAspect="1"/>
          </p:cNvPicPr>
          <p:nvPr/>
        </p:nvPicPr>
        <p:blipFill>
          <a:blip r:embed="rId2"/>
          <a:stretch>
            <a:fillRect/>
          </a:stretch>
        </p:blipFill>
        <p:spPr>
          <a:xfrm>
            <a:off x="1158986" y="1233360"/>
            <a:ext cx="8374028" cy="4337023"/>
          </a:xfrm>
          <a:prstGeom prst="rect">
            <a:avLst/>
          </a:prstGeom>
        </p:spPr>
      </p:pic>
      <p:sp>
        <p:nvSpPr>
          <p:cNvPr id="9" name="Rounded Rectangle 8"/>
          <p:cNvSpPr/>
          <p:nvPr/>
        </p:nvSpPr>
        <p:spPr>
          <a:xfrm>
            <a:off x="497190" y="5640384"/>
            <a:ext cx="2285472" cy="756000"/>
          </a:xfrm>
          <a:prstGeom prst="roundRect">
            <a:avLst>
              <a:gd name="adj" fmla="val 8000"/>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P 계획</a:t>
            </a:r>
          </a:p>
          <a:p>
            <a:pPr algn="ctr"/>
            <a:r>
              <a:rPr sz="1200" b="0" i="0" a:lang="ko-KR">
                <a:solidFill>
                  <a:srgbClr val="FFFFFF"/>
                </a:solidFill>
                <a:latin typeface="맑은 고딕"/>
                <a:ea typeface="맑은 고딕"/>
              </a:rPr>
              <a:t>8종 · LP.1~LP.8</a:t>
            </a:r>
          </a:p>
        </p:txBody>
      </p:sp>
      <p:sp>
        <p:nvSpPr>
          <p:cNvPr id="10" name="Rounded Rectangle 9"/>
          <p:cNvSpPr/>
          <p:nvPr/>
        </p:nvSpPr>
        <p:spPr>
          <a:xfrm>
            <a:off x="2902951" y="5640384"/>
            <a:ext cx="2285472" cy="756000"/>
          </a:xfrm>
          <a:prstGeom prst="roundRect">
            <a:avLst>
              <a:gd name="adj" fmla="val 8000"/>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D 실행</a:t>
            </a:r>
          </a:p>
          <a:p>
            <a:pPr algn="ctr"/>
            <a:r>
              <a:rPr sz="1200" b="0" i="0" a:lang="ko-KR">
                <a:solidFill>
                  <a:srgbClr val="FFFFFF"/>
                </a:solidFill>
                <a:latin typeface="맑은 고딕"/>
                <a:ea typeface="맑은 고딕"/>
              </a:rPr>
              <a:t>2종 · LD.1~LD.2</a:t>
            </a:r>
          </a:p>
        </p:txBody>
      </p:sp>
      <p:sp>
        <p:nvSpPr>
          <p:cNvPr id="11" name="Rounded Rectangle 10"/>
          <p:cNvSpPr/>
          <p:nvPr/>
        </p:nvSpPr>
        <p:spPr>
          <a:xfrm>
            <a:off x="5308711" y="5640384"/>
            <a:ext cx="2285472" cy="756000"/>
          </a:xfrm>
          <a:prstGeom prst="roundRect">
            <a:avLst>
              <a:gd name="adj" fmla="val 8000"/>
            </a:avLst>
          </a:prstGeom>
          <a:solidFill>
            <a:srgbClr val="C77B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C 점검</a:t>
            </a:r>
          </a:p>
          <a:p>
            <a:pPr algn="ctr"/>
            <a:r>
              <a:rPr sz="1200" b="0" i="0" a:lang="ko-KR">
                <a:solidFill>
                  <a:srgbClr val="FFFFFF"/>
                </a:solidFill>
                <a:latin typeface="맑은 고딕"/>
                <a:ea typeface="맑은 고딕"/>
              </a:rPr>
              <a:t>3종 · LC.1~LC.3</a:t>
            </a:r>
          </a:p>
        </p:txBody>
      </p:sp>
      <p:sp>
        <p:nvSpPr>
          <p:cNvPr id="12" name="Rounded Rectangle 11"/>
          <p:cNvSpPr/>
          <p:nvPr/>
        </p:nvSpPr>
        <p:spPr>
          <a:xfrm>
            <a:off x="7714471" y="5640384"/>
            <a:ext cx="2285472" cy="756000"/>
          </a:xfrm>
          <a:prstGeom prst="roundRect">
            <a:avLst>
              <a:gd name="adj" fmla="val 8000"/>
            </a:avLst>
          </a:prstGeom>
          <a:solidFill>
            <a:srgbClr val="6A3D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A 개선</a:t>
            </a:r>
          </a:p>
          <a:p>
            <a:pPr algn="ctr"/>
            <a:r>
              <a:rPr sz="1200" b="0" i="0" a:lang="ko-KR">
                <a:solidFill>
                  <a:srgbClr val="FFFFFF"/>
                </a:solidFill>
                <a:latin typeface="맑은 고딕"/>
                <a:ea typeface="맑은 고딕"/>
              </a:rPr>
              <a:t>3종 · LA.1~LA.3</a:t>
            </a:r>
          </a:p>
        </p:txBody>
      </p:sp>
      <p:sp>
        <p:nvSpPr>
          <p:cNvPr id="13" name="TextBox 12"/>
          <p:cNvSpPr txBox="1"/>
          <p:nvPr/>
        </p:nvSpPr>
        <p:spPr>
          <a:xfrm>
            <a:off x="497190" y="6466384"/>
            <a:ext cx="9695214" cy="483616"/>
          </a:xfrm>
          <a:prstGeom prst="rect">
            <a:avLst/>
          </a:prstGeom>
          <a:noFill/>
        </p:spPr>
        <p:txBody>
          <a:bodyPr wrap="square" anchor="t" lIns="0" rIns="0" tIns="0" bIns="0">
            <a:spAutoFit/>
          </a:bodyPr>
          <a:lstStyle/>
          <a:p>
            <a:r>
              <a:rPr sz="1400" b="0" i="0" a:lang="ko-KR">
                <a:solidFill>
                  <a:srgbClr val="595959"/>
                </a:solidFill>
                <a:latin typeface="맑은 고딕"/>
                <a:ea typeface="맑은 고딕"/>
              </a:rPr>
              <a:t>L = 연계(Linkage), LP·LD·LC·LA = 연계 프로세스의 계획·실행·점검·개선. 각 프로세스는 제목·목적·성과·활동의 형식으로 기술 — KS X ISO 8000-61 5.3의 형식.</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평가 모델 — 55문항과 채점 기준</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점수는 평가자의 재량이 아니라 체크포인트 충족 개수로 정해진다.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16</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3.3.1~3.3.3, [그림 3-8], [표 3-6], 부록 C</a:t>
            </a:r>
          </a:p>
        </p:txBody>
      </p:sp>
      <p:pic>
        <p:nvPicPr>
          <p:cNvPr id="8" name="Picture 7" descr="f3-6.png"/>
          <p:cNvPicPr>
            <a:picLocks noChangeAspect="1"/>
          </p:cNvPicPr>
          <p:nvPr/>
        </p:nvPicPr>
        <p:blipFill>
          <a:blip r:embed="rId2"/>
          <a:stretch>
            <a:fillRect/>
          </a:stretch>
        </p:blipFill>
        <p:spPr>
          <a:xfrm>
            <a:off x="550000" y="1233360"/>
            <a:ext cx="5073632" cy="2510084"/>
          </a:xfrm>
          <a:prstGeom prst="rect">
            <a:avLst/>
          </a:prstGeom>
        </p:spPr>
      </p:pic>
      <p:sp>
        <p:nvSpPr>
          <p:cNvPr id="9" name="TextBox 8"/>
          <p:cNvSpPr txBox="1"/>
          <p:nvPr/>
        </p:nvSpPr>
        <p:spPr>
          <a:xfrm>
            <a:off x="497190" y="3813444"/>
            <a:ext cx="4971904" cy="1005332"/>
          </a:xfrm>
          <a:prstGeom prst="rect">
            <a:avLst/>
          </a:prstGeom>
          <a:noFill/>
        </p:spPr>
        <p:txBody>
          <a:bodyPr wrap="square" anchor="t" lIns="0" rIns="0" tIns="0" bIns="0">
            <a:spAutoFit/>
          </a:bodyPr>
          <a:lstStyle/>
          <a:p>
            <a:pPr>
              <a:spcAft>
                <a:spcPts val="300"/>
              </a:spcAft>
            </a:pPr>
            <a:r>
              <a:rPr sz="1400" b="0" i="0" a:lang="ko-KR">
                <a:solidFill>
                  <a:srgbClr val="111111"/>
                </a:solidFill>
                <a:latin typeface="맑은 고딕"/>
                <a:ea typeface="맑은 고딕"/>
              </a:rPr>
              <a:t>55문항 = 44(ISO 14001 조항 대응) + 11(ISO 14044 고유) — P 30 · D 6 · C 10 · A 9</a:t>
            </a:r>
          </a:p>
          <a:p>
            <a:r>
              <a:rPr sz="1400" b="0" i="0" a:lang="ko-KR">
                <a:solidFill>
                  <a:srgbClr val="111111"/>
                </a:solidFill>
                <a:latin typeface="맑은 고딕"/>
                <a:ea typeface="맑은 고딕"/>
              </a:rPr>
              <a:t>문항마다 증거로 볼 것(평가 대상)과 어느 상태를 몇 점으로 볼지(BARS 앵커)를 미리 정해 둠</a:t>
            </a:r>
          </a:p>
        </p:txBody>
      </p:sp>
      <p:sp>
        <p:nvSpPr>
          <p:cNvPr id="10" name="Rounded Rectangle 9"/>
          <p:cNvSpPr/>
          <p:nvPr/>
        </p:nvSpPr>
        <p:spPr>
          <a:xfrm>
            <a:off x="5693632" y="1512000"/>
            <a:ext cx="4490752" cy="548335"/>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FFFFFF"/>
                </a:solidFill>
                <a:latin typeface="맑은 고딕"/>
                <a:ea typeface="맑은 고딕"/>
              </a:rPr>
              <a:t>예 — ★D-1 설계·개발 단계의 LCA 결과 반영  (14001 8.1 ↔ 14044 4.3.2)</a:t>
            </a:r>
          </a:p>
        </p:txBody>
      </p:sp>
      <p:graphicFrame>
        <p:nvGraphicFramePr>
          <p:cNvPr id="11" name="Table 10"/>
          <p:cNvGraphicFramePr>
            <a:graphicFrameLocks noGrp="1"/>
          </p:cNvGraphicFramePr>
          <p:nvPr/>
        </p:nvGraphicFramePr>
        <p:xfrm>
          <a:off x="5693632" y="2110734"/>
          <a:ext cx="4490752" cy="3326400"/>
        </p:xfrm>
        <a:graphic>
          <a:graphicData uri="http://schemas.openxmlformats.org/drawingml/2006/table">
            <a:tbl>
              <a:tblPr firstRow="1" bandRow="1">
                <a:tableStyleId>{5C22544A-7EE6-4342-B048-85BDC9FD1C3A}</a:tableStyleId>
              </a:tblPr>
              <a:tblGrid>
                <a:gridCol w="801920"/>
                <a:gridCol w="3688832"/>
              </a:tblGrid>
              <a:tr h="554400">
                <a:tc>
                  <a:txBody>
                    <a:bodyPr wrap="square"/>
                    <a:lstStyle/>
                    <a:p>
                      <a:pPr algn="ctr"/>
                      <a:r>
                        <a:rPr sz="1400" b="1" i="0" a:lang="ko-KR">
                          <a:solidFill>
                            <a:srgbClr val="FFFFFF"/>
                          </a:solidFill>
                          <a:latin typeface="맑은 고딕"/>
                          <a:ea typeface="맑은 고딕"/>
                        </a:rPr>
                        <a:t>점수</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상태 (BARS 앵커)</a:t>
                      </a:r>
                    </a:p>
                  </a:txBody>
                  <a:tcPr marL="64008" marR="64008" marT="27432" marB="27432" anchor="ctr">
                    <a:solidFill>
                      <a:srgbClr val="1F3864"/>
                    </a:solidFill>
                  </a:tcPr>
                </a:tc>
              </a:tr>
              <a:tr h="554400">
                <a:tc>
                  <a:txBody>
                    <a:bodyPr wrap="square"/>
                    <a:lstStyle/>
                    <a:p>
                      <a:pPr algn="ctr"/>
                      <a:r>
                        <a:rPr sz="1400" b="0" i="0" a:lang="ko-KR">
                          <a:solidFill>
                            <a:srgbClr val="111111"/>
                          </a:solidFill>
                          <a:latin typeface="맑은 고딕"/>
                          <a:ea typeface="맑은 고딕"/>
                        </a:rPr>
                        <a:t>5 최적화</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필수 3/3 + 추가 2/2 — 폐기단계 정당화와 대안 비교까지 갖춘 에코디자인 정착</a:t>
                      </a:r>
                    </a:p>
                  </a:txBody>
                  <a:tcPr marL="64008" marR="64008" marT="27432" marB="27432" anchor="ctr">
                    <a:solidFill>
                      <a:srgbClr val="FFFFFF"/>
                    </a:solidFill>
                  </a:tcPr>
                </a:tc>
              </a:tr>
              <a:tr h="554400">
                <a:tc>
                  <a:txBody>
                    <a:bodyPr wrap="square"/>
                    <a:lstStyle/>
                    <a:p>
                      <a:pPr algn="ctr"/>
                      <a:r>
                        <a:rPr sz="1400" b="0" i="0" a:lang="ko-KR">
                          <a:solidFill>
                            <a:srgbClr val="111111"/>
                          </a:solidFill>
                          <a:latin typeface="맑은 고딕"/>
                          <a:ea typeface="맑은 고딕"/>
                        </a:rPr>
                        <a:t>4 통제</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필수 3/3 + 추가 1/2 — 절차·활용·기록 완비, 정당화 또는 대안 비교 중 하나</a:t>
                      </a:r>
                    </a:p>
                  </a:txBody>
                  <a:tcPr marL="64008" marR="64008" marT="27432" marB="27432" anchor="ctr">
                    <a:solidFill>
                      <a:srgbClr val="E8EEF7"/>
                    </a:solidFill>
                  </a:tcPr>
                </a:tc>
              </a:tr>
              <a:tr h="554400">
                <a:tc>
                  <a:txBody>
                    <a:bodyPr wrap="square"/>
                    <a:lstStyle/>
                    <a:p>
                      <a:pPr algn="ctr"/>
                      <a:r>
                        <a:rPr sz="1400" b="1" i="0" a:lang="ko-KR">
                          <a:solidFill>
                            <a:srgbClr val="C00000"/>
                          </a:solidFill>
                          <a:latin typeface="맑은 고딕"/>
                          <a:ea typeface="맑은 고딕"/>
                        </a:rPr>
                        <a:t>3 정의</a:t>
                      </a:r>
                    </a:p>
                  </a:txBody>
                  <a:tcPr marL="64008" marR="64008" marT="27432" marB="27432" anchor="ctr">
                    <a:solidFill>
                      <a:srgbClr val="FFFFFF"/>
                    </a:solidFill>
                  </a:tcPr>
                </a:tc>
                <a:tc>
                  <a:txBody>
                    <a:bodyPr wrap="square"/>
                    <a:lstStyle/>
                    <a:p>
                      <a:pPr algn="l"/>
                      <a:r>
                        <a:rPr sz="1400" b="1" i="0" a:lang="ko-KR">
                          <a:solidFill>
                            <a:srgbClr val="C00000"/>
                          </a:solidFill>
                          <a:latin typeface="맑은 고딕"/>
                          <a:ea typeface="맑은 고딕"/>
                        </a:rPr>
                        <a:t>필수 3/3 — 설계 프로세스에 LCA 기반 환경 고려가 절차화·기록됨  = shall 충족 기준</a:t>
                      </a:r>
                    </a:p>
                  </a:txBody>
                  <a:tcPr marL="64008" marR="64008" marT="27432" marB="27432" anchor="ctr">
                    <a:solidFill>
                      <a:srgbClr val="FFFFFF"/>
                    </a:solidFill>
                  </a:tcPr>
                </a:tc>
              </a:tr>
              <a:tr h="554400">
                <a:tc>
                  <a:txBody>
                    <a:bodyPr wrap="square"/>
                    <a:lstStyle/>
                    <a:p>
                      <a:pPr algn="ctr"/>
                      <a:r>
                        <a:rPr sz="1400" b="0" i="0" a:lang="ko-KR">
                          <a:solidFill>
                            <a:srgbClr val="111111"/>
                          </a:solidFill>
                          <a:latin typeface="맑은 고딕"/>
                          <a:ea typeface="맑은 고딕"/>
                        </a:rPr>
                        <a:t>2 관리</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필수 1~2/3 — 재생재료 적용 등 부분적 반영, 절차화·기록 미흡</a:t>
                      </a:r>
                    </a:p>
                  </a:txBody>
                  <a:tcPr marL="64008" marR="64008" marT="27432" marB="27432" anchor="ctr">
                    <a:solidFill>
                      <a:srgbClr val="E8EEF7"/>
                    </a:solidFill>
                  </a:tcPr>
                </a:tc>
              </a:tr>
              <a:tr h="554400">
                <a:tc>
                  <a:txBody>
                    <a:bodyPr wrap="square"/>
                    <a:lstStyle/>
                    <a:p>
                      <a:pPr algn="ctr"/>
                      <a:r>
                        <a:rPr sz="1400" b="0" i="0" a:lang="ko-KR">
                          <a:solidFill>
                            <a:srgbClr val="111111"/>
                          </a:solidFill>
                          <a:latin typeface="맑은 고딕"/>
                          <a:ea typeface="맑은 고딕"/>
                        </a:rPr>
                        <a:t>1 기초</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필수 0/3 — 설계에 전과정 고려 없음</a:t>
                      </a:r>
                    </a:p>
                  </a:txBody>
                  <a:tcPr marL="64008" marR="64008" marT="27432" marB="27432" anchor="ctr">
                    <a:solidFill>
                      <a:srgbClr val="FFFFFF"/>
                    </a:solidFill>
                  </a:tcPr>
                </a:tc>
              </a:tr>
            </a:tbl>
          </a:graphicData>
        </a:graphic>
      </p:graphicFrame>
      <p:sp>
        <p:nvSpPr>
          <p:cNvPr id="12" name="TextBox 11"/>
          <p:cNvSpPr txBox="1"/>
          <p:nvPr/>
        </p:nvSpPr>
        <p:spPr>
          <a:xfrm>
            <a:off x="5693632" y="5537935"/>
            <a:ext cx="4490752" cy="1209600"/>
          </a:xfrm>
          <a:prstGeom prst="rect">
            <a:avLst/>
          </a:prstGeom>
          <a:noFill/>
        </p:spPr>
        <p:txBody>
          <a:bodyPr wrap="square" anchor="t" lIns="0" rIns="0" tIns="0" bIns="0">
            <a:spAutoFit/>
          </a:bodyPr>
          <a:lstStyle/>
          <a:p>
            <a:pPr>
              <a:spcAft>
                <a:spcPts val="200"/>
              </a:spcAft>
            </a:pPr>
            <a:r>
              <a:rPr sz="1100" b="0" i="0" a:lang="ko-KR">
                <a:solidFill>
                  <a:srgbClr val="595959"/>
                </a:solidFill>
                <a:latin typeface="맑은 고딕"/>
                <a:ea typeface="맑은 고딕"/>
              </a:rPr>
              <a:t>필수 체크포인트(shall성) — ① 설계·개발 프로세스에 전과정 고려 절차 반영 ② LCA/LCI 데이터의 설계 입력 활용 ③ 설계 산출물에 반영 결과 기록</a:t>
            </a:r>
          </a:p>
          <a:p>
            <a:r>
              <a:rPr sz="1100" b="0" i="0" a:lang="ko-KR">
                <a:solidFill>
                  <a:srgbClr val="595959"/>
                </a:solidFill>
                <a:latin typeface="맑은 고딕"/>
                <a:ea typeface="맑은 고딕"/>
              </a:rPr>
              <a:t>추가 체크포인트(should성) — ④ 폐기단계 고려 설계 ⑤ 설계 대안 간 LCA 비교 정례화</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모델 — 판정 규칙과 핵심 문항</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핵심 문항 하나라도 3점 미만이면 평균과 관계없이 상한은 ML2다.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17</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3.4.1~3.4.3, [표 3-7], [표 3-8]</a:t>
            </a:r>
          </a:p>
        </p:txBody>
      </p:sp>
      <p:graphicFrame>
        <p:nvGraphicFramePr>
          <p:cNvPr id="8" name="Table 7"/>
          <p:cNvGraphicFramePr>
            <a:graphicFrameLocks noGrp="1"/>
          </p:cNvGraphicFramePr>
          <p:nvPr/>
        </p:nvGraphicFramePr>
        <p:xfrm>
          <a:off x="497190" y="1180000"/>
          <a:ext cx="6736128" cy="4218496"/>
        </p:xfrm>
        <a:graphic>
          <a:graphicData uri="http://schemas.openxmlformats.org/drawingml/2006/table">
            <a:tbl>
              <a:tblPr firstRow="1" bandRow="1">
                <a:tableStyleId>{5C22544A-7EE6-4342-B048-85BDC9FD1C3A}</a:tableStyleId>
              </a:tblPr>
              <a:tblGrid>
                <a:gridCol w="1363264"/>
                <a:gridCol w="2726528"/>
                <a:gridCol w="2646336"/>
              </a:tblGrid>
              <a:tr h="504000">
                <a:tc>
                  <a:txBody>
                    <a:bodyPr wrap="square"/>
                    <a:lstStyle/>
                    <a:p>
                      <a:pPr algn="ctr"/>
                      <a:r>
                        <a:rPr sz="1400" b="1" i="0" a:lang="ko-KR">
                          <a:solidFill>
                            <a:srgbClr val="FFFFFF"/>
                          </a:solidFill>
                          <a:latin typeface="맑은 고딕"/>
                          <a:ea typeface="맑은 고딕"/>
                        </a:rPr>
                        <a:t>수준</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진입 조건 (누적)</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설계 근거</a:t>
                      </a:r>
                    </a:p>
                  </a:txBody>
                  <a:tcPr marL="64008" marR="64008" marT="27432" marB="27432" anchor="ctr">
                    <a:solidFill>
                      <a:srgbClr val="1F3864"/>
                    </a:solidFill>
                  </a:tcPr>
                </a:tc>
              </a:tr>
              <a:tr h="538480">
                <a:tc>
                  <a:txBody>
                    <a:bodyPr wrap="square"/>
                    <a:lstStyle/>
                    <a:p>
                      <a:pPr algn="l"/>
                      <a:r>
                        <a:rPr sz="1400" b="0" i="0" a:lang="ko-KR">
                          <a:solidFill>
                            <a:srgbClr val="111111"/>
                          </a:solidFill>
                          <a:latin typeface="맑은 고딕"/>
                          <a:ea typeface="맑은 고딕"/>
                        </a:rPr>
                        <a:t>ML0 도입 전</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ML1 조건 미달</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연계 결정 요인의 활동 부재 = 구성개념 불성립</a:t>
                      </a:r>
                    </a:p>
                  </a:txBody>
                  <a:tcPr marL="64008" marR="64008" marT="27432" marB="27432" anchor="ctr">
                    <a:solidFill>
                      <a:srgbClr val="FFFFFF"/>
                    </a:solidFill>
                  </a:tcPr>
                </a:tc>
              </a:tr>
              <a:tr h="538480">
                <a:tc>
                  <a:txBody>
                    <a:bodyPr wrap="square"/>
                    <a:lstStyle/>
                    <a:p>
                      <a:pPr algn="l"/>
                      <a:r>
                        <a:rPr sz="1400" b="0" i="0" a:lang="ko-KR">
                          <a:solidFill>
                            <a:srgbClr val="111111"/>
                          </a:solidFill>
                          <a:latin typeface="맑은 고딕"/>
                          <a:ea typeface="맑은 고딕"/>
                        </a:rPr>
                        <a:t>ML1 도입</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모든 핵심 문항 ≥ 2</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필요조건 활동의 수행 증거 (PA.1.1 상당)</a:t>
                      </a:r>
                    </a:p>
                  </a:txBody>
                  <a:tcPr marL="64008" marR="64008" marT="27432" marB="27432" anchor="ctr">
                    <a:solidFill>
                      <a:srgbClr val="E8EEF7"/>
                    </a:solidFill>
                  </a:tcPr>
                </a:tc>
              </a:tr>
              <a:tr h="538480">
                <a:tc>
                  <a:txBody>
                    <a:bodyPr wrap="square"/>
                    <a:lstStyle/>
                    <a:p>
                      <a:pPr algn="l"/>
                      <a:r>
                        <a:rPr sz="1400" b="0" i="0" a:lang="ko-KR">
                          <a:solidFill>
                            <a:srgbClr val="111111"/>
                          </a:solidFill>
                          <a:latin typeface="맑은 고딕"/>
                          <a:ea typeface="맑은 고딕"/>
                        </a:rPr>
                        <a:t>ML2 관리화</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 그 밖의 51문항 중 3점 이상 ≥ 50%</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과반이 문서화된 정보로 관리 (PA.2.2 상당)</a:t>
                      </a:r>
                    </a:p>
                  </a:txBody>
                  <a:tcPr marL="64008" marR="64008" marT="27432" marB="27432" anchor="ctr">
                    <a:solidFill>
                      <a:srgbClr val="FFFFFF"/>
                    </a:solidFill>
                  </a:tcPr>
                </a:tc>
              </a:tr>
              <a:tr h="780288">
                <a:tc>
                  <a:txBody>
                    <a:bodyPr wrap="square"/>
                    <a:lstStyle/>
                    <a:p>
                      <a:pPr algn="l"/>
                      <a:r>
                        <a:rPr sz="1400" b="1" i="0" a:lang="ko-KR">
                          <a:solidFill>
                            <a:srgbClr val="C00000"/>
                          </a:solidFill>
                          <a:latin typeface="맑은 고딕"/>
                          <a:ea typeface="맑은 고딕"/>
                        </a:rPr>
                        <a:t>ML3 체계화</a:t>
                      </a:r>
                    </a:p>
                  </a:txBody>
                  <a:tcPr marL="64008" marR="64008" marT="27432" marB="27432" anchor="ctr">
                    <a:solidFill>
                      <a:srgbClr val="E8EEF7"/>
                    </a:solidFill>
                  </a:tcPr>
                </a:tc>
                <a:tc>
                  <a:txBody>
                    <a:bodyPr wrap="square"/>
                    <a:lstStyle/>
                    <a:p>
                      <a:pPr algn="ctr"/>
                      <a:r>
                        <a:rPr sz="1400" b="1" i="0" a:lang="ko-KR">
                          <a:solidFill>
                            <a:srgbClr val="C00000"/>
                          </a:solidFill>
                          <a:latin typeface="맑은 고딕"/>
                          <a:ea typeface="맑은 고딕"/>
                        </a:rPr>
                        <a:t>+ 모든 핵심 문항 ≥ 3</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연계 절차 전부 shall 충족 기준 정의 (PA.3.1 — 8000-62 4.5.1 최소충족)</a:t>
                      </a:r>
                    </a:p>
                  </a:txBody>
                  <a:tcPr marL="64008" marR="64008" marT="27432" marB="27432" anchor="ctr">
                    <a:solidFill>
                      <a:srgbClr val="E8EEF7"/>
                    </a:solidFill>
                  </a:tcPr>
                </a:tc>
              </a:tr>
              <a:tr h="538480">
                <a:tc>
                  <a:txBody>
                    <a:bodyPr wrap="square"/>
                    <a:lstStyle/>
                    <a:p>
                      <a:pPr algn="l"/>
                      <a:r>
                        <a:rPr sz="1400" b="0" i="0" a:lang="ko-KR">
                          <a:solidFill>
                            <a:srgbClr val="111111"/>
                          </a:solidFill>
                          <a:latin typeface="맑은 고딕"/>
                          <a:ea typeface="맑은 고딕"/>
                        </a:rPr>
                        <a:t>ML4 예측화</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 모든 핵심 문항 ≥ 4, C 영역 전부 ≥ 3</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핵심 문항 통제 수준 + 성과 측정 전면 충족 (PA.4 상당)</a:t>
                      </a:r>
                    </a:p>
                  </a:txBody>
                  <a:tcPr marL="64008" marR="64008" marT="27432" marB="27432" anchor="ctr">
                    <a:solidFill>
                      <a:srgbClr val="FFFFFF"/>
                    </a:solidFill>
                  </a:tcPr>
                </a:tc>
              </a:tr>
              <a:tr h="780288">
                <a:tc>
                  <a:txBody>
                    <a:bodyPr wrap="square"/>
                    <a:lstStyle/>
                    <a:p>
                      <a:pPr algn="l"/>
                      <a:r>
                        <a:rPr sz="1400" b="0" i="0" a:lang="ko-KR">
                          <a:solidFill>
                            <a:srgbClr val="111111"/>
                          </a:solidFill>
                          <a:latin typeface="맑은 고딕"/>
                          <a:ea typeface="맑은 고딕"/>
                        </a:rPr>
                        <a:t>ML5 혁신화</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 전 문항 ≥ 3, A 영역 전부 ≥ 4 (A-9는 비교주장 수행 조직에 한함)</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shall 전 항목 충족 + 개선 체계 통제 수준 (PA.5 상당)</a:t>
                      </a:r>
                    </a:p>
                  </a:txBody>
                  <a:tcPr marL="64008" marR="64008" marT="27432" marB="27432" anchor="ctr">
                    <a:solidFill>
                      <a:srgbClr val="E8EEF7"/>
                    </a:solidFill>
                  </a:tcPr>
                </a:tc>
              </a:tr>
            </a:tbl>
          </a:graphicData>
        </a:graphic>
      </p:graphicFrame>
      <p:sp>
        <p:nvSpPr>
          <p:cNvPr id="9" name="TextBox 8"/>
          <p:cNvSpPr txBox="1"/>
          <p:nvPr/>
        </p:nvSpPr>
        <p:spPr>
          <a:xfrm>
            <a:off x="7377665" y="1180000"/>
            <a:ext cx="2806720" cy="403200"/>
          </a:xfrm>
          <a:prstGeom prst="rect">
            <a:avLst/>
          </a:prstGeom>
          <a:noFill/>
        </p:spPr>
        <p:txBody>
          <a:bodyPr wrap="square" anchor="t" lIns="0" rIns="0" tIns="0" bIns="0">
            <a:spAutoFit/>
          </a:bodyPr>
          <a:lstStyle/>
          <a:p>
            <a:r>
              <a:rPr sz="1400" b="1" i="0" a:lang="ko-KR">
                <a:solidFill>
                  <a:srgbClr val="2E74B5"/>
                </a:solidFill>
                <a:latin typeface="맑은 고딕"/>
                <a:ea typeface="맑은 고딕"/>
              </a:rPr>
              <a:t>핵심 문항 4종 — 연계 성립의 필요조건</a:t>
            </a:r>
          </a:p>
        </p:txBody>
      </p:sp>
      <p:sp>
        <p:nvSpPr>
          <p:cNvPr id="10" name="Rounded Rectangle 9"/>
          <p:cNvSpPr/>
          <p:nvPr/>
        </p:nvSpPr>
        <p:spPr>
          <a:xfrm>
            <a:off x="7377665" y="1633600"/>
            <a:ext cx="681632" cy="6249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P-9</a:t>
            </a:r>
          </a:p>
        </p:txBody>
      </p:sp>
      <p:sp>
        <p:nvSpPr>
          <p:cNvPr id="11" name="Rounded Rectangle 10"/>
          <p:cNvSpPr/>
          <p:nvPr/>
        </p:nvSpPr>
        <p:spPr>
          <a:xfrm>
            <a:off x="8099393" y="1633600"/>
            <a:ext cx="2084992"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i="0" a:lang="ko-KR">
                <a:solidFill>
                  <a:srgbClr val="111111"/>
                </a:solidFill>
                <a:latin typeface="맑은 고딕"/>
                <a:ea typeface="맑은 고딕"/>
              </a:rPr>
              <a:t>① 전과정 관점 환경측면 결정 (6.1.2)</a:t>
            </a:r>
          </a:p>
        </p:txBody>
      </p:sp>
      <p:sp>
        <p:nvSpPr>
          <p:cNvPr id="12" name="Rounded Rectangle 11"/>
          <p:cNvSpPr/>
          <p:nvPr/>
        </p:nvSpPr>
        <p:spPr>
          <a:xfrm>
            <a:off x="7377665" y="2359360"/>
            <a:ext cx="681632" cy="6249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P-14</a:t>
            </a:r>
          </a:p>
        </p:txBody>
      </p:sp>
      <p:sp>
        <p:nvSpPr>
          <p:cNvPr id="13" name="Rounded Rectangle 12"/>
          <p:cNvSpPr/>
          <p:nvPr/>
        </p:nvSpPr>
        <p:spPr>
          <a:xfrm>
            <a:off x="8099393" y="2359360"/>
            <a:ext cx="2084992"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i="0" a:lang="ko-KR">
                <a:solidFill>
                  <a:srgbClr val="111111"/>
                </a:solidFill>
                <a:latin typeface="맑은 고딕"/>
                <a:ea typeface="맑은 고딕"/>
              </a:rPr>
              <a:t>② Hotspot 근거 정량 환경목표 (6.2.1)</a:t>
            </a:r>
          </a:p>
        </p:txBody>
      </p:sp>
      <p:sp>
        <p:nvSpPr>
          <p:cNvPr id="14" name="Rounded Rectangle 13"/>
          <p:cNvSpPr/>
          <p:nvPr/>
        </p:nvSpPr>
        <p:spPr>
          <a:xfrm>
            <a:off x="7377665" y="3775615"/>
            <a:ext cx="681632" cy="6249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D-1</a:t>
            </a:r>
          </a:p>
        </p:txBody>
      </p:sp>
      <p:sp>
        <p:nvSpPr>
          <p:cNvPr id="15" name="Rounded Rectangle 14"/>
          <p:cNvSpPr/>
          <p:nvPr/>
        </p:nvSpPr>
        <p:spPr>
          <a:xfrm>
            <a:off x="8099393" y="3775615"/>
            <a:ext cx="2084992"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i="0" a:lang="ko-KR">
                <a:solidFill>
                  <a:srgbClr val="111111"/>
                </a:solidFill>
                <a:latin typeface="맑은 고딕"/>
                <a:ea typeface="맑은 고딕"/>
              </a:rPr>
              <a:t>③ 설계·개발 단계의 LCA 결과 반영 (8.1)</a:t>
            </a:r>
          </a:p>
        </p:txBody>
      </p:sp>
      <p:sp>
        <p:nvSpPr>
          <p:cNvPr id="16" name="Rounded Rectangle 15"/>
          <p:cNvSpPr/>
          <p:nvPr/>
        </p:nvSpPr>
        <p:spPr>
          <a:xfrm>
            <a:off x="7377665" y="4501375"/>
            <a:ext cx="681632" cy="6249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C-1</a:t>
            </a:r>
          </a:p>
        </p:txBody>
      </p:sp>
      <p:sp>
        <p:nvSpPr>
          <p:cNvPr id="17" name="Rounded Rectangle 16"/>
          <p:cNvSpPr/>
          <p:nvPr/>
        </p:nvSpPr>
        <p:spPr>
          <a:xfrm>
            <a:off x="8099393" y="4501375"/>
            <a:ext cx="2084992"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i="0" a:lang="ko-KR">
                <a:solidFill>
                  <a:srgbClr val="111111"/>
                </a:solidFill>
                <a:latin typeface="맑은 고딕"/>
                <a:ea typeface="맑은 고딕"/>
              </a:rPr>
              <a:t>④ LCA 기반 환경성과 모니터링 (9.1.1)</a:t>
            </a:r>
          </a:p>
        </p:txBody>
      </p:sp>
      <p:sp>
        <p:nvSpPr>
          <p:cNvPr id="18" name="Rounded Rectangle 17"/>
          <p:cNvSpPr/>
          <p:nvPr/>
        </p:nvSpPr>
        <p:spPr>
          <a:xfrm>
            <a:off x="497190" y="5458496"/>
            <a:ext cx="9695214" cy="8568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C00000"/>
                </a:solidFill>
                <a:latin typeface="맑은 고딕"/>
                <a:ea typeface="맑은 고딕"/>
              </a:rPr>
              <a:t>조건의 어느 항에도 평균은 쓰이지 않는다 — 연계가 성립하지 않는 지점(핵심 문항 미달)과 연계가 얕은 지점(51문항의 점수 차)은 다르다</a:t>
            </a:r>
          </a:p>
        </p:txBody>
      </p:sp>
      <p:sp>
        <p:nvSpPr>
          <p:cNvPr id="19" name="TextBox 18"/>
          <p:cNvSpPr txBox="1"/>
          <p:nvPr/>
        </p:nvSpPr>
        <p:spPr>
          <a:xfrm>
            <a:off x="497190" y="6375296"/>
            <a:ext cx="9695214" cy="436981"/>
          </a:xfrm>
          <a:prstGeom prst="rect">
            <a:avLst/>
          </a:prstGeom>
          <a:noFill/>
        </p:spPr>
        <p:txBody>
          <a:bodyPr wrap="square" anchor="t" lIns="0" rIns="0" tIns="0" bIns="0">
            <a:spAutoFit/>
          </a:bodyPr>
          <a:lstStyle/>
          <a:p>
            <a:r>
              <a:rPr sz="1100" b="0" i="0" a:lang="ko-KR">
                <a:solidFill>
                  <a:srgbClr val="595959"/>
                </a:solidFill>
                <a:latin typeface="맑은 고딕"/>
                <a:ea typeface="맑은 고딕"/>
              </a:rPr>
              <a:t>최소충족 원리는 KS X ISO 8000-62 4.5.1에서 가져오고 적용 범위만 네 문항으로 한정 — 그 밖의 51문항은 BARS 5점으로 종합점수에 반영. 비교주장 조건부 shall(C-7·A-9)은 3.4.3의 기준 — 비교주장 미수행 조직은 최저점(1점)·N/A 민감도 병기, 미수행 정책을 문서화하면 3점.</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000" b="1" i="0" a:lang="ko-KR">
                <a:solidFill>
                  <a:srgbClr val="1F3864"/>
                </a:solidFill>
                <a:latin typeface="맑은 고딕"/>
                <a:ea typeface="맑은 고딕"/>
              </a:rPr>
              <a:t>모델 한 장 요약 — 무엇을 만들었고 어떻게 검증하였나</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세 계층 · 16종 · 55문항 · 여섯 수준으로 갖추어졌고, 두 방향으로 검증하였다.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18</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3.5.1, 3.5.2, 3.6, 부록 E</a:t>
            </a:r>
          </a:p>
        </p:txBody>
      </p:sp>
      <p:graphicFrame>
        <p:nvGraphicFramePr>
          <p:cNvPr id="8" name="Table 7"/>
          <p:cNvGraphicFramePr>
            <a:graphicFrameLocks noGrp="1"/>
          </p:cNvGraphicFramePr>
          <p:nvPr/>
        </p:nvGraphicFramePr>
        <p:xfrm>
          <a:off x="494383" y="1180000"/>
          <a:ext cx="9703232" cy="3294112"/>
        </p:xfrm>
        <a:graphic>
          <a:graphicData uri="http://schemas.openxmlformats.org/drawingml/2006/table">
            <a:tbl>
              <a:tblPr firstRow="1" bandRow="1">
                <a:tableStyleId>{5C22544A-7EE6-4342-B048-85BDC9FD1C3A}</a:tableStyleId>
              </a:tblPr>
              <a:tblGrid>
                <a:gridCol w="1202880"/>
                <a:gridCol w="1523648"/>
                <a:gridCol w="1844416"/>
                <a:gridCol w="2245376"/>
                <a:gridCol w="2886912"/>
              </a:tblGrid>
              <a:tr h="624960">
                <a:tc>
                  <a:txBody>
                    <a:bodyPr wrap="square"/>
                    <a:lstStyle/>
                    <a:p>
                      <a:pPr algn="ctr"/>
                      <a:r>
                        <a:rPr sz="1400" b="1" i="0" a:lang="ko-KR">
                          <a:solidFill>
                            <a:srgbClr val="FFFFFF"/>
                          </a:solidFill>
                          <a:latin typeface="맑은 고딕"/>
                          <a:ea typeface="맑은 고딕"/>
                        </a:rPr>
                        <a:t>계층</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산출물</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규모</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따른 표준(구조·방법)</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본 연구가 새로 만든 것</a:t>
                      </a:r>
                    </a:p>
                  </a:txBody>
                  <a:tcPr marL="64008" marR="64008" marT="27432" marB="27432" anchor="ctr">
                    <a:solidFill>
                      <a:srgbClr val="1F3864"/>
                    </a:solidFill>
                  </a:tcPr>
                </a:tc>
              </a:tr>
              <a:tr h="624960">
                <a:tc>
                  <a:txBody>
                    <a:bodyPr wrap="square"/>
                    <a:lstStyle/>
                    <a:p>
                      <a:pPr algn="ctr"/>
                      <a:r>
                        <a:rPr sz="1400" b="0" i="0" a:lang="ko-KR">
                          <a:solidFill>
                            <a:srgbClr val="111111"/>
                          </a:solidFill>
                          <a:latin typeface="맑은 고딕"/>
                          <a:ea typeface="맑은 고딕"/>
                        </a:rPr>
                        <a:t>참조 모델</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연계 프로세스</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16종 (P 8·D 2·C 3·A 3)</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ISO/IEC 33004 5절 · KS X ISO 8000-61 5.3</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두 표준의 조항을 대응시켜 도출한 연계 프로세스</a:t>
                      </a:r>
                    </a:p>
                  </a:txBody>
                  <a:tcPr marL="64008" marR="64008" marT="27432" marB="27432" anchor="ctr">
                    <a:solidFill>
                      <a:srgbClr val="FFFFFF"/>
                    </a:solidFill>
                  </a:tcPr>
                </a:tc>
              </a:tr>
              <a:tr h="1263904">
                <a:tc>
                  <a:txBody>
                    <a:bodyPr wrap="square"/>
                    <a:lstStyle/>
                    <a:p>
                      <a:pPr algn="ctr"/>
                      <a:r>
                        <a:rPr sz="1400" b="0" i="0" a:lang="ko-KR">
                          <a:solidFill>
                            <a:srgbClr val="111111"/>
                          </a:solidFill>
                          <a:latin typeface="맑은 고딕"/>
                          <a:ea typeface="맑은 고딕"/>
                        </a:rPr>
                        <a:t>평가 모델</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평가 문항·문항별 판정 기준·객관적 증거 목록</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55문항 (P 30·D 6·C 10·A 9)</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ISO/IEC 33004 6절 · ISO/IEC 33020(N–P–L–F 대신 BARS 5점)</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표준이 평가자에게 식별하도록 맡긴 평가지표를 이 분야에 대해 개발</a:t>
                      </a:r>
                    </a:p>
                  </a:txBody>
                  <a:tcPr marL="64008" marR="64008" marT="27432" marB="27432" anchor="ctr">
                    <a:solidFill>
                      <a:srgbClr val="E8EEF7"/>
                    </a:solidFill>
                  </a:tcPr>
                </a:tc>
              </a:tr>
              <a:tr h="780288">
                <a:tc>
                  <a:txBody>
                    <a:bodyPr wrap="square"/>
                    <a:lstStyle/>
                    <a:p>
                      <a:pPr algn="ctr"/>
                      <a:r>
                        <a:rPr sz="1400" b="0" i="0" a:lang="ko-KR">
                          <a:solidFill>
                            <a:srgbClr val="111111"/>
                          </a:solidFill>
                          <a:latin typeface="맑은 고딕"/>
                          <a:ea typeface="맑은 고딕"/>
                        </a:rPr>
                        <a:t>성숙도 모델</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수준별 기준·판정 규칙·핵심 문항</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ML0~ML5, 핵심 문항 4종</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ISO/IEC 33004 7절 · KS X ISO 8000-62 4.5.1 · ISO/IEC 33003</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최소충족 판정을 연계 성립의 네 지점에 적용한 핵심 문항 규칙</a:t>
                      </a:r>
                    </a:p>
                  </a:txBody>
                  <a:tcPr marL="64008" marR="64008" marT="27432" marB="27432" anchor="ctr">
                    <a:solidFill>
                      <a:srgbClr val="FFFFFF"/>
                    </a:solidFill>
                  </a:tcPr>
                </a:tc>
              </a:tr>
            </a:tbl>
          </a:graphicData>
        </a:graphic>
      </p:graphicFrame>
      <p:sp>
        <p:nvSpPr>
          <p:cNvPr id="9" name="Rounded Rectangle 8"/>
          <p:cNvSpPr/>
          <p:nvPr/>
        </p:nvSpPr>
        <p:spPr>
          <a:xfrm>
            <a:off x="497190" y="4534112"/>
            <a:ext cx="4731328" cy="1562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검증 ① 추적성 검증</a:t>
            </a:r>
          </a:p>
          <a:p>
            <a:pPr algn="l"/>
            <a:r>
              <a:rPr sz="1400" b="0" i="0" a:lang="ko-KR">
                <a:solidFill>
                  <a:srgbClr val="111111"/>
                </a:solidFill>
                <a:latin typeface="맑은 고딕"/>
                <a:ea typeface="맑은 고딕"/>
              </a:rPr>
              <a:t>55문항을 두 표준의 전 조항 대조에서 나온 근거 조항까지 추적 — 문항의 내용타당도 근거</a:t>
            </a:r>
          </a:p>
          <a:p>
            <a:pPr algn="l"/>
            <a:r>
              <a:rPr sz="1100" b="0" i="0" a:lang="ko-KR">
                <a:solidFill>
                  <a:srgbClr val="595959"/>
                </a:solidFill>
                <a:latin typeface="맑은 고딕"/>
                <a:ea typeface="맑은 고딕"/>
              </a:rPr>
              <a:t>조항별 판정 전문은 부록 A·B.1</a:t>
            </a:r>
          </a:p>
        </p:txBody>
      </p:sp>
      <p:sp>
        <p:nvSpPr>
          <p:cNvPr id="10" name="Rounded Rectangle 9"/>
          <p:cNvSpPr/>
          <p:nvPr/>
        </p:nvSpPr>
        <p:spPr>
          <a:xfrm>
            <a:off x="5461076" y="4534112"/>
            <a:ext cx="4731328" cy="1562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검증 ② 표준 적합성 검증</a:t>
            </a:r>
          </a:p>
          <a:p>
            <a:pPr algn="l"/>
            <a:r>
              <a:rPr sz="1400" b="0" i="0" a:lang="ko-KR">
                <a:solidFill>
                  <a:srgbClr val="111111"/>
                </a:solidFill>
                <a:latin typeface="맑은 고딕"/>
                <a:ea typeface="맑은 고딕"/>
              </a:rPr>
              <a:t>ISO/IEC 33004 요구사항 24건 자체점검 — 충족 22 · 해당 없음 1 · 보완 1</a:t>
            </a:r>
          </a:p>
          <a:p>
            <a:pPr algn="l"/>
            <a:r>
              <a:rPr sz="1100" b="1" i="0" a:lang="ko-KR">
                <a:solidFill>
                  <a:srgbClr val="C00000"/>
                </a:solidFill>
                <a:latin typeface="맑은 고딕"/>
                <a:ea typeface="맑은 고딕"/>
              </a:rPr>
              <a:t>보완 1건 = 55문항과 핵심 문항 지정에 대한 전문가 합의(CVI) — 조사지 설계까지, 실시는 향후 연구 과제</a:t>
            </a:r>
          </a:p>
        </p:txBody>
      </p:sp>
      <p:sp>
        <p:nvSpPr>
          <p:cNvPr id="11" name="TextBox 10"/>
          <p:cNvSpPr txBox="1"/>
          <p:nvPr/>
        </p:nvSpPr>
        <p:spPr>
          <a:xfrm>
            <a:off x="497190" y="6296400"/>
            <a:ext cx="1283072" cy="403200"/>
          </a:xfrm>
          <a:prstGeom prst="rect">
            <a:avLst/>
          </a:prstGeom>
          <a:noFill/>
        </p:spPr>
        <p:txBody>
          <a:bodyPr wrap="square" anchor="ctr" lIns="0" rIns="0" tIns="0" bIns="0">
            <a:spAutoFit/>
          </a:bodyPr>
          <a:lstStyle/>
          <a:p>
            <a:r>
              <a:rPr sz="1300" b="1" i="0" a:lang="ko-KR">
                <a:solidFill>
                  <a:srgbClr val="595959"/>
                </a:solidFill>
                <a:latin typeface="맑은 고딕"/>
                <a:ea typeface="맑은 고딕"/>
              </a:rPr>
              <a:t>만든 것</a:t>
            </a:r>
          </a:p>
        </p:txBody>
      </p:sp>
      <p:sp>
        <p:nvSpPr>
          <p:cNvPr id="12" name="Rounded Rectangle 11"/>
          <p:cNvSpPr/>
          <p:nvPr/>
        </p:nvSpPr>
        <p:spPr>
          <a:xfrm>
            <a:off x="1780263" y="6296400"/>
            <a:ext cx="1042496"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16종</a:t>
            </a:r>
          </a:p>
        </p:txBody>
      </p:sp>
      <p:sp>
        <p:nvSpPr>
          <p:cNvPr id="13" name="Right Arrow 12"/>
          <p:cNvSpPr/>
          <p:nvPr/>
        </p:nvSpPr>
        <p:spPr>
          <a:xfrm>
            <a:off x="2854835" y="64173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079373" y="6296400"/>
            <a:ext cx="1042496"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55문항</a:t>
            </a:r>
          </a:p>
        </p:txBody>
      </p:sp>
      <p:sp>
        <p:nvSpPr>
          <p:cNvPr id="15" name="Right Arrow 14"/>
          <p:cNvSpPr/>
          <p:nvPr/>
        </p:nvSpPr>
        <p:spPr>
          <a:xfrm>
            <a:off x="4153946" y="64173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378484" y="6296400"/>
            <a:ext cx="1042496" cy="4032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핵심 4종</a:t>
            </a:r>
          </a:p>
        </p:txBody>
      </p:sp>
      <p:sp>
        <p:nvSpPr>
          <p:cNvPr id="17" name="Right Arrow 16"/>
          <p:cNvSpPr/>
          <p:nvPr/>
        </p:nvSpPr>
        <p:spPr>
          <a:xfrm>
            <a:off x="5453056" y="64173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677594" y="6296400"/>
            <a:ext cx="1042496"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ML0~ML5</a:t>
            </a:r>
          </a:p>
        </p:txBody>
      </p:sp>
      <p:sp>
        <p:nvSpPr>
          <p:cNvPr id="19" name="TextBox 18"/>
          <p:cNvSpPr txBox="1"/>
          <p:nvPr/>
        </p:nvSpPr>
        <p:spPr>
          <a:xfrm>
            <a:off x="6816321" y="6296400"/>
            <a:ext cx="3368064" cy="453600"/>
          </a:xfrm>
          <a:prstGeom prst="rect">
            <a:avLst/>
          </a:prstGeom>
          <a:noFill/>
        </p:spPr>
        <p:txBody>
          <a:bodyPr wrap="square" anchor="ctr" lIns="0" rIns="0" tIns="0" bIns="0">
            <a:spAutoFit/>
          </a:bodyPr>
          <a:lstStyle/>
          <a:p>
            <a:r>
              <a:rPr sz="1400" b="1" i="0" a:lang="ko-KR">
                <a:solidFill>
                  <a:srgbClr val="1F3864"/>
                </a:solidFill>
                <a:latin typeface="맑은 고딕"/>
                <a:ea typeface="맑은 고딕"/>
              </a:rPr>
              <a:t>표준의 틀을 따르고, 표준이 비워 둔 세 곳을 이 연구가 채웠다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적용 개요 — 제조기업 A사</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Ⅳ. 성숙도 평가 — 적용하면 어떻게 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연구 목적의 시범 적용이며, 나오는 판정은 공식 등급이 아니다.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19</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4.1, 4.2.1</a:t>
            </a:r>
          </a:p>
        </p:txBody>
      </p:sp>
      <p:sp>
        <p:nvSpPr>
          <p:cNvPr id="8" name="Rounded Rectangle 7"/>
          <p:cNvSpPr/>
          <p:nvPr/>
        </p:nvSpPr>
        <p:spPr>
          <a:xfrm>
            <a:off x="497190" y="1180000"/>
            <a:ext cx="1202880" cy="8568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대상</a:t>
            </a:r>
          </a:p>
        </p:txBody>
      </p:sp>
      <p:sp>
        <p:nvSpPr>
          <p:cNvPr id="9" name="Rounded Rectangle 8"/>
          <p:cNvSpPr/>
          <p:nvPr/>
        </p:nvSpPr>
        <p:spPr>
          <a:xfrm>
            <a:off x="1820359" y="1180000"/>
            <a:ext cx="8372045" cy="8568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600" b="0" i="0" a:lang="ko-KR">
                <a:solidFill>
                  <a:srgbClr val="111111"/>
                </a:solidFill>
                <a:latin typeface="맑은 고딕"/>
                <a:ea typeface="맑은 고딕"/>
              </a:rPr>
              <a:t>제조기업 A사의 환경경영시스템(ISO 14001)과 2025년 제품 전과정평가(LCA)</a:t>
            </a:r>
          </a:p>
        </p:txBody>
      </p:sp>
      <p:sp>
        <p:nvSpPr>
          <p:cNvPr id="10" name="Rounded Rectangle 9"/>
          <p:cNvSpPr/>
          <p:nvPr/>
        </p:nvSpPr>
        <p:spPr>
          <a:xfrm>
            <a:off x="497190" y="2188000"/>
            <a:ext cx="1202880" cy="8568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방법</a:t>
            </a:r>
          </a:p>
        </p:txBody>
      </p:sp>
      <p:sp>
        <p:nvSpPr>
          <p:cNvPr id="11" name="Rounded Rectangle 10"/>
          <p:cNvSpPr/>
          <p:nvPr/>
        </p:nvSpPr>
        <p:spPr>
          <a:xfrm>
            <a:off x="1820359" y="2188000"/>
            <a:ext cx="8372045" cy="8568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600" b="0" i="0" a:lang="ko-KR">
                <a:solidFill>
                  <a:srgbClr val="111111"/>
                </a:solidFill>
                <a:latin typeface="맑은 고딕"/>
                <a:ea typeface="맑은 고딕"/>
              </a:rPr>
              <a:t>증빙 문서 16종(개별 33건)에 대한 문서 심사 — 사내표준과 기록을 확인하여 체크포인트 단위로 판정</a:t>
            </a:r>
          </a:p>
        </p:txBody>
      </p:sp>
      <p:sp>
        <p:nvSpPr>
          <p:cNvPr id="12" name="Rounded Rectangle 11"/>
          <p:cNvSpPr/>
          <p:nvPr/>
        </p:nvSpPr>
        <p:spPr>
          <a:xfrm>
            <a:off x="497190" y="3196000"/>
            <a:ext cx="1202880" cy="8568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기간</a:t>
            </a:r>
          </a:p>
        </p:txBody>
      </p:sp>
      <p:sp>
        <p:nvSpPr>
          <p:cNvPr id="13" name="Rounded Rectangle 12"/>
          <p:cNvSpPr/>
          <p:nvPr/>
        </p:nvSpPr>
        <p:spPr>
          <a:xfrm>
            <a:off x="1820359" y="3196000"/>
            <a:ext cx="8372045" cy="8568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600" b="0" i="0" a:lang="ko-KR">
                <a:solidFill>
                  <a:srgbClr val="111111"/>
                </a:solidFill>
                <a:latin typeface="맑은 고딕"/>
                <a:ea typeface="맑은 고딕"/>
              </a:rPr>
              <a:t>2026년 6~7월 — 기준 확정 → 잠정 채점 → 체크포인트 단위 전수 재검증 → 증빙 확정</a:t>
            </a:r>
          </a:p>
        </p:txBody>
      </p:sp>
      <p:sp>
        <p:nvSpPr>
          <p:cNvPr id="14" name="Rounded Rectangle 13"/>
          <p:cNvSpPr/>
          <p:nvPr/>
        </p:nvSpPr>
        <p:spPr>
          <a:xfrm>
            <a:off x="497190" y="4204000"/>
            <a:ext cx="1202880" cy="8568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지위</a:t>
            </a:r>
          </a:p>
        </p:txBody>
      </p:sp>
      <p:sp>
        <p:nvSpPr>
          <p:cNvPr id="15" name="Rounded Rectangle 14"/>
          <p:cNvSpPr/>
          <p:nvPr/>
        </p:nvSpPr>
        <p:spPr>
          <a:xfrm>
            <a:off x="1820359" y="4204000"/>
            <a:ext cx="8372045" cy="8568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600" b="0" i="0" a:lang="ko-KR">
                <a:solidFill>
                  <a:srgbClr val="111111"/>
                </a:solidFill>
                <a:latin typeface="맑은 고딕"/>
                <a:ea typeface="맑은 고딕"/>
              </a:rPr>
              <a:t>ISO/IEC 33002의 평가 클래스 3 상당 · 독립성 범주 B 상당(부속서 A) — 평가 후원자 없는 연구 목적의 평가</a:t>
            </a:r>
          </a:p>
        </p:txBody>
      </p:sp>
      <p:sp>
        <p:nvSpPr>
          <p:cNvPr id="16" name="Rounded Rectangle 15"/>
          <p:cNvSpPr/>
          <p:nvPr/>
        </p:nvSpPr>
        <p:spPr>
          <a:xfrm>
            <a:off x="497190" y="5312799"/>
            <a:ext cx="9695214" cy="7560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C00000"/>
                </a:solidFill>
                <a:latin typeface="맑은 고딕"/>
                <a:ea typeface="맑은 고딕"/>
              </a:rPr>
              <a:t>이 평가는 조직의 공식 성숙도 등급을 주는 평가가 아니다 — 모델의 판정 논리를 실제 자료에서 확인하는 것이 목적</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객관성의 확보 — 판정의 신뢰성</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Ⅳ. 성숙도 평가 — 적용하면 어떻게 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재검증에서 점수가 낮은 쪽으로 수렴하였다.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20</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4.2.2, 4.2.3, [표 4-4], [표 4-5], [표 4-8], 부록 I</a:t>
            </a:r>
          </a:p>
        </p:txBody>
      </p:sp>
      <p:sp>
        <p:nvSpPr>
          <p:cNvPr id="8" name="Rounded Rectangle 7"/>
          <p:cNvSpPr/>
          <p:nvPr/>
        </p:nvSpPr>
        <p:spPr>
          <a:xfrm>
            <a:off x="497190" y="1180000"/>
            <a:ext cx="4731328" cy="2318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300" b="1" i="0" a:lang="ko-KR">
                <a:solidFill>
                  <a:srgbClr val="1F3864"/>
                </a:solidFill>
                <a:latin typeface="맑은 고딕"/>
                <a:ea typeface="맑은 고딕"/>
              </a:rPr>
              <a:t>확보 수단</a:t>
            </a:r>
          </a:p>
          <a:p>
            <a:pPr algn="l"/>
            <a:r>
              <a:rPr sz="1300" b="0" i="0" a:lang="ko-KR">
                <a:solidFill>
                  <a:srgbClr val="111111"/>
                </a:solidFill>
                <a:latin typeface="맑은 고딕"/>
                <a:ea typeface="맑은 고딕"/>
              </a:rPr>
              <a:t>· 판정 관례를 사전에 명문화 — 구두 진술만으로는 미충족, 양식만 있고 기입이 없으면 미충족, 판단 곤란도 미충족</a:t>
            </a:r>
          </a:p>
          <a:p>
            <a:pPr algn="l"/>
            <a:r>
              <a:rPr sz="1300" b="0" i="0" a:lang="ko-KR">
                <a:solidFill>
                  <a:srgbClr val="111111"/>
                </a:solidFill>
                <a:latin typeface="맑은 고딕"/>
                <a:ea typeface="맑은 고딕"/>
              </a:rPr>
              <a:t>· 체크포인트 단위로 증빙을 명시 — 제3자가 재현 가능</a:t>
            </a:r>
          </a:p>
          <a:p>
            <a:pPr algn="l"/>
            <a:r>
              <a:rPr sz="1300" b="0" i="0" a:lang="ko-KR">
                <a:solidFill>
                  <a:srgbClr val="111111"/>
                </a:solidFill>
                <a:latin typeface="맑은 고딕"/>
                <a:ea typeface="맑은 고딕"/>
              </a:rPr>
              <a:t>· 평가자의 환경경영 업무 지원 이력을 공평성 고려 사항으로 밝힘 — 판정은 조직이 생성·기입한 기록의 실재 기준</a:t>
            </a:r>
          </a:p>
        </p:txBody>
      </p:sp>
      <p:sp>
        <p:nvSpPr>
          <p:cNvPr id="9" name="Rounded Rectangle 8"/>
          <p:cNvSpPr/>
          <p:nvPr/>
        </p:nvSpPr>
        <p:spPr>
          <a:xfrm>
            <a:off x="5461076" y="1180000"/>
            <a:ext cx="4731328" cy="2318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300" b="1" i="0" a:lang="ko-KR">
                <a:solidFill>
                  <a:srgbClr val="1F3864"/>
                </a:solidFill>
                <a:latin typeface="맑은 고딕"/>
                <a:ea typeface="맑은 고딕"/>
              </a:rPr>
              <a:t>결과</a:t>
            </a:r>
          </a:p>
          <a:p>
            <a:pPr algn="l"/>
            <a:r>
              <a:rPr sz="1300" b="0" i="0" a:lang="ko-KR">
                <a:solidFill>
                  <a:srgbClr val="111111"/>
                </a:solidFill>
                <a:latin typeface="맑은 고딕"/>
                <a:ea typeface="맑은 고딕"/>
              </a:rPr>
              <a:t>· 잠정 채점을 증빙으로 전수 재검증 — 상향 7건 · 하향 9건(순변동 −2점)</a:t>
            </a:r>
          </a:p>
          <a:p>
            <a:pPr algn="l"/>
            <a:r>
              <a:rPr sz="1300" b="1" i="0" a:lang="ko-KR">
                <a:solidFill>
                  <a:srgbClr val="C00000"/>
                </a:solidFill>
                <a:latin typeface="맑은 고딕"/>
                <a:ea typeface="맑은 고딕"/>
              </a:rPr>
              <a:t>· 종합 2.89 → 2.85 — 낮은 쪽으로 수렴(재검증이 관대화를 억제하는 방향으로 작동)</a:t>
            </a:r>
          </a:p>
          <a:p>
            <a:pPr algn="l"/>
            <a:r>
              <a:rPr sz="1300" b="0" i="0" a:lang="ko-KR">
                <a:solidFill>
                  <a:srgbClr val="111111"/>
                </a:solidFill>
                <a:latin typeface="맑은 고딕"/>
                <a:ea typeface="맑은 고딕"/>
              </a:rPr>
              <a:t>· 판정 포인트와 확정 점수 전수 대조(51문항) 일치 · 평가 중 채점 기준 수정 없음(C-7·A-9 처리만 평가 뒤 3.4.3으로 확정, 점수 불변)</a:t>
            </a:r>
          </a:p>
        </p:txBody>
      </p:sp>
      <p:graphicFrame>
        <p:nvGraphicFramePr>
          <p:cNvPr id="10" name="Table 9"/>
          <p:cNvGraphicFramePr>
            <a:graphicFrameLocks noGrp="1"/>
          </p:cNvGraphicFramePr>
          <p:nvPr/>
        </p:nvGraphicFramePr>
        <p:xfrm>
          <a:off x="574575" y="3588304"/>
          <a:ext cx="9542849" cy="3161696"/>
        </p:xfrm>
        <a:graphic>
          <a:graphicData uri="http://schemas.openxmlformats.org/drawingml/2006/table">
            <a:tbl>
              <a:tblPr firstRow="1" bandRow="1">
                <a:tableStyleId>{5C22544A-7EE6-4342-B048-85BDC9FD1C3A}</a:tableStyleId>
              </a:tblPr>
              <a:tblGrid>
                <a:gridCol w="721728"/>
                <a:gridCol w="6816321"/>
                <a:gridCol w="681632"/>
                <a:gridCol w="681632"/>
                <a:gridCol w="641536"/>
              </a:tblGrid>
              <a:tr h="524160">
                <a:tc>
                  <a:txBody>
                    <a:bodyPr wrap="square"/>
                    <a:lstStyle/>
                    <a:p>
                      <a:pPr algn="ctr"/>
                      <a:r>
                        <a:rPr sz="1400" b="1" i="0" a:lang="ko-KR">
                          <a:solidFill>
                            <a:srgbClr val="FFFFFF"/>
                          </a:solidFill>
                          <a:latin typeface="맑은 고딕"/>
                          <a:ea typeface="맑은 고딕"/>
                        </a:rPr>
                        <a:t>문항</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객관적 증거 (평가 기록부 발췌)</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필수</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추가</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점수</a:t>
                      </a:r>
                    </a:p>
                  </a:txBody>
                  <a:tcPr marL="64008" marR="64008" marT="27432" marB="27432" anchor="ctr">
                    <a:solidFill>
                      <a:srgbClr val="1F3864"/>
                    </a:solidFill>
                  </a:tcPr>
                </a:tc>
              </a:tr>
              <a:tr h="780288">
                <a:tc>
                  <a:txBody>
                    <a:bodyPr wrap="square"/>
                    <a:lstStyle/>
                    <a:p>
                      <a:pPr algn="ctr"/>
                      <a:r>
                        <a:rPr sz="1400" b="0" i="0" a:lang="ko-KR">
                          <a:solidFill>
                            <a:srgbClr val="111111"/>
                          </a:solidFill>
                          <a:latin typeface="맑은 고딕"/>
                          <a:ea typeface="맑은 고딕"/>
                        </a:rPr>
                        <a:t>★P-9</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환경측면·영향평가표(E4)에 원료 단계의 탄소 Hotspot이 전과정평가(LCA) 결과로 등재되고, 실측치로 중대성이 재채점된 기록 · 규정의 목적에 전과정 관점의 고려가 명문화</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3/3</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1/2</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4</a:t>
                      </a:r>
                    </a:p>
                  </a:txBody>
                  <a:tcPr marL="64008" marR="64008" marT="27432" marB="27432" anchor="ctr">
                    <a:solidFill>
                      <a:srgbClr val="FFFFFF"/>
                    </a:solidFill>
                  </a:tcPr>
                </a:tc>
              </a:tr>
              <a:tr h="780288">
                <a:tc>
                  <a:txBody>
                    <a:bodyPr wrap="square"/>
                    <a:lstStyle/>
                    <a:p>
                      <a:pPr algn="ctr"/>
                      <a:r>
                        <a:rPr sz="1400" b="0" i="0" a:lang="ko-KR">
                          <a:solidFill>
                            <a:srgbClr val="111111"/>
                          </a:solidFill>
                          <a:latin typeface="맑은 고딕"/>
                          <a:ea typeface="맑은 고딕"/>
                        </a:rPr>
                        <a:t>★P-14</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CI 로드맵에 원료 단계 비중을 낮추는 정량 목표와 달성 기한, 연례 전과정평가(LCA) 측정이 기재 · 환경목표 관리대장에 정량지표·기한·모니터링 방법이 기입되고 월별 실적이 기록</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3/3</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0/2</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a:t>
                      </a:r>
                    </a:p>
                  </a:txBody>
                  <a:tcPr marL="64008" marR="64008" marT="27432" marB="27432" anchor="ctr">
                    <a:solidFill>
                      <a:srgbClr val="E8EEF7"/>
                    </a:solidFill>
                  </a:tcPr>
                </a:tc>
              </a:tr>
              <a:tr h="538480">
                <a:tc>
                  <a:txBody>
                    <a:bodyPr wrap="square"/>
                    <a:lstStyle/>
                    <a:p>
                      <a:pPr algn="ctr"/>
                      <a:r>
                        <a:rPr sz="1400" b="1" i="0" a:lang="ko-KR">
                          <a:solidFill>
                            <a:srgbClr val="C00000"/>
                          </a:solidFill>
                          <a:latin typeface="맑은 고딕"/>
                          <a:ea typeface="맑은 고딕"/>
                        </a:rPr>
                        <a:t>★D-1</a:t>
                      </a:r>
                    </a:p>
                  </a:txBody>
                  <a:tcPr marL="64008" marR="64008" marT="27432" marB="27432" anchor="ctr">
                    <a:solidFill>
                      <a:srgbClr val="FFFFFF"/>
                    </a:solidFill>
                  </a:tcPr>
                </a:tc>
                <a:tc>
                  <a:txBody>
                    <a:bodyPr wrap="square"/>
                    <a:lstStyle/>
                    <a:p>
                      <a:pPr algn="l"/>
                      <a:r>
                        <a:rPr sz="1400" b="1" i="0" a:lang="ko-KR">
                          <a:solidFill>
                            <a:srgbClr val="C00000"/>
                          </a:solidFill>
                          <a:latin typeface="맑은 고딕"/>
                          <a:ea typeface="맑은 고딕"/>
                        </a:rPr>
                        <a:t>설계·개발 절차서가 없음을 확인 — 환경 관련 사내 위원회 운영 조항·구매 환경성 평가 절차는 실재, LCI 원료 코드의 재생 원료 등재로 설계 산출물의 반영 기록은 확인</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2/3</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0/2</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2</a:t>
                      </a:r>
                    </a:p>
                  </a:txBody>
                  <a:tcPr marL="64008" marR="64008" marT="27432" marB="27432" anchor="ctr">
                    <a:solidFill>
                      <a:srgbClr val="FFFFFF"/>
                    </a:solidFill>
                  </a:tcPr>
                </a:tc>
              </a:tr>
              <a:tr h="538480">
                <a:tc>
                  <a:txBody>
                    <a:bodyPr wrap="square"/>
                    <a:lstStyle/>
                    <a:p>
                      <a:pPr algn="ctr"/>
                      <a:r>
                        <a:rPr sz="1400" b="0" i="0" a:lang="ko-KR">
                          <a:solidFill>
                            <a:srgbClr val="111111"/>
                          </a:solidFill>
                          <a:latin typeface="맑은 고딕"/>
                          <a:ea typeface="맑은 고딕"/>
                        </a:rPr>
                        <a:t>★C-1</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Scope 1의 분기 실측과 확정배출량 신고, Scope 2 전력 사용량과 전년 대비 증감 분석, Scope 3 상류에 해당하는 제품 전과정평가(LCA) 결과가 기간별로 기록·분석</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3/3</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0/2</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a:t>
                      </a:r>
                    </a:p>
                  </a:txBody>
                  <a:tcPr marL="64008" marR="64008" marT="27432" marB="27432" anchor="ctr">
                    <a:solidFill>
                      <a:srgbClr val="E8EEF7"/>
                    </a:solidFill>
                  </a:tcPr>
                </a:tc>
              </a:tr>
            </a:tbl>
          </a:graphicData>
        </a:graphic>
      </p:graphicFrame>
      <p:sp>
        <p:nvSpPr>
          <p:cNvPr id="11" name="TextBox 10"/>
          <p:cNvSpPr txBox="1"/>
          <p:nvPr/>
        </p:nvSpPr>
        <p:spPr>
          <a:xfrm>
            <a:off x="497190" y="7233296"/>
            <a:ext cx="9695214" cy="201600"/>
          </a:xfrm>
          <a:prstGeom prst="rect">
            <a:avLst/>
          </a:prstGeom>
          <a:noFill/>
        </p:spPr>
        <p:txBody>
          <a:bodyPr wrap="square" anchor="t" lIns="0" rIns="0" tIns="0" bIns="0">
            <a:spAutoFit/>
          </a:bodyPr>
          <a:lstStyle/>
          <a:p>
            <a:r>
              <a:rPr sz="1000" b="0" i="0" a:lang="ko-KR">
                <a:solidFill>
                  <a:srgbClr val="595959"/>
                </a:solidFill>
                <a:latin typeface="맑은 고딕"/>
                <a:ea typeface="맑은 고딕"/>
              </a:rPr>
              <a:t>[표 4-8] 평가 기록부 발췌 — 핵심 문항 4종. 51문항의 체크포인트 충족 수와 점수는 부록 I.</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영역별 결과</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Ⅳ. 성숙도 평가 — 적용하면 어떻게 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연계가 계획에서 가장 성숙하고 점검·개선으로 갈수록 얕아진다.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21</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4.3, [표 4-13], [표 4-6]</a:t>
            </a:r>
          </a:p>
        </p:txBody>
      </p:sp>
      <p:graphicFrame>
        <p:nvGraphicFramePr>
          <p:cNvPr id="8" name="Table 7"/>
          <p:cNvGraphicFramePr>
            <a:graphicFrameLocks noGrp="1"/>
          </p:cNvGraphicFramePr>
          <p:nvPr/>
        </p:nvGraphicFramePr>
        <p:xfrm>
          <a:off x="497190" y="1331200"/>
          <a:ext cx="6936608" cy="2534096"/>
        </p:xfrm>
        <a:graphic>
          <a:graphicData uri="http://schemas.openxmlformats.org/drawingml/2006/table">
            <a:tbl>
              <a:tblPr firstRow="1" bandRow="1">
                <a:tableStyleId>{5C22544A-7EE6-4342-B048-85BDC9FD1C3A}</a:tableStyleId>
              </a:tblPr>
              <a:tblGrid>
                <a:gridCol w="1202880"/>
                <a:gridCol w="1002400"/>
                <a:gridCol w="1363264"/>
                <a:gridCol w="1002400"/>
                <a:gridCol w="1002400"/>
                <a:gridCol w="1363264"/>
              </a:tblGrid>
              <a:tr h="504000">
                <a:tc>
                  <a:txBody>
                    <a:bodyPr wrap="square"/>
                    <a:lstStyle/>
                    <a:p>
                      <a:pPr algn="ctr"/>
                      <a:r>
                        <a:rPr sz="1400" b="1" i="0" a:lang="ko-KR">
                          <a:solidFill>
                            <a:srgbClr val="FFFFFF"/>
                          </a:solidFill>
                          <a:latin typeface="맑은 고딕"/>
                          <a:ea typeface="맑은 고딕"/>
                        </a:rPr>
                        <a:t>구분</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P (계획)</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D (실행)</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C (점검)</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A (개선)</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종합</a:t>
                      </a:r>
                    </a:p>
                  </a:txBody>
                  <a:tcPr marL="64008" marR="64008" marT="27432" marB="27432" anchor="ctr">
                    <a:solidFill>
                      <a:srgbClr val="1F3864"/>
                    </a:solidFill>
                  </a:tcPr>
                </a:tc>
              </a:tr>
              <a:tr h="504000">
                <a:tc>
                  <a:txBody>
                    <a:bodyPr wrap="square"/>
                    <a:lstStyle/>
                    <a:p>
                      <a:pPr algn="l"/>
                      <a:r>
                        <a:rPr sz="1400" b="0" i="0" a:lang="ko-KR">
                          <a:solidFill>
                            <a:srgbClr val="111111"/>
                          </a:solidFill>
                          <a:latin typeface="맑은 고딕"/>
                          <a:ea typeface="맑은 고딕"/>
                        </a:rPr>
                        <a:t>영역 평점</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3.23</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3.00</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2.10</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2.33</a:t>
                      </a:r>
                    </a:p>
                  </a:txBody>
                  <a:tcPr marL="64008" marR="64008" marT="27432" marB="27432" anchor="ctr">
                    <a:solidFill>
                      <a:srgbClr val="E8EEF7"/>
                    </a:solidFill>
                  </a:tcPr>
                </a:tc>
                <a:tc>
                  <a:txBody>
                    <a:bodyPr wrap="square"/>
                    <a:lstStyle/>
                    <a:p>
                      <a:pPr algn="ctr"/>
                      <a:r>
                        <a:rPr sz="1400" b="1" i="0" a:lang="ko-KR">
                          <a:solidFill>
                            <a:srgbClr val="C00000"/>
                          </a:solidFill>
                          <a:latin typeface="맑은 고딕"/>
                          <a:ea typeface="맑은 고딕"/>
                        </a:rPr>
                        <a:t>2.85</a:t>
                      </a:r>
                    </a:p>
                  </a:txBody>
                  <a:tcPr marL="64008" marR="64008" marT="27432" marB="27432" anchor="ctr">
                    <a:solidFill>
                      <a:srgbClr val="E8EEF7"/>
                    </a:solidFill>
                  </a:tcPr>
                </a:tc>
              </a:tr>
              <a:tr h="1022096">
                <a:tc>
                  <a:txBody>
                    <a:bodyPr wrap="square"/>
                    <a:lstStyle/>
                    <a:p>
                      <a:pPr algn="l"/>
                      <a:r>
                        <a:rPr sz="1400" b="0" i="0" a:lang="ko-KR">
                          <a:solidFill>
                            <a:srgbClr val="111111"/>
                          </a:solidFill>
                          <a:latin typeface="맑은 고딕"/>
                          <a:ea typeface="맑은 고딕"/>
                        </a:rPr>
                        <a:t>핵심 문항</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P-9 4점·P-14 3점 통과</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D-1 2점 미충족</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C-1 3점 통과</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4종 중 3종 통과</a:t>
                      </a:r>
                    </a:p>
                  </a:txBody>
                  <a:tcPr marL="64008" marR="64008" marT="27432" marB="27432" anchor="ctr">
                    <a:solidFill>
                      <a:srgbClr val="FFFFFF"/>
                    </a:solidFill>
                  </a:tcPr>
                </a:tc>
              </a:tr>
              <a:tr h="504000">
                <a:tc>
                  <a:txBody>
                    <a:bodyPr wrap="square"/>
                    <a:lstStyle/>
                    <a:p>
                      <a:pPr algn="l"/>
                      <a:r>
                        <a:rPr sz="1400" b="0" i="0" a:lang="ko-KR">
                          <a:solidFill>
                            <a:srgbClr val="111111"/>
                          </a:solidFill>
                          <a:latin typeface="맑은 고딕"/>
                          <a:ea typeface="맑은 고딕"/>
                        </a:rPr>
                        <a:t>성숙도 수준</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ML2 (관리화)</a:t>
                      </a:r>
                    </a:p>
                  </a:txBody>
                  <a:tcPr marL="64008" marR="64008" marT="27432" marB="27432" anchor="ctr">
                    <a:solidFill>
                      <a:srgbClr val="FFFFFF"/>
                    </a:solidFill>
                  </a:tcPr>
                </a:tc>
              </a:tr>
            </a:tbl>
          </a:graphicData>
        </a:graphic>
      </p:graphicFrame>
      <p:graphicFrame>
        <p:nvGraphicFramePr>
          <p:cNvPr id="9" name="Chart 8"/>
          <p:cNvGraphicFramePr>
            <a:graphicFrameLocks noGrp="1"/>
          </p:cNvGraphicFramePr>
          <p:nvPr/>
        </p:nvGraphicFramePr>
        <p:xfrm>
          <a:off x="7578145" y="1180000"/>
          <a:ext cx="2646336" cy="2923200"/>
        </p:xfrm>
        <a:graphic>
          <a:graphicData uri="http://schemas.openxmlformats.org/drawingml/2006/chart">
            <c:chart xmlns:c="http://schemas.openxmlformats.org/drawingml/2006/chart" r:id="rId2"/>
          </a:graphicData>
        </a:graphic>
      </p:graphicFrame>
      <p:sp>
        <p:nvSpPr>
          <p:cNvPr id="10" name="TextBox 9"/>
          <p:cNvSpPr txBox="1"/>
          <p:nvPr/>
        </p:nvSpPr>
        <p:spPr>
          <a:xfrm>
            <a:off x="497190" y="3955296"/>
            <a:ext cx="6896513" cy="2309904"/>
          </a:xfrm>
          <a:prstGeom prst="rect">
            <a:avLst/>
          </a:prstGeom>
          <a:noFill/>
        </p:spPr>
        <p:txBody>
          <a:bodyPr wrap="square" anchor="t" lIns="0" rIns="0" tIns="0" bIns="0">
            <a:spAutoFit/>
          </a:bodyPr>
          <a:lstStyle/>
          <a:p>
            <a:pPr>
              <a:spcAft>
                <a:spcPts val="400"/>
              </a:spcAft>
            </a:pPr>
            <a:r>
              <a:rPr sz="1600" b="0" i="0" a:lang="ko-KR">
                <a:solidFill>
                  <a:srgbClr val="111111"/>
                </a:solidFill>
                <a:latin typeface="맑은 고딕"/>
                <a:ea typeface="맑은 고딕"/>
              </a:rPr>
              <a:t>· 55문항 중 3점 이상 39문항(70.9%) — 5점은 없음</a:t>
            </a:r>
          </a:p>
          <a:p>
            <a:pPr>
              <a:spcAft>
                <a:spcPts val="400"/>
              </a:spcAft>
            </a:pPr>
            <a:r>
              <a:rPr sz="1600" b="0" i="0" a:lang="ko-KR">
                <a:solidFill>
                  <a:srgbClr val="111111"/>
                </a:solidFill>
                <a:latin typeface="맑은 고딕"/>
                <a:ea typeface="맑은 고딕"/>
              </a:rPr>
              <a:t>· 프로파일 P 3.23 &gt; D 3.00 &gt; A 2.33 &gt; C 2.10</a:t>
            </a:r>
          </a:p>
          <a:p>
            <a:pPr>
              <a:spcAft>
                <a:spcPts val="400"/>
              </a:spcAft>
            </a:pPr>
            <a:r>
              <a:rPr sz="1600" b="0" i="0" a:lang="ko-KR">
                <a:solidFill>
                  <a:srgbClr val="111111"/>
                </a:solidFill>
                <a:latin typeface="맑은 고딕"/>
                <a:ea typeface="맑은 고딕"/>
              </a:rPr>
              <a:t>· LCA 결과가 들어오는 앞부분(환경측면·목표)은 성립 — 그 결과를 검증하고 다시 돌리는 뒷부분(정밀검토·재수행·경영검토 피드백)은 아직 1회차 수행 단계</a:t>
            </a:r>
          </a:p>
        </p:txBody>
      </p:sp>
      <p:sp>
        <p:nvSpPr>
          <p:cNvPr id="11" name="Rounded Rectangle 10"/>
          <p:cNvSpPr/>
          <p:nvPr/>
        </p:nvSpPr>
        <p:spPr>
          <a:xfrm>
            <a:off x="497190" y="6172896"/>
            <a:ext cx="9695214" cy="6048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C00000"/>
                </a:solidFill>
                <a:latin typeface="맑은 고딕"/>
                <a:ea typeface="맑은 고딕"/>
              </a:rPr>
              <a:t>종합점수 2.85는 판정에 쓰지 않는 보조값 — 판정은 핵심 문항이 정한다(다음 장)</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종합 판정 — ML2 (관리화)</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Ⅳ. 성숙도 평가 — 적용하면 어떻게 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판정을 가른 것은 점수의 크기가 아니라 필요조건의 충족 여부다.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22</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4.3.5, 4.5.2, [그림 4-2], [그림 4-3]</a:t>
            </a:r>
          </a:p>
        </p:txBody>
      </p:sp>
      <p:sp>
        <p:nvSpPr>
          <p:cNvPr id="8" name="Rounded Rectangle 7"/>
          <p:cNvSpPr/>
          <p:nvPr/>
        </p:nvSpPr>
        <p:spPr>
          <a:xfrm>
            <a:off x="497190" y="1512000"/>
            <a:ext cx="2285472" cy="907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P-9  4점</a:t>
            </a:r>
          </a:p>
          <a:p>
            <a:pPr algn="ctr"/>
            <a:r>
              <a:rPr sz="1300" b="0" i="0" a:lang="ko-KR">
                <a:solidFill>
                  <a:srgbClr val="FFFFFF"/>
                </a:solidFill>
                <a:latin typeface="맑은 고딕"/>
                <a:ea typeface="맑은 고딕"/>
              </a:rPr>
              <a:t>환경측면 결정  — 통과</a:t>
            </a:r>
          </a:p>
        </p:txBody>
      </p:sp>
      <p:sp>
        <p:nvSpPr>
          <p:cNvPr id="9" name="Rounded Rectangle 8"/>
          <p:cNvSpPr/>
          <p:nvPr/>
        </p:nvSpPr>
        <p:spPr>
          <a:xfrm>
            <a:off x="2902951" y="1512000"/>
            <a:ext cx="2285472" cy="907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P-14  3점</a:t>
            </a:r>
          </a:p>
          <a:p>
            <a:pPr algn="ctr"/>
            <a:r>
              <a:rPr sz="1300" b="0" i="0" a:lang="ko-KR">
                <a:solidFill>
                  <a:srgbClr val="FFFFFF"/>
                </a:solidFill>
                <a:latin typeface="맑은 고딕"/>
                <a:ea typeface="맑은 고딕"/>
              </a:rPr>
              <a:t>정량 환경목표  — 통과</a:t>
            </a:r>
          </a:p>
        </p:txBody>
      </p:sp>
      <p:sp>
        <p:nvSpPr>
          <p:cNvPr id="10" name="Rounded Rectangle 9"/>
          <p:cNvSpPr/>
          <p:nvPr/>
        </p:nvSpPr>
        <p:spPr>
          <a:xfrm>
            <a:off x="5308711" y="1512000"/>
            <a:ext cx="2285472" cy="9072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D-1  2점</a:t>
            </a:r>
          </a:p>
          <a:p>
            <a:pPr algn="ctr"/>
            <a:r>
              <a:rPr sz="1300" b="0" i="0" a:lang="ko-KR">
                <a:solidFill>
                  <a:srgbClr val="FFFFFF"/>
                </a:solidFill>
                <a:latin typeface="맑은 고딕"/>
                <a:ea typeface="맑은 고딕"/>
              </a:rPr>
              <a:t>설계·개발 반영  — 미달 (기준 3점)</a:t>
            </a:r>
          </a:p>
        </p:txBody>
      </p:sp>
      <p:sp>
        <p:nvSpPr>
          <p:cNvPr id="11" name="Rounded Rectangle 10"/>
          <p:cNvSpPr/>
          <p:nvPr/>
        </p:nvSpPr>
        <p:spPr>
          <a:xfrm>
            <a:off x="7714471" y="1512000"/>
            <a:ext cx="2285472" cy="907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C-1  3점</a:t>
            </a:r>
          </a:p>
          <a:p>
            <a:pPr algn="ctr"/>
            <a:r>
              <a:rPr sz="1300" b="0" i="0" a:lang="ko-KR">
                <a:solidFill>
                  <a:srgbClr val="FFFFFF"/>
                </a:solidFill>
                <a:latin typeface="맑은 고딕"/>
                <a:ea typeface="맑은 고딕"/>
              </a:rPr>
              <a:t>성과 모니터링  — 통과</a:t>
            </a:r>
          </a:p>
        </p:txBody>
      </p:sp>
      <p:pic>
        <p:nvPicPr>
          <p:cNvPr id="12" name="Picture 11" descr="f4-1.png"/>
          <p:cNvPicPr>
            <a:picLocks noChangeAspect="1"/>
          </p:cNvPicPr>
          <p:nvPr/>
        </p:nvPicPr>
        <p:blipFill>
          <a:blip r:embed="rId2"/>
          <a:stretch>
            <a:fillRect/>
          </a:stretch>
        </p:blipFill>
        <p:spPr>
          <a:xfrm>
            <a:off x="3034782" y="2489200"/>
            <a:ext cx="4622433" cy="1091814"/>
          </a:xfrm>
          <a:prstGeom prst="rect">
            <a:avLst/>
          </a:prstGeom>
        </p:spPr>
      </p:pic>
      <p:pic>
        <p:nvPicPr>
          <p:cNvPr id="13" name="Picture 12" descr="g4-3.png"/>
          <p:cNvPicPr>
            <a:picLocks noChangeAspect="1"/>
          </p:cNvPicPr>
          <p:nvPr/>
        </p:nvPicPr>
        <p:blipFill>
          <a:blip r:embed="rId3"/>
          <a:stretch>
            <a:fillRect/>
          </a:stretch>
        </p:blipFill>
        <p:spPr>
          <a:xfrm>
            <a:off x="2615274" y="4113891"/>
            <a:ext cx="5461451" cy="2084372"/>
          </a:xfrm>
          <a:prstGeom prst="rect">
            <a:avLst/>
          </a:prstGeom>
        </p:spPr>
      </p:pic>
      <p:sp>
        <p:nvSpPr>
          <p:cNvPr id="14" name="TextBox 13"/>
          <p:cNvSpPr txBox="1"/>
          <p:nvPr/>
        </p:nvSpPr>
        <p:spPr>
          <a:xfrm>
            <a:off x="497190" y="6268264"/>
            <a:ext cx="9695214" cy="681736"/>
          </a:xfrm>
          <a:prstGeom prst="rect">
            <a:avLst/>
          </a:prstGeom>
          <a:noFill/>
        </p:spPr>
        <p:txBody>
          <a:bodyPr wrap="square" anchor="t" lIns="0" rIns="0" tIns="0" bIns="0">
            <a:spAutoFit/>
          </a:bodyPr>
          <a:lstStyle/>
          <a:p>
            <a:pPr>
              <a:spcAft>
                <a:spcPts val="200"/>
              </a:spcAft>
            </a:pPr>
            <a:r>
              <a:rPr sz="1300" b="0" i="0" a:lang="ko-KR">
                <a:solidFill>
                  <a:srgbClr val="595959"/>
                </a:solidFill>
                <a:latin typeface="맑은 고딕"/>
                <a:ea typeface="맑은 고딕"/>
              </a:rPr>
              <a:t>종합점수 2.85는 판정에 쓰지 않는 보조값 — ML3 진입 조건(모든 핵심 문항 ≥ 3)에서 D-1이 걸려 ML2 — 과반 기준을 50→70%로, 핵심 문항 임계를 4·5점으로 올려도 판정은 변하지 않는다(민감도).</a:t>
            </a:r>
          </a:p>
          <a:p>
            <a:r>
              <a:rPr sz="1200" b="0" i="0" a:lang="ko-KR">
                <a:solidFill>
                  <a:srgbClr val="595959"/>
                </a:solidFill>
                <a:latin typeface="맑은 고딕"/>
                <a:ea typeface="맑은 고딕"/>
              </a:rPr>
              <a:t>[그림 4-3] 프로파일의 오른쪽은 개선 과제 완수 시 재산정치(3.15·ML3) — Ⅴ부.</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000" b="1" i="0" a:lang="ko-KR">
                <a:solidFill>
                  <a:srgbClr val="1F3864"/>
                </a:solidFill>
                <a:latin typeface="맑은 고딕"/>
                <a:ea typeface="맑은 고딕"/>
              </a:rPr>
              <a:t>결과 요약 — 낮은 점수는 세 가지 원인으로 모인다</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Ⅳ. 성숙도 평가 — 적용하면 어떻게 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23</a:t>
            </a:r>
          </a:p>
        </p:txBody>
      </p:sp>
      <p:sp>
        <p:nvSpPr>
          <p:cNvPr id="6" name="TextBox 5"/>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4.4, 4.5.1, 4.7, [그림 4-4]</a:t>
            </a:r>
          </a:p>
        </p:txBody>
      </p:sp>
      <p:pic>
        <p:nvPicPr>
          <p:cNvPr id="7" name="Picture 6" descr="ch4_mid.png"/>
          <p:cNvPicPr>
            <a:picLocks noChangeAspect="1"/>
          </p:cNvPicPr>
          <p:nvPr/>
        </p:nvPicPr>
        <p:blipFill>
          <a:blip r:embed="rId2"/>
          <a:stretch>
            <a:fillRect/>
          </a:stretch>
        </p:blipFill>
        <p:spPr>
          <a:xfrm>
            <a:off x="979769" y="1150000"/>
            <a:ext cx="8732461" cy="5326799"/>
          </a:xfrm>
          <a:prstGeom prst="rect">
            <a:avLst/>
          </a:prstGeom>
        </p:spPr>
      </p:pic>
      <p:sp>
        <p:nvSpPr>
          <p:cNvPr id="8" name="TextBox 7"/>
          <p:cNvSpPr txBox="1"/>
          <p:nvPr/>
        </p:nvSpPr>
        <p:spPr>
          <a:xfrm>
            <a:off x="497190" y="6546800"/>
            <a:ext cx="1283072" cy="241920"/>
          </a:xfrm>
          <a:prstGeom prst="rect">
            <a:avLst/>
          </a:prstGeom>
          <a:noFill/>
        </p:spPr>
        <p:txBody>
          <a:bodyPr wrap="square" anchor="ctr" lIns="0" rIns="0" tIns="0" bIns="0">
            <a:spAutoFit/>
          </a:bodyPr>
          <a:lstStyle/>
          <a:p>
            <a:r>
              <a:rPr sz="1300" b="1" i="0" a:lang="ko-KR">
                <a:solidFill>
                  <a:srgbClr val="595959"/>
                </a:solidFill>
                <a:latin typeface="맑은 고딕"/>
                <a:ea typeface="맑은 고딕"/>
              </a:rPr>
              <a:t>써 본 것</a:t>
            </a:r>
          </a:p>
        </p:txBody>
      </p:sp>
      <p:sp>
        <p:nvSpPr>
          <p:cNvPr id="9" name="Rounded Rectangle 8"/>
          <p:cNvSpPr/>
          <p:nvPr/>
        </p:nvSpPr>
        <p:spPr>
          <a:xfrm>
            <a:off x="1780263" y="6546800"/>
            <a:ext cx="1042496"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2.85</a:t>
            </a:r>
          </a:p>
        </p:txBody>
      </p:sp>
      <p:sp>
        <p:nvSpPr>
          <p:cNvPr id="10" name="Right Arrow 9"/>
          <p:cNvSpPr/>
          <p:nvPr/>
        </p:nvSpPr>
        <p:spPr>
          <a:xfrm>
            <a:off x="2854835" y="6667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079373" y="6546800"/>
            <a:ext cx="1042496" cy="4032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ML2</a:t>
            </a:r>
          </a:p>
        </p:txBody>
      </p:sp>
      <p:sp>
        <p:nvSpPr>
          <p:cNvPr id="12" name="Right Arrow 11"/>
          <p:cNvSpPr/>
          <p:nvPr/>
        </p:nvSpPr>
        <p:spPr>
          <a:xfrm>
            <a:off x="4153946" y="6667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78484" y="6546800"/>
            <a:ext cx="1042496"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R1~R5</a:t>
            </a:r>
          </a:p>
        </p:txBody>
      </p:sp>
      <p:sp>
        <p:nvSpPr>
          <p:cNvPr id="14" name="Right Arrow 13"/>
          <p:cNvSpPr/>
          <p:nvPr/>
        </p:nvSpPr>
        <p:spPr>
          <a:xfrm>
            <a:off x="5453056" y="6667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677594" y="6546800"/>
            <a:ext cx="1042496"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3.15</a:t>
            </a:r>
          </a:p>
        </p:txBody>
      </p:sp>
      <p:sp>
        <p:nvSpPr>
          <p:cNvPr id="16" name="Right Arrow 15"/>
          <p:cNvSpPr/>
          <p:nvPr/>
        </p:nvSpPr>
        <p:spPr>
          <a:xfrm>
            <a:off x="6752167" y="6667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976705" y="6546800"/>
            <a:ext cx="1042496"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ML3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R1~R5</a:t>
            </a:r>
          </a:p>
        </p:txBody>
      </p:sp>
      <p:sp>
        <p:nvSpPr>
          <p:cNvPr id="3" name="TextBox 2"/>
          <p:cNvSpPr txBox="1"/>
          <p:nvPr/>
        </p:nvSpPr>
        <p:spPr>
          <a:xfrm>
            <a:off x="7315692" y="110000"/>
            <a:ext cx="287671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Ⅴ. 개선 과제 — 무엇을 고치나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진단이 채점에서 끝나지 않고 실행 계획으로 이어진다.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24</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4.6.1, [표 4-15], [그림 4-5]~[그림 4-9]</a:t>
            </a:r>
          </a:p>
        </p:txBody>
      </p:sp>
      <p:graphicFrame>
        <p:nvGraphicFramePr>
          <p:cNvPr id="8" name="Table 7"/>
          <p:cNvGraphicFramePr>
            <a:graphicFrameLocks noGrp="1"/>
          </p:cNvGraphicFramePr>
          <p:nvPr/>
        </p:nvGraphicFramePr>
        <p:xfrm>
          <a:off x="494383" y="1180000"/>
          <a:ext cx="9703232" cy="3880800"/>
        </p:xfrm>
        <a:graphic>
          <a:graphicData uri="http://schemas.openxmlformats.org/drawingml/2006/table">
            <a:tbl>
              <a:tblPr firstRow="1" bandRow="1">
                <a:tableStyleId>{5C22544A-7EE6-4342-B048-85BDC9FD1C3A}</a:tableStyleId>
              </a:tblPr>
              <a:tblGrid>
                <a:gridCol w="882112"/>
                <a:gridCol w="3929408"/>
                <a:gridCol w="1042496"/>
                <a:gridCol w="882112"/>
                <a:gridCol w="1603840"/>
                <a:gridCol w="1363264"/>
              </a:tblGrid>
              <a:tr h="554400">
                <a:tc>
                  <a:txBody>
                    <a:bodyPr wrap="square"/>
                    <a:lstStyle/>
                    <a:p>
                      <a:pPr algn="ctr"/>
                      <a:r>
                        <a:rPr sz="1400" b="1" i="0" a:lang="ko-KR">
                          <a:solidFill>
                            <a:srgbClr val="FFFFFF"/>
                          </a:solidFill>
                          <a:latin typeface="맑은 고딕"/>
                          <a:ea typeface="맑은 고딕"/>
                        </a:rPr>
                        <a:t>과제</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무엇을</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담당부서</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시기</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대상 문항</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점수 효과</a:t>
                      </a:r>
                    </a:p>
                  </a:txBody>
                  <a:tcPr marL="64008" marR="64008" marT="27432" marB="27432" anchor="ctr">
                    <a:solidFill>
                      <a:srgbClr val="1F3864"/>
                    </a:solidFill>
                  </a:tcPr>
                </a:tc>
              </a:tr>
              <a:tr h="554400">
                <a:tc>
                  <a:txBody>
                    <a:bodyPr wrap="square"/>
                    <a:lstStyle/>
                    <a:p>
                      <a:pPr algn="ctr"/>
                      <a:r>
                        <a:rPr sz="1400" b="0" i="0" a:lang="ko-KR">
                          <a:solidFill>
                            <a:srgbClr val="111111"/>
                          </a:solidFill>
                          <a:latin typeface="맑은 고딕"/>
                          <a:ea typeface="맑은 고딕"/>
                        </a:rPr>
                        <a:t>R1</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제외 단계(사용·폐기) 정당화의 공식 문서화 + 경계 정합성 검토 기록</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관리부서</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단기</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P-3 · P-18 · A-8 · (D-1 추가④)</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+4</a:t>
                      </a:r>
                    </a:p>
                  </a:txBody>
                  <a:tcPr marL="64008" marR="64008" marT="27432" marB="27432" anchor="ctr">
                    <a:solidFill>
                      <a:srgbClr val="FFFFFF"/>
                    </a:solidFill>
                  </a:tcPr>
                </a:tc>
              </a:tr>
              <a:tr h="554400">
                <a:tc>
                  <a:txBody>
                    <a:bodyPr wrap="square"/>
                    <a:lstStyle/>
                    <a:p>
                      <a:pPr algn="ctr"/>
                      <a:r>
                        <a:rPr sz="1400" b="0" i="0" a:lang="ko-KR">
                          <a:solidFill>
                            <a:srgbClr val="111111"/>
                          </a:solidFill>
                          <a:latin typeface="맑은 고딕"/>
                          <a:ea typeface="맑은 고딕"/>
                        </a:rPr>
                        <a:t>R2</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비교주장 미수행 정책 결정의 문서화</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관리부서</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단기</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C-7 · A-9</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+4 (각 1→3)</a:t>
                      </a:r>
                    </a:p>
                  </a:txBody>
                  <a:tcPr marL="64008" marR="64008" marT="27432" marB="27432" anchor="ctr">
                    <a:solidFill>
                      <a:srgbClr val="E8EEF7"/>
                    </a:solidFill>
                  </a:tcPr>
                </a:tc>
              </a:tr>
              <a:tr h="554400">
                <a:tc>
                  <a:txBody>
                    <a:bodyPr wrap="square"/>
                    <a:lstStyle/>
                    <a:p>
                      <a:pPr algn="ctr"/>
                      <a:r>
                        <a:rPr sz="1400" b="1" i="0" a:lang="ko-KR">
                          <a:solidFill>
                            <a:srgbClr val="C00000"/>
                          </a:solidFill>
                          <a:latin typeface="맑은 고딕"/>
                          <a:ea typeface="맑은 고딕"/>
                        </a:rPr>
                        <a:t>R3</a:t>
                      </a:r>
                    </a:p>
                  </a:txBody>
                  <a:tcPr marL="64008" marR="64008" marT="27432" marB="27432" anchor="ctr">
                    <a:solidFill>
                      <a:srgbClr val="FFFFFF"/>
                    </a:solidFill>
                  </a:tcPr>
                </a:tc>
                <a:tc>
                  <a:txBody>
                    <a:bodyPr wrap="square"/>
                    <a:lstStyle/>
                    <a:p>
                      <a:pPr algn="l"/>
                      <a:r>
                        <a:rPr sz="1400" b="1" i="0" a:lang="ko-KR">
                          <a:solidFill>
                            <a:srgbClr val="C00000"/>
                          </a:solidFill>
                          <a:latin typeface="맑은 고딕"/>
                          <a:ea typeface="맑은 고딕"/>
                        </a:rPr>
                        <a:t>설계·개발 절차서 제정 — 환경 고려 단계 공식화</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개발부서</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중기</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D-1 ★</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+1 → ML2→ML3</a:t>
                      </a:r>
                    </a:p>
                  </a:txBody>
                  <a:tcPr marL="64008" marR="64008" marT="27432" marB="27432" anchor="ctr">
                    <a:solidFill>
                      <a:srgbClr val="FFFFFF"/>
                    </a:solidFill>
                  </a:tcPr>
                </a:tc>
              </a:tr>
              <a:tr h="554400">
                <a:tc>
                  <a:txBody>
                    <a:bodyPr wrap="square"/>
                    <a:lstStyle/>
                    <a:p>
                      <a:pPr algn="ctr"/>
                      <a:r>
                        <a:rPr sz="1400" b="0" i="0" a:lang="ko-KR">
                          <a:solidFill>
                            <a:srgbClr val="111111"/>
                          </a:solidFill>
                          <a:latin typeface="맑은 고딕"/>
                          <a:ea typeface="맑은 고딕"/>
                        </a:rPr>
                        <a:t>R4</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내부 정밀검토 체계 도입 + 내부심사 체크리스트에 LCA 항목 반영</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관리부서</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중기</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P-21 · C-5 · (C-9)</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 (+1)</a:t>
                      </a:r>
                    </a:p>
                  </a:txBody>
                  <a:tcPr marL="64008" marR="64008" marT="27432" marB="27432" anchor="ctr">
                    <a:solidFill>
                      <a:srgbClr val="E8EEF7"/>
                    </a:solidFill>
                  </a:tcPr>
                </a:tc>
              </a:tr>
              <a:tr h="554400">
                <a:tc>
                  <a:txBody>
                    <a:bodyPr wrap="square"/>
                    <a:lstStyle/>
                    <a:p>
                      <a:pPr algn="ctr"/>
                      <a:r>
                        <a:rPr sz="1400" b="0" i="0" a:lang="ko-KR">
                          <a:solidFill>
                            <a:srgbClr val="111111"/>
                          </a:solidFill>
                          <a:latin typeface="맑은 고딕"/>
                          <a:ea typeface="맑은 고딕"/>
                        </a:rPr>
                        <a:t>R5</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LCA 연 1회 재수행의 이행 — 개선 전·후 비교 · 민감도 · 일관성 검사</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ESG부서</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중기~장기</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C-2 · A-2 · A-6 · (C-4)</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+4 (+1)</a:t>
                      </a:r>
                    </a:p>
                  </a:txBody>
                  <a:tcPr marL="64008" marR="64008" marT="27432" marB="27432" anchor="ctr">
                    <a:solidFill>
                      <a:srgbClr val="FFFFFF"/>
                    </a:solidFill>
                  </a:tcPr>
                </a:tc>
              </a:tr>
              <a:tr h="554400">
                <a:tc>
                  <a:txBody>
                    <a:bodyPr wrap="square"/>
                    <a:lstStyle/>
                    <a:p>
                      <a:pPr algn="ctr"/>
                      <a:r>
                        <a:rPr sz="1400" b="0" i="0" a:lang="ko-KR">
                          <a:solidFill>
                            <a:srgbClr val="111111"/>
                          </a:solidFill>
                          <a:latin typeface="맑은 고딕"/>
                          <a:ea typeface="맑은 고딕"/>
                        </a:rPr>
                        <a:t>R6 (장기)</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외부 정밀검토 — ML4를 향한 장기 과제(수치 미포함)</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관리부서</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장기</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C-6</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a:t>
                      </a:r>
                    </a:p>
                  </a:txBody>
                  <a:tcPr marL="64008" marR="64008" marT="27432" marB="27432" anchor="ctr">
                    <a:solidFill>
                      <a:srgbClr val="E8EEF7"/>
                    </a:solidFill>
                  </a:tcPr>
                </a:tc>
              </a:tr>
            </a:tbl>
          </a:graphicData>
        </a:graphic>
      </p:graphicFrame>
      <p:sp>
        <p:nvSpPr>
          <p:cNvPr id="9" name="Rounded Rectangle 8"/>
          <p:cNvSpPr/>
          <p:nvPr/>
        </p:nvSpPr>
        <p:spPr>
          <a:xfrm>
            <a:off x="497190" y="5262400"/>
            <a:ext cx="9695214" cy="1008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구조적 미비 ①→R3 · ②→R4 · ③→R5, 경계·조건부 문항→R1·R2 — 원인 단위로 최소화한 5건</a:t>
            </a:r>
          </a:p>
          <a:p>
            <a:pPr algn="ctr"/>
            <a:r>
              <a:rPr sz="1300" b="0" i="0" a:lang="ko-KR">
                <a:solidFill>
                  <a:srgbClr val="111111"/>
                </a:solidFill>
                <a:latin typeface="맑은 고딕"/>
                <a:ea typeface="맑은 고딕"/>
              </a:rPr>
              <a:t>과제의 목표 상태는 재평가 기준인 채점 앵커와 같은 문구 → 다음 평가에서 조치 완료 여부를 그대로 판정 (KS I ISO 14004 6.2.3·10.3의 계획 요소)</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로드맵과 재평가</a:t>
            </a:r>
          </a:p>
        </p:txBody>
      </p:sp>
      <p:sp>
        <p:nvSpPr>
          <p:cNvPr id="3" name="TextBox 2"/>
          <p:cNvSpPr txBox="1"/>
          <p:nvPr/>
        </p:nvSpPr>
        <p:spPr>
          <a:xfrm>
            <a:off x="7315692" y="110000"/>
            <a:ext cx="287671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Ⅴ. 개선 과제 — 무엇을 고치나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평가와 개선과 재평가가 같은 문구로 이어진다.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25</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4.6.2, 4.6.3, [표 4-16], [표 4-18], [그림 4-10]</a:t>
            </a:r>
          </a:p>
        </p:txBody>
      </p:sp>
      <p:pic>
        <p:nvPicPr>
          <p:cNvPr id="8" name="Picture 7" descr="g4-10.png"/>
          <p:cNvPicPr>
            <a:picLocks noChangeAspect="1"/>
          </p:cNvPicPr>
          <p:nvPr/>
        </p:nvPicPr>
        <p:blipFill>
          <a:blip r:embed="rId2"/>
          <a:stretch>
            <a:fillRect/>
          </a:stretch>
        </p:blipFill>
        <p:spPr>
          <a:xfrm>
            <a:off x="924228" y="1233360"/>
            <a:ext cx="8843544" cy="4200959"/>
          </a:xfrm>
          <a:prstGeom prst="rect">
            <a:avLst/>
          </a:prstGeom>
        </p:spPr>
      </p:pic>
      <p:graphicFrame>
        <p:nvGraphicFramePr>
          <p:cNvPr id="9" name="Table 8"/>
          <p:cNvGraphicFramePr>
            <a:graphicFrameLocks noGrp="1"/>
          </p:cNvGraphicFramePr>
          <p:nvPr/>
        </p:nvGraphicFramePr>
        <p:xfrm>
          <a:off x="1216111" y="5504320"/>
          <a:ext cx="8259776" cy="1445680"/>
        </p:xfrm>
        <a:graphic>
          <a:graphicData uri="http://schemas.openxmlformats.org/drawingml/2006/table">
            <a:tbl>
              <a:tblPr firstRow="1" bandRow="1">
                <a:tableStyleId>{5C22544A-7EE6-4342-B048-85BDC9FD1C3A}</a:tableStyleId>
              </a:tblPr>
              <a:tblGrid>
                <a:gridCol w="2084992"/>
                <a:gridCol w="721728"/>
                <a:gridCol w="721728"/>
                <a:gridCol w="721728"/>
                <a:gridCol w="721728"/>
                <a:gridCol w="801920"/>
                <a:gridCol w="1523648"/>
                <a:gridCol w="962304"/>
              </a:tblGrid>
              <a:tr h="453600">
                <a:tc>
                  <a:txBody>
                    <a:bodyPr wrap="square"/>
                    <a:lstStyle/>
                    <a:p>
                      <a:pPr algn="ctr"/>
                      <a:r>
                        <a:rPr sz="1400" b="1" i="0" a:lang="ko-KR">
                          <a:solidFill>
                            <a:srgbClr val="FFFFFF"/>
                          </a:solidFill>
                          <a:latin typeface="맑은 고딕"/>
                          <a:ea typeface="맑은 고딕"/>
                        </a:rPr>
                        <a:t>구분</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P</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D</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C</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A</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종합</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핵심 문항</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판정</a:t>
                      </a:r>
                    </a:p>
                  </a:txBody>
                  <a:tcPr marL="64008" marR="64008" marT="27432" marB="27432" anchor="ctr">
                    <a:solidFill>
                      <a:srgbClr val="1F3864"/>
                    </a:solidFill>
                  </a:tcPr>
                </a:tc>
              </a:tr>
              <a:tr h="453600">
                <a:tc>
                  <a:txBody>
                    <a:bodyPr wrap="square"/>
                    <a:lstStyle/>
                    <a:p>
                      <a:pPr algn="l"/>
                      <a:r>
                        <a:rPr sz="1400" b="0" i="0" a:lang="ko-KR">
                          <a:solidFill>
                            <a:srgbClr val="111111"/>
                          </a:solidFill>
                          <a:latin typeface="맑은 고딕"/>
                          <a:ea typeface="맑은 고딕"/>
                        </a:rPr>
                        <a:t>현행 (증빙 확정)</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3.23</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3.00</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2.10</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2.33</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2.85</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D-1 미충족</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ML2</a:t>
                      </a:r>
                    </a:p>
                  </a:txBody>
                  <a:tcPr marL="64008" marR="64008" marT="27432" marB="27432" anchor="ctr">
                    <a:solidFill>
                      <a:srgbClr val="FFFFFF"/>
                    </a:solidFill>
                  </a:tcPr>
                </a:tc>
              </a:tr>
              <a:tr h="538480">
                <a:tc>
                  <a:txBody>
                    <a:bodyPr wrap="square"/>
                    <a:lstStyle/>
                    <a:p>
                      <a:pPr algn="l"/>
                      <a:r>
                        <a:rPr sz="1400" b="0" i="0" a:lang="ko-KR">
                          <a:solidFill>
                            <a:srgbClr val="111111"/>
                          </a:solidFill>
                          <a:latin typeface="맑은 고딕"/>
                          <a:ea typeface="맑은 고딕"/>
                        </a:rPr>
                        <a:t>R1~R5 완수 시 (재산정)</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3.40</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3.17</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2.50</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3.00</a:t>
                      </a:r>
                    </a:p>
                  </a:txBody>
                  <a:tcPr marL="64008" marR="64008" marT="27432" marB="27432" anchor="ctr">
                    <a:solidFill>
                      <a:srgbClr val="E8EEF7"/>
                    </a:solidFill>
                  </a:tcPr>
                </a:tc>
                <a:tc>
                  <a:txBody>
                    <a:bodyPr wrap="square"/>
                    <a:lstStyle/>
                    <a:p>
                      <a:pPr algn="ctr"/>
                      <a:r>
                        <a:rPr sz="1400" b="1" i="0" a:lang="ko-KR">
                          <a:solidFill>
                            <a:srgbClr val="C00000"/>
                          </a:solidFill>
                          <a:latin typeface="맑은 고딕"/>
                          <a:ea typeface="맑은 고딕"/>
                        </a:rPr>
                        <a:t>3.15</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4종 모두 통과</a:t>
                      </a:r>
                    </a:p>
                  </a:txBody>
                  <a:tcPr marL="64008" marR="64008" marT="27432" marB="27432" anchor="ctr">
                    <a:solidFill>
                      <a:srgbClr val="E8EEF7"/>
                    </a:solidFill>
                  </a:tcPr>
                </a:tc>
                <a:tc>
                  <a:txBody>
                    <a:bodyPr wrap="square"/>
                    <a:lstStyle/>
                    <a:p>
                      <a:pPr algn="ctr"/>
                      <a:r>
                        <a:rPr sz="1400" b="1" i="0" a:lang="ko-KR">
                          <a:solidFill>
                            <a:srgbClr val="C00000"/>
                          </a:solidFill>
                          <a:latin typeface="맑은 고딕"/>
                          <a:ea typeface="맑은 고딕"/>
                        </a:rPr>
                        <a:t>ML3</a:t>
                      </a:r>
                    </a:p>
                  </a:txBody>
                  <a:tcPr marL="64008" marR="64008" marT="27432" marB="27432" anchor="ctr">
                    <a:solidFill>
                      <a:srgbClr val="E8EEF7"/>
                    </a:solidFill>
                  </a:tcPr>
                </a:tc>
              </a:tr>
            </a:tbl>
          </a:graphicData>
        </a:graphic>
      </p:graphicFrame>
      <p:sp>
        <p:nvSpPr>
          <p:cNvPr id="10" name="TextBox 9"/>
          <p:cNvSpPr txBox="1"/>
          <p:nvPr/>
        </p:nvSpPr>
        <p:spPr>
          <a:xfrm>
            <a:off x="497190" y="6899599"/>
            <a:ext cx="9695214" cy="647192"/>
          </a:xfrm>
          <a:prstGeom prst="rect">
            <a:avLst/>
          </a:prstGeom>
          <a:noFill/>
        </p:spPr>
        <p:txBody>
          <a:bodyPr wrap="square" anchor="t" lIns="0" rIns="0" tIns="0" bIns="0">
            <a:spAutoFit/>
          </a:bodyPr>
          <a:lstStyle/>
          <a:p>
            <a:pPr>
              <a:spcAft>
                <a:spcPts val="200"/>
              </a:spcAft>
            </a:pPr>
            <a:r>
              <a:rPr sz="1200" b="0" i="0" a:lang="ko-KR">
                <a:solidFill>
                  <a:srgbClr val="595959"/>
                </a:solidFill>
                <a:latin typeface="맑은 고딕"/>
                <a:ea typeface="맑은 고딕"/>
              </a:rPr>
              <a:t>완수 시 값은 확정 점수를 기준으로 한 재산정이며 이행 결과가 아니다. R6(외부 정밀검토)은 ML4를 향한 장기 과제로 수치에 포함하지 않는다.</a:t>
            </a:r>
          </a:p>
          <a:p>
            <a:r>
              <a:rPr sz="1200" b="0" i="0" a:lang="ko-KR">
                <a:solidFill>
                  <a:srgbClr val="595959"/>
                </a:solidFill>
                <a:latin typeface="맑은 고딕"/>
                <a:ea typeface="맑은 고딕"/>
              </a:rPr>
              <a:t>시기 구분 — 단기 1년 이내 · 중기 3년 이내 · 장기 3년 초과 (1년 = A사 환경매뉴얼의 LCA 연 1회 재수행 주기, 3년 = 환경경영시스템(ISO 14001) 인증의 갱신 주기) — 4.6.3</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장점과 단점, 그리고 한계</a:t>
            </a:r>
          </a:p>
        </p:txBody>
      </p:sp>
      <p:sp>
        <p:nvSpPr>
          <p:cNvPr id="3" name="TextBox 2"/>
          <p:cNvSpPr txBox="1"/>
          <p:nvPr/>
        </p:nvSpPr>
        <p:spPr>
          <a:xfrm>
            <a:off x="7315692" y="110000"/>
            <a:ext cx="287671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Ⅴ. 개선 과제 — 무엇을 고치나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말할 수 있는 범위와 말할 수 없는 범위를 갈라 둔다.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26</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5.2, 5.3, [표 5-1]</a:t>
            </a:r>
          </a:p>
        </p:txBody>
      </p:sp>
      <p:sp>
        <p:nvSpPr>
          <p:cNvPr id="8" name="Rounded Rectangle 7"/>
          <p:cNvSpPr/>
          <p:nvPr/>
        </p:nvSpPr>
        <p:spPr>
          <a:xfrm>
            <a:off x="497190" y="1180000"/>
            <a:ext cx="4731328" cy="3648819"/>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400" b="1" i="0" a:lang="ko-KR">
                <a:solidFill>
                  <a:srgbClr val="1F3864"/>
                </a:solidFill>
                <a:latin typeface="맑은 고딕"/>
                <a:ea typeface="맑은 고딕"/>
              </a:rPr>
              <a:t>장점</a:t>
            </a:r>
          </a:p>
          <a:p>
            <a:pPr algn="l"/>
            <a:r>
              <a:rPr sz="1400" b="0" i="0" a:lang="ko-KR">
                <a:solidFill>
                  <a:srgbClr val="111111"/>
                </a:solidFill>
                <a:latin typeface="맑은 고딕"/>
                <a:ea typeface="맑은 고딕"/>
              </a:rPr>
              <a:t>· 문항의 추적성 — 문항마다 근거 조항을 따라갈 수 있다</a:t>
            </a:r>
          </a:p>
          <a:p>
            <a:pPr algn="l"/>
            <a:r>
              <a:rPr sz="1400" b="0" i="0" a:lang="ko-KR">
                <a:solidFill>
                  <a:srgbClr val="111111"/>
                </a:solidFill>
                <a:latin typeface="맑은 고딕"/>
                <a:ea typeface="맑은 고딕"/>
              </a:rPr>
              <a:t>· 판정 기준의 명문화 — 점수 기준을 미리 적어, 같은 증거면 같은 점수</a:t>
            </a:r>
          </a:p>
          <a:p>
            <a:pPr algn="l"/>
            <a:r>
              <a:rPr sz="1400" b="0" i="0" a:lang="ko-KR">
                <a:solidFill>
                  <a:srgbClr val="111111"/>
                </a:solidFill>
                <a:latin typeface="맑은 고딕"/>
                <a:ea typeface="맑은 고딕"/>
              </a:rPr>
              <a:t>· 종합점수에 묻히는 미비의 식별 — 평균이 높아도 꼭 있어야 할 네 곳이 빠지면 드러난다</a:t>
            </a:r>
          </a:p>
          <a:p>
            <a:pPr algn="l"/>
            <a:r>
              <a:rPr sz="1400" b="0" i="0" a:lang="ko-KR">
                <a:solidFill>
                  <a:srgbClr val="111111"/>
                </a:solidFill>
                <a:latin typeface="맑은 고딕"/>
                <a:ea typeface="맑은 고딕"/>
              </a:rPr>
              <a:t>· 평가와 개선의 연결 — 고칠 목표가 다음 평가 기준과 같은 말</a:t>
            </a:r>
          </a:p>
          <a:p>
            <a:pPr algn="l"/>
            <a:r>
              <a:rPr sz="1400" b="0" i="0" a:lang="ko-KR">
                <a:solidFill>
                  <a:srgbClr val="111111"/>
                </a:solidFill>
                <a:latin typeface="맑은 고딕"/>
                <a:ea typeface="맑은 고딕"/>
              </a:rPr>
              <a:t>· 표준 구조의 준용 — 판정 구조·평가 방법을 국제표준에서 가져옴</a:t>
            </a:r>
          </a:p>
          <a:p>
            <a:pPr algn="l"/>
            <a:r>
              <a:rPr sz="1400" b="0" i="0" a:lang="ko-KR">
                <a:solidFill>
                  <a:srgbClr val="111111"/>
                </a:solidFill>
                <a:latin typeface="맑은 고딕"/>
                <a:ea typeface="맑은 고딕"/>
              </a:rPr>
              <a:t>· 수준이 뜻하는 바의 구분 — ML3까지 체계 갖추기, ML4부터 숫자로 확인</a:t>
            </a:r>
          </a:p>
        </p:txBody>
      </p:sp>
      <p:sp>
        <p:nvSpPr>
          <p:cNvPr id="9" name="Rounded Rectangle 8"/>
          <p:cNvSpPr/>
          <p:nvPr/>
        </p:nvSpPr>
        <p:spPr>
          <a:xfrm>
            <a:off x="5461076" y="1180000"/>
            <a:ext cx="4731328" cy="3648819"/>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400" b="1" i="0" a:lang="ko-KR">
                <a:solidFill>
                  <a:srgbClr val="1F3864"/>
                </a:solidFill>
                <a:latin typeface="맑은 고딕"/>
                <a:ea typeface="맑은 고딕"/>
              </a:rPr>
              <a:t>단점</a:t>
            </a:r>
          </a:p>
          <a:p>
            <a:pPr algn="l"/>
            <a:r>
              <a:rPr sz="1400" b="0" i="0" a:lang="ko-KR">
                <a:solidFill>
                  <a:srgbClr val="111111"/>
                </a:solidFill>
                <a:latin typeface="맑은 고딕"/>
                <a:ea typeface="맑은 고딕"/>
              </a:rPr>
              <a:t>· 핵심 문항 4종에 대한 의존 — 네 문항이 수준을 정하는데, 그 선택은 전문가 검토 전</a:t>
            </a:r>
          </a:p>
          <a:p>
            <a:pPr algn="l"/>
            <a:r>
              <a:rPr sz="1400" b="0" i="0" a:lang="ko-KR">
                <a:solidFill>
                  <a:srgbClr val="111111"/>
                </a:solidFill>
                <a:latin typeface="맑은 고딕"/>
                <a:ea typeface="맑은 고딕"/>
              </a:rPr>
              <a:t>· 판정 파라미터 — 과반 50% 등은 연구자가 정한 값, 상위 두 수준은 사례 없음</a:t>
            </a:r>
          </a:p>
          <a:p>
            <a:pPr algn="l"/>
            <a:r>
              <a:rPr sz="1400" b="0" i="0" a:lang="ko-KR">
                <a:solidFill>
                  <a:srgbClr val="111111"/>
                </a:solidFill>
                <a:latin typeface="맑은 고딕"/>
                <a:ea typeface="맑은 고딕"/>
              </a:rPr>
              <a:t>· 평가의 부담 — 55문항 문서 확인, ISO 14001 심사와 LCA를 함께 알아야</a:t>
            </a:r>
          </a:p>
          <a:p>
            <a:pPr algn="l"/>
            <a:r>
              <a:rPr sz="1400" b="0" i="0" a:lang="ko-KR">
                <a:solidFill>
                  <a:srgbClr val="111111"/>
                </a:solidFill>
                <a:latin typeface="맑은 고딕"/>
                <a:ea typeface="맑은 고딕"/>
              </a:rPr>
              <a:t>· 적용 대상의 제약 — LCA를 하지 않는 회사는 점수 차이가 안 난다</a:t>
            </a:r>
          </a:p>
          <a:p>
            <a:pPr algn="l"/>
            <a:r>
              <a:rPr sz="1400" b="0" i="0" a:lang="ko-KR">
                <a:solidFill>
                  <a:srgbClr val="111111"/>
                </a:solidFill>
                <a:latin typeface="맑은 고딕"/>
                <a:ea typeface="맑은 고딕"/>
              </a:rPr>
              <a:t>· 문항 간 종속 · 문서 심사 방식 — 미비 하나가 여러 점수를 끌어내리고, 형식적 이행은 못 가려냄</a:t>
            </a:r>
          </a:p>
          <a:p>
            <a:pPr algn="l"/>
            <a:r>
              <a:rPr sz="1400" b="0" i="0" a:lang="ko-KR">
                <a:solidFill>
                  <a:srgbClr val="111111"/>
                </a:solidFill>
                <a:latin typeface="맑은 고딕"/>
                <a:ea typeface="맑은 고딕"/>
              </a:rPr>
              <a:t>· 환경성과와의 관계 미검증 — 수준이 높으면 탄소·비용이 주는지는 미확인</a:t>
            </a:r>
          </a:p>
        </p:txBody>
      </p:sp>
      <p:sp>
        <p:nvSpPr>
          <p:cNvPr id="10" name="Rounded Rectangle 9"/>
          <p:cNvSpPr/>
          <p:nvPr/>
        </p:nvSpPr>
        <p:spPr>
          <a:xfrm>
            <a:off x="497190" y="4959339"/>
            <a:ext cx="9695214" cy="8568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C00000"/>
                </a:solidFill>
                <a:latin typeface="맑은 고딕"/>
                <a:ea typeface="맑은 고딕"/>
              </a:rPr>
              <a:t>한계 — 한 회사 · 한 시점 · 평가자 한 명  /  전문가 타당도 조사(CVI)는 아직 하지 않음  /  가장 높은 두 수준(ML4·ML5)은 사례로 확인 못 함</a:t>
            </a:r>
          </a:p>
        </p:txBody>
      </p:sp>
      <p:sp>
        <p:nvSpPr>
          <p:cNvPr id="11" name="TextBox 10"/>
          <p:cNvSpPr txBox="1"/>
          <p:nvPr/>
        </p:nvSpPr>
        <p:spPr>
          <a:xfrm>
            <a:off x="497190" y="5841228"/>
            <a:ext cx="9695214" cy="806400"/>
          </a:xfrm>
          <a:prstGeom prst="rect">
            <a:avLst/>
          </a:prstGeom>
          <a:noFill/>
        </p:spPr>
        <p:txBody>
          <a:bodyPr wrap="square" anchor="t" lIns="0" rIns="0" tIns="0" bIns="0">
            <a:spAutoFit/>
          </a:bodyPr>
          <a:lstStyle/>
          <a:p>
            <a:r>
              <a:rPr sz="1300" b="0" i="0" a:lang="ko-KR">
                <a:solidFill>
                  <a:srgbClr val="595959"/>
                </a:solidFill>
                <a:latin typeface="맑은 고딕"/>
                <a:ea typeface="맑은 고딕"/>
              </a:rPr>
              <a:t>이 셋이 그대로 향후 연구 과제 — 다사례 적용과 판정 규칙의 재검토, CVI 조사의 실시, 모델의 단체표준화 검토(선례: ISO 9004 부속서 A의 성숙도 자체평가). 기대 효과(탄소 저감 = 비용 감소)는 모델의 구조에서 예상되는 것이며 본 연구에서 확인된 것은 아니다.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연구 전체 한 장 요약</a:t>
            </a:r>
          </a:p>
        </p:txBody>
      </p:sp>
      <p:sp>
        <p:nvSpPr>
          <p:cNvPr id="3" name="TextBox 2"/>
          <p:cNvSpPr txBox="1"/>
          <p:nvPr/>
        </p:nvSpPr>
        <p:spPr>
          <a:xfrm>
            <a:off x="7159228" y="110000"/>
            <a:ext cx="303317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맺음 — 답한 것 · 기여 · 남은 것</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두 표준의 연계를 조항 단위로 확인하고 수준으로 판정하며 개선으로 연결하는 척도를 만들어 한 기업에 적용하였다.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27</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5.1, 5.2, 5.3, [그림 5-1]~[그림 5-3]</a:t>
            </a:r>
          </a:p>
        </p:txBody>
      </p:sp>
      <p:graphicFrame>
        <p:nvGraphicFramePr>
          <p:cNvPr id="8" name="Table 7"/>
          <p:cNvGraphicFramePr>
            <a:graphicFrameLocks noGrp="1"/>
          </p:cNvGraphicFramePr>
          <p:nvPr/>
        </p:nvGraphicFramePr>
        <p:xfrm>
          <a:off x="494383" y="1180000"/>
          <a:ext cx="9703233" cy="4233600"/>
        </p:xfrm>
        <a:graphic>
          <a:graphicData uri="http://schemas.openxmlformats.org/drawingml/2006/table">
            <a:tbl>
              <a:tblPr firstRow="1" bandRow="1">
                <a:tableStyleId>{5C22544A-7EE6-4342-B048-85BDC9FD1C3A}</a:tableStyleId>
              </a:tblPr>
              <a:tblGrid>
                <a:gridCol w="882112"/>
                <a:gridCol w="8821121"/>
              </a:tblGrid>
              <a:tr h="705600">
                <a:tc>
                  <a:txBody>
                    <a:bodyPr wrap="square"/>
                    <a:lstStyle/>
                    <a:p>
                      <a:pPr algn="ctr"/>
                      <a:r>
                        <a:rPr sz="1400" b="1" i="0" a:lang="ko-KR">
                          <a:solidFill>
                            <a:srgbClr val="FFFFFF"/>
                          </a:solidFill>
                          <a:latin typeface="맑은 고딕"/>
                          <a:ea typeface="맑은 고딕"/>
                        </a:rPr>
                        <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내용</a:t>
                      </a:r>
                    </a:p>
                  </a:txBody>
                  <a:tcPr marL="64008" marR="64008" marT="27432" marB="27432" anchor="ctr">
                    <a:solidFill>
                      <a:srgbClr val="1F3864"/>
                    </a:solidFill>
                  </a:tcPr>
                </a:tc>
              </a:tr>
              <a:tr h="705600">
                <a:tc>
                  <a:txBody>
                    <a:bodyPr wrap="square"/>
                    <a:lstStyle/>
                    <a:p>
                      <a:pPr algn="ctr"/>
                      <a:r>
                        <a:rPr sz="1400" b="0" i="0" a:lang="ko-KR">
                          <a:solidFill>
                            <a:srgbClr val="111111"/>
                          </a:solidFill>
                          <a:latin typeface="맑은 고딕"/>
                          <a:ea typeface="맑은 고딕"/>
                        </a:rPr>
                        <a:t>문제</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두 표준(ISO 14001 · ISO 14044)이 서로를 전제하지 않아 현장에서 따로 운영된다 — 연계 수준을 측정하는 기준은 찾아보기 어렵다</a:t>
                      </a:r>
                    </a:p>
                  </a:txBody>
                  <a:tcPr marL="64008" marR="64008" marT="27432" marB="27432" anchor="ctr">
                    <a:solidFill>
                      <a:srgbClr val="FFFFFF"/>
                    </a:solidFill>
                  </a:tcPr>
                </a:tc>
              </a:tr>
              <a:tr h="705600">
                <a:tc>
                  <a:txBody>
                    <a:bodyPr wrap="square"/>
                    <a:lstStyle/>
                    <a:p>
                      <a:pPr algn="ctr"/>
                      <a:r>
                        <a:rPr sz="1400" b="0" i="0" a:lang="ko-KR">
                          <a:solidFill>
                            <a:srgbClr val="111111"/>
                          </a:solidFill>
                          <a:latin typeface="맑은 고딕"/>
                          <a:ea typeface="맑은 고딕"/>
                        </a:rPr>
                        <a:t>방법</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두 표준 전조항 양방향 매핑 → 참조 모델(연계 프로세스 16종) · 평가 모델(55문항·BARS) · 성숙도 모델(ML0~ML5·핵심 문항 4종) = LMA · 두 방향 검증(추적성 · 33004 24건)</a:t>
                      </a:r>
                    </a:p>
                  </a:txBody>
                  <a:tcPr marL="64008" marR="64008" marT="27432" marB="27432" anchor="ctr">
                    <a:solidFill>
                      <a:srgbClr val="E8EEF7"/>
                    </a:solidFill>
                  </a:tcPr>
                </a:tc>
              </a:tr>
              <a:tr h="705600">
                <a:tc>
                  <a:txBody>
                    <a:bodyPr wrap="square"/>
                    <a:lstStyle/>
                    <a:p>
                      <a:pPr algn="ctr"/>
                      <a:r>
                        <a:rPr sz="1400" b="0" i="0" a:lang="ko-KR">
                          <a:solidFill>
                            <a:srgbClr val="111111"/>
                          </a:solidFill>
                          <a:latin typeface="맑은 고딕"/>
                          <a:ea typeface="맑은 고딕"/>
                        </a:rPr>
                        <a:t>결과</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제조기업 A사 시범 적용 — 종합 2.85(P 3.23 · D 3.00 · C 2.10 · A 2.33), 핵심 문항 D-1 미달로 ML2 · 구조적 미비 3건 → 개선 과제 R1~R5 · 완수 시 3.15 · ML3 전망</a:t>
                      </a:r>
                    </a:p>
                  </a:txBody>
                  <a:tcPr marL="64008" marR="64008" marT="27432" marB="27432" anchor="ctr">
                    <a:solidFill>
                      <a:srgbClr val="FFFFFF"/>
                    </a:solidFill>
                  </a:tcPr>
                </a:tc>
              </a:tr>
              <a:tr h="705600">
                <a:tc>
                  <a:txBody>
                    <a:bodyPr wrap="square"/>
                    <a:lstStyle/>
                    <a:p>
                      <a:pPr algn="ctr"/>
                      <a:r>
                        <a:rPr sz="1400" b="0" i="0" a:lang="ko-KR">
                          <a:solidFill>
                            <a:srgbClr val="111111"/>
                          </a:solidFill>
                          <a:latin typeface="맑은 고딕"/>
                          <a:ea typeface="맑은 고딕"/>
                        </a:rPr>
                        <a:t>의의</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환경경영시스템(ISO 14001)과 전과정평가(LCA)의 연계를 조직 단위로 판정하는 척도 — 평가 결과가 곧 개선 과제로 이어지는 순환 구조</a:t>
                      </a:r>
                    </a:p>
                  </a:txBody>
                  <a:tcPr marL="64008" marR="64008" marT="27432" marB="27432" anchor="ctr">
                    <a:solidFill>
                      <a:srgbClr val="E8EEF7"/>
                    </a:solidFill>
                  </a:tcPr>
                </a:tc>
              </a:tr>
              <a:tr h="705600">
                <a:tc>
                  <a:txBody>
                    <a:bodyPr wrap="square"/>
                    <a:lstStyle/>
                    <a:p>
                      <a:pPr algn="ctr"/>
                      <a:r>
                        <a:rPr sz="1400" b="0" i="0" a:lang="ko-KR">
                          <a:solidFill>
                            <a:srgbClr val="111111"/>
                          </a:solidFill>
                          <a:latin typeface="맑은 고딕"/>
                          <a:ea typeface="맑은 고딕"/>
                        </a:rPr>
                        <a:t>한계</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단일 기업 · 단일 시점 · 단일 평가자 — 판정은 모델의 판정 논리를 검증한 것이지 A사의 공식 등급이 아님 · CVI 조사와 복수 기업 적용, 단체표준화 검토가 향후 연구 과제</a:t>
                      </a:r>
                    </a:p>
                  </a:txBody>
                  <a:tcPr marL="64008" marR="64008" marT="27432" marB="27432" anchor="ctr">
                    <a:solidFill>
                      <a:srgbClr val="FFFFFF"/>
                    </a:solidFill>
                  </a:tcPr>
                </a:tc>
              </a:tr>
            </a:tbl>
          </a:graphicData>
        </a:graphic>
      </p:graphicFrame>
      <p:sp>
        <p:nvSpPr>
          <p:cNvPr id="9" name="TextBox 8"/>
          <p:cNvSpPr txBox="1"/>
          <p:nvPr/>
        </p:nvSpPr>
        <p:spPr>
          <a:xfrm>
            <a:off x="497190" y="5564800"/>
            <a:ext cx="1283072" cy="403200"/>
          </a:xfrm>
          <a:prstGeom prst="rect">
            <a:avLst/>
          </a:prstGeom>
          <a:noFill/>
        </p:spPr>
        <p:txBody>
          <a:bodyPr wrap="square" anchor="ctr" lIns="0" rIns="0" tIns="0" bIns="0">
            <a:spAutoFit/>
          </a:bodyPr>
          <a:lstStyle/>
          <a:p>
            <a:r>
              <a:rPr sz="1300" b="1" i="0" a:lang="ko-KR">
                <a:solidFill>
                  <a:srgbClr val="595959"/>
                </a:solidFill>
                <a:latin typeface="맑은 고딕"/>
                <a:ea typeface="맑은 고딕"/>
              </a:rPr>
              <a:t>한 줄</a:t>
            </a:r>
          </a:p>
        </p:txBody>
      </p:sp>
      <p:sp>
        <p:nvSpPr>
          <p:cNvPr id="10" name="Rounded Rectangle 9"/>
          <p:cNvSpPr/>
          <p:nvPr/>
        </p:nvSpPr>
        <p:spPr>
          <a:xfrm>
            <a:off x="1780263" y="5564800"/>
            <a:ext cx="1122688"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연계</a:t>
            </a:r>
          </a:p>
        </p:txBody>
      </p:sp>
      <p:sp>
        <p:nvSpPr>
          <p:cNvPr id="11" name="Right Arrow 10"/>
          <p:cNvSpPr/>
          <p:nvPr/>
        </p:nvSpPr>
        <p:spPr>
          <a:xfrm>
            <a:off x="2935027" y="5685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159565" y="5564800"/>
            <a:ext cx="1122688"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모델링</a:t>
            </a:r>
          </a:p>
        </p:txBody>
      </p:sp>
      <p:sp>
        <p:nvSpPr>
          <p:cNvPr id="13" name="Right Arrow 12"/>
          <p:cNvSpPr/>
          <p:nvPr/>
        </p:nvSpPr>
        <p:spPr>
          <a:xfrm>
            <a:off x="4314330" y="5685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538868" y="5564800"/>
            <a:ext cx="1122688"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평가</a:t>
            </a:r>
          </a:p>
        </p:txBody>
      </p:sp>
      <p:sp>
        <p:nvSpPr>
          <p:cNvPr id="15" name="Right Arrow 14"/>
          <p:cNvSpPr/>
          <p:nvPr/>
        </p:nvSpPr>
        <p:spPr>
          <a:xfrm>
            <a:off x="5693632" y="5685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918170" y="5564800"/>
            <a:ext cx="1122688"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지속적 개선</a:t>
            </a:r>
          </a:p>
        </p:txBody>
      </p:sp>
      <p:sp>
        <p:nvSpPr>
          <p:cNvPr id="17" name="Right Arrow 16"/>
          <p:cNvSpPr/>
          <p:nvPr/>
        </p:nvSpPr>
        <p:spPr>
          <a:xfrm>
            <a:off x="7072935" y="5685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297473" y="5564800"/>
            <a:ext cx="1122688" cy="584606"/>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환경영향 저감</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맺음</a:t>
            </a:r>
          </a:p>
        </p:txBody>
      </p:sp>
      <p:sp>
        <p:nvSpPr>
          <p:cNvPr id="3" name="TextBox 2"/>
          <p:cNvSpPr txBox="1"/>
          <p:nvPr/>
        </p:nvSpPr>
        <p:spPr>
          <a:xfrm>
            <a:off x="7159228" y="110000"/>
            <a:ext cx="303317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맺음 — 답한 것 · 기여 · 남은 것</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28</a:t>
            </a:r>
          </a:p>
        </p:txBody>
      </p:sp>
      <p:sp>
        <p:nvSpPr>
          <p:cNvPr id="6" name="TextBox 5"/>
          <p:cNvSpPr txBox="1"/>
          <p:nvPr/>
        </p:nvSpPr>
        <p:spPr>
          <a:xfrm>
            <a:off x="497190" y="1180000"/>
            <a:ext cx="9695214" cy="3427200"/>
          </a:xfrm>
          <a:prstGeom prst="rect">
            <a:avLst/>
          </a:prstGeom>
          <a:noFill/>
        </p:spPr>
        <p:txBody>
          <a:bodyPr wrap="square" anchor="t" lIns="0" rIns="0" tIns="0" bIns="0">
            <a:spAutoFit/>
          </a:bodyPr>
          <a:lstStyle/>
          <a:p>
            <a:pPr>
              <a:spcAft>
                <a:spcPts val="1800"/>
              </a:spcAft>
            </a:pPr>
            <a:r>
              <a:rPr sz="2000" b="0" i="0" a:lang="ko-KR">
                <a:solidFill>
                  <a:srgbClr val="111111"/>
                </a:solidFill>
                <a:latin typeface="맑은 고딕"/>
                <a:ea typeface="맑은 고딕"/>
              </a:rPr>
              <a:t>환경경영시스템(ISO 14001)과 전과정평가(LCA)는 각각 성숙한 표준이나 서로를 전제하지 않는다.</a:t>
            </a:r>
          </a:p>
          <a:p>
            <a:pPr>
              <a:spcAft>
                <a:spcPts val="1800"/>
              </a:spcAft>
            </a:pPr>
            <a:r>
              <a:rPr sz="2000" b="1" i="0" a:lang="ko-KR">
                <a:solidFill>
                  <a:srgbClr val="1F3864"/>
                </a:solidFill>
                <a:latin typeface="맑은 고딕"/>
                <a:ea typeface="맑은 고딕"/>
              </a:rPr>
              <a:t>본 연구는 두 표준의 연계를 조항 단위로 확인하고 성숙도 수준으로 판정하며 개선 과제로 연결하는 연계 성숙도 평가 모델(LMA)을 개발하고, 이를 한 기업에 적용하여 작동함을 확인하였다.</a:t>
            </a:r>
          </a:p>
          <a:p>
            <a:r>
              <a:rPr sz="2000" b="0" i="0" a:lang="ko-KR">
                <a:solidFill>
                  <a:srgbClr val="111111"/>
                </a:solidFill>
                <a:latin typeface="맑은 고딕"/>
                <a:ea typeface="맑은 고딕"/>
              </a:rPr>
              <a:t>두 표준의 조항을 연계하여 LMA를 만들고, 이 모델로 조직을 평가하여, 그 결과를 환경경영시스템(ISO 14001)의 지속적 개선으로 연결함으로써 전과정의 환경영향을 줄이는 데 기여하고자 한다.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2923200"/>
            <a:ext cx="9695214" cy="1209600"/>
          </a:xfrm>
          <a:prstGeom prst="rect">
            <a:avLst/>
          </a:prstGeom>
          <a:noFill/>
        </p:spPr>
        <p:txBody>
          <a:bodyPr wrap="square" anchor="t" lIns="0" rIns="0" tIns="0" bIns="0">
            <a:spAutoFit/>
          </a:bodyPr>
          <a:lstStyle/>
          <a:p>
            <a:pPr algn="ctr"/>
            <a:r>
              <a:rPr sz="4000" b="1" i="0" a:lang="ko-KR">
                <a:solidFill>
                  <a:srgbClr val="1F3864"/>
                </a:solidFill>
                <a:latin typeface="맑은 고딕"/>
                <a:ea typeface="맑은 고딕"/>
              </a:rPr>
              <a:t>감사합니다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2822400"/>
            <a:ext cx="9695214" cy="1411200"/>
          </a:xfrm>
          <a:prstGeom prst="rect">
            <a:avLst/>
          </a:prstGeom>
          <a:noFill/>
        </p:spPr>
        <p:txBody>
          <a:bodyPr wrap="square" anchor="t" lIns="0" rIns="0" tIns="0" bIns="0">
            <a:spAutoFit/>
          </a:bodyPr>
          <a:lstStyle/>
          <a:p>
            <a:pPr algn="ctr"/>
            <a:r>
              <a:rPr sz="3400" b="1" i="0" a:lang="ko-KR">
                <a:solidFill>
                  <a:srgbClr val="1F3864"/>
                </a:solidFill>
                <a:latin typeface="맑은 고딕"/>
                <a:ea typeface="맑은 고딕"/>
              </a:rPr>
              <a:t>백업 슬라이드</a:t>
            </a:r>
          </a:p>
          <a:p>
            <a:pPr algn="ctr"/>
            <a:r>
              <a:rPr sz="1600" b="0" i="0" a:lang="ko-KR">
                <a:solidFill>
                  <a:srgbClr val="595959"/>
                </a:solidFill>
                <a:latin typeface="맑은 고딕"/>
                <a:ea typeface="맑은 고딕"/>
              </a:rPr>
              <a:t>질문이 나올 때만 꺼낸다 — B-1~B-16 그림·표 · B-17 개발 경위(타임라인) · B-0 장별 요약(1·2장 한 장 요약, 5장 그림 세 장) · B-Q1~B-Q12 예상 질문</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100" b="1" i="0" a:lang="ko-KR">
                <a:solidFill>
                  <a:srgbClr val="1F3864"/>
                </a:solidFill>
                <a:latin typeface="맑은 고딕"/>
                <a:ea typeface="맑은 고딕"/>
              </a:rPr>
              <a:t>ISO 14001 조항의 연계 가능성 판정 질문 적용 흐름 — [그림 3-3]</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31</a:t>
            </a:r>
          </a:p>
        </p:txBody>
      </p:sp>
      <p:pic>
        <p:nvPicPr>
          <p:cNvPr id="6" name="Picture 5" descr="g3-3.png"/>
          <p:cNvPicPr>
            <a:picLocks noChangeAspect="1"/>
          </p:cNvPicPr>
          <p:nvPr/>
        </p:nvPicPr>
        <p:blipFill>
          <a:blip r:embed="rId2"/>
          <a:stretch>
            <a:fillRect/>
          </a:stretch>
        </p:blipFill>
        <p:spPr>
          <a:xfrm>
            <a:off x="480000" y="1150000"/>
            <a:ext cx="9732000" cy="3859697"/>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본 모델이 따른 표준의 지도 — [그림 1-3]</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32</a:t>
            </a:r>
          </a:p>
        </p:txBody>
      </p:sp>
      <p:pic>
        <p:nvPicPr>
          <p:cNvPr id="6" name="Picture 5" descr="g1-3.png"/>
          <p:cNvPicPr>
            <a:picLocks noChangeAspect="1"/>
          </p:cNvPicPr>
          <p:nvPr/>
        </p:nvPicPr>
        <p:blipFill>
          <a:blip r:embed="rId2"/>
          <a:stretch>
            <a:fillRect/>
          </a:stretch>
        </p:blipFill>
        <p:spPr>
          <a:xfrm>
            <a:off x="480000" y="1150000"/>
            <a:ext cx="9732000" cy="4246689"/>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ISO 14001 조항의 PDCA 배열 — [그림 2-1]</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B-3</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33</a:t>
            </a:r>
          </a:p>
        </p:txBody>
      </p:sp>
      <p:pic>
        <p:nvPicPr>
          <p:cNvPr id="6" name="Picture 5" descr="f2-1.png"/>
          <p:cNvPicPr>
            <a:picLocks noChangeAspect="1"/>
          </p:cNvPicPr>
          <p:nvPr/>
        </p:nvPicPr>
        <p:blipFill>
          <a:blip r:embed="rId2"/>
          <a:stretch>
            <a:fillRect/>
          </a:stretch>
        </p:blipFill>
        <p:spPr>
          <a:xfrm>
            <a:off x="480000" y="1150000"/>
            <a:ext cx="9732000" cy="4516369"/>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200" b="1" i="0" a:lang="ko-KR">
                <a:solidFill>
                  <a:srgbClr val="1F3864"/>
                </a:solidFill>
                <a:latin typeface="맑은 고딕"/>
                <a:ea typeface="맑은 고딕"/>
              </a:rPr>
              <a:t>경영시스템 표준의 공통 구조와 분야별 요구사항 — [그림 2-2]</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B-4</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34</a:t>
            </a:r>
          </a:p>
        </p:txBody>
      </p:sp>
      <p:pic>
        <p:nvPicPr>
          <p:cNvPr id="6" name="Picture 5" descr="f2-2.png"/>
          <p:cNvPicPr>
            <a:picLocks noChangeAspect="1"/>
          </p:cNvPicPr>
          <p:nvPr/>
        </p:nvPicPr>
        <p:blipFill>
          <a:blip r:embed="rId2"/>
          <a:stretch>
            <a:fillRect/>
          </a:stretch>
        </p:blipFill>
        <p:spPr>
          <a:xfrm>
            <a:off x="705999" y="1150000"/>
            <a:ext cx="9280001" cy="5799999"/>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ISO 14001–LCA 연계의 성숙도 수준 — [그림 2-5]</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B-5</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35</a:t>
            </a:r>
          </a:p>
        </p:txBody>
      </p:sp>
      <p:pic>
        <p:nvPicPr>
          <p:cNvPr id="6" name="Picture 5" descr="g2-5.png"/>
          <p:cNvPicPr>
            <a:picLocks noChangeAspect="1"/>
          </p:cNvPicPr>
          <p:nvPr/>
        </p:nvPicPr>
        <p:blipFill>
          <a:blip r:embed="rId2"/>
          <a:stretch>
            <a:fillRect/>
          </a:stretch>
        </p:blipFill>
        <p:spPr>
          <a:xfrm>
            <a:off x="480000" y="1150000"/>
            <a:ext cx="9732000" cy="5758100"/>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모델의 방법론 구성</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B-6</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36</a:t>
            </a:r>
          </a:p>
        </p:txBody>
      </p:sp>
      <p:pic>
        <p:nvPicPr>
          <p:cNvPr id="6" name="Picture 5" descr="f3-1.jpg"/>
          <p:cNvPicPr>
            <a:picLocks noChangeAspect="1"/>
          </p:cNvPicPr>
          <p:nvPr/>
        </p:nvPicPr>
        <p:blipFill>
          <a:blip r:embed="rId2"/>
          <a:stretch>
            <a:fillRect/>
          </a:stretch>
        </p:blipFill>
        <p:spPr>
          <a:xfrm>
            <a:off x="1213460" y="1150000"/>
            <a:ext cx="8265079" cy="5799999"/>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연계 성숙도 평가 모델(LMA)의 구성 — [그림 3-2]</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B-7</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37</a:t>
            </a:r>
          </a:p>
        </p:txBody>
      </p:sp>
      <p:pic>
        <p:nvPicPr>
          <p:cNvPr id="6" name="Picture 5" descr="f3-2r.png"/>
          <p:cNvPicPr>
            <a:picLocks noChangeAspect="1"/>
          </p:cNvPicPr>
          <p:nvPr/>
        </p:nvPicPr>
        <p:blipFill>
          <a:blip r:embed="rId2"/>
          <a:stretch>
            <a:fillRect/>
          </a:stretch>
        </p:blipFill>
        <p:spPr>
          <a:xfrm>
            <a:off x="1172238" y="1150000"/>
            <a:ext cx="8347523" cy="5799999"/>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400" b="1" i="0" a:lang="ko-KR">
                <a:solidFill>
                  <a:srgbClr val="1F3864"/>
                </a:solidFill>
                <a:latin typeface="맑은 고딕"/>
                <a:ea typeface="맑은 고딕"/>
              </a:rPr>
              <a:t>데이터 품질관리 프로세스의 구조 (KS X ISO 8000-61)</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B-8</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38</a:t>
            </a:r>
          </a:p>
        </p:txBody>
      </p:sp>
      <p:pic>
        <p:nvPicPr>
          <p:cNvPr id="6" name="Picture 5" descr="f3-4.png"/>
          <p:cNvPicPr>
            <a:picLocks noChangeAspect="1"/>
          </p:cNvPicPr>
          <p:nvPr/>
        </p:nvPicPr>
        <p:blipFill>
          <a:blip r:embed="rId2"/>
          <a:stretch>
            <a:fillRect/>
          </a:stretch>
        </p:blipFill>
        <p:spPr>
          <a:xfrm>
            <a:off x="480000" y="1150000"/>
            <a:ext cx="9732000" cy="5363781"/>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수준 판정 트리 (ML0~ML5) — [그림 3-9]</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B-9</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39</a:t>
            </a:r>
          </a:p>
        </p:txBody>
      </p:sp>
      <p:pic>
        <p:nvPicPr>
          <p:cNvPr id="6" name="Picture 5" descr="g3-9.jpg"/>
          <p:cNvPicPr>
            <a:picLocks noChangeAspect="1"/>
          </p:cNvPicPr>
          <p:nvPr/>
        </p:nvPicPr>
        <p:blipFill>
          <a:blip r:embed="rId2"/>
          <a:stretch>
            <a:fillRect/>
          </a:stretch>
        </p:blipFill>
        <p:spPr>
          <a:xfrm>
            <a:off x="2319913" y="1150000"/>
            <a:ext cx="6052173" cy="5799999"/>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모델의 구성 — [그림 3-10]</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B-10</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40</a:t>
            </a:r>
          </a:p>
        </p:txBody>
      </p:sp>
      <p:pic>
        <p:nvPicPr>
          <p:cNvPr id="6" name="Picture 5" descr="f3-8.png"/>
          <p:cNvPicPr>
            <a:picLocks noChangeAspect="1"/>
          </p:cNvPicPr>
          <p:nvPr/>
        </p:nvPicPr>
        <p:blipFill>
          <a:blip r:embed="rId2"/>
          <a:stretch>
            <a:fillRect/>
          </a:stretch>
        </p:blipFill>
        <p:spPr>
          <a:xfrm>
            <a:off x="480000" y="1150000"/>
            <a:ext cx="9732000" cy="4875940"/>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수준별 기준 (ML0~ML5)</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41</a:t>
            </a:r>
          </a:p>
        </p:txBody>
      </p:sp>
      <p:graphicFrame>
        <p:nvGraphicFramePr>
          <p:cNvPr id="6" name="Table 5"/>
          <p:cNvGraphicFramePr>
            <a:graphicFrameLocks noGrp="1"/>
          </p:cNvGraphicFramePr>
          <p:nvPr/>
        </p:nvGraphicFramePr>
        <p:xfrm>
          <a:off x="574575" y="1008000"/>
          <a:ext cx="9542848" cy="5010592"/>
        </p:xfrm>
        <a:graphic>
          <a:graphicData uri="http://schemas.openxmlformats.org/drawingml/2006/table">
            <a:tbl>
              <a:tblPr firstRow="1" bandRow="1">
                <a:tableStyleId>{5C22544A-7EE6-4342-B048-85BDC9FD1C3A}</a:tableStyleId>
              </a:tblPr>
              <a:tblGrid>
                <a:gridCol w="1042496"/>
                <a:gridCol w="2485952"/>
                <a:gridCol w="2967104"/>
                <a:gridCol w="3047296"/>
              </a:tblGrid>
              <a:tr h="624960">
                <a:tc>
                  <a:txBody>
                    <a:bodyPr wrap="square"/>
                    <a:lstStyle/>
                    <a:p>
                      <a:pPr algn="ctr"/>
                      <a:r>
                        <a:rPr sz="1000" b="1" i="0" a:lang="ko-KR">
                          <a:solidFill>
                            <a:srgbClr val="FFFFFF"/>
                          </a:solidFill>
                          <a:latin typeface="맑은 고딕"/>
                          <a:ea typeface="맑은 고딕"/>
                        </a:rPr>
                        <a:t>수준</a:t>
                      </a:r>
                    </a:p>
                  </a:txBody>
                  <a:tcPr marL="64008" marR="64008" marT="27432" marB="27432" anchor="ctr">
                    <a:solidFill>
                      <a:srgbClr val="1F3864"/>
                    </a:solidFill>
                  </a:tcPr>
                </a:tc>
                <a:tc>
                  <a:txBody>
                    <a:bodyPr wrap="square"/>
                    <a:lstStyle/>
                    <a:p>
                      <a:pPr algn="ctr"/>
                      <a:r>
                        <a:rPr sz="1000" b="1" i="0" a:lang="ko-KR">
                          <a:solidFill>
                            <a:srgbClr val="FFFFFF"/>
                          </a:solidFill>
                          <a:latin typeface="맑은 고딕"/>
                          <a:ea typeface="맑은 고딕"/>
                        </a:rPr>
                        <a:t>ISO 14001 연계 범위</a:t>
                      </a:r>
                    </a:p>
                  </a:txBody>
                  <a:tcPr marL="64008" marR="64008" marT="27432" marB="27432" anchor="ctr">
                    <a:solidFill>
                      <a:srgbClr val="1F3864"/>
                    </a:solidFill>
                  </a:tcPr>
                </a:tc>
                <a:tc>
                  <a:txBody>
                    <a:bodyPr wrap="square"/>
                    <a:lstStyle/>
                    <a:p>
                      <a:pPr algn="ctr"/>
                      <a:r>
                        <a:rPr sz="1000" b="1" i="0" a:lang="ko-KR">
                          <a:solidFill>
                            <a:srgbClr val="FFFFFF"/>
                          </a:solidFill>
                          <a:latin typeface="맑은 고딕"/>
                          <a:ea typeface="맑은 고딕"/>
                        </a:rPr>
                        <a:t>ISO 14044 충족 요건 (shall/should)</a:t>
                      </a:r>
                    </a:p>
                  </a:txBody>
                  <a:tcPr marL="64008" marR="64008" marT="27432" marB="27432" anchor="ctr">
                    <a:solidFill>
                      <a:srgbClr val="1F3864"/>
                    </a:solidFill>
                  </a:tcPr>
                </a:tc>
                <a:tc>
                  <a:txBody>
                    <a:bodyPr wrap="square"/>
                    <a:lstStyle/>
                    <a:p>
                      <a:pPr algn="ctr"/>
                      <a:r>
                        <a:rPr sz="1000" b="1" i="0" a:lang="ko-KR">
                          <a:solidFill>
                            <a:srgbClr val="FFFFFF"/>
                          </a:solidFill>
                          <a:latin typeface="맑은 고딕"/>
                          <a:ea typeface="맑은 고딕"/>
                        </a:rPr>
                        <a:t>통합 활동 수준 (요지)</a:t>
                      </a:r>
                    </a:p>
                  </a:txBody>
                  <a:tcPr marL="64008" marR="64008" marT="27432" marB="27432" anchor="ctr">
                    <a:solidFill>
                      <a:srgbClr val="1F3864"/>
                    </a:solidFill>
                  </a:tcPr>
                </a:tc>
              </a:tr>
              <a:tr h="918464">
                <a:tc>
                  <a:txBody>
                    <a:bodyPr wrap="square"/>
                    <a:lstStyle/>
                    <a:p>
                      <a:pPr algn="ctr"/>
                      <a:r>
                        <a:rPr sz="1000" b="0" i="0" a:lang="ko-KR">
                          <a:solidFill>
                            <a:srgbClr val="111111"/>
                          </a:solidFill>
                          <a:latin typeface="맑은 고딕"/>
                          <a:ea typeface="맑은 고딕"/>
                        </a:rPr>
                        <a:t>ML0 도입 전</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 (연계 활동 부재)</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 (진입 조건 없음 — ML1 조건 미달의 잔여 범주)</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연계 결정 요인 활동의 부재 = 구성개념 불성립 — EMS·LCA의 개별 운영 여부와 무관(KS X ISO 8000-62 4.4.2 수준 0 상당) — LCA 미수행 또는 LCA 결과가 환경경영시스템(ISO 14001)의 결정에 쓰이지 않는 상태</a:t>
                      </a:r>
                    </a:p>
                  </a:txBody>
                  <a:tcPr marL="64008" marR="64008" marT="27432" marB="27432" anchor="ctr">
                    <a:solidFill>
                      <a:srgbClr val="FFFFFF"/>
                    </a:solidFill>
                  </a:tcPr>
                </a:tc>
              </a:tr>
              <a:tr h="725760">
                <a:tc>
                  <a:txBody>
                    <a:bodyPr wrap="square"/>
                    <a:lstStyle/>
                    <a:p>
                      <a:pPr algn="ctr"/>
                      <a:r>
                        <a:rPr sz="1000" b="0" i="0" a:lang="ko-KR">
                          <a:solidFill>
                            <a:srgbClr val="111111"/>
                          </a:solidFill>
                          <a:latin typeface="맑은 고딕"/>
                          <a:ea typeface="맑은 고딕"/>
                        </a:rPr>
                        <a:t>ML1 도입</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핵심 조항(6.1.2·6.2.1·8.1·9.1.1)에서 연계 활동이 착수됨 — 핵심 문항 4종 모두 2점 이상(필수 체크포인트 일부 충족)</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shall 일부 충족(핵심 지점만) — LCA 결과가 존재하나 연구 목적(4.2.2)·데이터 수집 절차(4.3.2)는 미확립</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LCA 일회성·부분 도입 — 전과정 관점이 핵심 조항에서만 부분적으로 나타남</a:t>
                      </a:r>
                    </a:p>
                  </a:txBody>
                  <a:tcPr marL="64008" marR="64008" marT="27432" marB="27432" anchor="ctr">
                    <a:solidFill>
                      <a:srgbClr val="E8EEF7"/>
                    </a:solidFill>
                  </a:tcPr>
                </a:tc>
              </a:tr>
              <a:tr h="624960">
                <a:tc>
                  <a:txBody>
                    <a:bodyPr wrap="square"/>
                    <a:lstStyle/>
                    <a:p>
                      <a:pPr algn="ctr"/>
                      <a:r>
                        <a:rPr sz="1000" b="0" i="0" a:lang="ko-KR">
                          <a:solidFill>
                            <a:srgbClr val="111111"/>
                          </a:solidFill>
                          <a:latin typeface="맑은 고딕"/>
                          <a:ea typeface="맑은 고딕"/>
                        </a:rPr>
                        <a:t>ML2 관리화</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핵심 지점의 활동에 더해 그 밖의 문항 과반이 shall 충족(3점 이상)</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shall 일부 충족 — 목적 정의 수행, 데이터 수집은 조직 내부 공정 한정(4.3.2), 분류·특성화 일부(4.4.2)</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중대한 환경측면 초기 파악, 과반 문항이 문서화된 정보로 관리 — 환경목표와 LCA 결과의 연계 미흡</a:t>
                      </a:r>
                    </a:p>
                  </a:txBody>
                  <a:tcPr marL="64008" marR="64008" marT="27432" marB="27432" anchor="ctr">
                    <a:solidFill>
                      <a:srgbClr val="FFFFFF"/>
                    </a:solidFill>
                  </a:tcPr>
                </a:tc>
              </a:tr>
              <a:tr h="745744">
                <a:tc>
                  <a:txBody>
                    <a:bodyPr wrap="square"/>
                    <a:lstStyle/>
                    <a:p>
                      <a:pPr algn="ctr"/>
                      <a:r>
                        <a:rPr sz="1000" b="0" i="0" a:lang="ko-KR">
                          <a:solidFill>
                            <a:srgbClr val="111111"/>
                          </a:solidFill>
                          <a:latin typeface="맑은 고딕"/>
                          <a:ea typeface="맑은 고딕"/>
                        </a:rPr>
                        <a:t>ML3 체계화</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PDCA 전 단계에서 LCA 공식 연계</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shall 전 항목 충족, should 미충족 — 4.2~4.5 전 단계 수행, 데이터 품질 요구사항(4.2.3.6)·완전성·민감도 검사(4.5.3) 충족</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EMS·LCA 절차의 문서화·표준화 — LCA 결과 → 환경측면(6.1.2) → 목표(6.2.1) 연결, 에코디자인(8.1) 초기 적용</a:t>
                      </a:r>
                    </a:p>
                  </a:txBody>
                  <a:tcPr marL="64008" marR="64008" marT="27432" marB="27432" anchor="ctr">
                    <a:solidFill>
                      <a:srgbClr val="E8EEF7"/>
                    </a:solidFill>
                  </a:tcPr>
                </a:tc>
              </a:tr>
              <a:tr h="745744">
                <a:tc>
                  <a:txBody>
                    <a:bodyPr wrap="square"/>
                    <a:lstStyle/>
                    <a:p>
                      <a:pPr algn="ctr"/>
                      <a:r>
                        <a:rPr sz="1000" b="0" i="0" a:lang="ko-KR">
                          <a:solidFill>
                            <a:srgbClr val="111111"/>
                          </a:solidFill>
                          <a:latin typeface="맑은 고딕"/>
                          <a:ea typeface="맑은 고딕"/>
                        </a:rPr>
                        <a:t>ML4 예측화</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LCA 재수행 기반 정량적 성과 관리</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shall 완전 충족 + should 일부 충족 — LCIA의 선택적 요소(4.4.3, 조건부 shall)·신뢰도 평가 수행, 내·외부 전문가 검토(6.2, 조건부 shall) 도입</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LCA 재수행에 의한 개선 전·후 정량 검증 — 내부심사 통합 점검·경영검토 공식 보고, 외부 전문가 정밀검토 도입</a:t>
                      </a:r>
                    </a:p>
                  </a:txBody>
                  <a:tcPr marL="64008" marR="64008" marT="27432" marB="27432" anchor="ctr">
                    <a:solidFill>
                      <a:srgbClr val="FFFFFF"/>
                    </a:solidFill>
                  </a:tcPr>
                </a:tc>
              </a:tr>
              <a:tr h="624960">
                <a:tc>
                  <a:txBody>
                    <a:bodyPr wrap="square"/>
                    <a:lstStyle/>
                    <a:p>
                      <a:pPr algn="ctr"/>
                      <a:r>
                        <a:rPr sz="1000" b="0" i="0" a:lang="ko-KR">
                          <a:solidFill>
                            <a:srgbClr val="111111"/>
                          </a:solidFill>
                          <a:latin typeface="맑은 고딕"/>
                          <a:ea typeface="맑은 고딕"/>
                        </a:rPr>
                        <a:t>ML5 혁신화</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전사적 LCA 통합, 전략경영 최적화</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shall + should 전 항목 충족 — 선택 요소 완전 활용, 공개 비교주장 보고(5.3)·이해관계자 패널 검토(6.1·6.3)(해당 시)</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EMS+LCA 통합의 전사적 최적화 — CBAM·EPD 등 외부 규제 선제 대응, 에코디자인 전제품 계열 적용</a:t>
                      </a:r>
                    </a:p>
                  </a:txBody>
                  <a:tcPr marL="64008" marR="64008" marT="27432" marB="27432" anchor="ctr">
                    <a:solidFill>
                      <a:srgbClr val="E8EEF7"/>
                    </a:solidFill>
                  </a:tcPr>
                </a:tc>
              </a:tr>
            </a:tbl>
          </a:graphicData>
        </a:graphic>
      </p:graphicFrame>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A사 판정 규칙의 적용 확인 — 현재와 개선 후</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42</a:t>
            </a:r>
          </a:p>
        </p:txBody>
      </p:sp>
      <p:graphicFrame>
        <p:nvGraphicFramePr>
          <p:cNvPr id="6" name="Table 5"/>
          <p:cNvGraphicFramePr>
            <a:graphicFrameLocks noGrp="1"/>
          </p:cNvGraphicFramePr>
          <p:nvPr/>
        </p:nvGraphicFramePr>
        <p:xfrm>
          <a:off x="574575" y="1058400"/>
          <a:ext cx="9542848" cy="3749760"/>
        </p:xfrm>
        <a:graphic>
          <a:graphicData uri="http://schemas.openxmlformats.org/drawingml/2006/table">
            <a:tbl>
              <a:tblPr firstRow="1" bandRow="1">
                <a:tableStyleId>{5C22544A-7EE6-4342-B048-85BDC9FD1C3A}</a:tableStyleId>
              </a:tblPr>
              <a:tblGrid>
                <a:gridCol w="1283072"/>
                <a:gridCol w="2566144"/>
                <a:gridCol w="2886912"/>
                <a:gridCol w="2806720"/>
              </a:tblGrid>
              <a:tr h="624960">
                <a:tc>
                  <a:txBody>
                    <a:bodyPr wrap="square"/>
                    <a:lstStyle/>
                    <a:p>
                      <a:pPr algn="ctr"/>
                      <a:r>
                        <a:rPr sz="1400" b="1" i="0" a:lang="ko-KR">
                          <a:solidFill>
                            <a:srgbClr val="FFFFFF"/>
                          </a:solidFill>
                          <a:latin typeface="맑은 고딕"/>
                          <a:ea typeface="맑은 고딕"/>
                        </a:rPr>
                        <a:t>단계</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조건</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A사 현재 (증빙 확정)</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R1~R5 이행 후</a:t>
                      </a:r>
                    </a:p>
                  </a:txBody>
                  <a:tcPr marL="64008" marR="64008" marT="27432" marB="27432" anchor="ctr">
                    <a:solidFill>
                      <a:srgbClr val="1F3864"/>
                    </a:solidFill>
                  </a:tcPr>
                </a:tc>
              </a:tr>
              <a:tr h="624960">
                <a:tc>
                  <a:txBody>
                    <a:bodyPr wrap="square"/>
                    <a:lstStyle/>
                    <a:p>
                      <a:pPr algn="l"/>
                      <a:r>
                        <a:rPr sz="1400" b="0" i="0" a:lang="ko-KR">
                          <a:solidFill>
                            <a:srgbClr val="111111"/>
                          </a:solidFill>
                          <a:latin typeface="맑은 고딕"/>
                          <a:ea typeface="맑은 고딕"/>
                        </a:rPr>
                        <a:t>ML1 진입</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전 핵심 문항 ≥ 2</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4 · 3 · 2 · 3 — 통과</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통과</a:t>
                      </a:r>
                    </a:p>
                  </a:txBody>
                  <a:tcPr marL="64008" marR="64008" marT="27432" marB="27432" anchor="ctr">
                    <a:solidFill>
                      <a:srgbClr val="FFFFFF"/>
                    </a:solidFill>
                  </a:tcPr>
                </a:tc>
              </a:tr>
              <a:tr h="624960">
                <a:tc>
                  <a:txBody>
                    <a:bodyPr wrap="square"/>
                    <a:lstStyle/>
                    <a:p>
                      <a:pPr algn="l"/>
                      <a:r>
                        <a:rPr sz="1400" b="0" i="0" a:lang="ko-KR">
                          <a:solidFill>
                            <a:srgbClr val="111111"/>
                          </a:solidFill>
                          <a:latin typeface="맑은 고딕"/>
                          <a:ea typeface="맑은 고딕"/>
                        </a:rPr>
                        <a:t>ML2 진입</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51문항 과반 ≥ 3</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36/51 = 70.6% — 통과</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통과 (회복 문항 반영 시 상승)</a:t>
                      </a:r>
                    </a:p>
                  </a:txBody>
                  <a:tcPr marL="64008" marR="64008" marT="27432" marB="27432" anchor="ctr">
                    <a:solidFill>
                      <a:srgbClr val="E8EEF7"/>
                    </a:solidFill>
                  </a:tcPr>
                </a:tc>
              </a:tr>
              <a:tr h="624960">
                <a:tc>
                  <a:txBody>
                    <a:bodyPr wrap="square"/>
                    <a:lstStyle/>
                    <a:p>
                      <a:pPr algn="l"/>
                      <a:r>
                        <a:rPr sz="1400" b="0" i="0" a:lang="ko-KR">
                          <a:solidFill>
                            <a:srgbClr val="111111"/>
                          </a:solidFill>
                          <a:latin typeface="맑은 고딕"/>
                          <a:ea typeface="맑은 고딕"/>
                        </a:rPr>
                        <a:t>ML3 진입</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전 핵심 문항 ≥ 3</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D-1 = 2 — 미충족</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D-1 ≥ 3 (R3) — 통과</a:t>
                      </a:r>
                    </a:p>
                  </a:txBody>
                  <a:tcPr marL="64008" marR="64008" marT="27432" marB="27432" anchor="ctr">
                    <a:solidFill>
                      <a:srgbClr val="FFFFFF"/>
                    </a:solidFill>
                  </a:tcPr>
                </a:tc>
              </a:tr>
              <a:tr h="624960">
                <a:tc>
                  <a:txBody>
                    <a:bodyPr wrap="square"/>
                    <a:lstStyle/>
                    <a:p>
                      <a:pPr algn="l"/>
                      <a:r>
                        <a:rPr sz="1400" b="0" i="0" a:lang="ko-KR">
                          <a:solidFill>
                            <a:srgbClr val="111111"/>
                          </a:solidFill>
                          <a:latin typeface="맑은 고딕"/>
                          <a:ea typeface="맑은 고딕"/>
                        </a:rPr>
                        <a:t>ML4 진입</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전 핵심 문항 ≥ 4 + C 영역 전 문항 ≥ 3</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(도달 전)</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P-14·D-1·C-1 = 3 — 미충족</a:t>
                      </a:r>
                    </a:p>
                  </a:txBody>
                  <a:tcPr marL="64008" marR="64008" marT="27432" marB="27432" anchor="ctr">
                    <a:solidFill>
                      <a:srgbClr val="E8EEF7"/>
                    </a:solidFill>
                  </a:tcPr>
                </a:tc>
              </a:tr>
              <a:tr h="624960">
                <a:tc>
                  <a:txBody>
                    <a:bodyPr wrap="square"/>
                    <a:lstStyle/>
                    <a:p>
                      <a:pPr algn="l"/>
                      <a:r>
                        <a:rPr sz="1400" b="0" i="0" a:lang="ko-KR">
                          <a:solidFill>
                            <a:srgbClr val="111111"/>
                          </a:solidFill>
                          <a:latin typeface="맑은 고딕"/>
                          <a:ea typeface="맑은 고딕"/>
                        </a:rPr>
                        <a:t>판정</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ML2 (관리화) · 종합 2.85</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ML3 (체계화) · 종합 3.15</a:t>
                      </a:r>
                    </a:p>
                  </a:txBody>
                  <a:tcPr marL="64008" marR="64008" marT="27432" marB="27432" anchor="ctr">
                    <a:solidFill>
                      <a:srgbClr val="FFFFFF"/>
                    </a:solidFill>
                  </a:tcPr>
                </a:tc>
              </a:tr>
            </a:tbl>
          </a:graphicData>
        </a:graphic>
      </p:graphicFrame>
      <p:sp>
        <p:nvSpPr>
          <p:cNvPr id="7" name="TextBox 6"/>
          <p:cNvSpPr txBox="1"/>
          <p:nvPr/>
        </p:nvSpPr>
        <p:spPr>
          <a:xfrm>
            <a:off x="497190" y="5040000"/>
            <a:ext cx="9695214" cy="1008000"/>
          </a:xfrm>
          <a:prstGeom prst="rect">
            <a:avLst/>
          </a:prstGeom>
          <a:noFill/>
        </p:spPr>
        <p:txBody>
          <a:bodyPr wrap="square" anchor="t" lIns="0" rIns="0" tIns="0" bIns="0">
            <a:spAutoFit/>
          </a:bodyPr>
          <a:lstStyle/>
          <a:p>
            <a:r>
              <a:rPr sz="1400" b="0" i="0" a:lang="ko-KR">
                <a:solidFill>
                  <a:srgbClr val="595959"/>
                </a:solidFill>
                <a:latin typeface="맑은 고딕"/>
                <a:ea typeface="맑은 고딕"/>
              </a:rPr>
              <a:t>[표 4-17]. 판정의 양상은 KS X ISO 8000-62 부속서 C 그림 C.1(우수 프로세스 복수 + 1개 미달 = 성숙도 수준 2)과 같다. 개선 후는 ML4 조건에서 다시 멈춘다 — R6을 별도의 장기 경로로 두는 근거.</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A사 연계 상태 — 강점과 구조적 미비</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B-13</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43</a:t>
            </a:r>
          </a:p>
        </p:txBody>
      </p:sp>
      <p:pic>
        <p:nvPicPr>
          <p:cNvPr id="6" name="Picture 5" descr="f4-3.png"/>
          <p:cNvPicPr>
            <a:picLocks noChangeAspect="1"/>
          </p:cNvPicPr>
          <p:nvPr/>
        </p:nvPicPr>
        <p:blipFill>
          <a:blip r:embed="rId2"/>
          <a:stretch>
            <a:fillRect/>
          </a:stretch>
        </p:blipFill>
        <p:spPr>
          <a:xfrm>
            <a:off x="1290646" y="1150000"/>
            <a:ext cx="8110707" cy="5799999"/>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R1 — 경계 제외 정당화의 공식 문서화</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44</a:t>
            </a:r>
          </a:p>
        </p:txBody>
      </p:sp>
      <p:pic>
        <p:nvPicPr>
          <p:cNvPr id="6" name="Picture 5" descr="g4-5.png"/>
          <p:cNvPicPr>
            <a:picLocks noChangeAspect="1"/>
          </p:cNvPicPr>
          <p:nvPr/>
        </p:nvPicPr>
        <p:blipFill>
          <a:blip r:embed="rId2"/>
          <a:stretch>
            <a:fillRect/>
          </a:stretch>
        </p:blipFill>
        <p:spPr>
          <a:xfrm>
            <a:off x="949476" y="1150000"/>
            <a:ext cx="8793048" cy="5799999"/>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R2 — 비교주장 미수행 정책의 문서화</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45</a:t>
            </a:r>
          </a:p>
        </p:txBody>
      </p:sp>
      <p:pic>
        <p:nvPicPr>
          <p:cNvPr id="6" name="Picture 5" descr="g4-6.png"/>
          <p:cNvPicPr>
            <a:picLocks noChangeAspect="1"/>
          </p:cNvPicPr>
          <p:nvPr/>
        </p:nvPicPr>
        <p:blipFill>
          <a:blip r:embed="rId2"/>
          <a:stretch>
            <a:fillRect/>
          </a:stretch>
        </p:blipFill>
        <p:spPr>
          <a:xfrm>
            <a:off x="810000" y="1150000"/>
            <a:ext cx="9072000" cy="5799999"/>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400" b="1" i="0" a:lang="ko-KR">
                <a:solidFill>
                  <a:srgbClr val="1F3864"/>
                </a:solidFill>
                <a:latin typeface="맑은 고딕"/>
                <a:ea typeface="맑은 고딕"/>
              </a:rPr>
              <a:t>개선 과제 R3 — 설계·개발 절차의 환경 고려 단계 신설</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B-14·R3</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46</a:t>
            </a:r>
          </a:p>
        </p:txBody>
      </p:sp>
      <p:pic>
        <p:nvPicPr>
          <p:cNvPr id="6" name="Picture 5" descr="g4-7.png"/>
          <p:cNvPicPr>
            <a:picLocks noChangeAspect="1"/>
          </p:cNvPicPr>
          <p:nvPr/>
        </p:nvPicPr>
        <p:blipFill>
          <a:blip r:embed="rId2"/>
          <a:stretch>
            <a:fillRect/>
          </a:stretch>
        </p:blipFill>
        <p:spPr>
          <a:xfrm>
            <a:off x="810000" y="1150000"/>
            <a:ext cx="9072000" cy="5799999"/>
          </a:xfrm>
          <a:prstGeom prst="rect">
            <a:avLst/>
          </a:prstGeom>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R4 — 내부 정밀검토 체계 도입</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B-14·R4</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47</a:t>
            </a:r>
          </a:p>
        </p:txBody>
      </p:sp>
      <p:pic>
        <p:nvPicPr>
          <p:cNvPr id="6" name="Picture 5" descr="g4-8.png"/>
          <p:cNvPicPr>
            <a:picLocks noChangeAspect="1"/>
          </p:cNvPicPr>
          <p:nvPr/>
        </p:nvPicPr>
        <p:blipFill>
          <a:blip r:embed="rId2"/>
          <a:stretch>
            <a:fillRect/>
          </a:stretch>
        </p:blipFill>
        <p:spPr>
          <a:xfrm>
            <a:off x="661385" y="1150000"/>
            <a:ext cx="9369230" cy="5799999"/>
          </a:xfrm>
          <a:prstGeom prst="rect">
            <a:avLst/>
          </a:prstGeom>
        </p:spPr>
      </p:pic>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R5 — LCA 연 1회 재수행의 이행 전환</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B-14·R5</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48</a:t>
            </a:r>
          </a:p>
        </p:txBody>
      </p:sp>
      <p:pic>
        <p:nvPicPr>
          <p:cNvPr id="6" name="Picture 5" descr="g4-9.png"/>
          <p:cNvPicPr>
            <a:picLocks noChangeAspect="1"/>
          </p:cNvPicPr>
          <p:nvPr/>
        </p:nvPicPr>
        <p:blipFill>
          <a:blip r:embed="rId2"/>
          <a:stretch>
            <a:fillRect/>
          </a:stretch>
        </p:blipFill>
        <p:spPr>
          <a:xfrm>
            <a:off x="949476" y="1150000"/>
            <a:ext cx="8793048" cy="5799999"/>
          </a:xfrm>
          <a:prstGeom prst="rect">
            <a:avLst/>
          </a:prstGeom>
        </p:spPr>
      </p:pic>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[표 5-1] 본 모델의 장점과 단점 — 장점 전문</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B-15a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49</a:t>
            </a:r>
          </a:p>
        </p:txBody>
      </p:sp>
      <p:graphicFrame>
        <p:nvGraphicFramePr>
          <p:cNvPr id="6" name="Table 5"/>
          <p:cNvGraphicFramePr>
            <a:graphicFrameLocks noGrp="1"/>
          </p:cNvGraphicFramePr>
          <p:nvPr/>
        </p:nvGraphicFramePr>
        <p:xfrm>
          <a:off x="494383" y="1008000"/>
          <a:ext cx="9703232" cy="4072200"/>
        </p:xfrm>
        <a:graphic>
          <a:graphicData uri="http://schemas.openxmlformats.org/drawingml/2006/table">
            <a:tbl>
              <a:tblPr firstRow="1" bandRow="1">
                <a:tableStyleId>{5C22544A-7EE6-4342-B048-85BDC9FD1C3A}</a:tableStyleId>
              </a:tblPr>
              <a:tblGrid>
                <a:gridCol w="641536"/>
                <a:gridCol w="1603840"/>
                <a:gridCol w="6094592"/>
                <a:gridCol w="1363264"/>
              </a:tblGrid>
              <a:tr h="554400">
                <a:tc>
                  <a:txBody>
                    <a:bodyPr wrap="square"/>
                    <a:lstStyle/>
                    <a:p>
                      <a:pPr algn="ctr"/>
                      <a:r>
                        <a:rPr sz="1100" b="1" i="0" a:lang="ko-KR">
                          <a:solidFill>
                            <a:srgbClr val="FFFFFF"/>
                          </a:solidFill>
                          <a:latin typeface="맑은 고딕"/>
                          <a:ea typeface="맑은 고딕"/>
                        </a:rPr>
                        <a:t>구분</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항목</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내용</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근거(본문 위치)</a:t>
                      </a:r>
                    </a:p>
                  </a:txBody>
                  <a:tcPr marL="64008" marR="64008" marT="27432" marB="27432" anchor="ctr">
                    <a:solidFill>
                      <a:srgbClr val="1F3864"/>
                    </a:solidFill>
                  </a:tcPr>
                </a:tc>
              </a:tr>
              <a:tr h="67536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문항의 추적성</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55문항이 두 표준의 전 조항 대조에서 도출되었고 판정 흐름과 조항별 판정 전문이 공개되어 있어, 문항의 출처를 조항까지 추적할 수 있다. 환경·LCA 분야의 선행 성숙도 모델에서는 문항을 표준 조항 단위로 도출·추적한 예를 찾아보기 어렵다.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3.2.2, 3.5.1, 부록 A·B.1, 2.5.2</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판정 기준의 명문화</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문항별 체크포인트와 점수별 상태 기술(BARS)을 미리 정해 두어, 같은 증거에 대하여 같은 점수가 나오도록 하였다.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3.3.2, 부록 C</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종합점수에 묻히는 미비의 식별</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핵심 문항 4종의 비보상 판정으로, 종합점수로는 보이지 않는 연계의 미성립을 판정에 반영한다. A사는 종합 2.85점이었으나 핵심 문항 D-1의 미달로 ML2로 판정되었다.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3.4.1, 4.3.5</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평가와 개선의 연결</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개선 과제의 목표 상태가 재평가 기준과 같은 문구여서, 평가 결과가 개선 과제와 다음 평가로 이어진다.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3.3.5, 4.6.3</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표준 구조의 준용</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판정 구조는 KS X ISO 8000-62를, 모델 형식과 평가 방법은 ISO/IEC 33000 계열 표준을 따랐고, ISO/IEC 33004 요구사항 24건의 자체점검으로 구조 요건을 확인하였다.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3.5.2, 부록 E</a:t>
                      </a:r>
                    </a:p>
                  </a:txBody>
                  <a:tcPr marL="64008" marR="64008" marT="27432" marB="27432" anchor="ctr">
                    <a:solidFill>
                      <a:srgbClr val="FFFFFF"/>
                    </a:solidFill>
                  </a:tcPr>
                </a:tc>
              </a:tr>
              <a:tr h="62484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수준이 뜻하는 바의 구분</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ML3까지는 LCA 결과가 환경측면·환경목표·설계·성과 모니터링에 반영되는 체계의 확립을, ML4부터는 재수행에 의한 정량 검증을 요구하므로, 수준의 상승이 무엇을 뜻하는지가 수준별 기준에 정해져 있다.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[표 3-7], [표 3-8]</a:t>
                      </a:r>
                    </a:p>
                  </a:txBody>
                  <a:tcPr marL="64008" marR="64008" marT="27432" marB="27432" anchor="ctr">
                    <a:solidFill>
                      <a:srgbClr val="E8EEF7"/>
                    </a:solidFill>
                  </a:tcPr>
                </a:tc>
              </a:tr>
            </a:tbl>
          </a:graphicData>
        </a:graphic>
      </p:graphicFrame>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[표 5-1] 본 모델의 장점과 단점 — 단점 전문</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B-15b</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50</a:t>
            </a:r>
          </a:p>
        </p:txBody>
      </p:sp>
      <p:graphicFrame>
        <p:nvGraphicFramePr>
          <p:cNvPr id="6" name="Table 5"/>
          <p:cNvGraphicFramePr>
            <a:graphicFrameLocks noGrp="1"/>
          </p:cNvGraphicFramePr>
          <p:nvPr/>
        </p:nvGraphicFramePr>
        <p:xfrm>
          <a:off x="494383" y="1008000"/>
          <a:ext cx="9703232" cy="4435200"/>
        </p:xfrm>
        <a:graphic>
          <a:graphicData uri="http://schemas.openxmlformats.org/drawingml/2006/table">
            <a:tbl>
              <a:tblPr firstRow="1" bandRow="1">
                <a:tableStyleId>{5C22544A-7EE6-4342-B048-85BDC9FD1C3A}</a:tableStyleId>
              </a:tblPr>
              <a:tblGrid>
                <a:gridCol w="641536"/>
                <a:gridCol w="1603840"/>
                <a:gridCol w="6094592"/>
                <a:gridCol w="1363264"/>
              </a:tblGrid>
              <a:tr h="554400">
                <a:tc>
                  <a:txBody>
                    <a:bodyPr wrap="square"/>
                    <a:lstStyle/>
                    <a:p>
                      <a:pPr algn="ctr"/>
                      <a:r>
                        <a:rPr sz="1100" b="1" i="0" a:lang="ko-KR">
                          <a:solidFill>
                            <a:srgbClr val="FFFFFF"/>
                          </a:solidFill>
                          <a:latin typeface="맑은 고딕"/>
                          <a:ea typeface="맑은 고딕"/>
                        </a:rPr>
                        <a:t>구분</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항목</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내용</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근거(본문 위치)</a:t>
                      </a:r>
                    </a:p>
                  </a:txBody>
                  <a:tcPr marL="64008" marR="64008" marT="27432" marB="27432" anchor="ctr">
                    <a:solidFill>
                      <a:srgbClr val="1F3864"/>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핵심 문항 4종에 대한 의존</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핵심 문항 하나의 미달로 성숙도 수준이 정해지며, 4종의 지정은 아직 전문가 합의를 거치지 않았다.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3.4.1, 3.5.2 (4)</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판정 파라미터</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ML2의 과반 기준(50%)과 ML4·ML5의 임계는 연구자 확정값이며, 상위 두 수준은 사례로 검증되지 않았다.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3.4.4, 5.3 셋째</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평가의 부담</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55문항을 문서와 기록으로 확인하여야 하고(A사는 증빙 문서 16종, 개별 33건), 평가자에게 환경경영시스템(ISO 14001) 심사 역량과 LCA 지식이 함께 요구되어 전환교육을 전제한다.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3.3.4, 4.2.1</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적용 대상의 제약</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문항의 다수가 LCA 산출물의 존재를 전제하므로, LCA를 수행하지 않는 조직에 대해서는 변별할 수 있는 범위가 좁다.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3.2.3, 3.4.3</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문항 간 종속</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하나의 미비가 여러 문항의 점수에 영향을 주므로 종합점수는 미비가 미치는 범위에 민감하다.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4.5.1, 5.3 둘째</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문서 심사 방식</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문서와 기록의 실재를 기준으로 판정하고 면담과 실행 상태의 현장 관찰을 포함하지 않으므로, 문서화되었으나 실행이 형식적인 경우를 식별하는 데에는 한계가 있다.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4.1, 4.2.3</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환경성과와의 관계 미검증</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성숙도 수준과 실제 환경성과(환경영향의 저감, 비용)의 관계는 본 연구에서 검증되지 않았다.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5.3 다섯째</a:t>
                      </a:r>
                    </a:p>
                  </a:txBody>
                  <a:tcPr marL="64008" marR="64008" marT="27432" marB="27432" anchor="ctr">
                    <a:solidFill>
                      <a:srgbClr val="FFFFFF"/>
                    </a:solidFill>
                  </a:tcPr>
                </a:tc>
              </a:tr>
            </a:tbl>
          </a:graphicData>
        </a:graphic>
      </p:graphicFrame>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ISO/IEC 33004 표준 적합성 자체점검 — 요약</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B-16</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51</a:t>
            </a:r>
          </a:p>
        </p:txBody>
      </p:sp>
      <p:sp>
        <p:nvSpPr>
          <p:cNvPr id="6" name="TextBox 5"/>
          <p:cNvSpPr txBox="1"/>
          <p:nvPr/>
        </p:nvSpPr>
        <p:spPr>
          <a:xfrm>
            <a:off x="497190" y="1108800"/>
            <a:ext cx="9695214" cy="5644800"/>
          </a:xfrm>
          <a:prstGeom prst="rect">
            <a:avLst/>
          </a:prstGeom>
          <a:noFill/>
        </p:spPr>
        <p:txBody>
          <a:bodyPr wrap="square" anchor="t" lIns="0" rIns="0" tIns="0" bIns="0">
            <a:spAutoFit/>
          </a:bodyPr>
          <a:lstStyle/>
          <a:p>
            <a:pPr>
              <a:spcAft>
                <a:spcPts val="518"/>
              </a:spcAft>
            </a:pPr>
            <a:r>
              <a:rPr sz="1600" b="1" i="0" a:lang="ko-KR">
                <a:solidFill>
                  <a:srgbClr val="1F3864"/>
                </a:solidFill>
                <a:latin typeface="맑은 고딕"/>
                <a:ea typeface="맑은 고딕"/>
              </a:rPr>
              <a:t>24개 요구사항 — 충족 22 · 해당 없음 1 · 보완 1</a:t>
            </a:r>
          </a:p>
          <a:p>
            <a:pPr>
              <a:spcAft>
                <a:spcPts val="518"/>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5절 참조 모델 요건 — 프로세스 기술 형식(목적·성과), 프로세스 집합의 범위 선언 → 충족</a:t>
            </a:r>
          </a:p>
          <a:p>
            <a:pPr>
              <a:spcAft>
                <a:spcPts val="518"/>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6절 평가 모델 요건 — 참조 모델과 측정 프레임워크(33020)의 결합, 지표–프로세스 매핑, 프로세스 프로파일 → 충족</a:t>
            </a:r>
          </a:p>
          <a:p>
            <a:pPr>
              <a:spcAft>
                <a:spcPts val="518"/>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7절 성숙도 모델 요건 — 수준 정의·누적 조건·수준별 프로세스 집합(7.3.5는 본 모델의 핵심 문항 4종/그 밖의 51문항으로 준용) → 충족</a:t>
            </a:r>
          </a:p>
          <a:p>
            <a:pPr>
              <a:spcAft>
                <a:spcPts val="518"/>
              </a:spcAft>
            </a:pPr>
            <a:r>
              <a:rPr sz="1300" b="0" i="0" a:lang="ko-KR">
                <a:solidFill>
                  <a:srgbClr val="595959"/>
                </a:solidFill>
                <a:latin typeface="맑은 고딕"/>
                <a:ea typeface="맑은 고딕"/>
              </a:rPr>
              <a:t>   해당 없음 1건 — 6.3.6 명목척도 조건부 요건(본 모델은 서열척도 BARS)</a:t>
            </a:r>
          </a:p>
          <a:p>
            <a:pPr>
              <a:spcAft>
                <a:spcPts val="518"/>
              </a:spcAft>
            </a:pPr>
            <a:r>
              <a:rPr sz="1600" b="1" i="0" a:lang="ko-KR">
                <a:solidFill>
                  <a:srgbClr val="C00000"/>
                </a:solidFill>
                <a:latin typeface="맑은 고딕"/>
                <a:ea typeface="맑은 고딕"/>
              </a:rPr>
              <a:t>· </a:t>
            </a:r>
            <a:r>
              <a:rPr sz="1600" b="1" i="0" a:lang="ko-KR">
                <a:solidFill>
                  <a:srgbClr val="C00000"/>
                </a:solidFill>
                <a:latin typeface="맑은 고딕"/>
                <a:ea typeface="맑은 고딕"/>
              </a:rPr>
              <a:t>보완 1건 — 55문항과 핵심 문항 지정에 대한 전문가 합의(CVI): 조사지 설계까지, 실시는 향후 연구 과제 → 충족으로 바꾸어 적지 않고 미충족 상태를 그대로 둠</a:t>
            </a:r>
          </a:p>
          <a:p>
            <a:pPr>
              <a:spcAft>
                <a:spcPts val="518"/>
              </a:spcAft>
            </a:pPr>
            <a:r>
              <a:rPr sz="1300" b="0" i="0" a:lang="ko-KR">
                <a:solidFill>
                  <a:srgbClr val="595959"/>
                </a:solidFill>
                <a:latin typeface="맑은 고딕"/>
                <a:ea typeface="맑은 고딕"/>
              </a:rPr>
              <a:t>   점검표 전문은 부록 E</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개발 경위 — 반복 개발의 타임라인</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B-17</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52</a:t>
            </a:r>
          </a:p>
        </p:txBody>
      </p:sp>
      <p:sp>
        <p:nvSpPr>
          <p:cNvPr id="6" name="TextBox 5"/>
          <p:cNvSpPr txBox="1"/>
          <p:nvPr/>
        </p:nvSpPr>
        <p:spPr>
          <a:xfrm>
            <a:off x="497190" y="927360"/>
            <a:ext cx="9695214" cy="403200"/>
          </a:xfrm>
          <a:prstGeom prst="rect">
            <a:avLst/>
          </a:prstGeom>
          <a:noFill/>
        </p:spPr>
        <p:txBody>
          <a:bodyPr wrap="square" anchor="t" lIns="0" rIns="0" tIns="0" bIns="0">
            <a:spAutoFit/>
          </a:bodyPr>
          <a:lstStyle/>
          <a:p>
            <a:r>
              <a:rPr sz="1300" b="0" i="0" a:lang="ko-KR">
                <a:solidFill>
                  <a:srgbClr val="595959"/>
                </a:solidFill>
                <a:latin typeface="맑은 고딕"/>
                <a:ea typeface="맑은 고딕"/>
              </a:rPr>
              <a:t>「모델을 어떻게 만들었나 / 처음 설계와 무엇이 달라졌나」를 묻는 경우 — 예상 질문 8·9·43번의 백업</a:t>
            </a:r>
          </a:p>
        </p:txBody>
      </p:sp>
      <p:sp>
        <p:nvSpPr>
          <p:cNvPr id="7" name="Rectangle 6"/>
          <p:cNvSpPr/>
          <p:nvPr/>
        </p:nvSpPr>
        <p:spPr>
          <a:xfrm>
            <a:off x="497190" y="2368800"/>
            <a:ext cx="9695214" cy="2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97190" y="143136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2025.9</a:t>
            </a:r>
          </a:p>
        </p:txBody>
      </p:sp>
      <p:sp>
        <p:nvSpPr>
          <p:cNvPr id="9" name="Oval 8"/>
          <p:cNvSpPr/>
          <p:nvPr/>
        </p:nvSpPr>
        <p:spPr>
          <a:xfrm>
            <a:off x="1076291" y="227808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97190" y="252000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연계 구상</a:t>
            </a:r>
          </a:p>
        </p:txBody>
      </p:sp>
      <p:sp>
        <p:nvSpPr>
          <p:cNvPr id="11" name="Rounded Rectangle 10"/>
          <p:cNvSpPr/>
          <p:nvPr/>
        </p:nvSpPr>
        <p:spPr>
          <a:xfrm>
            <a:off x="497190" y="307440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두 표준 연계의 목적·범위 정리</a:t>
            </a:r>
          </a:p>
        </p:txBody>
      </p:sp>
      <p:sp>
        <p:nvSpPr>
          <p:cNvPr id="12" name="Rounded Rectangle 11"/>
          <p:cNvSpPr/>
          <p:nvPr/>
        </p:nvSpPr>
        <p:spPr>
          <a:xfrm>
            <a:off x="1895967" y="143136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2025.10</a:t>
            </a:r>
          </a:p>
        </p:txBody>
      </p:sp>
      <p:sp>
        <p:nvSpPr>
          <p:cNvPr id="13" name="Oval 12"/>
          <p:cNvSpPr/>
          <p:nvPr/>
        </p:nvSpPr>
        <p:spPr>
          <a:xfrm>
            <a:off x="2475069" y="227808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895967" y="252000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전 조항 검토표</a:t>
            </a:r>
          </a:p>
        </p:txBody>
      </p:sp>
      <p:sp>
        <p:nvSpPr>
          <p:cNvPr id="15" name="Rounded Rectangle 14"/>
          <p:cNvSpPr/>
          <p:nvPr/>
        </p:nvSpPr>
        <p:spPr>
          <a:xfrm>
            <a:off x="1895967" y="307440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논문 구성안 · ISO 14001 전 조항 검토표 · 연계표 · 성숙도표 초안</a:t>
            </a:r>
          </a:p>
        </p:txBody>
      </p:sp>
      <p:sp>
        <p:nvSpPr>
          <p:cNvPr id="16" name="Rounded Rectangle 15"/>
          <p:cNvSpPr/>
          <p:nvPr/>
        </p:nvSpPr>
        <p:spPr>
          <a:xfrm>
            <a:off x="3294745" y="1431360"/>
            <a:ext cx="1302547" cy="5040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2026.3</a:t>
            </a:r>
          </a:p>
        </p:txBody>
      </p:sp>
      <p:sp>
        <p:nvSpPr>
          <p:cNvPr id="17" name="Oval 16"/>
          <p:cNvSpPr/>
          <p:nvPr/>
        </p:nvSpPr>
        <p:spPr>
          <a:xfrm>
            <a:off x="3873847" y="227808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294745" y="252000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55문항·판정 포인트</a:t>
            </a:r>
          </a:p>
        </p:txBody>
      </p:sp>
      <p:sp>
        <p:nvSpPr>
          <p:cNvPr id="19" name="Rounded Rectangle 18"/>
          <p:cNvSpPr/>
          <p:nvPr/>
        </p:nvSpPr>
        <p:spPr>
          <a:xfrm>
            <a:off x="3294745" y="307440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전조항 분석 · 평가 문항 55 · 판정 포인트 · shall/should 기준표(부록 A·B.3의 원자료)</a:t>
            </a:r>
          </a:p>
        </p:txBody>
      </p:sp>
      <p:sp>
        <p:nvSpPr>
          <p:cNvPr id="20" name="Rounded Rectangle 19"/>
          <p:cNvSpPr/>
          <p:nvPr/>
        </p:nvSpPr>
        <p:spPr>
          <a:xfrm>
            <a:off x="4693523" y="143136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2026.6</a:t>
            </a:r>
          </a:p>
        </p:txBody>
      </p:sp>
      <p:sp>
        <p:nvSpPr>
          <p:cNvPr id="21" name="Oval 20"/>
          <p:cNvSpPr/>
          <p:nvPr/>
        </p:nvSpPr>
        <p:spPr>
          <a:xfrm>
            <a:off x="5272624" y="227808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693523" y="252000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채점 기준·핵심 문항</a:t>
            </a:r>
          </a:p>
        </p:txBody>
      </p:sp>
      <p:sp>
        <p:nvSpPr>
          <p:cNvPr id="23" name="Rounded Rectangle 22"/>
          <p:cNvSpPr/>
          <p:nvPr/>
        </p:nvSpPr>
        <p:spPr>
          <a:xfrm>
            <a:off x="4693523" y="307440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문항별 체크포인트와 BARS 앵커 체계 · 핵심 문항 4종 · 잠정 채점(종합 2.89)</a:t>
            </a:r>
          </a:p>
        </p:txBody>
      </p:sp>
      <p:sp>
        <p:nvSpPr>
          <p:cNvPr id="24" name="Rounded Rectangle 23"/>
          <p:cNvSpPr/>
          <p:nvPr/>
        </p:nvSpPr>
        <p:spPr>
          <a:xfrm>
            <a:off x="6092301" y="143136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2026.7</a:t>
            </a:r>
          </a:p>
        </p:txBody>
      </p:sp>
      <p:sp>
        <p:nvSpPr>
          <p:cNvPr id="25" name="Oval 24"/>
          <p:cNvSpPr/>
          <p:nvPr/>
        </p:nvSpPr>
        <p:spPr>
          <a:xfrm>
            <a:off x="6671401" y="227808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092301" y="252000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재검증·확정</a:t>
            </a:r>
          </a:p>
        </p:txBody>
      </p:sp>
      <p:sp>
        <p:nvSpPr>
          <p:cNvPr id="27" name="Rounded Rectangle 26"/>
          <p:cNvSpPr/>
          <p:nvPr/>
        </p:nvSpPr>
        <p:spPr>
          <a:xfrm>
            <a:off x="6092301" y="307440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체크포인트 단위 전수 재검증 · 증빙 확정(종합 2.85 · ML2)</a:t>
            </a:r>
          </a:p>
        </p:txBody>
      </p:sp>
      <p:sp>
        <p:nvSpPr>
          <p:cNvPr id="28" name="Rounded Rectangle 27"/>
          <p:cNvSpPr/>
          <p:nvPr/>
        </p:nvSpPr>
        <p:spPr>
          <a:xfrm>
            <a:off x="7491079" y="1431360"/>
            <a:ext cx="1302547" cy="5040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2026.8</a:t>
            </a:r>
          </a:p>
        </p:txBody>
      </p:sp>
      <p:sp>
        <p:nvSpPr>
          <p:cNvPr id="29" name="Oval 28"/>
          <p:cNvSpPr/>
          <p:nvPr/>
        </p:nvSpPr>
        <p:spPr>
          <a:xfrm>
            <a:off x="8070179" y="227808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7491079" y="252000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표준 대조</a:t>
            </a:r>
          </a:p>
        </p:txBody>
      </p:sp>
      <p:sp>
        <p:nvSpPr>
          <p:cNvPr id="31" name="Rounded Rectangle 30"/>
          <p:cNvSpPr/>
          <p:nvPr/>
        </p:nvSpPr>
        <p:spPr>
          <a:xfrm>
            <a:off x="7491079" y="307440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ISO/IEC 33000 계열·KS X ISO 8000-61·62 대조 — 판정 규칙 ML0~ML5 · 연계 프로세스 16종 편성 · Becker 8단계 대응</a:t>
            </a:r>
          </a:p>
        </p:txBody>
      </p:sp>
      <p:sp>
        <p:nvSpPr>
          <p:cNvPr id="32" name="Rounded Rectangle 31"/>
          <p:cNvSpPr/>
          <p:nvPr/>
        </p:nvSpPr>
        <p:spPr>
          <a:xfrm>
            <a:off x="8889857" y="143136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2026.9</a:t>
            </a:r>
          </a:p>
        </p:txBody>
      </p:sp>
      <p:sp>
        <p:nvSpPr>
          <p:cNvPr id="33" name="Oval 32"/>
          <p:cNvSpPr/>
          <p:nvPr/>
        </p:nvSpPr>
        <p:spPr>
          <a:xfrm>
            <a:off x="9468957" y="227808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889857" y="252000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검토·정리</a:t>
            </a:r>
          </a:p>
        </p:txBody>
      </p:sp>
      <p:sp>
        <p:nvSpPr>
          <p:cNvPr id="35" name="Rounded Rectangle 34"/>
          <p:cNvSpPr/>
          <p:nvPr/>
        </p:nvSpPr>
        <p:spPr>
          <a:xfrm>
            <a:off x="8889857" y="307440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지도교수 검토(9/16)와 용어·구조 정리 · 33004 자체점검 24건</a:t>
            </a:r>
          </a:p>
        </p:txBody>
      </p:sp>
      <p:sp>
        <p:nvSpPr>
          <p:cNvPr id="36" name="Rounded Rectangle 35"/>
          <p:cNvSpPr/>
          <p:nvPr/>
        </p:nvSpPr>
        <p:spPr>
          <a:xfrm>
            <a:off x="497190" y="5040000"/>
            <a:ext cx="9695214" cy="6048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1F3864"/>
                </a:solidFill>
                <a:latin typeface="맑은 고딕"/>
                <a:ea typeface="맑은 고딕"/>
              </a:rPr>
              <a:t>표준 대조가 모델을 실제로 보완했다 — KS X ISO 8000-62 4.5.1(최소충족 판정) · ISO/IEC 33004 7.3.6(수준별 프로세스 집합의 도출 규칙) · KS X ISO 8000-61 5.3(프로세스 기술 형식)</a:t>
            </a:r>
          </a:p>
        </p:txBody>
      </p:sp>
      <p:sp>
        <p:nvSpPr>
          <p:cNvPr id="37" name="TextBox 36"/>
          <p:cNvSpPr txBox="1"/>
          <p:nvPr/>
        </p:nvSpPr>
        <p:spPr>
          <a:xfrm>
            <a:off x="497190" y="5796000"/>
            <a:ext cx="9695214" cy="806400"/>
          </a:xfrm>
          <a:prstGeom prst="rect">
            <a:avLst/>
          </a:prstGeom>
          <a:noFill/>
        </p:spPr>
        <p:txBody>
          <a:bodyPr wrap="square" anchor="t" lIns="0" rIns="0" tIns="0" bIns="0">
            <a:spAutoFit/>
          </a:bodyPr>
          <a:lstStyle/>
          <a:p>
            <a:pPr>
              <a:spcAft>
                <a:spcPts val="200"/>
              </a:spcAft>
            </a:pPr>
            <a:r>
              <a:rPr sz="1100" b="0" i="0" a:lang="ko-KR">
                <a:solidFill>
                  <a:srgbClr val="595959"/>
                </a:solidFill>
                <a:latin typeface="맑은 고딕"/>
                <a:ea typeface="맑은 고딕"/>
              </a:rPr>
              <a:t>· 2025년 10월 성숙도표의 수준 이름 「기초·관리·정의·통제·최적화」가 현행 문항 점수 이름(1~5점)의 유래 — 성숙도 수준 이름(ML0~ML5 도입 전·도입·관리화·체계화·예측화·혁신화)과는 별개(예상 질문 17번).</a:t>
            </a:r>
          </a:p>
          <a:p>
            <a:r>
              <a:rPr sz="1100" b="0" i="0" a:lang="ko-KR">
                <a:solidFill>
                  <a:srgbClr val="595959"/>
                </a:solidFill>
                <a:latin typeface="맑은 고딕"/>
                <a:ea typeface="맑은 고딕"/>
              </a:rPr>
              <a:t>· 8월의 편성에서 55문항이 16종으로 묶였고 기준·명칭·경계는 연구자가 확정하고 지도교수 검토를 거침 — 3.2.1 K1~K4, 3.2.3.</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제1장 한 장 요약 — 왜, 무엇을, 어떻게</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53</a:t>
            </a:r>
          </a:p>
        </p:txBody>
      </p:sp>
      <p:pic>
        <p:nvPicPr>
          <p:cNvPr id="6" name="Picture 5" descr="ch1.png"/>
          <p:cNvPicPr>
            <a:picLocks noChangeAspect="1"/>
          </p:cNvPicPr>
          <p:nvPr/>
        </p:nvPicPr>
        <p:blipFill>
          <a:blip r:embed="rId2"/>
          <a:stretch>
            <a:fillRect/>
          </a:stretch>
        </p:blipFill>
        <p:spPr>
          <a:xfrm>
            <a:off x="2605842" y="1150000"/>
            <a:ext cx="5480315" cy="5799998"/>
          </a:xfrm>
          <a:prstGeom prst="rect">
            <a:avLst/>
          </a:prstGeom>
        </p:spPr>
      </p:pic>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400" b="1" i="0" a:lang="ko-KR">
                <a:solidFill>
                  <a:srgbClr val="1F3864"/>
                </a:solidFill>
                <a:latin typeface="맑은 고딕"/>
                <a:ea typeface="맑은 고딕"/>
              </a:rPr>
              <a:t>제2장 한 장 요약 — 두 표준의 연계와 성숙도 판정의 근거</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B-0b</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54</a:t>
            </a:r>
          </a:p>
        </p:txBody>
      </p:sp>
      <p:pic>
        <p:nvPicPr>
          <p:cNvPr id="6" name="Picture 5" descr="ch2.png"/>
          <p:cNvPicPr>
            <a:picLocks noChangeAspect="1"/>
          </p:cNvPicPr>
          <p:nvPr/>
        </p:nvPicPr>
        <p:blipFill>
          <a:blip r:embed="rId2"/>
          <a:stretch>
            <a:fillRect/>
          </a:stretch>
        </p:blipFill>
        <p:spPr>
          <a:xfrm>
            <a:off x="3091140" y="1150000"/>
            <a:ext cx="4509719" cy="5799999"/>
          </a:xfrm>
          <a:prstGeom prst="rect">
            <a:avLst/>
          </a:prstGeom>
        </p:spPr>
      </p:pic>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000" b="1" i="0" a:lang="ko-KR">
                <a:solidFill>
                  <a:srgbClr val="1F3864"/>
                </a:solidFill>
                <a:latin typeface="맑은 고딕"/>
                <a:ea typeface="맑은 고딕"/>
              </a:rPr>
              <a:t>[그림 5-1] 연구 결과 요약 — 수행의 경과와 네 가지 연구 문제의 답</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B-0c①</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55</a:t>
            </a:r>
          </a:p>
        </p:txBody>
      </p:sp>
      <p:pic>
        <p:nvPicPr>
          <p:cNvPr id="6" name="Picture 5" descr="g5-1.png"/>
          <p:cNvPicPr>
            <a:picLocks noChangeAspect="1"/>
          </p:cNvPicPr>
          <p:nvPr/>
        </p:nvPicPr>
        <p:blipFill>
          <a:blip r:embed="rId2"/>
          <a:stretch>
            <a:fillRect/>
          </a:stretch>
        </p:blipFill>
        <p:spPr>
          <a:xfrm>
            <a:off x="480000" y="1150000"/>
            <a:ext cx="9732000" cy="4588427"/>
          </a:xfrm>
          <a:prstGeom prst="rect">
            <a:avLst/>
          </a:prstGeom>
        </p:spPr>
      </p:pic>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[그림 5-2] 학문적·실무적 기여와 기대되는 효과</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B-0c②</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56</a:t>
            </a:r>
          </a:p>
        </p:txBody>
      </p:sp>
      <p:pic>
        <p:nvPicPr>
          <p:cNvPr id="6" name="Picture 5" descr="g5-2.png"/>
          <p:cNvPicPr>
            <a:picLocks noChangeAspect="1"/>
          </p:cNvPicPr>
          <p:nvPr/>
        </p:nvPicPr>
        <p:blipFill>
          <a:blip r:embed="rId2"/>
          <a:stretch>
            <a:fillRect/>
          </a:stretch>
        </p:blipFill>
        <p:spPr>
          <a:xfrm>
            <a:off x="480000" y="1150000"/>
            <a:ext cx="9732000" cy="5633570"/>
          </a:xfrm>
          <a:prstGeom prst="rect">
            <a:avLst/>
          </a:prstGeom>
        </p:spPr>
      </p:pic>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500" b="1" i="0" a:lang="ko-KR">
                <a:solidFill>
                  <a:srgbClr val="1F3864"/>
                </a:solidFill>
                <a:latin typeface="맑은 고딕"/>
                <a:ea typeface="맑은 고딕"/>
              </a:rPr>
              <a:t>[그림 5-3] 한계와 향후 연구 과제 — 성격별 여덟 항목</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B-0c③</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57</a:t>
            </a:r>
          </a:p>
        </p:txBody>
      </p:sp>
      <p:pic>
        <p:nvPicPr>
          <p:cNvPr id="6" name="Picture 5" descr="g5-3.png"/>
          <p:cNvPicPr>
            <a:picLocks noChangeAspect="1"/>
          </p:cNvPicPr>
          <p:nvPr/>
        </p:nvPicPr>
        <p:blipFill>
          <a:blip r:embed="rId2"/>
          <a:stretch>
            <a:fillRect/>
          </a:stretch>
        </p:blipFill>
        <p:spPr>
          <a:xfrm>
            <a:off x="480000" y="1150000"/>
            <a:ext cx="9732000" cy="5126577"/>
          </a:xfrm>
          <a:prstGeom prst="rect">
            <a:avLst/>
          </a:prstGeom>
        </p:spPr>
      </p:pic>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평균 2.85면 ML3 구간인데 왜 ML2인가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58</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성숙도 판정은 평균으로 올라가는 보상 방식이 아니라 최소충족 원리를 따른다. 종합점수는 판정에 쓰지 않는 보조값이다.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한 곳이 비어 있으면 나머지가 아무리 높아도 그 수준에 이르지 않은 것으로 본다 — KS X ISO 8000-62 4.5.1과 선행 모델이 공통으로 쓰는 규칙(부속서 C 그림 C.1)</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평균으로 가리면 연계의 부재가 보이지 않는다는 것이 이 설계의 이유 — 연계 자체의 부재와 연계 내 성숙도 차이의 구분</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연계 성립의 필요조건인 네 문항에만 적용하고 나머지 51문항은 점수로 반영 — 적용 범위를 표준보다 좁힘</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과반 기준 50→70%, 핵심 문항 임계 3→4·5점으로 바꾸어도 A사 판정은 변하지 않음(민감도)</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3.4.1, 3.4.3, 4.3.5, 4.5.2</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500" b="1" i="0" a:lang="ko-KR">
                <a:solidFill>
                  <a:srgbClr val="1F3864"/>
                </a:solidFill>
                <a:latin typeface="맑은 고딕"/>
                <a:ea typeface="맑은 고딕"/>
              </a:rPr>
              <a:t>점수 척도는 어디서 왔나 — 33020의 틀과 BARS의 앵커</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59</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틀(속성 → 등급 → 수준)은 ISO/IEC 33020을 따르고, 등급을 매기는 자리에 점수별 상태 기술을 붙인 5점 척도를 놓았다 — BARS에서 가져온 것은 앵커 기법이다.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왜 BARS인가 — 점수마다 어떤 상태면 몇 점인지를 미리 문장(앵커)으로 적어 두면 평가자가 달라도 같은 증거에 같은 점수가 나온다. 널리 쓰이는 기법이고, 새로운 것은 앵커 안의 내용(두 표준 조항에서 뽑은 체크포인트)이다</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왜 N·P·L·F가 아니라 5점인가 — 33020의 4등급은 달성 비율의 판단을 평가자에게 남긴다. 본 모델은 필수·추가 체크포인트의 충족 개수로 점수를 정해 ISO/IEC 33003 4.5.1(척도 유형의 정의·객관적 배정 방법)을 이행하였다. 3점 = 필수 전부 = shall 충족 기준</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BARS 절차대로 전문가 검증은 했나 — 문항과 앵커는 두 표준의 조항에서 뽑아 전 조항 대조로 확인하였고, 전문가 합의는 내용타당도 조사(CVI)로 설계까지 해 두었으며 실시는 향후 연구 과제로 논문에 적었다</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2.4 [그림 2-6], 3.3.2, 3.5, 부록 C</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300" b="1" i="0" a:lang="ko-KR">
                <a:solidFill>
                  <a:srgbClr val="1F3864"/>
                </a:solidFill>
                <a:latin typeface="맑은 고딕"/>
                <a:ea typeface="맑은 고딕"/>
              </a:rPr>
              <a:t>측정 프레임워크의 틀과 본 모델의 구체화 — [그림 2-6]</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B-Q2 그림</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60</a:t>
            </a:r>
          </a:p>
        </p:txBody>
      </p:sp>
      <p:pic>
        <p:nvPicPr>
          <p:cNvPr id="6" name="Picture 5" descr="f2-6.png"/>
          <p:cNvPicPr>
            <a:picLocks noChangeAspect="1"/>
          </p:cNvPicPr>
          <p:nvPr/>
        </p:nvPicPr>
        <p:blipFill>
          <a:blip r:embed="rId2"/>
          <a:stretch>
            <a:fillRect/>
          </a:stretch>
        </p:blipFill>
        <p:spPr>
          <a:xfrm>
            <a:off x="480000" y="1150000"/>
            <a:ext cx="9732000" cy="2595199"/>
          </a:xfrm>
          <a:prstGeom prst="rect">
            <a:avLst/>
          </a:prstGeom>
        </p:spPr>
      </p:pic>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500" b="1" i="0" a:lang="ko-KR">
                <a:solidFill>
                  <a:srgbClr val="1F3864"/>
                </a:solidFill>
                <a:latin typeface="맑은 고딕"/>
                <a:ea typeface="맑은 고딕"/>
              </a:rPr>
              <a:t>연계 프로세스가 왜 16종인가 — 참조 원형은 20종인데</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B-Q3</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61</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프로세스 수는 참조 원형에 고정되는 값이 아니라 대상 분야의 조항 밀도에 따라 정해진다.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하나의 연계 프로세스를 ISO 14001 상위 구조의 연속 조항 하나에 대응시키는 기준(K1)을 두어 16종 — ISO 14001 조항 대응 14종 + ISO 14044 단독 준거 2종(LC.2·LA.3)</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영역별 P 8 · D 2 · C 3 · A 3 — 계획 영역에 LCA 결과가 가장 널리 관여하는 매핑 결과를 그대로 반영</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원형(KS X ISO 8000-61 20종)과 수가 다른 것은 선행연구(2015·2017 모델)에서도 같은 양상</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각 프로세스는 제목·목적·성과·활동의 형식 — 8000-61 5.3, ISO/IEC 33004 5절</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3.2.1, 3.2.2, 3.2.3, [표 3-4]</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핵심 문항 4종은 왜 그 네 개인가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B-Q4</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62</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연계가 성립하기 위해 반드시 있어야 하는 지점, 그것이 없으면 두 체계가 이어졌다고 말할 수 없는 네 지점을 골랐다.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셋으로 나누어 답한다 — 매핑(30조항 전 조항) → 55문항·16종(측정) → 연계 성립의 지점 4곳(판정)</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「매우 높음」 4개 조항 = 조항 본문이 전과정 관점을 명시적으로 요구하여 LCA 없이는 shall 이행이 사실상 불완전 — 6.1.2 · 6.2.1 · 8.1 · 9.1.1</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관리 주기의 계획–실행–점검에 하나씩(P 2 · D 1 · C 1) — 한 지점이 끊기면 순환이 그 단계에서 멈춤</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필요조건에 해당하는 소수 항목을 선별하는 접근은 연구자 선행연구(2023, 핵심품질 항목)에서 제시 — 지정의 적절성은 CVI 조사 2부에서 묻도록 설계</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3.2.2 [표 3-1]·[표 3-2], 3.4.1, 3.4.3, 부록 F.3</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200" b="1" i="0" a:lang="ko-KR">
                <a:solidFill>
                  <a:srgbClr val="1F3864"/>
                </a:solidFill>
                <a:latin typeface="맑은 고딕"/>
                <a:ea typeface="맑은 고딕"/>
              </a:rPr>
              <a:t>판정에 쓰인 기준값은 근거가 있는가 — 임의의 숫자가 아닌가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B-Q5</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63</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기준값은 임의로 정한 것이 아니라 원리에서 끌어냈다.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shall 조항의 충족을 3점에 둠(필수 체크포인트 전부 충족) — 척도의 기준선</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ML2 과반 기준 50%, ML4·ML5 임계는 그 원리에 맞추어 정한 연구자 확정값 — 대안과 기각 사유를 3.4.4에 기록</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값을 바꾸었을 때 판정이 어떻게 달라지는지를 함께 보임 — A사는 과반 50→70%, 임계 3→5점에서도 ML2</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상위 두 수준(ML4·ML5)은 사례로 검증되지 않음 — 한계로 명시, 다사례 적용이 향후 연구 과제</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3.4.4, 4.5.2, 5.3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600" b="1" i="0" a:lang="ko-KR">
                <a:solidFill>
                  <a:srgbClr val="1F3864"/>
                </a:solidFill>
                <a:latin typeface="맑은 고딕"/>
                <a:ea typeface="맑은 고딕"/>
              </a:rPr>
              <a:t>보완 1건을 그대로 두어도 되는가 — 33004 자체점검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B-Q6</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64</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보완으로 남긴 항목이 무엇이고 왜 남았는지를 자체점검표에 그대로 적었다.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보완 1건 = 55문항과 핵심 문항 지정에 대한 전문가 합의 — 조사지 설계까지 마쳤고 실시는 향후 연구 과제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충족으로 바꾸어 적지 않고 미충족 상태를 드러내는 것이 자체 점검의 취지에 맞다고 보았다</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대신 문항의 내용타당도는 전 조항 대조에 의한 추적성으로 확보</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해당 없음 1건 = 6.3.6 명목척도 조건부 요건(본 모델은 서열척도 BARS)</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3.5.1, 3.5.2, 부록 E, 부록 F</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400" b="1" i="0" a:lang="ko-KR">
                <a:solidFill>
                  <a:srgbClr val="1F3864"/>
                </a:solidFill>
                <a:latin typeface="맑은 고딕"/>
                <a:ea typeface="맑은 고딕"/>
              </a:rPr>
              <a:t>데이터 품질 표준(KS X ISO 8000-62)을 왜 가져왔는가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B-Q7</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65</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성숙도 판정의 구조는 평가 대상 분야에 종속되지 않는 일반 틀이며, 그 틀을 정한 것이 ISO/IEC 33000 계열이다.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수준 정의·최소충족 원리·프로세스 속성에 의한 등급은 분야와 무관 — 8000-62는 그 틀을 프로세스 참조 모델과 함께 구현한 사례</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본 연구는 그 구조만 따르고 내용(프로세스·문항)은 두 환경 표준의 조항에서 새로 도출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8000-6x 가운데 61(프로세스 참조 모델)·62(조직 프로세스 성숙도 평가)만 준용 — 63(프로세스 측정)은 ISO/IEC 33020의 등급 척도로 대신했고, 64(TPI 방법의 적용, 2022)는 경로가 달라 쓰지 않음(개선의 계획 요소는 KS I ISO 14004로)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품질경영 성숙도(ISO 9004 부속서 A)는 성숙도 접근의 선례로만 언급 — 단체표준화 검토(5.3)</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3.1.1, 2.4, 3.4.1, 5.3</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문항 제목의 Hotspot은 ISO 14044 용어인가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B-Q8</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66</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ISO 14044의 용어는 「중요한 이슈(significant issues)」(4.5.2)이고 Hotspot은 그 실무 명칭이다.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해석 단계(4.5.2)에서 LCI·LCIA 결과에 근거해 중요한 이슈를 규명하도록 요구 — 그 결과가 실무에서 Hotspot</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본 논문은 2.2 해석 단계 설명에서 두 말을 이미 연결해 둠</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P-13·P-14 문항 제목의 Hotspot은 환경목표가 근거할 정량 결과를 가리키는 말로 유지</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A사 사례 — 원료 단계가 전체의 절반 이상(Hotspot) → 그 비중을 낮추는 정량 목표</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2.2, 3.3.1, [표 3-6]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300" b="1" i="0" a:lang="ko-KR">
                <a:solidFill>
                  <a:srgbClr val="1F3864"/>
                </a:solidFill>
                <a:latin typeface="맑은 고딕"/>
                <a:ea typeface="맑은 고딕"/>
              </a:rPr>
              <a:t>실제로 적용해 보니 그 회사가 쓰겠다고 하던가 — 왜 했는가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B-Q9</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67</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연구 목적의 시범 적용이었으므로 평가 결과를 공식 판정으로 전달하지는 않았다.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공식 등급으로 전달하려면 ISO/IEC 33002 클래스 1·2 요건을 갖춘 재평가가 별도로 필요 — 복수 기업 적용과 함께 향후 연구 과제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왜 했는가 — 컨설팅 현장에서 두 체계가 따로 운영되는 것을 계속 보았고, 두 표준의 연계 수준을 측정하는 척도가 없어 학술적으로 다룰 가치가 있다고 보았다</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이번 연구에서는 모델을 만들고 한 조직에 적용해 판정 논리가 작동하는 것까지 확인</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더 필요한 것은 전문가 타당도 조사와 복수 기업 적용 두 가지 — 5.3</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4.1, 4.7, 5.3, 1.1</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100" b="1" i="0" a:lang="ko-KR">
                <a:solidFill>
                  <a:srgbClr val="1F3864"/>
                </a:solidFill>
                <a:latin typeface="맑은 고딕"/>
                <a:ea typeface="맑은 고딕"/>
              </a:rPr>
              <a:t>컨설팅한 회사를 본인이 평가했는데 객관성은 어떻게 확보했는가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B-Q10</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68</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환경경영 업무를 지원한 이력을 공평성 고려 사항으로 밝혔고, 판정은 조직이 생성·기입한 기록의 실재를 기준으로 하였다.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판정 관례를 미리 문서로 정함 — 구두 진술만으로는 미충족, 양식만 있고 기입이 없으면 미충족</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잠정 채점을 증빙으로 전수 재검증 — 상향 7 · 하향 9, 종합 2.89 → 2.85로 낮은 쪽 수렴(재검증이 관대화를 억제하는 방향으로 작동)</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체크포인트 단위로 증빙을 명시하여 제3자가 재현 가능 — 부록 I</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독립성은 ISO/IEC 33002 부속서 A 유형 구분상 범주 B 상당 — 평가 클래스 3 상당으로 지위 한정</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4.2.2, 4.2.3, [표 4-4], [표 4-5], 부록 G.3</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100" b="1" i="0" a:lang="ko-KR">
                <a:solidFill>
                  <a:srgbClr val="1F3864"/>
                </a:solidFill>
                <a:latin typeface="맑은 고딕"/>
                <a:ea typeface="맑은 고딕"/>
              </a:rPr>
              <a:t>개선 과제는 무슨 표준 근거로 만들었는가 — 개선 모델은 없는데</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B-Q11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69</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개선 과제의 계획 요소는 KS I ISO 14004(환경경영시스템 — 실행에 대한 일반 지침)의 6.2.3·10.3을 따랐고, 목표 상태는 재평가 기준과 같은 문구로 썼다.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14004 6.2.3 — 환경목표 달성 조치 계획의 요소(역할·책임·프로세스·자원·시간계획·우선순위·조치) ↔ 과제의 무엇을·어떻게·담당·일정</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14004 10.3.1 근본 원인 분석 ↔ 구조적 미비 3건으로의 묶음 / 10.3.2 「동시에 모든 분야에서 개선이 일어날 필요는 없다」 ↔ 과제 → 로드맵 → 재평가</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과제 1매의 전개는 KS X ISO 8000-61 8.3(지식·역량 공유)·KS Q ISO 10015 5.3(프로그램 구조)을 참조 — 데이터 품질 분야의 개선 규정은 범위 밖</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목표 상태 = BARS 앵커 문구 → 차기 평가에서 조치 완료 여부를 그대로 판정</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3.3.5, 4.6.1, 4.6.3, 1.3.3</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300" b="1" i="0" a:lang="ko-KR">
                <a:solidFill>
                  <a:srgbClr val="1F3864"/>
                </a:solidFill>
                <a:latin typeface="맑은 고딕"/>
                <a:ea typeface="맑은 고딕"/>
              </a:rPr>
              <a:t>ISO 14001이 개정되면 이 모델은 못 쓰게 되는 것 아닌가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B-Q12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70</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매핑과 평가 기준은 ISO 14001:2015에 기반한다고 적용 범위에 밝혔고, 개정판으로의 갱신은 향후 연구 과제로 두었다.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모델의 구조(3계층·판정 규칙)는 조항이 바뀌어도 유지 — 참조 모델의 조항 대응만 갱신</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핵심 연계 지점(환경측면·목표·설계·모니터링)은 경영시스템 공통 구조의 자리이므로 개정에도 남을 가능성이 큼 — 확인은 개정판 원문으로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ISO 14001:2026 조항 체계로의 매핑 갱신·기준 재검증을 5.3 넷째 과제로 명시</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1.4.2, 5.3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