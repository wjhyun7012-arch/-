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전체 5개 장과 부록으로 구성됩니다.</a:t>
            </a:r>
          </a:p>
          <a:p>
            <a:r>
              <a:rPr sz="1200">
                <a:latin typeface="맑은 고딕"/>
              </a:rPr>
              <a:t>제1장 서론입니다. 규제는 제품 전과정의 정량 환경정보를 요구합니다. 기업은 ISO 14001과 LCA를 함께 운영해야 하는데, 실무에서는 두 체계가 별도로 운영되는 경우가 많습니다. 그래서 연계 수준을 측정하는 기준이 없다는 것이 문제입니다.</a:t>
            </a:r>
          </a:p>
          <a:p>
            <a:r>
              <a:rPr sz="1200">
                <a:latin typeface="맑은 고딕"/>
              </a:rPr>
              <a:t>제2장 이론적 배경입니다. 연계 대상인 두 표준은 한쪽은 방법이 없고 다른 쪽은 주기가 없습니다. 판정 체계의 표준은 ISO/IEC 33000 계열과 KS X ISO 8000-61·62이고, 여기서 참조·평가·성숙도의 3계층 구조를 가져왔습니다. 선행연구를 검토하여 두 표준의 연계 수준을 측정한 연구를 찾아보기 어려움을 확인하였습니다.</a:t>
            </a:r>
          </a:p>
          <a:p>
            <a:r>
              <a:rPr sz="1200">
                <a:latin typeface="맑은 고딕"/>
              </a:rPr>
              <a:t>제3장 모델 개발입니다. 두 표준의 조항을 매핑하여 연계 프로세스 16종의 참조 모델을 만들고, 55개 평가 문항의 평가 모델과 성숙도 수준 ML0~ML5의 판정 규칙을 정하는 성숙도 모델을 차례로 개발하였습니다. 연계 성립의 네 지점 가운데 하나라도 빠지면 평균이 높아도 ML3 이상으로 가지 못하며, 모델의 타당성은 두 방향으로 검증하였습니다.</a:t>
            </a:r>
          </a:p>
          <a:p>
            <a:r>
              <a:rPr sz="1200">
                <a:latin typeface="맑은 고딕"/>
              </a:rPr>
              <a:t>제4장 사례 연구입니다. 제조기업 A사에 시범 적용하여 증빙 문서 심사로 55문항을 판정하였습니다. 종합점수는 2.85이지만 핵심 문항 D-1 하나가 미달하여 ML2(관리화)입니다. 종합점수는 판정에 쓰지 않는 보조값이며, 판정 규칙이 예상대로 작동한 것입니다. 낮은 점수의 원인은 미비 사항 3건으로 모아지고, 개선 과제 R1~R5와 로드맵으로 이어져 완수 시 ML3가 전망됩니다. 제4장은 제3장의 기준을 바꾸지 않고 그대로 적용한 결과만을 말합니다.</a:t>
            </a:r>
          </a:p>
          <a:p>
            <a:r>
              <a:rPr sz="1200">
                <a:latin typeface="맑은 고딕"/>
              </a:rPr>
              <a:t>제5장 결론입니다. 네 가지 연구 문제의 답을 정리하고 연구의 의의와 한계, 향후 연구 과제를 제시합니다.</a:t>
            </a:r>
          </a:p>
          <a:p>
            <a:r>
              <a:rPr sz="1200">
                <a:latin typeface="맑은 고딕"/>
              </a:rPr>
              <a:t>맨 아래 한 줄이 논문 전체입니다. 연계, 모델링, 평가, 지속적 개선, 환경영향 저감입니다. 이 모델로 조직을 평가하여, 그 결과를 환경경영시스템(ISO 14001)의 지속적 개선으로 연결함으로써 전과정의 환경영향을 줄이는 데 기여하고자 합니다.</a:t>
            </a:r>
          </a:p>
          <a:p>
            <a:r>
              <a:rPr sz="1200">
                <a:latin typeface="맑은 고딕"/>
              </a:rPr>
              <a:t>〔1분 30초〕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탄소국경조정제도(CBAM)와 ESG 공시처럼 제품의 전과정 환경정보를 요구하는 규제가 늘면서, 기업은 환경경영시스템(ISO 14001)과 전과정평가(LCA)를 함께 운영해야 하는 상황에 놓였습니다. 그러나 실무에서는 두 체계가 별도로 운영되는 경우가 많습니다.</a:t>
            </a:r>
          </a:p>
          <a:p>
            <a:r>
              <a:rPr sz="1200">
                <a:latin typeface="맑은 고딕"/>
              </a:rPr>
              <a:t>환경경영시스템(ISO 14001)은 전과정 관점을 고려하도록 요구하면서도 그 구체적 방법은 정하지 않았고, 전과정평가(LCA)의 방법은 별개 표준인 ISO 14044에 규정되어 있습니다.</a:t>
            </a:r>
          </a:p>
          <a:p>
            <a:r>
              <a:rPr sz="1200">
                <a:latin typeface="맑은 고딕"/>
              </a:rPr>
              <a:t>두 표준을 연계하는 프로세스나 그 연계 수준을 측정하는 기준은 찾아보기 어렵습니다.</a:t>
            </a:r>
          </a:p>
          <a:p>
            <a:r>
              <a:rPr sz="1200">
                <a:latin typeface="맑은 고딕"/>
              </a:rPr>
              <a:t>〔초록 [1] 문장 그대로. 마지막 줄만 힘을 준다. 「ISO 14001은 많이 쓰이나」가 나오면 — 국내 유효 인증 28,137건, 세계 676,232건(ISO Survey 2024), 2.1.1.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상태 A의 기업은 인증 갱신이나 고객 요구에 맞추어 한 차례 LCA 보고서를 받아 두고 그것으로 끝냅니다. 상태 B의 기업은 그 결과로 중대한 환경측면을 다시 결정하고, 이를 고려하여 환경목표의 수치를 정하며, 다음 해에 다시 산정하여 목표 달성을 확인합니다.</a:t>
            </a:r>
          </a:p>
          <a:p>
            <a:r>
              <a:rPr sz="1200">
                <a:latin typeface="맑은 고딕"/>
              </a:rPr>
              <a:t>둘 다 「LCA를 했다」고 말하지만, 앞은 경영시스템과 분리된 보고서이고 뒤는 경영시스템의 운영에 쓰이는 입력입니다. 본 연구가 말하는 연계는 상태 B입니다.</a:t>
            </a:r>
          </a:p>
          <a:p>
            <a:r>
              <a:rPr sz="1200">
                <a:latin typeface="맑은 고딕"/>
              </a:rPr>
              <a:t>연계는 있다 없다의 문제가 아니라 정도의 문제이고, 정도의 문제라면 그 정도를 잴 척도가 있어야 합니다. 그 척도가 성숙도 모델입니다.</a:t>
            </a:r>
          </a:p>
          <a:p>
            <a:r>
              <a:rPr sz="1200">
                <a:latin typeface="맑은 고딕"/>
              </a:rPr>
              <a:t>〔이야기의 뼈대. 이 차이를 어떻게 측정하나(3부) → 측정해 보니(4부) → 무엇을 고치나(5부). 1분 10초〕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조항은 조직 상황(4절)부터 개선(10절)까지 일곱 군으로 묶여 PDCA로 순환합니다.</a:t>
            </a:r>
          </a:p>
          <a:p>
            <a:r>
              <a:rPr sz="1200">
                <a:latin typeface="맑은 고딕"/>
              </a:rPr>
              <a:t>전과정 관점의 고려가 요구되는 곳은 환경측면의 결정(6.1.2)과 운용기획 및 관리(8.1)입니다. 뒤에서 핵심 문항이 놓이는 자리가 여기입니다.</a:t>
            </a:r>
          </a:p>
          <a:p>
            <a:r>
              <a:rPr sz="1200">
                <a:latin typeface="맑은 고딕"/>
              </a:rPr>
              <a:t>표준은 전과정 관점을 요구하지만 그 이행 방법은 표준 안에 없습니다. 그 방법을 규정한 것이 ISO 14044입니다. 다음 장입니다.</a:t>
            </a:r>
          </a:p>
          <a:p>
            <a:r>
              <a:rPr sz="1200">
                <a:latin typeface="맑은 고딕"/>
              </a:rPr>
              <a:t>〔「LCA는 14001과 무슨 관계인가」가 나오면 — 14001이 요구하는 전과정 관점을 실제로 채우는 방법이 LCA(ISO 14044), 2.3.1.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목적 및 범위 정의, 전과정 목록분석(LCI), 전과정 영향평가(LCIA), 해석의 네 단계로 이루어집니다. 해석은 세 단계 모두와 양방향으로 이어집니다.</a:t>
            </a:r>
          </a:p>
          <a:p>
            <a:r>
              <a:rPr sz="1200">
                <a:latin typeface="맑은 고딕"/>
              </a:rPr>
              <a:t>한 번의 수행은 이 안에서 완결되지만, 되풀이하는 관리 주기는 ISO 14044의 범위가 아닙니다.</a:t>
            </a:r>
          </a:p>
          <a:p>
            <a:r>
              <a:rPr sz="1200">
                <a:latin typeface="맑은 고딕"/>
              </a:rPr>
              <a:t>그래서 두 표준을 연결하고 그 수준을 측정하려면 성숙도 모델의 방법을 빌려야 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모델의 뼈대는 모두 표준에서 가져왔습니다.</a:t>
            </a:r>
          </a:p>
          <a:p>
            <a:r>
              <a:rPr sz="1200">
                <a:latin typeface="맑은 고딕"/>
              </a:rPr>
              <a:t>측정 대상은 환경경영시스템(ISO 14001)과 전과정평가(LCA, ISO 14044)의 연계입니다.</a:t>
            </a:r>
          </a:p>
          <a:p>
            <a:r>
              <a:rPr sz="1200">
                <a:latin typeface="맑은 고딕"/>
              </a:rPr>
              <a:t>판정 구조는 KS X ISO 8000-62를, 모델 형식과 평가 방법은 ISO/IEC 33000 계열을, 프로세스 기술 형식은 KS X ISO 8000-61을 따랐으며, 그 적용 선례는 국내 공공데이터 연구입니다. 참조 모델은 평가 모델의, 평가 모델은 성숙도 모델의 기초가 됩니다. 평가의 수행은 ISO/IEC 33002를 따랐습니다.</a:t>
            </a:r>
          </a:p>
          <a:p>
            <a:r>
              <a:rPr sz="1200">
                <a:latin typeface="맑은 고딕"/>
              </a:rPr>
              <a:t>그러면 이 대상을 다룬 연구는 이미 있었는가. 다음 장입니다.</a:t>
            </a:r>
          </a:p>
          <a:p>
            <a:r>
              <a:rPr sz="1200">
                <a:latin typeface="맑은 고딕"/>
              </a:rPr>
              <a:t>〔조항 번호는 읽지 않는다. 선행 모델은 논문 제목으로 부른다(PPDQM3·APDQM3라 하지 않는다).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선행연구는 두 축으로 검토하였습니다.</a:t>
            </a:r>
          </a:p>
          <a:p>
            <a:r>
              <a:rPr sz="1200">
                <a:latin typeface="맑은 고딕"/>
              </a:rPr>
              <a:t>방법론 축은 판정의 원리를 주었으나 적용 분야가 소프트웨어와 데이터에 한정됩니다. 분야 축은 환경을 다루되 환경경영 운영, 제품 설계, LCA 활용이라는 단일 측면에 머뭅니다.</a:t>
            </a:r>
          </a:p>
          <a:p>
            <a:r>
              <a:rPr sz="1200">
                <a:latin typeface="맑은 고딕"/>
              </a:rPr>
              <a:t>두 표준의 연계 자체를 조항 단위로 판정하는 모델은 검토한 선행연구에서 찾아보기 어렵습니다. 이것이 연구 공백입니다.</a:t>
            </a:r>
          </a:p>
          <a:p>
            <a:r>
              <a:rPr sz="1200">
                <a:latin typeface="맑은 고딕"/>
              </a:rPr>
              <a:t>그 자리에 무엇을 만들었는지 말씀드리겠습니다.</a:t>
            </a:r>
          </a:p>
          <a:p>
            <a:r>
              <a:rPr sz="1200">
                <a:latin typeface="맑은 고딕"/>
              </a:rPr>
              <a:t>〔2.5.4.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논문의 연계 모델은 평가 대상인 참조 모델, 채점인 평가 모델, 수준 판정인 성숙도 모델의 세 계층으로 개발하였으며, 이를 연계 성숙도 평가 모델, LMA라 합니다.</a:t>
            </a:r>
          </a:p>
          <a:p>
            <a:r>
              <a:rPr sz="1200">
                <a:latin typeface="맑은 고딕"/>
              </a:rPr>
              <a:t>참조 모델은 연계 프로세스 16종, 평가 모델은 55개 평가 문항과 문항별 판정 기준, 성숙도 모델은 ML0부터 ML5까지의 판정 규칙과 핵심 문항 4종입니다.</a:t>
            </a:r>
          </a:p>
          <a:p>
            <a:r>
              <a:rPr sz="1200">
                <a:latin typeface="맑은 고딕"/>
              </a:rPr>
              <a:t>그림의 위 띠가 입력인 따른 표준, 가운데가 연계 프로세스가 도는 관리 주기, 아래 띠가 개발한 세 가지 모델과 그 적용입니다.</a:t>
            </a:r>
          </a:p>
          <a:p>
            <a:r>
              <a:rPr sz="1200">
                <a:latin typeface="맑은 고딕"/>
              </a:rPr>
              <a:t>먼저 두 표준을 어떻게 맞대었는지부터 말씀드리겠습니다.</a:t>
            </a:r>
          </a:p>
          <a:p>
            <a:r>
              <a:rPr sz="1200">
                <a:latin typeface="맑은 고딕"/>
              </a:rPr>
              <a:t>〔숫자 사슬 16 → 55 → 4 → ML0~5. 「검증은 했나」가 나오면 — 두 방향. 추적성 검증(55문항을 근거 조항까지)과 표준 적합성 검증(ISO/IEC 33004 요구사항 24건 자체점검 — 충족 22 · 해당 없음 1 · 보완 1). 전문가 내용타당도 조사(CVI)는 조사지 설계까지, 실시는 향후 과제 — 3.5.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모든 조항에 대하여 같은 네 가지 질문을 같은 순서로 물었습니다. 전과정 관점을 명시적으로 요구하거나 그 결과를 직접 입력으로 삼는가, LCA 산출물 없이는 shall 이행이 불완전한가, LCA 결과가 주요 입력값인가, 보조 정보라도 제공하는가입니다.</a:t>
            </a:r>
          </a:p>
          <a:p>
            <a:r>
              <a:rPr sz="1200">
                <a:latin typeface="맑은 고딕"/>
              </a:rPr>
              <a:t>「매우 높음」의 판정 요건은 전과정 관점의 명시적 요구 또는 그 결과의 직접 사용, LCA 없는 shall 이행의 사실상 불완전, LCA 결과의 핵심 산출물 지위로, 연계의 성립 여부를 가르는 관찰입니다. 이 등급의 4개 조항이 6.1.2·6.2.1·8.1·9.1.1이며, 이 네 곳이 뒤의 핵심 문항 4종의 자리가 됩니다.</a:t>
            </a:r>
          </a:p>
          <a:p>
            <a:r>
              <a:rPr sz="1200">
                <a:latin typeface="맑은 고딕"/>
              </a:rPr>
              <a:t>네 지점이 어디에 놓이는지 그림으로 보겠습니다.</a:t>
            </a:r>
          </a:p>
          <a:p>
            <a:r>
              <a:rPr sz="1200">
                <a:latin typeface="맑은 고딕"/>
              </a:rPr>
              <a:t>〔「전조항을 매핑했는데 핵심은 4개뿐인가」가 나오면 셋으로 나누어 답한다 — 매핑(30조항) → 55문항·16종 → 연계 성립 지점 4곳.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ISO 14001의 관리 주기, 오른쪽이 ISO 14044의 4단계입니다.</a:t>
            </a:r>
          </a:p>
          <a:p>
            <a:r>
              <a:rPr sz="1200">
                <a:latin typeface="맑은 고딕"/>
              </a:rPr>
              <a:t>두 표준의 조항을 서로 대응시키는 것을 매핑이라 하고, 매핑에서 확인된 두 표준의 결합 지점을 연계 지점이라 합니다. 연계 지점 가운데 연계가 성립하기 위해 반드시 갖추어야 할 네 곳을 핵심 연계 지점이라 하며, 굵은 선 네 개가 그 지점입니다.</a:t>
            </a:r>
          </a:p>
          <a:p>
            <a:r>
              <a:rPr sz="1200">
                <a:latin typeface="맑은 고딕"/>
              </a:rPr>
              <a:t>네 지점 가운데 하나가 끊기면 순환이 그 단계에서 멈춥니다.</a:t>
            </a:r>
          </a:p>
          <a:p>
            <a:r>
              <a:rPr sz="1200">
                <a:latin typeface="맑은 고딕"/>
              </a:rPr>
              <a:t>연계 지점을 업무 단위로 묶은 것이 연계 프로세스이고, 그것이 참조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참조 모델은 두 표준의 모든 조항을 서로 대응시켜 도출한 연계 프로세스 16종으로, 계획 8종, 실행 2종, 점검 3종, 개선 3종입니다.</a:t>
            </a:r>
          </a:p>
          <a:p>
            <a:r>
              <a:rPr sz="1200">
                <a:latin typeface="맑은 고딕"/>
              </a:rPr>
              <a:t>각 프로세스는 제목·목적·성과·활동의 형식으로 기술하였으며, 이 형식은 KS X ISO 8000-61 5.3을 따른 것입니다. 코드의 L은 연계, 그 뒤가 PDCA 영역입니다.</a:t>
            </a:r>
          </a:p>
          <a:p>
            <a:r>
              <a:rPr sz="1200">
                <a:latin typeface="맑은 고딕"/>
              </a:rPr>
              <a:t>각 프로세스의 성과를 묻는 물음이 평가 문항이 됩니다.</a:t>
            </a:r>
          </a:p>
          <a:p>
            <a:r>
              <a:rPr sz="1200">
                <a:latin typeface="맑은 고딕"/>
              </a:rPr>
              <a:t>〔영역 이름은 KS I ISO 14001 개요 0.4의 PDCA 풀이를 따르되 A는 「개선」(2.1.2). 「왜 16종인가, 원형은 20종인데」가 나오면 백업 B-Q3.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55개 평가 문항과 문항별 판정 기준, 객관적 증거 목록입니다. 문항은 계획 30, 실행 6, 점검 10, 개선 9입니다.</a:t>
            </a:r>
          </a:p>
          <a:p>
            <a:r>
              <a:rPr sz="1200">
                <a:latin typeface="맑은 고딕"/>
              </a:rPr>
              <a:t>문항마다 무엇을 증거로 볼지와 어느 상태를 몇 점으로 볼지를 미리 정해 두었습니다. 점수는 평가자의 재량이 아니라 체크포인트 충족 개수로 정해지며, 3점이 필수 체크포인트 전부 충족, 곧 shall 충족 기준입니다.</a:t>
            </a:r>
          </a:p>
          <a:p>
            <a:r>
              <a:rPr sz="1200">
                <a:latin typeface="맑은 고딕"/>
              </a:rPr>
              <a:t>오른쪽이 D-1 한 문항의 5점 기준입니다. 4장에서 A사가 2점을 받은 바로 그 문항입니다.</a:t>
            </a:r>
          </a:p>
          <a:p>
            <a:r>
              <a:rPr sz="1200">
                <a:latin typeface="맑은 고딕"/>
              </a:rPr>
              <a:t>점수를 성숙도 수준으로 바꾸는 규칙이 성숙도 모델입니다.</a:t>
            </a:r>
          </a:p>
          <a:p>
            <a:r>
              <a:rPr sz="1200">
                <a:latin typeface="맑은 고딕"/>
              </a:rPr>
              <a:t>〔1분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수준은 ML0에서 ML5까지 여섯이고 진입 조건은 누적입니다. 조건의 어느 항에도 평균은 쓰이지 않습니다.</a:t>
            </a:r>
          </a:p>
          <a:p>
            <a:r>
              <a:rPr sz="1200">
                <a:latin typeface="맑은 고딕"/>
              </a:rPr>
              <a:t>연계가 성립하지 않는 지점과 연계가 얕은 지점은 다르므로, 연계 성립의 필요조건인 핵심 문항 4종에만 최소충족 판정을 적용하였습니다. 이 원리는 KS X ISO 8000-62 4.5.1에서 가져오고 적용 범위만 네 문항으로 한정한 것입니다.</a:t>
            </a:r>
          </a:p>
          <a:p>
            <a:r>
              <a:rPr sz="1200">
                <a:latin typeface="맑은 고딕"/>
              </a:rPr>
              <a:t>핵심 문항 하나라도 3점 미만이면 평균과 관계없이 상한은 ML2입니다.</a:t>
            </a:r>
          </a:p>
          <a:p>
            <a:r>
              <a:rPr sz="1200">
                <a:latin typeface="맑은 고딕"/>
              </a:rPr>
              <a:t>만든 도구가 요건을 갖추었는지 한 장으로 정리하겠습니다.</a:t>
            </a:r>
          </a:p>
          <a:p>
            <a:r>
              <a:rPr sz="1200">
                <a:latin typeface="맑은 고딕"/>
              </a:rPr>
              <a:t>〔비교주장을 하지 않는 조직의 C-7·A-9는 3.4.3의 기준대로 1점, 미수행 정책을 문서화하면 3점. 말로 풀 때만 비유 — 평균이 높아도 필수 넷 중 하나가 빠지면 등급이 안 올라간다, 건강검진의 필수 검사와 같다(논문 안에는 비유 없음).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모델은 세 계층, 16종, 55문항, 여섯 수준으로 갖추어졌고, 타당성은 두 가지 방향으로 검증하였습니다.</a:t>
            </a:r>
          </a:p>
          <a:p>
            <a:r>
              <a:rPr sz="1200">
                <a:latin typeface="맑은 고딕"/>
              </a:rPr>
              <a:t>첫째 방향은 추적성 검증으로, 55개 문항을 두 표준의 전 조항 대조에서 나온 근거 조항까지 추적하여 문항의 내용타당도 근거를 마련하였습니다. 둘째 방향은 표준 적합성 검증으로, 세 모델의 요건을 정한 ISO/IEC 33004의 24개 요구사항을 자체 점검하였습니다. 충족 22건, 해당 없음 1건, 보완 1건입니다.</a:t>
            </a:r>
          </a:p>
          <a:p>
            <a:r>
              <a:rPr sz="1200">
                <a:latin typeface="맑은 고딕"/>
              </a:rPr>
              <a:t>보완 1건은 55문항과 핵심 문항 지정에 대한 전문가 합의로, 전문가 내용타당도 조사(CVI)는 조사지 설계까지 마쳤으며 실시는 향후 연구 과제로 두었습니다. 그 사실을 논문에 적어 두었습니다.</a:t>
            </a:r>
          </a:p>
          <a:p>
            <a:r>
              <a:rPr sz="1200">
                <a:latin typeface="맑은 고딕"/>
              </a:rPr>
              <a:t>한 줄로 말씀드리면, 표준의 틀을 따르고 표준이 비워 둔 세 곳을 이 연구가 채웠습니다.</a:t>
            </a:r>
          </a:p>
          <a:p>
            <a:r>
              <a:rPr sz="1200">
                <a:latin typeface="맑은 고딕"/>
              </a:rPr>
              <a:t>이제 이 도구로 한 기업을 평가한 결과입니다.</a:t>
            </a:r>
          </a:p>
          <a:p>
            <a:r>
              <a:rPr sz="1200">
                <a:latin typeface="맑은 고딕"/>
              </a:rPr>
              <a:t>〔1분 30초〕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제조기업 A사의 환경경영시스템(ISO 14001)과 2025년 제품 전과정평가(LCA)를 대상으로, 증빙 문서 16종, 개별 33건에 대한 문서 심사로 수행하였습니다. 사내표준과 기록을 확인하여 체크포인트 단위로 판정하였고, 평가 기간은 2026년 6~7월입니다.</a:t>
            </a:r>
          </a:p>
          <a:p>
            <a:r>
              <a:rPr sz="1200">
                <a:latin typeface="맑은 고딕"/>
              </a:rPr>
              <a:t>본 평가는 ISO/IEC 33002의 평가 클래스 3에 상당합니다. 따라서 본 연구의 판정은 모델의 작동을 확인하는 시범 적용의 결과이며, 조직의 공식 성숙도 등급을 주는 평가가 아닙니다.</a:t>
            </a:r>
          </a:p>
          <a:p>
            <a:r>
              <a:rPr sz="1200">
                <a:latin typeface="맑은 고딕"/>
              </a:rPr>
              <a:t>평가자가 한 사람이므로 객관성을 어떻게 확보하였는지 먼저 말씀드리겠습니다.</a:t>
            </a:r>
          </a:p>
          <a:p>
            <a:r>
              <a:rPr sz="1200">
                <a:latin typeface="맑은 고딕"/>
              </a:rPr>
              <a:t>〔「회사가 쓰겠다던가」가 나오면 — 연구 목적의 시범 적용이라 공식 판정으로 전달하지 않았고, 공식 등급은 클래스 1·2 요건의 재평가가 필요하며 복수 기업 적용과 함께 향후 연구 과제 — 4.1, 4.7, 5.3, 백업 B-Q9.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판정 관례를 사전에 명문화하고 잠정 채점을 증빙으로 재검증하는 방식으로 평가자 편향의 위험을 줄였습니다. 구두 진술만으로는 충족을 인정하지 않고, 양식만 있고 기입이 없으면 미충족으로, 판단이 곤란한 경우도 미충족으로 처리하였습니다.</a:t>
            </a:r>
          </a:p>
          <a:p>
            <a:r>
              <a:rPr sz="1200">
                <a:latin typeface="맑은 고딕"/>
              </a:rPr>
              <a:t>재검증에서 실현된 변동은 상향 7건, 하향 9건이며, 종합점수는 2.89점에서 2.85점으로 낮아졌습니다. 재검증이 관대화를 억제하는 방향으로 작동한 것입니다.</a:t>
            </a:r>
          </a:p>
          <a:p>
            <a:r>
              <a:rPr sz="1200">
                <a:latin typeface="맑은 고딕"/>
              </a:rPr>
              <a:t>평가자가 대상 조직의 환경경영 업무를 지원한 이력은 공평성 고려 사항으로 밝혔으며, 판정은 조직이 생성·기입한 기록의 실재를 기준으로 하였습니다.</a:t>
            </a:r>
          </a:p>
          <a:p>
            <a:r>
              <a:rPr sz="1200">
                <a:latin typeface="맑은 고딕"/>
              </a:rPr>
              <a:t>아래는 평가 기록부의 실제 기입으로, 핵심 문항 4종만 발췌한 것입니다. D-1 행이 뒤의 판정을 가릅니다.</a:t>
            </a:r>
          </a:p>
          <a:p>
            <a:r>
              <a:rPr sz="1200">
                <a:latin typeface="맑은 고딕"/>
              </a:rPr>
              <a:t>〔1분 20초〕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핵심 문항 4종 중 P-9는 4점, P-14와 C-1은 3점으로 shall 충족 기준 이상으로 통과하였으나, D-1이 2점으로 미달하였습니다. 최소충족 원리에 따라 판정 상한이 ML2로 제한되었습니다.</a:t>
            </a:r>
          </a:p>
          <a:p>
            <a:r>
              <a:rPr sz="1200">
                <a:latin typeface="맑은 고딕"/>
              </a:rPr>
              <a:t>종합점수 2.85는 판정에 쓰지 않는 보조값입니다. ML3 진입 조건인 「모든 핵심 문항 3점 이상」이 D-1에서 미달하여 ML2(관리화)로 판정됩니다.</a:t>
            </a:r>
          </a:p>
          <a:p>
            <a:r>
              <a:rPr sz="1200">
                <a:latin typeface="맑은 고딕"/>
              </a:rPr>
              <a:t>과반 기준을 50%에서 70%로 올려도, 핵심 문항의 임계를 4점이나 5점으로 올려도 이 판정은 변하지 않습니다.</a:t>
            </a:r>
          </a:p>
          <a:p>
            <a:r>
              <a:rPr sz="1200">
                <a:latin typeface="맑은 고딕"/>
              </a:rPr>
              <a:t>판정을 가른 것은 점수의 크기가 아니라 필요조건의 충족 여부입니다. 그러면 낮은 점수는 어디에서 왔는가. 다음 장입니다.</a:t>
            </a:r>
          </a:p>
          <a:p>
            <a:r>
              <a:rPr sz="1200">
                <a:latin typeface="맑은 고딕"/>
              </a:rPr>
              <a:t>〔「너무 가혹하지 않은가」가 나오면 백업 B-Q1.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낮은 점수는 세 가지 원인으로 모입니다. 설계·개발 절차에 환경 고려 단계가 없고, 정밀검토 체계가 없으며, LCA 재수행 사이클이 아직 오지 않았습니다. 이 미비 사항 3건이 낮은 문항의 대부분을 설명합니다.</a:t>
            </a:r>
          </a:p>
          <a:p>
            <a:r>
              <a:rPr sz="1200">
                <a:latin typeface="맑은 고딕"/>
              </a:rPr>
              <a:t>강점도 있습니다. LCA가 문서 체계에 실질적으로 들어와 있어, 환경매뉴얼의 적용범위 조항과 연 1회 LCA 수행·최고경영자 보고 규정, 영향평가 결과에 근거한 환경측면 평가와 정량 목표, 공급망 1차 데이터가 확인되었습니다.</a:t>
            </a:r>
          </a:p>
          <a:p>
            <a:r>
              <a:rPr sz="1200">
                <a:latin typeface="맑은 고딕"/>
              </a:rPr>
              <a:t>미비는 역량이 아니라 절차의 공식화와 주기 도래에 있습니다. 미비 세 가지가 그대로 개선 과제가 됩니다.</a:t>
            </a:r>
          </a:p>
          <a:p>
            <a:r>
              <a:rPr sz="1200">
                <a:latin typeface="맑은 고딕"/>
              </a:rPr>
              <a:t>〔숫자 사슬 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과제를 단기, 중기, 장기로 배치하였습니다. 단기는 1년 이내, 중기는 3년 이내, 장기는 3년 초과이며, 1년은 A사 환경매뉴얼의 LCA 연 1회 재수행 주기, 3년은 환경경영시스템(ISO 14001) 인증의 갱신 주기입니다.</a:t>
            </a:r>
          </a:p>
          <a:p>
            <a:r>
              <a:rPr sz="1200">
                <a:latin typeface="맑은 고딕"/>
              </a:rPr>
              <a:t>다섯 과제를 모두 마치면 종합 3.15점, 핵심 문항 4종 모두 통과로 ML3 진입이 전망됩니다. 다만 이는 확정 점수를 기준으로 한 재산정이며 이행 결과가 아닙니다.</a:t>
            </a:r>
          </a:p>
          <a:p>
            <a:r>
              <a:rPr sz="1200">
                <a:latin typeface="맑은 고딕"/>
              </a:rPr>
              <a:t>평가와 개선과 재평가가 같은 문구로 이어집니다.</a:t>
            </a:r>
          </a:p>
          <a:p>
            <a:r>
              <a:rPr sz="1200">
                <a:latin typeface="맑은 고딕"/>
              </a:rPr>
              <a:t>끝으로 이 모델의 장점과 단점, 그리고 한계입니다.</a:t>
            </a:r>
          </a:p>
          <a:p>
            <a:r>
              <a:rPr sz="1200">
                <a:latin typeface="맑은 고딕"/>
              </a:rPr>
              <a:t>〔「3.15의 근거」가 나오면 — 목표 상태가 채점 기준과 같은 문구라 완료 시 점수가 기준에서 바로 정해진다, 4.6.2 [표 4-16]·[표 4-17].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ML3가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설계와 많이 달라졌다는 물음에는 이 순서로 답한다 — 3월의 55문항·shall/should 기준표가 뼈대이고, 6~7월의 채점과 재검증이 문항을 확정했으며, 8월의 표준 대조가 판정 규칙(최소충족)·프로세스 집합(16종)·기술 형식을 보완했다. 표준 대조가 모델을 실제로 바꾼 세 곳을 말한다. 예상 질문 8·9·43번.</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26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604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2408440" y="1555231"/>
            <a:ext cx="5875119" cy="465113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왜 지금인가</a:t>
            </a:r>
          </a:p>
        </p:txBody>
      </p:sp>
      <p:sp>
        <p:nvSpPr>
          <p:cNvPr id="3" name="TextBox 2"/>
          <p:cNvSpPr txBox="1"/>
          <p:nvPr/>
        </p:nvSpPr>
        <p:spPr>
          <a:xfrm>
            <a:off x="7706852" y="19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제품 전과정의 정량 환경정보를 요구하는 규제가 늘고 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초록 [1]</a:t>
            </a:r>
          </a:p>
        </p:txBody>
      </p:sp>
      <p:sp>
        <p:nvSpPr>
          <p:cNvPr id="8" name="Rounded Rectangle 7"/>
          <p:cNvSpPr/>
          <p:nvPr/>
        </p:nvSpPr>
        <p:spPr>
          <a:xfrm>
            <a:off x="497190" y="1663200"/>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규제</a:t>
            </a:r>
          </a:p>
        </p:txBody>
      </p:sp>
      <p:sp>
        <p:nvSpPr>
          <p:cNvPr id="9" name="Rounded Rectangle 8"/>
          <p:cNvSpPr/>
          <p:nvPr/>
        </p:nvSpPr>
        <p:spPr>
          <a:xfrm>
            <a:off x="2461895" y="1663200"/>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탄소국경조정제도(CBAM)와 ESG 공시처럼 제품의 전과정 환경정보를 요구하는 규제가 늘고 있다</a:t>
            </a:r>
          </a:p>
        </p:txBody>
      </p:sp>
      <p:sp>
        <p:nvSpPr>
          <p:cNvPr id="10" name="Down Arrow 9"/>
          <p:cNvSpPr/>
          <p:nvPr/>
        </p:nvSpPr>
        <p:spPr>
          <a:xfrm>
            <a:off x="1299110" y="24897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7190" y="2772000"/>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함께 운영</a:t>
            </a:r>
          </a:p>
        </p:txBody>
      </p:sp>
      <p:sp>
        <p:nvSpPr>
          <p:cNvPr id="12" name="Rounded Rectangle 11"/>
          <p:cNvSpPr/>
          <p:nvPr/>
        </p:nvSpPr>
        <p:spPr>
          <a:xfrm>
            <a:off x="2461895" y="2772000"/>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기업은 환경경영시스템(ISO 14001)과 전과정평가(LCA)를 함께 운영해야 하는 상황에 놓였다</a:t>
            </a:r>
          </a:p>
        </p:txBody>
      </p:sp>
      <p:sp>
        <p:nvSpPr>
          <p:cNvPr id="13" name="Down Arrow 12"/>
          <p:cNvSpPr/>
          <p:nvPr/>
        </p:nvSpPr>
        <p:spPr>
          <a:xfrm>
            <a:off x="1299110" y="35985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7190" y="3880799"/>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그러나 별도 운영</a:t>
            </a:r>
          </a:p>
        </p:txBody>
      </p:sp>
      <p:sp>
        <p:nvSpPr>
          <p:cNvPr id="15" name="Rounded Rectangle 14"/>
          <p:cNvSpPr/>
          <p:nvPr/>
        </p:nvSpPr>
        <p:spPr>
          <a:xfrm>
            <a:off x="2461895" y="3880799"/>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실무에서는 두 체계가 별도로 운영되는 경우가 많다</a:t>
            </a:r>
          </a:p>
        </p:txBody>
      </p:sp>
      <p:sp>
        <p:nvSpPr>
          <p:cNvPr id="16" name="Down Arrow 15"/>
          <p:cNvSpPr/>
          <p:nvPr/>
        </p:nvSpPr>
        <p:spPr>
          <a:xfrm>
            <a:off x="1299110" y="47073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7190" y="4989600"/>
            <a:ext cx="1844416" cy="8064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측정 기준의 부재</a:t>
            </a:r>
          </a:p>
        </p:txBody>
      </p:sp>
      <p:sp>
        <p:nvSpPr>
          <p:cNvPr id="18" name="Rounded Rectangle 17"/>
          <p:cNvSpPr/>
          <p:nvPr/>
        </p:nvSpPr>
        <p:spPr>
          <a:xfrm>
            <a:off x="2461895" y="4989600"/>
            <a:ext cx="7730509" cy="8064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1" i="0" a:lang="ko-KR">
                <a:solidFill>
                  <a:srgbClr val="C00000"/>
                </a:solidFill>
                <a:latin typeface="맑은 고딕"/>
                <a:ea typeface="맑은 고딕"/>
              </a:rPr>
              <a:t>두 표준을 연계하는 프로세스나 그 연계 수준을 측정하는 기준은 찾아보기 어렵다</a:t>
            </a:r>
          </a:p>
        </p:txBody>
      </p:sp>
      <p:sp>
        <p:nvSpPr>
          <p:cNvPr id="19" name="TextBox 18"/>
          <p:cNvSpPr txBox="1"/>
          <p:nvPr/>
        </p:nvSpPr>
        <p:spPr>
          <a:xfrm>
            <a:off x="497190" y="6098400"/>
            <a:ext cx="9695214"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환경경영시스템(ISO 14001)은 전과정 관점을 고려하도록 요구하면서도 그 구체적 방법은 정하지 않았고, 전과정평가(LCA)의 방법은 별개 표준인 ISO 14044에 규정되어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9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43136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95681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95681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616641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9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2140906" y="1856915"/>
            <a:ext cx="6410186" cy="3311930"/>
          </a:xfrm>
          <a:prstGeom prst="rect">
            <a:avLst/>
          </a:prstGeom>
        </p:spPr>
      </p:pic>
      <p:sp>
        <p:nvSpPr>
          <p:cNvPr id="9" name="TextBox 8"/>
          <p:cNvSpPr txBox="1"/>
          <p:nvPr/>
        </p:nvSpPr>
        <p:spPr>
          <a:xfrm>
            <a:off x="497190" y="5695199"/>
            <a:ext cx="9695214" cy="110880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결과로 중대한 환경측면을 다시 결정하고 환경목표를 정하며 다음 해에 다시 산정 → LCA는 경영시스템의 운영에 쓰이는 입력</a:t>
            </a:r>
          </a:p>
          <a:p>
            <a:r>
              <a:rPr sz="1500" b="1" i="0" a:lang="ko-KR">
                <a:solidFill>
                  <a:srgbClr val="C00000"/>
                </a:solidFill>
                <a:latin typeface="맑은 고딕"/>
                <a:ea typeface="맑은 고딕"/>
              </a:rPr>
              <a:t>본 연구가 말하는 연계 = 상태 B. 그 정도를 측정할 척도가 필요하다 → 성숙도 모델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9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497190" y="2161089"/>
            <a:ext cx="5854016" cy="3862780"/>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14880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9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2130977" y="1815699"/>
            <a:ext cx="6430045" cy="2991161"/>
          </a:xfrm>
          <a:prstGeom prst="rect">
            <a:avLst/>
          </a:prstGeom>
        </p:spPr>
      </p:pic>
      <p:sp>
        <p:nvSpPr>
          <p:cNvPr id="9" name="TextBox 8"/>
          <p:cNvSpPr txBox="1"/>
          <p:nvPr/>
        </p:nvSpPr>
        <p:spPr>
          <a:xfrm>
            <a:off x="497190" y="5342400"/>
            <a:ext cx="9695214" cy="1310400"/>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9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2603536" y="1831155"/>
            <a:ext cx="5484927" cy="3111450"/>
          </a:xfrm>
          <a:prstGeom prst="rect">
            <a:avLst/>
          </a:prstGeom>
        </p:spPr>
      </p:pic>
      <p:sp>
        <p:nvSpPr>
          <p:cNvPr id="9" name="TextBox 8"/>
          <p:cNvSpPr txBox="1"/>
          <p:nvPr/>
        </p:nvSpPr>
        <p:spPr>
          <a:xfrm>
            <a:off x="497190" y="5493600"/>
            <a:ext cx="9695214" cy="1209600"/>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9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53216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231840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231840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38688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62879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62879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69727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93919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93919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614880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9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2097986" y="1400640"/>
            <a:ext cx="6496026" cy="3660160"/>
          </a:xfrm>
          <a:prstGeom prst="rect">
            <a:avLst/>
          </a:prstGeom>
        </p:spPr>
      </p:pic>
      <p:sp>
        <p:nvSpPr>
          <p:cNvPr id="9" name="TextBox 8"/>
          <p:cNvSpPr txBox="1"/>
          <p:nvPr/>
        </p:nvSpPr>
        <p:spPr>
          <a:xfrm>
            <a:off x="497190" y="5140800"/>
            <a:ext cx="9695214" cy="16128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 — 입력 · 과정 · 출력</a:t>
            </a:r>
          </a:p>
        </p:txBody>
      </p:sp>
      <p:sp>
        <p:nvSpPr>
          <p:cNvPr id="3" name="TextBox 2"/>
          <p:cNvSpPr txBox="1"/>
          <p:nvPr/>
        </p:nvSpPr>
        <p:spPr>
          <a:xfrm>
            <a:off x="7374366" y="19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참조·평가·성숙도의 세 계층으로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3.2~3.4, [그림 3-2]</a:t>
            </a:r>
          </a:p>
        </p:txBody>
      </p:sp>
      <p:pic>
        <p:nvPicPr>
          <p:cNvPr id="8" name="Picture 7" descr="ch3.png"/>
          <p:cNvPicPr>
            <a:picLocks noChangeAspect="1"/>
          </p:cNvPicPr>
          <p:nvPr/>
        </p:nvPicPr>
        <p:blipFill>
          <a:blip r:embed="rId2"/>
          <a:stretch>
            <a:fillRect/>
          </a:stretch>
        </p:blipFill>
        <p:spPr>
          <a:xfrm>
            <a:off x="2616319" y="1400640"/>
            <a:ext cx="5459360" cy="5459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9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3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3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2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942000"/>
            <a:ext cx="9695214" cy="100800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9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2977662" y="1887827"/>
            <a:ext cx="4736674" cy="3552505"/>
          </a:xfrm>
          <a:prstGeom prst="rect">
            <a:avLst/>
          </a:prstGeom>
        </p:spPr>
      </p:pic>
      <p:sp>
        <p:nvSpPr>
          <p:cNvPr id="9" name="TextBox 8"/>
          <p:cNvSpPr txBox="1"/>
          <p:nvPr/>
        </p:nvSpPr>
        <p:spPr>
          <a:xfrm>
            <a:off x="497190" y="5997600"/>
            <a:ext cx="9695214" cy="70560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 / 오른쪽 — ISO 14044의 4단계. 굵은 선 네 개가 연계 성립의 필요조건에 해당하는 핵심 연계 지점 ①~④(6.1.2 · 6.2.1 · 8.1 · 9.1.1)이다.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9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2613132" y="1795091"/>
            <a:ext cx="5465733" cy="2830778"/>
          </a:xfrm>
          <a:prstGeom prst="rect">
            <a:avLst/>
          </a:prstGeom>
        </p:spPr>
      </p:pic>
      <p:sp>
        <p:nvSpPr>
          <p:cNvPr id="9" name="Rounded Rectangle 8"/>
          <p:cNvSpPr/>
          <p:nvPr/>
        </p:nvSpPr>
        <p:spPr>
          <a:xfrm>
            <a:off x="497190" y="5140800"/>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140800"/>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140800"/>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140800"/>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048000"/>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9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722963"/>
            <a:ext cx="4587205" cy="2269434"/>
          </a:xfrm>
          <a:prstGeom prst="rect">
            <a:avLst/>
          </a:prstGeom>
        </p:spPr>
      </p:pic>
      <p:sp>
        <p:nvSpPr>
          <p:cNvPr id="9" name="TextBox 8"/>
          <p:cNvSpPr txBox="1"/>
          <p:nvPr/>
        </p:nvSpPr>
        <p:spPr>
          <a:xfrm>
            <a:off x="497190" y="4384799"/>
            <a:ext cx="4971904" cy="1008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44(ISO 14001 조항 대응) + 11(ISO 14044 고유) — P 30 · D 6 · C 10 · A 9</a:t>
            </a:r>
          </a:p>
          <a:p>
            <a:r>
              <a:rPr sz="1400" b="0" i="0" a:lang="ko-KR">
                <a:solidFill>
                  <a:srgbClr val="111111"/>
                </a:solidFill>
                <a:latin typeface="맑은 고딕"/>
                <a:ea typeface="맑은 고딕"/>
              </a:rPr>
              <a:t>문항마다 증거로 볼 것(평가 대상)과 어느 상태를 몇 점으로 볼지(BARS 앵커)를 미리 정해 둠</a:t>
            </a:r>
          </a:p>
        </p:txBody>
      </p:sp>
      <p:sp>
        <p:nvSpPr>
          <p:cNvPr id="10" name="Rounded Rectangle 9"/>
          <p:cNvSpPr/>
          <p:nvPr/>
        </p:nvSpPr>
        <p:spPr>
          <a:xfrm>
            <a:off x="5693632" y="1512000"/>
            <a:ext cx="4490752" cy="548335"/>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5693632" y="2110734"/>
          <a:ext cx="4490752" cy="3326400"/>
        </p:xfrm>
        <a:graphic>
          <a:graphicData uri="http://schemas.openxmlformats.org/drawingml/2006/table">
            <a:tbl>
              <a:tblPr firstRow="1" bandRow="1">
                <a:tableStyleId>{5C22544A-7EE6-4342-B048-85BDC9FD1C3A}</a:tableStyleId>
              </a:tblPr>
              <a:tblGrid>
                <a:gridCol w="801920"/>
                <a:gridCol w="3688832"/>
              </a:tblGrid>
              <a:tr h="554400">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상태 (BARS 앵커)</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5693632" y="5537935"/>
            <a:ext cx="4490752" cy="12096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1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9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graphicFrame>
        <p:nvGraphicFramePr>
          <p:cNvPr id="8" name="Table 7"/>
          <p:cNvGraphicFramePr>
            <a:graphicFrameLocks noGrp="1"/>
          </p:cNvGraphicFramePr>
          <p:nvPr/>
        </p:nvGraphicFramePr>
        <p:xfrm>
          <a:off x="497190" y="1380000"/>
          <a:ext cx="6736128" cy="4218496"/>
        </p:xfrm>
        <a:graphic>
          <a:graphicData uri="http://schemas.openxmlformats.org/drawingml/2006/table">
            <a:tbl>
              <a:tblPr firstRow="1" bandRow="1">
                <a:tableStyleId>{5C22544A-7EE6-4342-B048-85BDC9FD1C3A}</a:tableStyleId>
              </a:tblPr>
              <a:tblGrid>
                <a:gridCol w="1363264"/>
                <a:gridCol w="2726528"/>
                <a:gridCol w="2646336"/>
              </a:tblGrid>
              <a:tr h="504000">
                <a:tc>
                  <a:txBody>
                    <a:bodyPr wrap="square"/>
                    <a:lstStyle/>
                    <a:p>
                      <a:pPr algn="ctr"/>
                      <a:r>
                        <a:rPr sz="14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설계 근거</a:t>
                      </a:r>
                    </a:p>
                  </a:txBody>
                  <a:tcPr marL="64008" marR="64008" marT="27432" marB="27432" anchor="ctr">
                    <a:solidFill>
                      <a:srgbClr val="1F3864"/>
                    </a:solidFill>
                  </a:tcPr>
                </a:tc>
              </a:tr>
              <a:tr h="538480">
                <a:tc>
                  <a:txBody>
                    <a:bodyPr wrap="square"/>
                    <a:lstStyle/>
                    <a:p>
                      <a:pPr algn="l"/>
                      <a:r>
                        <a:rPr sz="14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780288">
                <a:tc>
                  <a:txBody>
                    <a:bodyPr wrap="square"/>
                    <a:lstStyle/>
                    <a:p>
                      <a:pPr algn="l"/>
                      <a:r>
                        <a:rPr sz="14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9" name="TextBox 8"/>
          <p:cNvSpPr txBox="1"/>
          <p:nvPr/>
        </p:nvSpPr>
        <p:spPr>
          <a:xfrm>
            <a:off x="7377665" y="13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8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8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5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5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9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9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7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7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658496"/>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조건의 어느 항에도 평균은 쓰이지 않는다 — 연계가 성립하지 않는 지점(핵심 문항 미달)과 연계가 얕은 지점(51문항의 점수 차)은 다르다</a:t>
            </a:r>
          </a:p>
        </p:txBody>
      </p:sp>
      <p:sp>
        <p:nvSpPr>
          <p:cNvPr id="19" name="TextBox 18"/>
          <p:cNvSpPr txBox="1"/>
          <p:nvPr/>
        </p:nvSpPr>
        <p:spPr>
          <a:xfrm>
            <a:off x="497190" y="6575296"/>
            <a:ext cx="9695214" cy="436981"/>
          </a:xfrm>
          <a:prstGeom prst="rect">
            <a:avLst/>
          </a:prstGeom>
          <a:noFill/>
        </p:spPr>
        <p:txBody>
          <a:bodyPr wrap="square" anchor="t" lIns="0" rIns="0" tIns="0" bIns="0">
            <a:spAutoFit/>
          </a:bodyPr>
          <a:lstStyle/>
          <a:p>
            <a:r>
              <a:rPr sz="11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9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부록 E</a:t>
            </a:r>
          </a:p>
        </p:txBody>
      </p:sp>
      <p:graphicFrame>
        <p:nvGraphicFramePr>
          <p:cNvPr id="8" name="Table 7"/>
          <p:cNvGraphicFramePr>
            <a:graphicFrameLocks noGrp="1"/>
          </p:cNvGraphicFramePr>
          <p:nvPr/>
        </p:nvGraphicFramePr>
        <p:xfrm>
          <a:off x="494383" y="1380000"/>
          <a:ext cx="9703232" cy="3294112"/>
        </p:xfrm>
        <a:graphic>
          <a:graphicData uri="http://schemas.openxmlformats.org/drawingml/2006/table">
            <a:tbl>
              <a:tblPr firstRow="1" bandRow="1">
                <a:tableStyleId>{5C22544A-7EE6-4342-B048-85BDC9FD1C3A}</a:tableStyleId>
              </a:tblPr>
              <a:tblGrid>
                <a:gridCol w="1202880"/>
                <a:gridCol w="1523648"/>
                <a:gridCol w="1844416"/>
                <a:gridCol w="2245376"/>
                <a:gridCol w="2886912"/>
              </a:tblGrid>
              <a:tr h="624960">
                <a:tc>
                  <a:txBody>
                    <a:bodyPr wrap="square"/>
                    <a:lstStyle/>
                    <a:p>
                      <a:pPr algn="ctr"/>
                      <a:r>
                        <a:rPr sz="1400" b="1" i="0" a:lang="ko-KR">
                          <a:solidFill>
                            <a:srgbClr val="FFFFFF"/>
                          </a:solidFill>
                          <a:latin typeface="맑은 고딕"/>
                          <a:ea typeface="맑은 고딕"/>
                        </a:rPr>
                        <a:t>계층</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산출물</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규모</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따른 표준(구조·방법)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본 연구가 새로 만든 것</a:t>
                      </a:r>
                    </a:p>
                  </a:txBody>
                  <a:tcPr marL="64008" marR="64008" marT="27432" marB="27432" anchor="ctr">
                    <a:solidFill>
                      <a:srgbClr val="1F3864"/>
                    </a:solidFill>
                  </a:tcPr>
                </a:tc>
              </a:tr>
              <a:tr h="624960">
                <a:tc>
                  <a:txBody>
                    <a:bodyPr wrap="square"/>
                    <a:lstStyle/>
                    <a:p>
                      <a:pPr algn="ctr"/>
                      <a:r>
                        <a:rPr sz="1400" b="0" i="0" a:lang="ko-KR">
                          <a:solidFill>
                            <a:srgbClr val="111111"/>
                          </a:solidFill>
                          <a:latin typeface="맑은 고딕"/>
                          <a:ea typeface="맑은 고딕"/>
                        </a:rPr>
                        <a:t>참조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연계 프로세스</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16종 (P 8·D 2·C 3·A 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5절 · KS X ISO 8000-61 5.3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표준의 조항을 대응시켜 도출한 연계 프로세스</a:t>
                      </a:r>
                    </a:p>
                  </a:txBody>
                  <a:tcPr marL="64008" marR="64008" marT="27432" marB="27432" anchor="ctr">
                    <a:solidFill>
                      <a:srgbClr val="FFFFFF"/>
                    </a:solidFill>
                  </a:tcPr>
                </a:tc>
              </a:tr>
              <a:tr h="1263904">
                <a:tc>
                  <a:txBody>
                    <a:bodyPr wrap="square"/>
                    <a:lstStyle/>
                    <a:p>
                      <a:pPr algn="ctr"/>
                      <a:r>
                        <a:rPr sz="1400" b="0" i="0" a:lang="ko-KR">
                          <a:solidFill>
                            <a:srgbClr val="111111"/>
                          </a:solidFill>
                          <a:latin typeface="맑은 고딕"/>
                          <a:ea typeface="맑은 고딕"/>
                        </a:rPr>
                        <a:t>평가 모델</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평가 문항·문항별 판정 기준·객관적 증거 목록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55문항 (P 30·D 6·C 10·A 9)</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ISO/IEC 33004 6절 · ISO/IEC 33020(N–P–L–F 대신 BARS 5점)</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표준이 평가자에게 식별하도록 맡긴 평가지표를 이 분야에 대해 개발</a:t>
                      </a:r>
                    </a:p>
                  </a:txBody>
                  <a:tcPr marL="64008" marR="64008" marT="27432" marB="27432" anchor="ctr">
                    <a:solidFill>
                      <a:srgbClr val="E8EEF7"/>
                    </a:solidFill>
                  </a:tcPr>
                </a:tc>
              </a:tr>
              <a:tr h="780288">
                <a:tc>
                  <a:txBody>
                    <a:bodyPr wrap="square"/>
                    <a:lstStyle/>
                    <a:p>
                      <a:pPr algn="ctr"/>
                      <a:r>
                        <a:rPr sz="1400" b="0" i="0" a:lang="ko-KR">
                          <a:solidFill>
                            <a:srgbClr val="111111"/>
                          </a:solidFill>
                          <a:latin typeface="맑은 고딕"/>
                          <a:ea typeface="맑은 고딕"/>
                        </a:rPr>
                        <a:t>성숙도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수준별 기준·판정 규칙·핵심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ML0~ML5, 핵심 문항 4종</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7절 · KS X ISO 8000-62 4.5.1 · ISO/IEC 33003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최소충족 판정을 연계 성립의 네 지점에 적용한 핵심 문항 규칙</a:t>
                      </a:r>
                    </a:p>
                  </a:txBody>
                  <a:tcPr marL="64008" marR="64008" marT="27432" marB="27432" anchor="ctr">
                    <a:solidFill>
                      <a:srgbClr val="FFFFFF"/>
                    </a:solidFill>
                  </a:tcPr>
                </a:tc>
              </a:tr>
            </a:tbl>
          </a:graphicData>
        </a:graphic>
      </p:graphicFrame>
      <p:sp>
        <p:nvSpPr>
          <p:cNvPr id="9" name="Rounded Rectangle 8"/>
          <p:cNvSpPr/>
          <p:nvPr/>
        </p:nvSpPr>
        <p:spPr>
          <a:xfrm>
            <a:off x="497190" y="47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7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4964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4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6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4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6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4964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6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4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496400"/>
            <a:ext cx="3368064" cy="45360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적용 개요 — 제조기업 A사</a:t>
            </a:r>
          </a:p>
        </p:txBody>
      </p:sp>
      <p:sp>
        <p:nvSpPr>
          <p:cNvPr id="3" name="TextBox 2"/>
          <p:cNvSpPr txBox="1"/>
          <p:nvPr/>
        </p:nvSpPr>
        <p:spPr>
          <a:xfrm>
            <a:off x="6474698" y="19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4.2.1</a:t>
            </a:r>
          </a:p>
        </p:txBody>
      </p:sp>
      <p:sp>
        <p:nvSpPr>
          <p:cNvPr id="8" name="Rounded Rectangle 7"/>
          <p:cNvSpPr/>
          <p:nvPr/>
        </p:nvSpPr>
        <p:spPr>
          <a:xfrm>
            <a:off x="497190" y="15624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대상</a:t>
            </a:r>
          </a:p>
        </p:txBody>
      </p:sp>
      <p:sp>
        <p:nvSpPr>
          <p:cNvPr id="9" name="Rounded Rectangle 8"/>
          <p:cNvSpPr/>
          <p:nvPr/>
        </p:nvSpPr>
        <p:spPr>
          <a:xfrm>
            <a:off x="1820359" y="15624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제조기업 A사의 환경경영시스템(ISO 14001)과 2025년 제품 전과정평가(LCA)</a:t>
            </a:r>
          </a:p>
        </p:txBody>
      </p:sp>
      <p:sp>
        <p:nvSpPr>
          <p:cNvPr id="10" name="Rounded Rectangle 9"/>
          <p:cNvSpPr/>
          <p:nvPr/>
        </p:nvSpPr>
        <p:spPr>
          <a:xfrm>
            <a:off x="497190" y="25704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방법</a:t>
            </a:r>
          </a:p>
        </p:txBody>
      </p:sp>
      <p:sp>
        <p:nvSpPr>
          <p:cNvPr id="11" name="Rounded Rectangle 10"/>
          <p:cNvSpPr/>
          <p:nvPr/>
        </p:nvSpPr>
        <p:spPr>
          <a:xfrm>
            <a:off x="1820359" y="25704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증빙 문서 16종(개별 33건)에 대한 문서 심사 — 사내표준과 기록을 확인하여 체크포인트 단위로 판정</a:t>
            </a:r>
          </a:p>
        </p:txBody>
      </p:sp>
      <p:sp>
        <p:nvSpPr>
          <p:cNvPr id="12" name="Rounded Rectangle 11"/>
          <p:cNvSpPr/>
          <p:nvPr/>
        </p:nvSpPr>
        <p:spPr>
          <a:xfrm>
            <a:off x="497190" y="35784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기간</a:t>
            </a:r>
          </a:p>
        </p:txBody>
      </p:sp>
      <p:sp>
        <p:nvSpPr>
          <p:cNvPr id="13" name="Rounded Rectangle 12"/>
          <p:cNvSpPr/>
          <p:nvPr/>
        </p:nvSpPr>
        <p:spPr>
          <a:xfrm>
            <a:off x="1820359" y="35784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2026년 6~7월 — 기준 확정 → 잠정 채점 → 체크포인트 단위 전수 재검증 → 증빙 확정</a:t>
            </a:r>
          </a:p>
        </p:txBody>
      </p:sp>
      <p:sp>
        <p:nvSpPr>
          <p:cNvPr id="14" name="Rounded Rectangle 13"/>
          <p:cNvSpPr/>
          <p:nvPr/>
        </p:nvSpPr>
        <p:spPr>
          <a:xfrm>
            <a:off x="497190" y="45864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지위</a:t>
            </a:r>
          </a:p>
        </p:txBody>
      </p:sp>
      <p:sp>
        <p:nvSpPr>
          <p:cNvPr id="15" name="Rounded Rectangle 14"/>
          <p:cNvSpPr/>
          <p:nvPr/>
        </p:nvSpPr>
        <p:spPr>
          <a:xfrm>
            <a:off x="1820359" y="45864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ISO/IEC 33002의 평가 클래스 3 상당 · 독립성 범주 B 상당(부속서 A) — 평가 후원자 없는 연구 목적의 평가</a:t>
            </a:r>
          </a:p>
        </p:txBody>
      </p:sp>
      <p:sp>
        <p:nvSpPr>
          <p:cNvPr id="16" name="Rounded Rectangle 15"/>
          <p:cNvSpPr/>
          <p:nvPr/>
        </p:nvSpPr>
        <p:spPr>
          <a:xfrm>
            <a:off x="497190" y="5695199"/>
            <a:ext cx="9695214" cy="756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C00000"/>
                </a:solidFill>
                <a:latin typeface="맑은 고딕"/>
                <a:ea typeface="맑은 고딕"/>
              </a:rPr>
              <a:t>이 평가는 조직의 공식 성숙도 등급을 주는 평가가 아니다 — 모델의 판정 논리를 실제 자료에서 확인하는 것이 목적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9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3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확보 수단</a:t>
            </a:r>
          </a:p>
          <a:p>
            <a:pPr algn="l"/>
            <a:r>
              <a:rPr sz="1300" b="0" i="0" a:lang="ko-KR">
                <a:solidFill>
                  <a:srgbClr val="111111"/>
                </a:solidFill>
                <a:latin typeface="맑은 고딕"/>
                <a:ea typeface="맑은 고딕"/>
              </a:rPr>
              <a:t>· 판정 관례를 사전에 명문화 — 구두 진술만으로는 미충족, 양식만 있고 기입이 없으면 미충족, 판단 곤란도 미충족</a:t>
            </a:r>
          </a:p>
          <a:p>
            <a:pPr algn="l"/>
            <a:r>
              <a:rPr sz="1300" b="0" i="0" a:lang="ko-KR">
                <a:solidFill>
                  <a:srgbClr val="111111"/>
                </a:solidFill>
                <a:latin typeface="맑은 고딕"/>
                <a:ea typeface="맑은 고딕"/>
              </a:rPr>
              <a:t>· 체크포인트 단위로 증빙을 명시 — 제3자가 재현 가능</a:t>
            </a:r>
          </a:p>
          <a:p>
            <a:pPr algn="l"/>
            <a:r>
              <a:rPr sz="1300" b="0" i="0" a:lang="ko-KR">
                <a:solidFill>
                  <a:srgbClr val="111111"/>
                </a:solidFill>
                <a:latin typeface="맑은 고딕"/>
                <a:ea typeface="맑은 고딕"/>
              </a:rPr>
              <a:t>· 평가자의 환경경영 업무 지원 이력을 공평성 고려 사항으로 밝힘 — 판정은 조직이 생성·기입한 기록의 실재 기준</a:t>
            </a:r>
          </a:p>
        </p:txBody>
      </p:sp>
      <p:sp>
        <p:nvSpPr>
          <p:cNvPr id="9" name="Rounded Rectangle 8"/>
          <p:cNvSpPr/>
          <p:nvPr/>
        </p:nvSpPr>
        <p:spPr>
          <a:xfrm>
            <a:off x="5461076" y="13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결과</a:t>
            </a:r>
          </a:p>
          <a:p>
            <a:pPr algn="l"/>
            <a:r>
              <a:rPr sz="1300" b="0" i="0" a:lang="ko-KR">
                <a:solidFill>
                  <a:srgbClr val="111111"/>
                </a:solidFill>
                <a:latin typeface="맑은 고딕"/>
                <a:ea typeface="맑은 고딕"/>
              </a:rPr>
              <a:t>· 잠정 채점을 증빙으로 전수 재검증 — 상향 7건 · 하향 9건(순변동 −2점)</a:t>
            </a:r>
          </a:p>
          <a:p>
            <a:pPr algn="l"/>
            <a:r>
              <a:rPr sz="1300" b="1" i="0" a:lang="ko-KR">
                <a:solidFill>
                  <a:srgbClr val="C00000"/>
                </a:solidFill>
                <a:latin typeface="맑은 고딕"/>
                <a:ea typeface="맑은 고딕"/>
              </a:rPr>
              <a:t>· 종합 2.89 → 2.85 — 낮은 쪽으로 수렴(재검증이 관대화를 억제하는 방향으로 작동)</a:t>
            </a:r>
          </a:p>
          <a:p>
            <a:pPr algn="l"/>
            <a:r>
              <a:rPr sz="1300" b="0" i="0" a:lang="ko-KR">
                <a:solidFill>
                  <a:srgbClr val="111111"/>
                </a:solidFill>
                <a:latin typeface="맑은 고딕"/>
                <a:ea typeface="맑은 고딕"/>
              </a:rPr>
              <a:t>· 판정 포인트와 확정 점수 전수 대조(51문항) 일치 · 평가 중 채점 기준 수정 없음(C-7·A-9 처리만 평가 뒤 3.4.3으로 확정, 점수 불변)</a:t>
            </a:r>
          </a:p>
        </p:txBody>
      </p:sp>
      <p:graphicFrame>
        <p:nvGraphicFramePr>
          <p:cNvPr id="10" name="Table 9"/>
          <p:cNvGraphicFramePr>
            <a:graphicFrameLocks noGrp="1"/>
          </p:cNvGraphicFramePr>
          <p:nvPr/>
        </p:nvGraphicFramePr>
        <p:xfrm>
          <a:off x="574575" y="3788304"/>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723329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9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5120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3608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41360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3536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9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478693" y="2683744"/>
            <a:ext cx="3734612" cy="882112"/>
          </a:xfrm>
          <a:prstGeom prst="rect">
            <a:avLst/>
          </a:prstGeom>
        </p:spPr>
      </p:pic>
      <p:pic>
        <p:nvPicPr>
          <p:cNvPr id="13" name="Picture 12" descr="g4-3.png"/>
          <p:cNvPicPr>
            <a:picLocks noChangeAspect="1"/>
          </p:cNvPicPr>
          <p:nvPr/>
        </p:nvPicPr>
        <p:blipFill>
          <a:blip r:embed="rId3"/>
          <a:stretch>
            <a:fillRect/>
          </a:stretch>
        </p:blipFill>
        <p:spPr>
          <a:xfrm>
            <a:off x="3139759" y="3996384"/>
            <a:ext cx="4412481" cy="1684031"/>
          </a:xfrm>
          <a:prstGeom prst="rect">
            <a:avLst/>
          </a:prstGeom>
        </p:spPr>
      </p:pic>
      <p:sp>
        <p:nvSpPr>
          <p:cNvPr id="14" name="TextBox 13"/>
          <p:cNvSpPr txBox="1"/>
          <p:nvPr/>
        </p:nvSpPr>
        <p:spPr>
          <a:xfrm>
            <a:off x="497190" y="5997600"/>
            <a:ext cx="9695214" cy="7560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9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1271899" y="1300000"/>
            <a:ext cx="8148199" cy="4970400"/>
          </a:xfrm>
          <a:prstGeom prst="rect">
            <a:avLst/>
          </a:prstGeom>
        </p:spPr>
      </p:pic>
      <p:sp>
        <p:nvSpPr>
          <p:cNvPr id="8" name="TextBox 7"/>
          <p:cNvSpPr txBox="1"/>
          <p:nvPr/>
        </p:nvSpPr>
        <p:spPr>
          <a:xfrm>
            <a:off x="497190" y="63504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350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471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3504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471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350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471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350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471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350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9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512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594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9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2788465" y="1743571"/>
            <a:ext cx="5115070" cy="2429818"/>
          </a:xfrm>
          <a:prstGeom prst="rect">
            <a:avLst/>
          </a:prstGeom>
        </p:spPr>
      </p:pic>
      <p:graphicFrame>
        <p:nvGraphicFramePr>
          <p:cNvPr id="9" name="Table 8"/>
          <p:cNvGraphicFramePr>
            <a:graphicFrameLocks noGrp="1"/>
          </p:cNvGraphicFramePr>
          <p:nvPr/>
        </p:nvGraphicFramePr>
        <p:xfrm>
          <a:off x="1216111" y="463680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032079"/>
            <a:ext cx="9695214" cy="907200"/>
          </a:xfrm>
          <a:prstGeom prst="rect">
            <a:avLst/>
          </a:prstGeom>
          <a:noFill/>
        </p:spPr>
        <p:txBody>
          <a:bodyPr wrap="square" anchor="t" lIns="0" rIns="0" tIns="0" bIns="0">
            <a:spAutoFit/>
          </a:bodyPr>
          <a:lstStyle/>
          <a:p>
            <a:pPr>
              <a:spcAft>
                <a:spcPts val="200"/>
              </a:spcAft>
            </a:pPr>
            <a:r>
              <a:rPr sz="12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2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9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3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장점</a:t>
            </a:r>
          </a:p>
          <a:p>
            <a:pPr algn="l"/>
            <a:r>
              <a:rPr sz="1400" b="0" i="0" a:lang="ko-KR">
                <a:solidFill>
                  <a:srgbClr val="111111"/>
                </a:solidFill>
                <a:latin typeface="맑은 고딕"/>
                <a:ea typeface="맑은 고딕"/>
              </a:rPr>
              <a:t>· 문항의 추적성 — 문항마다 근거 조항을 따라갈 수 있다</a:t>
            </a:r>
          </a:p>
          <a:p>
            <a:pPr algn="l"/>
            <a:r>
              <a:rPr sz="1400" b="0" i="0" a:lang="ko-KR">
                <a:solidFill>
                  <a:srgbClr val="111111"/>
                </a:solidFill>
                <a:latin typeface="맑은 고딕"/>
                <a:ea typeface="맑은 고딕"/>
              </a:rPr>
              <a:t>· 판정 기준의 명문화 — 점수 기준을 미리 적어, 같은 증거면 같은 점수</a:t>
            </a:r>
          </a:p>
          <a:p>
            <a:pPr algn="l"/>
            <a:r>
              <a:rPr sz="1400" b="0" i="0" a:lang="ko-KR">
                <a:solidFill>
                  <a:srgbClr val="111111"/>
                </a:solidFill>
                <a:latin typeface="맑은 고딕"/>
                <a:ea typeface="맑은 고딕"/>
              </a:rPr>
              <a:t>· 종합점수에 묻히는 미비의 식별 — 평균이 높아도 꼭 있어야 할 네 곳이 빠지면 드러난다</a:t>
            </a:r>
          </a:p>
          <a:p>
            <a:pPr algn="l"/>
            <a:r>
              <a:rPr sz="1400" b="0" i="0" a:lang="ko-KR">
                <a:solidFill>
                  <a:srgbClr val="111111"/>
                </a:solidFill>
                <a:latin typeface="맑은 고딕"/>
                <a:ea typeface="맑은 고딕"/>
              </a:rPr>
              <a:t>· 평가와 개선의 연결 — 고칠 목표가 다음 평가 기준과 같은 말</a:t>
            </a:r>
          </a:p>
          <a:p>
            <a:pPr algn="l"/>
            <a:r>
              <a:rPr sz="1400" b="0" i="0" a:lang="ko-KR">
                <a:solidFill>
                  <a:srgbClr val="111111"/>
                </a:solidFill>
                <a:latin typeface="맑은 고딕"/>
                <a:ea typeface="맑은 고딕"/>
              </a:rPr>
              <a:t>· 표준 구조의 준용 — 판정 구조·평가 방법을 국제표준에서 가져옴</a:t>
            </a:r>
          </a:p>
          <a:p>
            <a:pPr algn="l"/>
            <a:r>
              <a:rPr sz="1400" b="0" i="0" a:lang="ko-KR">
                <a:solidFill>
                  <a:srgbClr val="111111"/>
                </a:solidFill>
                <a:latin typeface="맑은 고딕"/>
                <a:ea typeface="맑은 고딕"/>
              </a:rPr>
              <a:t>· 수준이 뜻하는 바의 구분 — ML3까지 체계 갖추기, ML4부터 숫자로 확인</a:t>
            </a:r>
          </a:p>
        </p:txBody>
      </p:sp>
      <p:sp>
        <p:nvSpPr>
          <p:cNvPr id="9" name="Rounded Rectangle 8"/>
          <p:cNvSpPr/>
          <p:nvPr/>
        </p:nvSpPr>
        <p:spPr>
          <a:xfrm>
            <a:off x="5461076" y="13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단점</a:t>
            </a:r>
          </a:p>
          <a:p>
            <a:pPr algn="l"/>
            <a:r>
              <a:rPr sz="1400" b="0" i="0" a:lang="ko-KR">
                <a:solidFill>
                  <a:srgbClr val="111111"/>
                </a:solidFill>
                <a:latin typeface="맑은 고딕"/>
                <a:ea typeface="맑은 고딕"/>
              </a:rPr>
              <a:t>· 핵심 문항 4종에 대한 의존 — 네 문항이 수준을 정하는데, 그 선택은 전문가 검토 전</a:t>
            </a:r>
          </a:p>
          <a:p>
            <a:pPr algn="l"/>
            <a:r>
              <a:rPr sz="1400" b="0" i="0" a:lang="ko-KR">
                <a:solidFill>
                  <a:srgbClr val="111111"/>
                </a:solidFill>
                <a:latin typeface="맑은 고딕"/>
                <a:ea typeface="맑은 고딕"/>
              </a:rPr>
              <a:t>· 판정 파라미터 — 과반 50% 등은 연구자가 정한 값, 상위 두 수준은 사례 없음</a:t>
            </a:r>
          </a:p>
          <a:p>
            <a:pPr algn="l"/>
            <a:r>
              <a:rPr sz="1400" b="0" i="0" a:lang="ko-KR">
                <a:solidFill>
                  <a:srgbClr val="111111"/>
                </a:solidFill>
                <a:latin typeface="맑은 고딕"/>
                <a:ea typeface="맑은 고딕"/>
              </a:rPr>
              <a:t>· 평가의 부담 — 55문항 문서 확인, ISO 14001 심사와 LCA를 함께 알아야</a:t>
            </a:r>
          </a:p>
          <a:p>
            <a:pPr algn="l"/>
            <a:r>
              <a:rPr sz="1400" b="0" i="0" a:lang="ko-KR">
                <a:solidFill>
                  <a:srgbClr val="111111"/>
                </a:solidFill>
                <a:latin typeface="맑은 고딕"/>
                <a:ea typeface="맑은 고딕"/>
              </a:rPr>
              <a:t>· 적용 대상의 제약 — LCA를 하지 않는 회사는 점수 차이가 안 난다</a:t>
            </a:r>
          </a:p>
          <a:p>
            <a:pPr algn="l"/>
            <a:r>
              <a:rPr sz="1400" b="0" i="0" a:lang="ko-KR">
                <a:solidFill>
                  <a:srgbClr val="111111"/>
                </a:solidFill>
                <a:latin typeface="맑은 고딕"/>
                <a:ea typeface="맑은 고딕"/>
              </a:rPr>
              <a:t>· 문항 간 종속 · 문서 심사 방식 — 미비 하나가 여러 점수를 끌어내리고, 형식적 이행은 못 가려냄</a:t>
            </a:r>
          </a:p>
          <a:p>
            <a:pPr algn="l"/>
            <a:r>
              <a:rPr sz="1400" b="0" i="0" a:lang="ko-KR">
                <a:solidFill>
                  <a:srgbClr val="111111"/>
                </a:solidFill>
                <a:latin typeface="맑은 고딕"/>
                <a:ea typeface="맑은 고딕"/>
              </a:rPr>
              <a:t>· 환경성과와의 관계 미검증 — 수준이 높으면 탄소·비용이 주는지는 미확인</a:t>
            </a:r>
          </a:p>
        </p:txBody>
      </p:sp>
      <p:sp>
        <p:nvSpPr>
          <p:cNvPr id="10" name="Rounded Rectangle 9"/>
          <p:cNvSpPr/>
          <p:nvPr/>
        </p:nvSpPr>
        <p:spPr>
          <a:xfrm>
            <a:off x="497190" y="51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60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9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51200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8968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896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601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896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601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896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601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896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601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89680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9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6" name="TextBox 5"/>
          <p:cNvSpPr txBox="1"/>
          <p:nvPr/>
        </p:nvSpPr>
        <p:spPr>
          <a:xfrm>
            <a:off x="497190" y="18144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 · B-17 개발 경위(타임라인) · B-0 장별 요약(1·2장 한 장 요약, 5장 그림 세 장) · B-Q1~B-Q12 예상 질문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pic>
        <p:nvPicPr>
          <p:cNvPr id="6" name="Picture 5" descr="g3-3.png"/>
          <p:cNvPicPr>
            <a:picLocks noChangeAspect="1"/>
          </p:cNvPicPr>
          <p:nvPr/>
        </p:nvPicPr>
        <p:blipFill>
          <a:blip r:embed="rId2"/>
          <a:stretch>
            <a:fillRect/>
          </a:stretch>
        </p:blipFill>
        <p:spPr>
          <a:xfrm>
            <a:off x="574575" y="2013659"/>
            <a:ext cx="9542849" cy="37846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1-3.png"/>
          <p:cNvPicPr>
            <a:picLocks noChangeAspect="1"/>
          </p:cNvPicPr>
          <p:nvPr/>
        </p:nvPicPr>
        <p:blipFill>
          <a:blip r:embed="rId2"/>
          <a:stretch>
            <a:fillRect/>
          </a:stretch>
        </p:blipFill>
        <p:spPr>
          <a:xfrm>
            <a:off x="574575" y="1823924"/>
            <a:ext cx="9542849" cy="4164151"/>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f2-1.png"/>
          <p:cNvPicPr>
            <a:picLocks noChangeAspect="1"/>
          </p:cNvPicPr>
          <p:nvPr/>
        </p:nvPicPr>
        <p:blipFill>
          <a:blip r:embed="rId2"/>
          <a:stretch>
            <a:fillRect/>
          </a:stretch>
        </p:blipFill>
        <p:spPr>
          <a:xfrm>
            <a:off x="574575" y="1691705"/>
            <a:ext cx="9542849" cy="442858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2.png"/>
          <p:cNvPicPr>
            <a:picLocks noChangeAspect="1"/>
          </p:cNvPicPr>
          <p:nvPr/>
        </p:nvPicPr>
        <p:blipFill>
          <a:blip r:embed="rId2"/>
          <a:stretch>
            <a:fillRect/>
          </a:stretch>
        </p:blipFill>
        <p:spPr>
          <a:xfrm>
            <a:off x="1657167" y="1600480"/>
            <a:ext cx="7377665" cy="46110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g2-5.png"/>
          <p:cNvPicPr>
            <a:picLocks noChangeAspect="1"/>
          </p:cNvPicPr>
          <p:nvPr/>
        </p:nvPicPr>
        <p:blipFill>
          <a:blip r:embed="rId2"/>
          <a:stretch>
            <a:fillRect/>
          </a:stretch>
        </p:blipFill>
        <p:spPr>
          <a:xfrm>
            <a:off x="1449346" y="1600480"/>
            <a:ext cx="7793307" cy="461104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3-1.jpg"/>
          <p:cNvPicPr>
            <a:picLocks noChangeAspect="1"/>
          </p:cNvPicPr>
          <p:nvPr/>
        </p:nvPicPr>
        <p:blipFill>
          <a:blip r:embed="rId2"/>
          <a:stretch>
            <a:fillRect/>
          </a:stretch>
        </p:blipFill>
        <p:spPr>
          <a:xfrm>
            <a:off x="2060602" y="1600480"/>
            <a:ext cx="6570795" cy="461104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2r.png"/>
          <p:cNvPicPr>
            <a:picLocks noChangeAspect="1"/>
          </p:cNvPicPr>
          <p:nvPr/>
        </p:nvPicPr>
        <p:blipFill>
          <a:blip r:embed="rId2"/>
          <a:stretch>
            <a:fillRect/>
          </a:stretch>
        </p:blipFill>
        <p:spPr>
          <a:xfrm>
            <a:off x="2027830" y="1600480"/>
            <a:ext cx="6636339" cy="46110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4.png"/>
          <p:cNvPicPr>
            <a:picLocks noChangeAspect="1"/>
          </p:cNvPicPr>
          <p:nvPr/>
        </p:nvPicPr>
        <p:blipFill>
          <a:blip r:embed="rId2"/>
          <a:stretch>
            <a:fillRect/>
          </a:stretch>
        </p:blipFill>
        <p:spPr>
          <a:xfrm>
            <a:off x="1162884" y="1600480"/>
            <a:ext cx="8366232" cy="461104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g3-9.jpg"/>
          <p:cNvPicPr>
            <a:picLocks noChangeAspect="1"/>
          </p:cNvPicPr>
          <p:nvPr/>
        </p:nvPicPr>
        <p:blipFill>
          <a:blip r:embed="rId2"/>
          <a:stretch>
            <a:fillRect/>
          </a:stretch>
        </p:blipFill>
        <p:spPr>
          <a:xfrm>
            <a:off x="2940239" y="1600480"/>
            <a:ext cx="4811520" cy="46110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8.png"/>
          <p:cNvPicPr>
            <a:picLocks noChangeAspect="1"/>
          </p:cNvPicPr>
          <p:nvPr/>
        </p:nvPicPr>
        <p:blipFill>
          <a:blip r:embed="rId2"/>
          <a:stretch>
            <a:fillRect/>
          </a:stretch>
        </p:blipFill>
        <p:spPr>
          <a:xfrm>
            <a:off x="744360" y="1600480"/>
            <a:ext cx="9203279" cy="46110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4-3.png"/>
          <p:cNvPicPr>
            <a:picLocks noChangeAspect="1"/>
          </p:cNvPicPr>
          <p:nvPr/>
        </p:nvPicPr>
        <p:blipFill>
          <a:blip r:embed="rId2"/>
          <a:stretch>
            <a:fillRect/>
          </a:stretch>
        </p:blipFill>
        <p:spPr>
          <a:xfrm>
            <a:off x="2121965" y="1600480"/>
            <a:ext cx="6448068" cy="461103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pic>
        <p:nvPicPr>
          <p:cNvPr id="6" name="Picture 5" descr="g4-5.png"/>
          <p:cNvPicPr>
            <a:picLocks noChangeAspect="1"/>
          </p:cNvPicPr>
          <p:nvPr/>
        </p:nvPicPr>
        <p:blipFill>
          <a:blip r:embed="rId2"/>
          <a:stretch>
            <a:fillRect/>
          </a:stretch>
        </p:blipFill>
        <p:spPr>
          <a:xfrm>
            <a:off x="1850732" y="1600480"/>
            <a:ext cx="6990534" cy="461104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g4-6.png"/>
          <p:cNvPicPr>
            <a:picLocks noChangeAspect="1"/>
          </p:cNvPicPr>
          <p:nvPr/>
        </p:nvPicPr>
        <p:blipFill>
          <a:blip r:embed="rId2"/>
          <a:stretch>
            <a:fillRect/>
          </a:stretch>
        </p:blipFill>
        <p:spPr>
          <a:xfrm>
            <a:off x="1739848" y="1600480"/>
            <a:ext cx="7212303" cy="461104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g4-7.png"/>
          <p:cNvPicPr>
            <a:picLocks noChangeAspect="1"/>
          </p:cNvPicPr>
          <p:nvPr/>
        </p:nvPicPr>
        <p:blipFill>
          <a:blip r:embed="rId2"/>
          <a:stretch>
            <a:fillRect/>
          </a:stretch>
        </p:blipFill>
        <p:spPr>
          <a:xfrm>
            <a:off x="1739848" y="1600480"/>
            <a:ext cx="7212303" cy="461104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8.png"/>
          <p:cNvPicPr>
            <a:picLocks noChangeAspect="1"/>
          </p:cNvPicPr>
          <p:nvPr/>
        </p:nvPicPr>
        <p:blipFill>
          <a:blip r:embed="rId2"/>
          <a:stretch>
            <a:fillRect/>
          </a:stretch>
        </p:blipFill>
        <p:spPr>
          <a:xfrm>
            <a:off x="1621697" y="1600480"/>
            <a:ext cx="7448603" cy="461104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9.png"/>
          <p:cNvPicPr>
            <a:picLocks noChangeAspect="1"/>
          </p:cNvPicPr>
          <p:nvPr/>
        </p:nvPicPr>
        <p:blipFill>
          <a:blip r:embed="rId2"/>
          <a:stretch>
            <a:fillRect/>
          </a:stretch>
        </p:blipFill>
        <p:spPr>
          <a:xfrm>
            <a:off x="1850732" y="1600480"/>
            <a:ext cx="6990534" cy="461104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개발 경위 — 반복 개발의 타임라인</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B-17</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sp>
        <p:nvSpPr>
          <p:cNvPr id="6" name="TextBox 5"/>
          <p:cNvSpPr txBox="1"/>
          <p:nvPr/>
        </p:nvSpPr>
        <p:spPr>
          <a:xfrm>
            <a:off x="497190" y="927360"/>
            <a:ext cx="9695214"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「모델을 어떻게 만들었나 / 처음 설계와 무엇이 달라졌나」를 묻는 경우 — 예상 질문 8·9·43번의 백업</a:t>
            </a:r>
          </a:p>
        </p:txBody>
      </p:sp>
      <p:sp>
        <p:nvSpPr>
          <p:cNvPr id="7" name="Rectangle 6"/>
          <p:cNvSpPr/>
          <p:nvPr/>
        </p:nvSpPr>
        <p:spPr>
          <a:xfrm>
            <a:off x="497190" y="236880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504000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79600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ch1.png"/>
          <p:cNvPicPr>
            <a:picLocks noChangeAspect="1"/>
          </p:cNvPicPr>
          <p:nvPr/>
        </p:nvPicPr>
        <p:blipFill>
          <a:blip r:embed="rId2"/>
          <a:stretch>
            <a:fillRect/>
          </a:stretch>
        </p:blipFill>
        <p:spPr>
          <a:xfrm>
            <a:off x="3148612" y="1555232"/>
            <a:ext cx="4394775" cy="4651136"/>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pic>
        <p:nvPicPr>
          <p:cNvPr id="6" name="Picture 5" descr="ch2.png"/>
          <p:cNvPicPr>
            <a:picLocks noChangeAspect="1"/>
          </p:cNvPicPr>
          <p:nvPr/>
        </p:nvPicPr>
        <p:blipFill>
          <a:blip r:embed="rId2"/>
          <a:stretch>
            <a:fillRect/>
          </a:stretch>
        </p:blipFill>
        <p:spPr>
          <a:xfrm>
            <a:off x="3537782" y="1555232"/>
            <a:ext cx="3616434" cy="4651136"/>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g5-1.png"/>
          <p:cNvPicPr>
            <a:picLocks noChangeAspect="1"/>
          </p:cNvPicPr>
          <p:nvPr/>
        </p:nvPicPr>
        <p:blipFill>
          <a:blip r:embed="rId2"/>
          <a:stretch>
            <a:fillRect/>
          </a:stretch>
        </p:blipFill>
        <p:spPr>
          <a:xfrm>
            <a:off x="534479" y="1612271"/>
            <a:ext cx="9623041" cy="4537056"/>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g5-2.png"/>
          <p:cNvPicPr>
            <a:picLocks noChangeAspect="1"/>
          </p:cNvPicPr>
          <p:nvPr/>
        </p:nvPicPr>
        <p:blipFill>
          <a:blip r:embed="rId2"/>
          <a:stretch>
            <a:fillRect/>
          </a:stretch>
        </p:blipFill>
        <p:spPr>
          <a:xfrm>
            <a:off x="1328577" y="1555232"/>
            <a:ext cx="8034843" cy="4651136"/>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3.png"/>
          <p:cNvPicPr>
            <a:picLocks noChangeAspect="1"/>
          </p:cNvPicPr>
          <p:nvPr/>
        </p:nvPicPr>
        <p:blipFill>
          <a:blip r:embed="rId2"/>
          <a:stretch>
            <a:fillRect/>
          </a:stretch>
        </p:blipFill>
        <p:spPr>
          <a:xfrm>
            <a:off x="931274" y="1555232"/>
            <a:ext cx="8829449" cy="4651136"/>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f2-6.png"/>
          <p:cNvPicPr>
            <a:picLocks noChangeAspect="1"/>
          </p:cNvPicPr>
          <p:nvPr/>
        </p:nvPicPr>
        <p:blipFill>
          <a:blip r:embed="rId2"/>
          <a:stretch>
            <a:fillRect/>
          </a:stretch>
        </p:blipFill>
        <p:spPr>
          <a:xfrm>
            <a:off x="534479" y="2824527"/>
            <a:ext cx="9623041" cy="2566144"/>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