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328" r:id="rId80"/>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326" r:id="rId78"/>
    <p:sldId id="296" r:id="rId48"/>
    <p:sldId id="327" r:id="rId79"/>
    <p:sldId id="297" r:id="rId49"/>
    <p:sldId id="298" r:id="rId50"/>
    <p:sldId id="299" r:id="rId51"/>
    <p:sldId id="300" r:id="rId52"/>
    <p:sldId id="301" r:id="rId53"/>
    <p:sldId id="302" r:id="rId54"/>
    <p:sldId id="303" r:id="rId55"/>
    <p:sldId id="304" r:id="rId56"/>
    <p:sldId id="305" r:id="rId57"/>
    <p:sldId id="306" r:id="rId58"/>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3.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42.xml"/><Relationship Id="rId79" Type="http://schemas.openxmlformats.org/officeDocument/2006/relationships/slide" Target="slides/slide44.xml"/><Relationship Id="rId80"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현욱진입니다. 「환경경영시스템(ISO 14001)과 전과정평가(LCA)의 프로세스 연계 모델 개발 및 성숙도 평가」를 발표하겠습니다.</a:t>
            </a:r>
          </a:p>
          <a:p>
            <a:r>
              <a:rPr sz="1200">
                <a:latin typeface="맑은 고딕"/>
              </a:rPr>
              <a:t>한 문장으로 먼저 말씀드리면, 두 국제표준이 서로를 전제하지 않는 탓에 현장에서 따로 운영되는 것을, 조항 단위로 연계를 확인하고 성숙도 수준으로 판정하는 모델로 다룬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발표는 다섯 부와 맺음으로 구성하였습니다. 왜 이 연구인가, 무엇을 바탕으로 하였는가, 무엇을 만들었는가, 적용하면 어떻게 되는가, 무엇을 고치는가입니다.</a:t>
            </a:r>
          </a:p>
          <a:p>
            <a:r>
              <a:rPr sz="1200">
                <a:latin typeface="맑은 고딕"/>
              </a:rPr>
              <a:t>3부가 판정의 기준을 만드는 장이고, 4부는 그 기준을 바꾸지 않고 한 기업에 적용한 결과만 다루는 장입니다.</a:t>
            </a:r>
          </a:p>
          <a:p>
            <a:r>
              <a:rPr sz="1200">
                <a:latin typeface="맑은 고딕"/>
              </a:rPr>
              <a:t>만든 것은 연계 프로세스 16종, 평가 문항 55개, 핵심 문항 4종, 성숙도 수준 ML0부터 ML5까지이고, 적용해 본 결과는 종합점수 2.85, 판정 ML2, 개선 과제를 마치면 3.15와 ML3 전망입니다.</a:t>
            </a:r>
          </a:p>
          <a:p>
            <a:r>
              <a:rPr sz="1200">
                <a:latin typeface="맑은 고딕"/>
              </a:rPr>
              <a:t>오늘은 모델의 뼈대와 적용 결과를 중심으로 말씀드리고, 조항별 판정과 문항 전문은 부록에 두었습니다.</a:t>
            </a:r>
          </a:p>
          <a:p>
            <a:r>
              <a:rPr sz="1200">
                <a:latin typeface="맑은 고딕"/>
              </a:rPr>
              <a:t>〔40초. 화면에서 뺀 세부 — Ⅰ 왜 지금인가 · 두 표준이 서로 비워 둔 곳 · 「LCA를 했다」의 두 상태 · 연구 문제 / Ⅱ ISO 14001의 전과정 관점 · LCA의 4단계 · 따른 표준 · 선행연구와 연구 공백 / Ⅲ LMA 3계층 · 조항 매핑 · 연계 지점 · 16종 · 55문항 · 판정 규칙 · 검증 / Ⅳ 적용 개요 · 객관성의 확보 · 영역별 결과 · 종합 판정 ML2 · 결과 요약 / Ⅴ 개선 과제 R1~R5 · 개선 로드맵과 재평가 · 장점과 단점, 한계 / 맺음 연구 전체 한 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논문은 다섯 장입니다. 그림의 위 두 상자가 「왜」와 「무엇을 바탕으로」, 가운데 두 상자가 「무엇을 만들었나」와 「적용하면 어떻게 되나」, 아래가 「결론」입니다.</a:t>
            </a:r>
          </a:p>
          <a:p>
            <a:r>
              <a:rPr sz="1200">
                <a:latin typeface="맑은 고딕"/>
              </a:rPr>
              <a:t>3장은 판정의 기준을 만들고, 4장은 그 기준을 바꾸지 않고 한 기업에 적용한 결과만 다룹니다.</a:t>
            </a:r>
          </a:p>
          <a:p>
            <a:r>
              <a:rPr sz="1200">
                <a:latin typeface="맑은 고딕"/>
              </a:rPr>
              <a:t>맨 아래 한 줄이 논문 전체입니다. 연계, 모델링, 평가, 지속적 개선, 환경영향 저감입니다.</a:t>
            </a:r>
          </a:p>
          <a:p>
            <a:r>
              <a:rPr sz="1200">
                <a:latin typeface="맑은 고딕"/>
              </a:rPr>
              <a:t>〔세부는 각 장에서. 장별 요약 전문은 백업 B-0. 1분〕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먼저 이 연구를 한 장으로 말씀드리겠습니다.</a:t>
            </a:r>
          </a:p>
          <a:p>
            <a:r>
              <a:rPr sz="1200">
                <a:latin typeface="맑은 고딕"/>
              </a:rPr>
              <a:t>왼쪽 환경경영시스템(ISO 14001)은 회사가 환경을 관리하는 틀입니다. 환경측면을 결정하고, 그 영향을 평가해 중대한 환경측면을 결정하고, 그것을 환경목표에 반영해 실행하고, 점검하여 지속적으로 개선합니다.</a:t>
            </a:r>
          </a:p>
          <a:p>
            <a:r>
              <a:rPr sz="1200">
                <a:latin typeface="맑은 고딕"/>
              </a:rPr>
              <a:t>오른쪽 전과정평가(LCA)는 제품이 원료 채취, 설계, 생산, 운송과 배송, 사용, 폐기의 각 단계에서 환경에 주는 영향을 숫자로 계산해 영향이 가장 큰 단계, 이것을 핫스팟이라 하는데, 그것을 찾는 방법입니다.</a:t>
            </a:r>
          </a:p>
          <a:p>
            <a:r>
              <a:rPr sz="1200">
                <a:latin typeface="맑은 고딕"/>
              </a:rPr>
              <a:t>두 표준은 별개의 표준이라 한쪽이 다른 쪽을 요구하지 않습니다. 그래서 실무에서는 별도로 운영되는 경우가 많습니다. LCA 보고서를 받아 놓고 경영시스템에서는 쓰지 않는 식입니다.</a:t>
            </a:r>
          </a:p>
          <a:p>
            <a:r>
              <a:rPr sz="1200">
                <a:latin typeface="맑은 고딕"/>
              </a:rPr>
              <a:t>이 연구는 두 표준의 연계를 조항 단위로 확인하고 성숙도 수준으로 판정하는 모델을 만든 것입니다. 연계란 LCA 결과가 환경측면의 결정, 환경목표, 설계·개발, 모니터링에 쓰인다는 뜻이고, 판정 결과는 여섯 수준으로 나옵니다.</a:t>
            </a:r>
          </a:p>
          <a:p>
            <a:r>
              <a:rPr sz="1200">
                <a:latin typeface="맑은 고딕"/>
              </a:rPr>
              <a:t>배경으로는 제품 전과정의 환경정보를 요구하는 규제가 늘고 있다는 점이 있습니다.</a:t>
            </a:r>
          </a:p>
          <a:p>
            <a:r>
              <a:rPr sz="1200">
                <a:latin typeface="맑은 고딕"/>
              </a:rPr>
              <a:t>〔1분. 「ISO 14001은 많이 쓰이나」가 나오면 — 국내 유효 인증 28,137건, 세계 676,232건(ISO Survey 2024), 2.1.1. CBAM·ESG 공시는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ISO 14044는 정량적 평가 방법을 규정하되 그 평가를 되풀이하는 관리 주기를 정하지 않았습니다. 두 표준은 서로의 빈 곳을 채울 수 있는 것을 갖고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같은 「LCA를 했다」에도 두 상태가 있습니다.</a:t>
            </a:r>
          </a:p>
          <a:p>
            <a:r>
              <a:rPr sz="1200">
                <a:latin typeface="맑은 고딕"/>
              </a:rPr>
              <a:t>왼쪽 상태 A는 보고서를 한 번 받아 두고 끝내는 회사입니다. LCA 결과가 경영시스템의 결정에 쓰이지 않습니다.</a:t>
            </a:r>
          </a:p>
          <a:p>
            <a:r>
              <a:rPr sz="1200">
                <a:latin typeface="맑은 고딕"/>
              </a:rPr>
              <a:t>오른쪽 상태 B는 LCA 영향평가 결과를 근거로 중대한 환경측면을 결정하고, 환경목표를 세우고, 다음 해에 다시 측정해 확인하는 회사입니다. LCA가 경영시스템을 돌리는 입력이 됩니다.</a:t>
            </a:r>
          </a:p>
          <a:p>
            <a:r>
              <a:rPr sz="1200">
                <a:latin typeface="맑은 고딕"/>
              </a:rPr>
              <a:t>본 연구가 말하는 연계는 상태 B입니다. 있다 없다가 아니라 정도의 문제이고, 그 정도를 판정하는 것이 성숙도 모델입니다.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본 연구의 목적은 환경경영시스템(ISO 14001)과 전과정평가(LCA)의 프로세스를 연계한 모델을 개발하고, 이를 기준으로 조직의 연계 성숙도를 평가하며, 그 결과를 개선 과제로 도출하여 조직의 환경경영시스템(ISO 14001)을 효과적으로 개선하는 데 있습니다. 곧 연계, 모델링, 성숙도 평가, 개선의 순서입니다.</a:t>
            </a:r>
          </a:p>
          <a:p>
            <a:r>
              <a:rPr sz="1200">
                <a:latin typeface="맑은 고딕"/>
              </a:rPr>
              <a:t>네 가지 연구 문제는 이 네 가지 목적과 같은 순서로, RQ1은 연계에, RQ2와 RQ3은 모델링에, RQ4는 평가와 개선에 해당합니다. 또한 각 연구 문제는 앞의 문제에 답해야 다음 문제를 제기할 수 있는 순서로 구성하였습니다. 오늘 발표도 이 순서를 따릅니다.</a:t>
            </a:r>
          </a:p>
          <a:p>
            <a:r>
              <a:rPr sz="1200">
                <a:latin typeface="맑은 고딕"/>
              </a:rPr>
              <a:t>먼저 두 표준이 어떤 구조인지 짧게 보겠습니다.</a:t>
            </a:r>
          </a:p>
          <a:p>
            <a:r>
              <a:rPr sz="1200">
                <a:latin typeface="맑은 고딕"/>
              </a:rPr>
              <a:t>〔왼쪽 흐름도의 여섯 단계와 연구 문제의 대응만 짚고 넘어간다.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계획–실행–점검–조치로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네 단계입니다. 왼쪽 위에서 아래로, 무엇을 얼마나 볼지 정하고, 들어가고 나오는 것을 세고, 그것이 환경에 미치는 영향을 계산합니다. 오른쪽 해석은 세 단계 모두와 오가며 결론을 냅니다.</a:t>
            </a:r>
          </a:p>
          <a:p>
            <a:r>
              <a:rPr sz="1200">
                <a:latin typeface="맑은 고딕"/>
              </a:rPr>
              <a:t>한 번의 평가는 이 안에서 끝납니다. 그런데 「언제 다시 하는가」는 이 표준에 없습니다.</a:t>
            </a:r>
          </a:p>
          <a:p>
            <a:r>
              <a:rPr sz="1200">
                <a:latin typeface="맑은 고딕"/>
              </a:rPr>
              <a:t>그래서 두 표준을 잇고 그 수준을 재려면 성숙도 모델의 방법을 빌려야 합니다.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모델의 뼈대는 모두 표준에서 가져왔습니다.</a:t>
            </a:r>
          </a:p>
          <a:p>
            <a:r>
              <a:rPr sz="1200">
                <a:latin typeface="맑은 고딕"/>
              </a:rPr>
              <a:t>측정 대상은 환경경영시스템(ISO 14001)과 전과정평가(LCA, ISO 14044)의 연계입니다.</a:t>
            </a:r>
          </a:p>
          <a:p>
            <a:r>
              <a:rPr sz="1200">
                <a:latin typeface="맑은 고딕"/>
              </a:rPr>
              <a:t>판정 구조는 KS X ISO 8000-62를, 모델 형식과 평가 방법은 ISO/IEC 33000 계열을, 프로세스 기술 형식은 KS X ISO 8000-61을 따랐으며, 그 적용 선례는 국내 공공데이터 연구입니다. 참조 모델은 평가 모델의, 평가 모델은 성숙도 모델의 기초가 됩니다. 평가의 수행은 ISO/IEC 33002를 따랐습니다.</a:t>
            </a:r>
          </a:p>
          <a:p>
            <a:r>
              <a:rPr sz="1200">
                <a:latin typeface="맑은 고딕"/>
              </a:rPr>
              <a:t>그러면 이 대상을 다룬 연구는 이미 있었는가. 다음 장입니다.</a:t>
            </a:r>
          </a:p>
          <a:p>
            <a:r>
              <a:rPr sz="1200">
                <a:latin typeface="맑은 고딕"/>
              </a:rPr>
              <a:t>〔조항 번호는 읽지 않는다. 선행 모델은 논문 제목으로 부른다(PPDQM3·APDQM3라 하지 않는다).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만든 모델을 한 그림으로 말씀드리겠습니다.</a:t>
            </a:r>
          </a:p>
          <a:p>
            <a:r>
              <a:rPr sz="1200">
                <a:latin typeface="맑은 고딕"/>
              </a:rPr>
              <a:t>위에 두 표준이 있습니다. 환경경영시스템(ISO 14001)의 조항 30개와 전과정평가(LCA)의 요구사항을 하나하나 대응시켰습니다. 이것이 매핑입니다. 맞닿는 곳이 연계 지점이고, 그 가운데 꼭 있어야 할 네 곳이 핵심 연계 지점입니다.</a:t>
            </a:r>
          </a:p>
          <a:p>
            <a:r>
              <a:rPr sz="1200">
                <a:latin typeface="맑은 고딕"/>
              </a:rPr>
              <a:t>그 아래가 만든 것 세 가지입니다. 첫째, 참조 모델은 평가할 업무 목록입니다. 연계 지점을 업무 단위로 묶어 열여섯 가지로 적었습니다. 둘째, 평가 모델은 채점표입니다. 업무마다 되어 있는가를 묻는 문항 쉰다섯 개와, 확인할 항목, 몇 점으로 볼지의 기준입니다. 셋째, 성숙도 모델은 수준 규칙입니다. 점수를 ML0부터 ML5까지 여섯 수준으로 바꾸는 규칙이고, 핵심 문항 네 가지는 하나라도 빠지면 ML2에서 멈춥니다.</a:t>
            </a:r>
          </a:p>
          <a:p>
            <a:r>
              <a:rPr sz="1200">
                <a:latin typeface="맑은 고딕"/>
              </a:rPr>
              <a:t>이 셋을 합쳐 연계 성숙도 평가 모델, LMA라고 합니다. 결과는 회사의 연계가 어느 수준에 있는가입니다.</a:t>
            </a:r>
          </a:p>
          <a:p>
            <a:r>
              <a:rPr sz="1200">
                <a:latin typeface="맑은 고딕"/>
              </a:rPr>
              <a:t>만든 뒤에는 두 방향으로 검증하였습니다. 문항마다 어느 조항에서 왔는지 따라가는 추적성 검증과, 국제표준 요건 24건을 자체점검한 표준 적합성 검증입니다.</a:t>
            </a:r>
          </a:p>
          <a:p>
            <a:r>
              <a:rPr sz="1200">
                <a:latin typeface="맑은 고딕"/>
              </a:rPr>
              <a:t>이제 하나씩 보겠습니다. 먼저 두 표준을 어떻게 맞대었는지입니다.</a:t>
            </a:r>
          </a:p>
          <a:p>
            <a:r>
              <a:rPr sz="1200">
                <a:latin typeface="맑은 고딕"/>
              </a:rPr>
              <a:t>〔논문 [그림 3-2] 전체는 백업 B-7.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모든 조항에 대하여 같은 네 가지 질문을 같은 순서로 물었습니다. 전과정 관점을 명시적으로 요구하거나 그 결과를 직접 입력으로 삼는가, LCA 산출물 없이는 shall 이행이 불완전한가, LCA 결과가 주요 입력값인가, 보조 정보라도 제공하는가입니다.</a:t>
            </a:r>
          </a:p>
          <a:p>
            <a:r>
              <a:rPr sz="1200">
                <a:latin typeface="맑은 고딕"/>
              </a:rPr>
              <a:t>「매우 높음」의 판정 요건은 전과정 관점의 명시적 요구 또는 그 결과의 직접 사용, LCA 없는 shall 이행의 사실상 불완전, LCA 결과의 핵심 산출물 지위로, 연계의 성립 여부를 가르는 관찰입니다. 이 등급의 4개 조항이 6.1.2·6.2.1·8.1·9.1.1이며, 이 네 곳이 뒤의 핵심 문항 4종의 자리가 됩니다.</a:t>
            </a:r>
          </a:p>
          <a:p>
            <a:r>
              <a:rPr sz="1200">
                <a:latin typeface="맑은 고딕"/>
              </a:rPr>
              <a:t>네 지점이 어디에 놓이는지 그림으로 보겠습니다.</a:t>
            </a:r>
          </a:p>
          <a:p>
            <a:r>
              <a:rPr sz="1200">
                <a:latin typeface="맑은 고딕"/>
              </a:rPr>
              <a:t>〔「전조항을 매핑했는데 핵심은 4개뿐인가」가 나오면 셋으로 나누어 답한다 — 매핑(30조항) → 55문항·16종 → 연계 성립 지점 4곳.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왼쪽이 환경경영시스템(ISO 14001)의 관리 주기, 오른쪽이 전과정평가(LCA)의 4단계입니다. 선이 두 표준이 맞닿는 곳, 곧 연계 지점입니다.</a:t>
            </a:r>
          </a:p>
          <a:p>
            <a:r>
              <a:rPr sz="1200">
                <a:latin typeface="맑은 고딕"/>
              </a:rPr>
              <a:t>그 가운데 굵은 선 네 개가 핵심 연계 지점입니다. 오른쪽에 풀어 두었습니다.</a:t>
            </a:r>
          </a:p>
          <a:p>
            <a:r>
              <a:rPr sz="1200">
                <a:latin typeface="맑은 고딕"/>
              </a:rPr>
              <a:t>첫째, 환경측면입니다. LCA 영향평가에서 영향이 가장 큰 곳, 핫스팟을 환경측면 결정의 근거로 씁니다. 둘째, 환경목표입니다. 핫스팟을 근거로 숫자 목표를 세웁니다. 셋째, 설계·개발입니다. 설계할 때 LCA 결과를 반영합니다. 넷째, 모니터링입니다. 개선 전과 후를 LCA로 다시 측정해 비교합니다.</a:t>
            </a:r>
          </a:p>
          <a:p>
            <a:r>
              <a:rPr sz="1200">
                <a:latin typeface="맑은 고딕"/>
              </a:rPr>
              <a:t>이 넷 가운데 하나가 끊기면 순환이 그 단계에서 멈춥니다. 그래서 이 넷이 뒤의 핵심 문항 4종이 됩니다.</a:t>
            </a:r>
          </a:p>
          <a:p>
            <a:r>
              <a:rPr sz="1200">
                <a:latin typeface="맑은 고딕"/>
              </a:rPr>
              <a:t>이 지점들을 업무 단위로 묶은 것이 다음 장의 참조 모델입니다.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연계 업무 16종입니다. 계획 8, 실행 2, 점검 3, 개선 3입니다.</a:t>
            </a:r>
          </a:p>
          <a:p>
            <a:r>
              <a:rPr sz="1200">
                <a:latin typeface="맑은 고딕"/>
              </a:rPr>
              <a:t>각 업무는 제목·목적·성과·활동의 형식으로 적었고, 이 형식은 KS X ISO 8000-61을 따른 것입니다. 빨간 점이 핵심 문항 4종이 들어 있는 자리입니다.</a:t>
            </a:r>
          </a:p>
          <a:p>
            <a:r>
              <a:rPr sz="1200">
                <a:latin typeface="맑은 고딕"/>
              </a:rPr>
              <a:t>각 업무의 성과를 묻는 물음이 다음 장의 평가 문항이 됩니다.</a:t>
            </a:r>
          </a:p>
          <a:p>
            <a:r>
              <a:rPr sz="1200">
                <a:latin typeface="맑은 고딕"/>
              </a:rPr>
              <a:t>〔「왜 16종인가, 원형은 20종인데」 → 백업 B-Q3. 1분〕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 모델은 채점표입니다. 문항은 쉰다섯 개이고, 계획 30, 실행 6, 점검 10, 개선 9입니다.</a:t>
            </a:r>
          </a:p>
          <a:p>
            <a:r>
              <a:rPr sz="1200">
                <a:latin typeface="맑은 고딕"/>
              </a:rPr>
              <a:t>점수를 매기는 법은 세 단계입니다. 첫째, 문항마다 확인할 항목을 미리 정해 둡니다. 반드시 있어야 할 필수 항목과, 있으면 더 좋은 추가 항목입니다. 이것을 체크포인트라 합니다. 둘째, 회사 문서를 보고 그 항목이 있는지 셉니다. 말로 설명한 것은 인정하지 않고 문서와 기록만 봅니다. 셋째, 센 개수가 점수입니다. 필수가 전부 있으면 3점, 이것이 기준선입니다. 추가까지 있으면 4점이나 5점, 필수가 빠지면 1점이나 2점입니다.</a:t>
            </a:r>
          </a:p>
          <a:p>
            <a:r>
              <a:rPr sz="1200">
                <a:latin typeface="맑은 고딕"/>
              </a:rPr>
              <a:t>그래서 점수는 평가자의 재량이 아니라 체크포인트 충족 개수로 정해집니다. 평가자가 달라도 같은 문서면 같은 점수가 나오게 한 것입니다.</a:t>
            </a:r>
          </a:p>
          <a:p>
            <a:r>
              <a:rPr sz="1200">
                <a:latin typeface="맑은 고딕"/>
              </a:rPr>
              <a:t>예를 하나 들면 D-1, 설계·개발 단계의 LCA 결과 반영 문항입니다. A사는 필수 세 개 가운데 두 개만 있어 2점이었고, 이 문항이 4장에서 판정을 갈랐습니다.</a:t>
            </a:r>
          </a:p>
          <a:p>
            <a:r>
              <a:rPr sz="1200">
                <a:latin typeface="맑은 고딕"/>
              </a:rPr>
              <a:t>점수를 성숙도 수준으로 바꾸는 규칙이 다음 장의 성숙도 모델입니다.</a:t>
            </a:r>
          </a:p>
          <a:p>
            <a:r>
              <a:rPr sz="1200">
                <a:latin typeface="맑은 고딕"/>
              </a:rPr>
              <a:t>〔점수별 기준 전문(BARS 앵커)은 백업 B-10a, 부록 C.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성숙도 모델은 점수를 수준으로 바꾸는 규칙입니다. 수준은 ML0에서 ML5까지 여섯이고, 계단처럼 아래 조건을 모두 갖추어야 위로 올라갑니다.</a:t>
            </a:r>
          </a:p>
          <a:p>
            <a:r>
              <a:rPr sz="1200">
                <a:latin typeface="맑은 고딕"/>
              </a:rPr>
              <a:t>ML1은 핵심 문항 네 가지가 모두 2점 이상, ML2는 거기에 나머지 쉰한 문항 가운데 절반 이상이 3점, ML3은 핵심 문항 네 가지가 모두 3점 이상입니다. ML4와 ML5는 점검과 개선 영역까지 갖추어야 합니다.</a:t>
            </a:r>
          </a:p>
          <a:p>
            <a:r>
              <a:rPr sz="1200">
                <a:latin typeface="맑은 고딕"/>
              </a:rPr>
              <a:t>조건의 어느 항에도 평균은 쓰이지 않습니다. 연계가 성립하지 않는 지점과 연계가 얕은 지점은 다르기 때문에, 연계 성립의 필요조건인 핵심 문항 4종에만 최소충족 판정을 적용하였습니다. 이 원리는 KS X ISO 8000-62에서 가져왔습니다.</a:t>
            </a:r>
          </a:p>
          <a:p>
            <a:r>
              <a:rPr sz="1200">
                <a:latin typeface="맑은 고딕"/>
              </a:rPr>
              <a:t>오른쪽이 핵심 문항 네 가지입니다. 환경측면 결정, 환경목표, 설계·개발, 성과 모니터링입니다. 핵심 문항 하나라도 3점 미만이면 평균이 높아도 ML2에서 멈춥니다. A사가 바로 그 자리입니다.</a:t>
            </a:r>
          </a:p>
          <a:p>
            <a:r>
              <a:rPr sz="1200">
                <a:latin typeface="맑은 고딕"/>
              </a:rPr>
              <a:t>만든 도구가 요건을 갖추었는지 한 장으로 정리하겠습니다.</a:t>
            </a:r>
          </a:p>
          <a:p>
            <a:r>
              <a:rPr sz="1200">
                <a:latin typeface="맑은 고딕"/>
              </a:rPr>
              <a:t>〔진입 조건·설계 근거 표 전문은 백업 B-11a, 수준별 기준은 B-11. 비교주장 조건부 shall(C-7·A-9)은 3.4.3 — 백업 B-Q5. 말로 풀 때만 비유 — 건강검진의 필수 검사(논문에 없음).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모델을 한 장으로 정리하겠습니다. 세 계층입니다.</a:t>
            </a:r>
          </a:p>
          <a:p>
            <a:r>
              <a:rPr sz="1200">
                <a:latin typeface="맑은 고딕"/>
              </a:rPr>
              <a:t>참조 모델은 평가할 업무 목록으로, 연계 프로세스 열여섯 가지입니다. 두 표준의 조항을 대응시켜 도출한 것이 새로 만든 것입니다.</a:t>
            </a:r>
          </a:p>
          <a:p>
            <a:r>
              <a:rPr sz="1200">
                <a:latin typeface="맑은 고딕"/>
              </a:rPr>
              <a:t>평가 모델은 채점표로, 평가 문항 쉰다섯 개와 문항별 판정 기준, 객관적 증거 목록입니다. 표준이 평가자에게 맡긴 평가지표를 이 분야에 맞게 개발한 것이 새로 만든 것입니다.</a:t>
            </a:r>
          </a:p>
          <a:p>
            <a:r>
              <a:rPr sz="1200">
                <a:latin typeface="맑은 고딕"/>
              </a:rPr>
              <a:t>성숙도 모델은 수준 규칙으로, ML0부터 ML5까지 여섯 수준과 핵심 문항 4종입니다. 핵심 문항 4종에만 최소충족 판정을 적용한 규칙이 새로 만든 것입니다.</a:t>
            </a:r>
          </a:p>
          <a:p>
            <a:r>
              <a:rPr sz="1200">
                <a:latin typeface="맑은 고딕"/>
              </a:rPr>
              <a:t>검증은 두 방향입니다. 추적성 검증은 쉰다섯 문항을 두 표준의 전 조항 대조에서 나온 근거 조항까지 추적한 것입니다. 표준 적합성 검증은 ISO/IEC 33004 요구사항 24건을 자체 점검한 것으로, 충족 22건, 해당 없음 1건, 보완 1건입니다. 보완 1건은 전문가 합의로, 조사지 설계까지 마쳤고 실시는 향후 연구 과제입니다.</a:t>
            </a:r>
          </a:p>
          <a:p>
            <a:r>
              <a:rPr sz="1200">
                <a:latin typeface="맑은 고딕"/>
              </a:rPr>
              <a:t>한 줄로 말씀드리면, 표준의 틀을 따르고 표준이 비워 둔 세 곳을 이 연구가 채웠습니다. 이제 이 도구로 한 기업을 평가한 결과입니다.</a:t>
            </a:r>
          </a:p>
          <a:p>
            <a:r>
              <a:rPr sz="1200">
                <a:latin typeface="맑은 고딕"/>
              </a:rPr>
              <a:t>〔따른 표준 전문은 10번·백업 B-2.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4부는 이 모델을 한 회사에 적용한 결과입니다. 평가가 어떻게 흘러갔는지 한 그림으로 먼저 보겠습니다.</a:t>
            </a:r>
          </a:p>
          <a:p>
            <a:r>
              <a:rPr sz="1200">
                <a:latin typeface="맑은 고딕"/>
              </a:rPr>
              <a:t>첫째, 문서를 받았습니다. 제조기업 A사의 환경경영시스템(ISO 14001)과 2025년 제품 전과정평가(LCA)에 관한 문서 열여섯 종, 서른세 건입니다. 매뉴얼, 절차서, 기록, 보고서입니다.</a:t>
            </a:r>
          </a:p>
          <a:p>
            <a:r>
              <a:rPr sz="1200">
                <a:latin typeface="맑은 고딕"/>
              </a:rPr>
              <a:t>둘째, 채점입니다. 쉰다섯 문항마다 확인 항목이 있는지 보고 점수를 매겼습니다. 잠정 종합점수는 2.89였습니다.</a:t>
            </a:r>
          </a:p>
          <a:p>
            <a:r>
              <a:rPr sz="1200">
                <a:latin typeface="맑은 고딕"/>
              </a:rPr>
              <a:t>셋째, 다시 확인입니다. 잠정 점수를 증빙 문서로 하나씩 대조하였습니다. 올라간 것 일곱, 내려간 것 아홉으로 확정 종합점수는 2.85입니다.</a:t>
            </a:r>
          </a:p>
          <a:p>
            <a:r>
              <a:rPr sz="1200">
                <a:latin typeface="맑은 고딕"/>
              </a:rPr>
              <a:t>넷째, 판정입니다. 핵심 문항 네 가지를 확인하니 D-1이 2점이었고, 판정은 ML2, 관리화입니다.</a:t>
            </a:r>
          </a:p>
          <a:p>
            <a:r>
              <a:rPr sz="1200">
                <a:latin typeface="맑은 고딕"/>
              </a:rPr>
              <a:t>다섯째, 개선입니다. 낮은 점수의 원인 세 가지에서 개선 과제 다섯 건을 도출하였고, 모두 마치면 3.15, ML3이 전망됩니다.</a:t>
            </a:r>
          </a:p>
          <a:p>
            <a:r>
              <a:rPr sz="1200">
                <a:latin typeface="맑은 고딕"/>
              </a:rPr>
              <a:t>평가는 문서 심사만으로, 평가자 한 명이, 2026년 6월과 7월에 수행하였습니다. ISO/IEC 33002의 평가 클래스 3에 상당하는 연구 목적의 시범 적용이며, 회사에 공식 성숙도 등급을 주는 평가가 아닙니다. 목적은 모델의 판정 논리가 실제 자료에서 작동하는지 확인하는 것입니다.</a:t>
            </a:r>
          </a:p>
          <a:p>
            <a:r>
              <a:rPr sz="1200">
                <a:latin typeface="맑은 고딕"/>
              </a:rPr>
              <a:t>평가자가 한 사람이므로 객관성을 어떻게 확보하였는지 먼저 말씀드리겠습니다.</a:t>
            </a:r>
          </a:p>
          <a:p>
            <a:r>
              <a:rPr sz="1200">
                <a:latin typeface="맑은 고딕"/>
              </a:rPr>
              <a:t>〔「회사가 쓰겠다던가」 → 백업 B-Q9.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평가자가 한 사람이라 객관성을 두 가지로 확보하였습니다.</a:t>
            </a:r>
          </a:p>
          <a:p>
            <a:r>
              <a:rPr sz="1200">
                <a:latin typeface="맑은 고딕"/>
              </a:rPr>
              <a:t>첫째, 규칙을 미리 정해 두었습니다. 말로만 한 것은 인정하지 않고, 양식만 있고 기입이 없으면 미충족, 판단이 어려우면 미충족입니다. 증빙은 체크포인트 단위로 적어 두어 제3자가 다시 볼 수 있게 하였습니다.</a:t>
            </a:r>
          </a:p>
          <a:p>
            <a:r>
              <a:rPr sz="1200">
                <a:latin typeface="맑은 고딕"/>
              </a:rPr>
              <a:t>둘째, 잠정 점수를 증빙 문서로 하나씩 다시 확인하였습니다. 올라간 것이 일곱 건, 내려간 것이 아홉 건이고, 종합점수는 2.89에서 2.85로 낮아졌습니다. 재검증이 점수가 후해지는 것을 막는 방향으로 작동한 것입니다.</a:t>
            </a:r>
          </a:p>
          <a:p>
            <a:r>
              <a:rPr sz="1200">
                <a:latin typeface="맑은 고딕"/>
              </a:rPr>
              <a:t>평가자가 이 회사의 환경경영 업무를 지원한 이력은 공평성 고려 사항으로 밝혔고, 판정은 회사가 만든 기록의 실재만을 근거로 하였습니다.</a:t>
            </a:r>
          </a:p>
          <a:p>
            <a:r>
              <a:rPr sz="1200">
                <a:latin typeface="맑은 고딕"/>
              </a:rPr>
              <a:t>아래는 평가 기록부의 실제 기입으로, 핵심 문항 네 가지만 발췌한 것입니다. D-1 행이 뒤의 판정을 가릅니다.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핵심 문항 4종 중 P-9는 4점, P-14와 C-1은 3점으로 shall 충족 기준 이상으로 통과하였으나, D-1이 2점으로 미달하였습니다. 최소충족 원리에 따라 판정 상한이 ML2로 제한되었습니다.</a:t>
            </a:r>
          </a:p>
          <a:p>
            <a:r>
              <a:rPr sz="1200">
                <a:latin typeface="맑은 고딕"/>
              </a:rPr>
              <a:t>종합점수 2.85는 판정에 쓰지 않는 보조값입니다. ML3 진입 조건인 「모든 핵심 문항 3점 이상」이 D-1에서 미달하여 ML2(관리화)로 판정됩니다.</a:t>
            </a:r>
          </a:p>
          <a:p>
            <a:r>
              <a:rPr sz="1200">
                <a:latin typeface="맑은 고딕"/>
              </a:rPr>
              <a:t>과반 기준을 50%에서 70%로 올려도, 핵심 문항의 임계를 4점이나 5점으로 올려도 이 판정은 변하지 않습니다.</a:t>
            </a:r>
          </a:p>
          <a:p>
            <a:r>
              <a:rPr sz="1200">
                <a:latin typeface="맑은 고딕"/>
              </a:rPr>
              <a:t>판정을 가른 것은 점수의 크기가 아니라 필요조건의 충족 여부입니다. 그러면 낮은 점수는 어디에서 왔는가. 다음 장입니다.</a:t>
            </a:r>
          </a:p>
          <a:p>
            <a:r>
              <a:rPr sz="1200">
                <a:latin typeface="맑은 고딕"/>
              </a:rPr>
              <a:t>〔「너무 가혹하지 않은가」가 나오면 백업 B-Q1. 1분 30초〕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결과를 한 장으로 모았습니다. 가운데 2.85가 종합점수이고, 네 칸이 계획·실행·점검·개선입니다.</a:t>
            </a:r>
          </a:p>
          <a:p>
            <a:r>
              <a:rPr sz="1200">
                <a:latin typeface="맑은 고딕"/>
              </a:rPr>
              <a:t>왼쪽 초록 상자가 강점입니다. LCA가 문서 체계에 들어와 있습니다. 오른쪽 빨간 상자가 미비 사항 3건입니다. 설계·개발 절차에 환경 고려 단계가 없고, 정밀검토 체계가 없고, LCA를 다시 할 때가 아직 오지 않았습니다.</a:t>
            </a:r>
          </a:p>
          <a:p>
            <a:r>
              <a:rPr sz="1200">
                <a:latin typeface="맑은 고딕"/>
              </a:rPr>
              <a:t>낮은 점수는 이 세 가지로 모입니다. 역량의 문제가 아니라 절차를 공식화하고 주기가 오는 문제입니다.</a:t>
            </a:r>
          </a:p>
          <a:p>
            <a:r>
              <a:rPr sz="1200">
                <a:latin typeface="맑은 고딕"/>
              </a:rPr>
              <a:t>아래 띠가 판정 경로입니다. ML1, ML2는 통과하고 ML3에서 D-1 하나에 걸려 ML2입니다. 이 세 가지 미비가 그대로 개선 과제가 됩니다.</a:t>
            </a:r>
          </a:p>
          <a:p>
            <a:r>
              <a:rPr sz="1200">
                <a:latin typeface="맑은 고딕"/>
              </a:rPr>
              <a:t>〔2.85 → ML2 → R1~R5 → 3.15 → ML3.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미비 사항 3건에 대응하는 개선 과제 5건을 도출하였습니다. 과제마다 무엇을, 어느 부서가, 언제 할지와 대상 문항, 점수 효과를 적었습니다.</a:t>
            </a:r>
          </a:p>
          <a:p>
            <a:r>
              <a:rPr sz="1200">
                <a:latin typeface="맑은 고딕"/>
              </a:rPr>
              <a:t>개선 과제의 목표 상태는 평가 문항의 판정 기준과 같은 문구여서, 차기 평가에서 조치 완료 여부를 그대로 판정할 수 있습니다.</a:t>
            </a:r>
          </a:p>
          <a:p>
            <a:r>
              <a:rPr sz="1200">
                <a:latin typeface="맑은 고딕"/>
              </a:rPr>
              <a:t>진단이 채점에서 끝나지 않고 실행 계획으로 이어지는 것입니다. 과제를 추진 시기로 배치한 것이 개선 로드맵입니다.</a:t>
            </a:r>
          </a:p>
          <a:p>
            <a:r>
              <a:rPr sz="1200">
                <a:latin typeface="맑은 고딕"/>
              </a:rPr>
              <a:t>〔과제별 1매 카드는 백업 B-14.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ML3이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말할 수 있는 범위와 말할 수 없는 범위를 갈라 두겠습니다.</a:t>
            </a:r>
          </a:p>
          <a:p>
            <a:r>
              <a:rPr sz="1200">
                <a:latin typeface="맑은 고딕"/>
              </a:rPr>
              <a:t>장점은 문항의 출처를 조항까지 따라갈 수 있다는 것, 판정 기준을 미리 정해 두어 같은 증거에 같은 점수가 나온다는 것, 종합점수에 묻히는 미비를 판정에 반영한다는 것, 평가가 개선과 재평가로 이어진다는 것입니다.</a:t>
            </a:r>
          </a:p>
          <a:p>
            <a:r>
              <a:rPr sz="1200">
                <a:latin typeface="맑은 고딕"/>
              </a:rPr>
              <a:t>단점은 핵심 문항 4종에 판정이 좌우된다는 것, 판정 파라미터가 연구자 확정값이라는 것, 평가에 손이 많이 간다는 것, 문서 심사여서 형식적 이행을 가려내기 어렵다는 것, 그리고 성숙도 수준과 실제 환경성과의 관계는 검증하지 않았다는 것입니다.</a:t>
            </a:r>
          </a:p>
          <a:p>
            <a:r>
              <a:rPr sz="1200">
                <a:latin typeface="맑은 고딕"/>
              </a:rPr>
              <a:t>한계는 한 회사, 한 시점, 평가자 한 명이라는 것, 전문가 타당도 조사를 아직 하지 않았다는 것, 가장 높은 두 수준은 사례로 확인하지 못했다는 것입니다. 이 셋이 그대로 향후 연구 과제입니다.</a:t>
            </a:r>
          </a:p>
          <a:p>
            <a:r>
              <a:rPr sz="1200">
                <a:latin typeface="맑은 고딕"/>
              </a:rPr>
              <a:t>끝으로 오늘 말씀드린 것을 한 장으로 정리하겠습니다.</a:t>
            </a:r>
          </a:p>
          <a:p>
            <a:r>
              <a:rPr sz="1200">
                <a:latin typeface="맑은 고딕"/>
              </a:rPr>
              <a:t>〔화면 글은 쉬운 말판, 항목 이름은 [표 5-1] 그대로.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ML3이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〔질의응답. 백업은 이때 쓴다 — 30번 구분 슬라이드 뒤 B-1~B-17 그림·표, B-0 장별 요약, B-Q1~B-Q12 예상 질문. 전문은 예상 질문 v5(48문).〕</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16번에서 뺀 BARS 앵커 표 전문. 「점수 기준을 어떻게 정했나」가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17번에서 뺀 [표 3-7] 진입 조건·설계 근거 표 전문. 「PA.1.1 상당」 같은 근거를 물으면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모델은 한 번에 설계되지 않았습니다. 일곱 단계로 다듬었습니다.</a:t>
            </a:r>
          </a:p>
          <a:p>
            <a:r>
              <a:rPr sz="1200">
                <a:latin typeface="맑은 고딕"/>
                <a:ea typeface="맑은 고딕"/>
              </a:rPr>
              <a:t>2025년 9월에 두 표준 연계의 목적과 범위를 정리하였고, 10월에 ISO 14001 전 조항 검토표와 연계표, 성숙도표를 만들었습니다.</a:t>
            </a:r>
          </a:p>
          <a:p>
            <a:r>
              <a:rPr sz="1200">
                <a:latin typeface="맑은 고딕"/>
                <a:ea typeface="맑은 고딕"/>
              </a:rPr>
              <a:t>2026년 3월에 전조항 분석으로 평가 문항 쉰다섯 개와 판정 포인트를 정했고, 6월에 문항별 체크포인트와 BARS 앵커 체계, 핵심 문항 4종을 정하고 잠정 채점을 하였습니다. 7월에 체크포인트 단위로 전수 재검증하여 종합 2.85, ML2로 확정하였습니다.</a:t>
            </a:r>
          </a:p>
          <a:p>
            <a:r>
              <a:rPr sz="1200">
                <a:latin typeface="맑은 고딕"/>
                <a:ea typeface="맑은 고딕"/>
              </a:rPr>
              <a:t>8월에 ISO/IEC 33000 계열과 KS X ISO 8000-61, 8000-62에 대조하여 판정 규칙과 연계 프로세스 16종 편성을 보완하였고, 9월에 지도교수 검토와 용어·구조 정리, 33004 자체점검 24건을 마쳤습니다.</a:t>
            </a:r>
          </a:p>
          <a:p>
            <a:r>
              <a:rPr sz="1200">
                <a:latin typeface="맑은 고딕"/>
                <a:ea typeface="맑은 고딕"/>
              </a:rPr>
              <a:t>표준 대조가 모델을 실제로 보완하였습니다. 최소충족 판정은 KS X ISO 8000-62 4.5.1에서, 수준별 프로세스 집합의 도출 규칙은 ISO/IEC 33004 7.3.6에서, 프로세스 기술 형식은 KS X ISO 8000-61 5.3에서 가져왔습니다.</a:t>
            </a:r>
          </a:p>
          <a:p>
            <a:r>
              <a:rPr sz="1200">
                <a:latin typeface="맑은 고딕"/>
                <a:ea typeface="맑은 고딕"/>
              </a:rPr>
              <a:t>이제 이 도구로 한 기업을 평가한 결과입니다.</a:t>
            </a:r>
          </a:p>
          <a:p>
            <a:r>
              <a:rPr sz="1200">
                <a:latin typeface="맑은 고딕"/>
                <a:ea typeface="맑은 고딕"/>
              </a:rPr>
              <a:t>〔「처음 설계와 무엇이 달라졌나」 → 2025년 10월 성숙도표의 수준 이름이 현행 문항 점수 이름(1~5점)의 유래, 성숙도 수준 이름과는 별개(예상 질문 17번). 55문항을 16종으로 묶은 기준·명칭·경계는 연구자가 확정하고 지도교수 검토(3.2.1 K1~K4). 1분〕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600" b="1" i="0" a:lang="ko-KR">
                <a:solidFill>
                  <a:srgbClr val="1F3864"/>
                </a:solidFill>
                <a:latin typeface="맑은 고딕"/>
                <a:ea typeface="맑은 고딕"/>
              </a:rPr>
              <a:t>환경경영시스템(ISO 14001)과</a:t>
            </a:r>
          </a:p>
          <a:p>
            <a:pPr>
              <a:spcAft>
                <a:spcPts val="400"/>
              </a:spcAft>
            </a:pPr>
            <a:r>
              <a:rPr sz="2600" b="1" i="0" a:lang="ko-KR">
                <a:solidFill>
                  <a:srgbClr val="1F3864"/>
                </a:solidFill>
                <a:latin typeface="맑은 고딕"/>
                <a:ea typeface="맑은 고딕"/>
              </a:rPr>
              <a:t>전과정평가(LCA)의 프로세스</a:t>
            </a:r>
          </a:p>
          <a:p>
            <a:pPr>
              <a:spcAft>
                <a:spcPts val="400"/>
              </a:spcAft>
            </a:pPr>
            <a:r>
              <a:rPr sz="2600" b="1" i="0" a:lang="ko-KR">
                <a:solidFill>
                  <a:srgbClr val="1F3864"/>
                </a:solidFill>
                <a:latin typeface="맑은 고딕"/>
                <a:ea typeface="맑은 고딕"/>
              </a:rPr>
              <a:t>연계 모델 개발 및 성숙도 평가</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맺음 — 답한 것 · 기여 · 남은 것</a:t>
            </a:r>
          </a:p>
        </p:txBody>
      </p:sp>
      <p:sp>
        <p:nvSpPr>
          <p:cNvPr id="22" name="Rounded Rectangle 21"/>
          <p:cNvSpPr/>
          <p:nvPr/>
        </p:nvSpPr>
        <p:spPr>
          <a:xfrm>
            <a:off x="497190" y="596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오늘은 모델의 뼈대와 적용 결과를 중심으로 말씀드리고, 조항별 판정과 문항 전문은 부록에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1682842" y="1150000"/>
            <a:ext cx="7326315" cy="5799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이 연구를 한 장으로 — 두 표준과 연계(linkage)</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관리하는 틀과 측정하는 방법, 이 둘의 연계를 조항 단위로 확인하고 성숙도 수준으로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1.2.1, [그림 1-1]</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위 여섯 단계를 함께 보는 것  ·  전과정평가(LCA: Life Cycle Assessment)</a:t>
            </a:r>
          </a:p>
        </p:txBody>
      </p:sp>
      <p:sp>
        <p:nvSpPr>
          <p:cNvPr id="21" name="EMS box"/>
          <p:cNvSpPr/>
          <p:nvPr/>
        </p:nvSpPr>
        <p:spPr>
          <a:xfrm>
            <a:off x="497190" y="1330000"/>
            <a:ext cx="3879048" cy="2700000"/>
          </a:xfrm>
          <a:prstGeom prst="roundRect">
            <a:avLst/>
          </a:prstGeom>
          <a:solidFill>
            <a:srgbClr val="E8EEF7"/>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1F3864"/>
                </a:solidFill>
                <a:latin typeface="맑은 고딕"/>
                <a:ea typeface="맑은 고딕"/>
              </a:rPr>
              <a:t>환경경영시스템(ISO 14001)</a:t>
            </a:r>
          </a:p>
          <a:p>
            <a:pPr algn="ctr">
              <a:spcAft>
                <a:spcPts val="600"/>
              </a:spcAft>
            </a:pPr>
            <a:r>
              <a:rPr sz="1500" b="1">
                <a:solidFill>
                  <a:srgbClr val="111111"/>
                </a:solidFill>
                <a:latin typeface="맑은 고딕"/>
                <a:ea typeface="맑은 고딕"/>
              </a:rPr>
              <a:t>환경을 관리하는 틀</a:t>
            </a:r>
          </a:p>
          <a:p>
            <a:pPr algn="ctr"/>
            <a:r>
              <a:rPr sz="1400" b="0">
                <a:solidFill>
                  <a:srgbClr val="111111"/>
                </a:solidFill>
                <a:latin typeface="맑은 고딕"/>
                <a:ea typeface="맑은 고딕"/>
              </a:rPr>
              <a:t>환경측면을 결정하고 영향을 평가해 중대한 환경측면을 결정하고, 그것을 환경목표에 반영해 실행하고, 점검하여 지속적으로 개선한다</a:t>
            </a:r>
          </a:p>
        </p:txBody>
      </p:sp>
      <p:sp>
        <p:nvSpPr>
          <p:cNvPr id="22" name="LCA box"/>
          <p:cNvSpPr/>
          <p:nvPr/>
        </p:nvSpPr>
        <p:spPr>
          <a:xfrm>
            <a:off x="6315762" y="1330000"/>
            <a:ext cx="3879048" cy="2700000"/>
          </a:xfrm>
          <a:prstGeom prst="roundRect">
            <a:avLst/>
          </a:prstGeom>
          <a:solidFill>
            <a:srgbClr val="EAF4EE"/>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2E6B4A"/>
                </a:solidFill>
                <a:latin typeface="맑은 고딕"/>
                <a:ea typeface="맑은 고딕"/>
              </a:rPr>
              <a:t>전과정평가(LCA)</a:t>
            </a:r>
          </a:p>
          <a:p>
            <a:pPr algn="ctr">
              <a:spcAft>
                <a:spcPts val="600"/>
              </a:spcAft>
            </a:pPr>
            <a:r>
              <a:rPr sz="1500" b="1">
                <a:solidFill>
                  <a:srgbClr val="111111"/>
                </a:solidFill>
                <a:latin typeface="맑은 고딕"/>
                <a:ea typeface="맑은 고딕"/>
              </a:rPr>
              <a:t>환경영향을 측정하는 방법</a:t>
            </a:r>
          </a:p>
          <a:p>
            <a:pPr algn="ctr"/>
            <a:r>
              <a:rPr sz="1400" b="0">
                <a:solidFill>
                  <a:srgbClr val="111111"/>
                </a:solidFill>
                <a:latin typeface="맑은 고딕"/>
                <a:ea typeface="맑은 고딕"/>
              </a:rPr>
              <a:t>제품이 원료 채취 → 설계 → 생산 → 운송·배송 → 사용 → 폐기의 각 단계에서 환경에 주는 영향을 숫자로 계산해 영향이 가장 큰 단계(Hotspot)를 찾는다 (ISO 14044)</a:t>
            </a:r>
          </a:p>
        </p:txBody>
      </p:sp>
      <p:cxnSp>
        <p:nvCxnSpPr>
          <p:cNvPr id="23" name="link line"/>
          <p:cNvCxnSpPr/>
          <p:nvPr/>
        </p:nvCxnSpPr>
        <p:spPr>
          <a:xfrm>
            <a:off x="4416238" y="2680000"/>
            <a:ext cx="1859524" cy="0"/>
          </a:xfrm>
          <a:prstGeom prst="line">
            <a:avLst/>
          </a:prstGeom>
          <a:ln w="28575">
            <a:solidFill>
              <a:srgbClr val="1F3864"/>
            </a:solidFill>
          </a:ln>
        </p:spPr>
        <p:style>
          <a:lnRef idx="2">
            <a:schemeClr val="accent1"/>
          </a:lnRef>
          <a:fillRef idx="0">
            <a:schemeClr val="accent1"/>
          </a:fillRef>
          <a:effectRef idx="1">
            <a:schemeClr val="accent1"/>
          </a:effectRef>
          <a:fontRef idx="minor">
            <a:schemeClr val="tx1"/>
          </a:fontRef>
        </p:style>
      </p:cxnSp>
      <p:sp>
        <p:nvSpPr>
          <p:cNvPr id="24" name="link q"/>
          <p:cNvSpPr/>
          <p:nvPr/>
        </p:nvSpPr>
        <p:spPr>
          <a:xfrm>
            <a:off x="4826000" y="2380000"/>
            <a:ext cx="1040000" cy="600000"/>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60000" bIns="60000"/>
          <a:lstStyle/>
          <a:p>
            <a:pPr algn="ctr"/>
            <a:r>
              <a:rPr sz="2000" b="1">
                <a:solidFill>
                  <a:srgbClr val="1F3864"/>
                </a:solidFill>
                <a:latin typeface="맑은 고딕"/>
                <a:ea typeface="맑은 고딕"/>
              </a:rPr>
              <a:t>연계?</a:t>
            </a:r>
          </a:p>
        </p:txBody>
      </p:sp>
      <p:sp>
        <p:nvSpPr>
          <p:cNvPr id="25" name="key line"/>
          <p:cNvSpPr/>
          <p:nvPr/>
        </p:nvSpPr>
        <p:spPr>
          <a:xfrm>
            <a:off x="497190" y="4330000"/>
            <a:ext cx="9697620" cy="8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r>
              <a:rPr sz="1600" b="1">
                <a:solidFill>
                  <a:srgbClr val="C00000"/>
                </a:solidFill>
                <a:latin typeface="맑은 고딕"/>
                <a:ea typeface="맑은 고딕"/>
              </a:rPr>
              <a:t>두 표준은 별개의 표준이라 한쪽이 다른 쪽을 요구하지 않고, 실무에서는 별도로 운영되는 경우가 많다 — 두 표준의 연계를 조항 단위로 확인하고 성숙도 수준으로 판정하는 모델, 이것이 이 연구가 만든 것이다</a:t>
            </a:r>
          </a:p>
        </p:txBody>
      </p:sp>
      <p:sp>
        <p:nvSpPr>
          <p:cNvPr id="26" name="sub lines"/>
          <p:cNvSpPr txBox="1"/>
          <p:nvPr/>
        </p:nvSpPr>
        <p:spPr>
          <a:xfrm>
            <a:off x="497190" y="5390000"/>
            <a:ext cx="9697620" cy="760000"/>
          </a:xfrm>
          <a:prstGeom prst="rect">
            <a:avLst/>
          </a:prstGeom>
          <a:noFill/>
        </p:spPr>
        <p:txBody>
          <a:bodyPr wrap="square" lIns="45720">
            <a:spAutoFit/>
          </a:bodyPr>
          <a:lstStyle/>
          <a:p>
            <a:pPr>
              <a:spcAft>
                <a:spcPts val="400"/>
              </a:spcAft>
            </a:pPr>
            <a:r>
              <a:rPr sz="1500" b="0">
                <a:solidFill>
                  <a:srgbClr val="111111"/>
                </a:solidFill>
                <a:latin typeface="맑은 고딕"/>
                <a:ea typeface="맑은 고딕"/>
              </a:rPr>
              <a:t>연계(linkage)란 — LCA 결과가 환경측면의 결정·환경목표·설계·개발·모니터링에 쓰이는 것 (핵심 연계 지점 4곳)</a:t>
            </a:r>
          </a:p>
          <a:p>
            <a:r>
              <a:rPr sz="1500" b="0">
                <a:solidFill>
                  <a:srgbClr val="111111"/>
                </a:solidFill>
                <a:latin typeface="맑은 고딕"/>
                <a:ea typeface="맑은 고딕"/>
              </a:rPr>
              <a:t>판정 결과는 — ML0(도입 전)부터 ML5(혁신화)까지 여섯 수준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표준이 서로 비워 둔 곳</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180000"/>
          <a:ext cx="9623040" cy="3435456"/>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780288">
                <a:tc>
                  <a:txBody>
                    <a:bodyPr wrap="square"/>
                    <a:lstStyle/>
                    <a:p>
                      <a:pPr algn="l"/>
                      <a:r>
                        <a:rPr sz="1400" b="0" i="0" a:lang="ko-KR">
                          <a:solidFill>
                            <a:srgbClr val="111111"/>
                          </a:solidFill>
                          <a:latin typeface="맑은 고딕"/>
                          <a:ea typeface="맑은 고딕"/>
                        </a:rPr>
                        <a:t>접근의 성격</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관리적 프레임워크 — 전과정 관점은 고려 사항(6.1.2)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정량적 분석 방법론 — 평가의 방법과 절차를 요구사항으로 규정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 프레임워크와 정량 방법론의 결합</a:t>
                      </a:r>
                    </a:p>
                  </a:txBody>
                  <a:tcPr marL="64008" marR="64008" marT="27432" marB="27432" anchor="ctr">
                    <a:solidFill>
                      <a:srgbClr val="FFFFFF"/>
                    </a:solidFill>
                  </a:tcPr>
                </a:tc>
              </a:tr>
              <a:tr h="7802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경영시스템과의 통합·실행 구조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PDCA 관리 구조 보유</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통합 미흡, 실행 전략·운영 지침 부재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PDCA 관리 주기에 LCA 연결</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4705456"/>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4705456"/>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915056"/>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환경측면 = 조직의 활동·제품 가운데 환경에 영향을 줄 수 있는 요소(예: 전력 사용, 원료의 탄소 배출)  ·  중대한 환경측면 = 환경측면의 영향을 평가해 영향이 큰 것으로 결정한 것 — 이것을 환경목표에 반영한다(6.1.2 → 6.2.1)  ·  전과정 목록분석(LCI: Life Cycle Inventory) = 제품 한 단위(기능단위)에 들어가고 나오는 원료·에너지·배출을 모두 세는 단계  ·  전과정 영향평가(LCIA: Life Cycle Impact Assessment) = 그 목록이 기후변화·산성화 등에 미치는 영향을 계산하는 단계  ·  PDCA(Plan–Do–Check–Act) = 계획–실행–점검–조치의 관리 순환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「LCA를 했다」가 뜻하는 두 상태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그 결과(LCA 영향평가)를 근거로 중대한 환경측면을 결정하고 환경목표를 정하며, 다음 해에 다시 측정해 확인 → LCA는 경영시스템의 운영에 쓰이는 입력</a:t>
            </a:r>
          </a:p>
          <a:p>
            <a:r>
              <a:rPr sz="1500" b="1" i="0" a:lang="ko-KR">
                <a:solidFill>
                  <a:srgbClr val="C00000"/>
                </a:solidFill>
                <a:latin typeface="맑은 고딕"/>
                <a:ea typeface="맑은 고딕"/>
              </a:rPr>
              <a:t>본 연구가 말하는 연계(linkage)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매핑(mapping) = map은 「지도」지만 여기서는 「짝지어 대응시키다」는 뜻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5.2·5.4 (형식의 요건)</a:t>
            </a:r>
          </a:p>
          <a:p>
            <a:pPr algn="l"/>
            <a:r>
              <a:rPr sz="1300" b="0" i="0" a:lang="ko-KR">
                <a:solidFill>
                  <a:srgbClr val="111111"/>
                </a:solidFill>
                <a:latin typeface="맑은 고딕"/>
                <a:ea typeface="맑은 고딕"/>
              </a:rPr>
              <a:t>KS X ISO 8000-61  5.1·5.3 (기술 형식 · PDCA 편성)</a:t>
            </a:r>
          </a:p>
          <a:p>
            <a:pPr algn="l"/>
            <a:r>
              <a:rPr sz="1300" b="0" i="0" a:lang="ko-KR">
                <a:solidFill>
                  <a:srgbClr val="111111"/>
                </a:solidFill>
                <a:latin typeface="맑은 고딕"/>
                <a:ea typeface="맑은 고딕"/>
              </a:rPr>
              <a:t>김선호·이창수(2013) 참조 모델의 원형</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6.1·6.3.2 (참조 모델 + 측정 틀)</a:t>
            </a:r>
          </a:p>
          <a:p>
            <a:pPr algn="l"/>
            <a:r>
              <a:rPr sz="1300" b="0" i="0" a:lang="ko-KR">
                <a:solidFill>
                  <a:srgbClr val="111111"/>
                </a:solidFill>
                <a:latin typeface="맑은 고딕"/>
                <a:ea typeface="맑은 고딕"/>
              </a:rPr>
              <a:t>KS X ISO 8000-62  4.3·4.7·4.9 (평가 산출물)</a:t>
            </a:r>
          </a:p>
          <a:p>
            <a:pPr algn="l"/>
            <a:r>
              <a:rPr sz="1300" b="0" i="0" a:lang="ko-KR">
                <a:solidFill>
                  <a:srgbClr val="111111"/>
                </a:solidFill>
                <a:latin typeface="맑은 고딕"/>
                <a:ea typeface="맑은 고딕"/>
              </a:rPr>
              <a:t>ISO/IEC 33020  5.3·PA (N·P·L·F 부분 충족)  ·  33001 용어</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7.1·7.3.5·7.3.6 (수준의 요건)</a:t>
            </a:r>
          </a:p>
          <a:p>
            <a:pPr algn="l"/>
            <a:r>
              <a:rPr sz="1300" b="0" i="0" a:lang="ko-KR">
                <a:solidFill>
                  <a:srgbClr val="111111"/>
                </a:solidFill>
                <a:latin typeface="맑은 고딕"/>
                <a:ea typeface="맑은 고딕"/>
              </a:rPr>
              <a:t>KS X ISO 8000-62  4.5.1·부속서 C (최소충족 판정)</a:t>
            </a:r>
          </a:p>
          <a:p>
            <a:pPr algn="l"/>
            <a:r>
              <a:rPr sz="1300" b="0" i="0" a:lang="ko-KR">
                <a:solidFill>
                  <a:srgbClr val="111111"/>
                </a:solidFill>
                <a:latin typeface="맑은 고딕"/>
                <a:ea typeface="맑은 고딕"/>
              </a:rPr>
              <a:t>ISO/IEC 33003  3.7·3.12 (형성형 · 비보상)  ·  33020 5.5</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0" i="0" a:lang="ko-KR">
                <a:solidFill>
                  <a:srgbClr val="111111"/>
                </a:solidFill>
                <a:latin typeface="맑은 고딕"/>
                <a:ea typeface="맑은 고딕"/>
              </a:rPr>
              <a:t>평가의 수행 — ISO/IEC 33002 (평가 클래스)  ·  운영 준거 — KS Q ISO 19011 · ISO/IEC 17024 · KS Q ISO 10015 · KS I ISO 14004  ·  문장 판별 — KS A 0001  ·  「핵심 문항」 용어 — KS Q 8001·8002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점수를 매기는가)  ·  성숙도 모델 = 등급 규칙(점수를 수준으로 바꾸는 규칙)  ·  최소충족·비보상 = 필수 항목이 빠지면 다른 점수로 메우지 못함  ·  이 셋을 합쳐 연계 성숙도 평가 모델(LMA: Linkage Maturity Assessment)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모델(LMA)을 한 그림으로</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맞대어 업무 목록 → 채점표 → 수준 규칙의 순서로 만들었다.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3.2~3.5, [그림 3-2]</a:t>
            </a:r>
          </a:p>
        </p:txBody>
      </p:sp>
      <p:sp>
        <p:nvSpPr>
          <p:cNvPr id="8" name="m std1"/>
          <p:cNvSpPr/>
          <p:nvPr/>
        </p:nvSpPr>
        <p:spPr>
          <a:xfrm>
            <a:off x="1097190" y="1250000"/>
            <a:ext cx="3100000" cy="7600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1F3864"/>
                </a:solidFill>
                <a:latin typeface="맑은 고딕"/>
                <a:ea typeface="맑은 고딕"/>
              </a:rPr>
              <a:t>환경경영시스템(ISO 14001)</a:t>
            </a:r>
          </a:p>
          <a:p>
            <a:pPr algn="ctr"/>
            <a:r>
              <a:rPr sz="1200" b="0">
                <a:solidFill>
                  <a:srgbClr val="111111"/>
                </a:solidFill>
                <a:latin typeface="맑은 고딕"/>
                <a:ea typeface="맑은 고딕"/>
              </a:rPr>
              <a:t>조항 30개 (4~10절)</a:t>
            </a:r>
          </a:p>
        </p:txBody>
      </p:sp>
      <p:sp>
        <p:nvSpPr>
          <p:cNvPr id="9" name="m std2"/>
          <p:cNvSpPr/>
          <p:nvPr/>
        </p:nvSpPr>
        <p:spPr>
          <a:xfrm>
            <a:off x="6494810" y="1250000"/>
            <a:ext cx="3100000" cy="760000"/>
          </a:xfrm>
          <a:prstGeom prst="roundRect">
            <a:avLst/>
          </a:prstGeom>
          <a:solidFill>
            <a:srgbClr val="EAF4EE"/>
          </a:solidFill>
          <a:ln w="12700">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2E6B4A"/>
                </a:solidFill>
                <a:latin typeface="맑은 고딕"/>
                <a:ea typeface="맑은 고딕"/>
              </a:rPr>
              <a:t>전과정평가(LCA, ISO 14044)</a:t>
            </a:r>
          </a:p>
          <a:p>
            <a:pPr algn="ctr"/>
            <a:r>
              <a:rPr sz="1200" b="0">
                <a:solidFill>
                  <a:srgbClr val="111111"/>
                </a:solidFill>
                <a:latin typeface="맑은 고딕"/>
                <a:ea typeface="맑은 고딕"/>
              </a:rPr>
              <a:t>요구사항 (shall·should)</a:t>
            </a:r>
          </a:p>
        </p:txBody>
      </p:sp>
      <p:sp>
        <p:nvSpPr>
          <p:cNvPr id="10" name="m map arrow"/>
          <p:cNvSpPr/>
          <p:nvPr/>
        </p:nvSpPr>
        <p:spPr>
          <a:xfrm>
            <a:off x="4347190" y="1500000"/>
            <a:ext cx="1997620" cy="260000"/>
          </a:xfrm>
          <a:prstGeom prst="leftRightArrow">
            <a:avLst/>
          </a:prstGeom>
          <a:solidFill>
            <a:srgbClr val="5B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 map label"/>
          <p:cNvSpPr txBox="1"/>
          <p:nvPr/>
        </p:nvSpPr>
        <p:spPr>
          <a:xfrm>
            <a:off x="4197190" y="920000"/>
            <a:ext cx="2297620" cy="300000"/>
          </a:xfrm>
          <a:prstGeom prst="rect">
            <a:avLst/>
          </a:prstGeom>
          <a:noFill/>
        </p:spPr>
        <p:txBody>
          <a:bodyPr wrap="square" lIns="45720" rIns="45720" tIns="20000" bIns="20000">
            <a:spAutoFit/>
          </a:bodyPr>
          <a:lstStyle/>
          <a:p>
            <a:pPr algn="ctr"/>
            <a:r>
              <a:rPr sz="1200" b="1">
                <a:solidFill>
                  <a:srgbClr val="1F3864"/>
                </a:solidFill>
                <a:latin typeface="맑은 고딕"/>
                <a:ea typeface="맑은 고딕"/>
              </a:rPr>
              <a:t>매핑 — 조항을 하나하나 대응</a:t>
            </a:r>
          </a:p>
        </p:txBody>
      </p:sp>
      <p:sp>
        <p:nvSpPr>
          <p:cNvPr id="12" name="m map note"/>
          <p:cNvSpPr txBox="1"/>
          <p:nvPr/>
        </p:nvSpPr>
        <p:spPr>
          <a:xfrm>
            <a:off x="3146000" y="2040000"/>
            <a:ext cx="4400000" cy="320000"/>
          </a:xfrm>
          <a:prstGeom prst="rect">
            <a:avLst/>
          </a:prstGeom>
          <a:noFill/>
        </p:spPr>
        <p:txBody>
          <a:bodyPr wrap="square" lIns="45720" rIns="45720" tIns="20000" bIns="20000">
            <a:spAutoFit/>
          </a:bodyPr>
          <a:lstStyle/>
          <a:p>
            <a:pPr algn="ctr"/>
            <a:r>
              <a:rPr sz="1150" b="0">
                <a:solidFill>
                  <a:srgbClr val="595959"/>
                </a:solidFill>
                <a:latin typeface="맑은 고딕"/>
                <a:ea typeface="맑은 고딕"/>
              </a:rPr>
              <a:t>맞닿는 곳 = 연계 지점 · 그 가운데 필수인 네 곳 = 핵심 연계 지점</a:t>
            </a:r>
          </a:p>
        </p:txBody>
      </p:sp>
      <p:sp>
        <p:nvSpPr>
          <p:cNvPr id="13" name="arr"/>
          <p:cNvSpPr/>
          <p:nvPr/>
        </p:nvSpPr>
        <p:spPr>
          <a:xfrm>
            <a:off x="5236000" y="2370000"/>
            <a:ext cx="220000" cy="22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 row0 name"/>
          <p:cNvSpPr/>
          <p:nvPr/>
        </p:nvSpPr>
        <p:spPr>
          <a:xfrm>
            <a:off x="497190" y="263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① 참조 모델</a:t>
            </a:r>
          </a:p>
          <a:p>
            <a:pPr algn="ctr"/>
            <a:r>
              <a:rPr sz="1200" b="0">
                <a:solidFill>
                  <a:srgbClr val="FFFFFF"/>
                </a:solidFill>
                <a:latin typeface="맑은 고딕"/>
                <a:ea typeface="맑은 고딕"/>
              </a:rPr>
              <a:t>평가할 업무 목록</a:t>
            </a:r>
          </a:p>
        </p:txBody>
      </p:sp>
      <p:sp>
        <p:nvSpPr>
          <p:cNvPr id="15" name="m row0 scale"/>
          <p:cNvSpPr/>
          <p:nvPr/>
        </p:nvSpPr>
        <p:spPr>
          <a:xfrm>
            <a:off x="3117190" y="263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연계 프로세스 16종</a:t>
            </a:r>
          </a:p>
        </p:txBody>
      </p:sp>
      <p:sp>
        <p:nvSpPr>
          <p:cNvPr id="16" name="m row0 expl"/>
          <p:cNvSpPr/>
          <p:nvPr/>
        </p:nvSpPr>
        <p:spPr>
          <a:xfrm>
            <a:off x="6237190" y="263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연계 지점을 업무 단위로 묶고, 제목·목적·성과·활동으로 적음</a:t>
            </a:r>
          </a:p>
        </p:txBody>
      </p:sp>
      <p:sp>
        <p:nvSpPr>
          <p:cNvPr id="17" name="arr"/>
          <p:cNvSpPr/>
          <p:nvPr/>
        </p:nvSpPr>
        <p:spPr>
          <a:xfrm>
            <a:off x="1637190" y="347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 row1 name"/>
          <p:cNvSpPr/>
          <p:nvPr/>
        </p:nvSpPr>
        <p:spPr>
          <a:xfrm>
            <a:off x="497190" y="367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② 평가 모델</a:t>
            </a:r>
          </a:p>
          <a:p>
            <a:pPr algn="ctr"/>
            <a:r>
              <a:rPr sz="1200" b="0">
                <a:solidFill>
                  <a:srgbClr val="FFFFFF"/>
                </a:solidFill>
                <a:latin typeface="맑은 고딕"/>
                <a:ea typeface="맑은 고딕"/>
              </a:rPr>
              <a:t>채점표</a:t>
            </a:r>
          </a:p>
        </p:txBody>
      </p:sp>
      <p:sp>
        <p:nvSpPr>
          <p:cNvPr id="19" name="m row1 scale"/>
          <p:cNvSpPr/>
          <p:nvPr/>
        </p:nvSpPr>
        <p:spPr>
          <a:xfrm>
            <a:off x="3117190" y="367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평가 문항 55 · 문항별 판정 기준 · 증거 목록</a:t>
            </a:r>
          </a:p>
        </p:txBody>
      </p:sp>
      <p:sp>
        <p:nvSpPr>
          <p:cNvPr id="20" name="m row1 expl"/>
          <p:cNvSpPr/>
          <p:nvPr/>
        </p:nvSpPr>
        <p:spPr>
          <a:xfrm>
            <a:off x="6237190" y="367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업무마다 「되어 있는가」를 묻고, 확인 항목 개수로 1~5점</a:t>
            </a:r>
          </a:p>
        </p:txBody>
      </p:sp>
      <p:sp>
        <p:nvSpPr>
          <p:cNvPr id="21" name="arr"/>
          <p:cNvSpPr/>
          <p:nvPr/>
        </p:nvSpPr>
        <p:spPr>
          <a:xfrm>
            <a:off x="1637190" y="451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 row2 name"/>
          <p:cNvSpPr/>
          <p:nvPr/>
        </p:nvSpPr>
        <p:spPr>
          <a:xfrm>
            <a:off x="497190" y="471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③ 성숙도 모델</a:t>
            </a:r>
          </a:p>
          <a:p>
            <a:pPr algn="ctr"/>
            <a:r>
              <a:rPr sz="1200" b="0">
                <a:solidFill>
                  <a:srgbClr val="FFFFFF"/>
                </a:solidFill>
                <a:latin typeface="맑은 고딕"/>
                <a:ea typeface="맑은 고딕"/>
              </a:rPr>
              <a:t>수준 규칙</a:t>
            </a:r>
          </a:p>
        </p:txBody>
      </p:sp>
      <p:sp>
        <p:nvSpPr>
          <p:cNvPr id="23" name="m row2 scale"/>
          <p:cNvSpPr/>
          <p:nvPr/>
        </p:nvSpPr>
        <p:spPr>
          <a:xfrm>
            <a:off x="3117190" y="471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ML0~ML5 여섯 수준 · 핵심 문항 4종</a:t>
            </a:r>
          </a:p>
        </p:txBody>
      </p:sp>
      <p:sp>
        <p:nvSpPr>
          <p:cNvPr id="24" name="m row2 expl"/>
          <p:cNvSpPr/>
          <p:nvPr/>
        </p:nvSpPr>
        <p:spPr>
          <a:xfrm>
            <a:off x="6237190" y="471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점수를 수준으로 바꾸는 규칙 — 핵심 문항 4종은 하나라도 빠지면 ML2에서 멈춤</a:t>
            </a:r>
          </a:p>
        </p:txBody>
      </p:sp>
      <p:sp>
        <p:nvSpPr>
          <p:cNvPr id="25" name="arr"/>
          <p:cNvSpPr/>
          <p:nvPr/>
        </p:nvSpPr>
        <p:spPr>
          <a:xfrm>
            <a:off x="1637190" y="555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 out"/>
          <p:cNvSpPr/>
          <p:nvPr/>
        </p:nvSpPr>
        <p:spPr>
          <a:xfrm>
            <a:off x="497190" y="5770000"/>
            <a:ext cx="2500000" cy="56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판정 — 성숙도 수준</a:t>
            </a:r>
          </a:p>
        </p:txBody>
      </p:sp>
      <p:sp>
        <p:nvSpPr>
          <p:cNvPr id="27" name="m out expl"/>
          <p:cNvSpPr/>
          <p:nvPr/>
        </p:nvSpPr>
        <p:spPr>
          <a:xfrm>
            <a:off x="3117190" y="5770000"/>
            <a:ext cx="7077620" cy="56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1">
                <a:solidFill>
                  <a:srgbClr val="C00000"/>
                </a:solidFill>
                <a:latin typeface="맑은 고딕"/>
                <a:ea typeface="맑은 고딕"/>
              </a:rPr>
              <a:t>회사의 연계가 ML0(도입 전)~ML5(혁신화) 가운데 어디에 있는지 — 종합점수는 판정에 쓰지 않는 보조값</a:t>
            </a:r>
          </a:p>
        </p:txBody>
      </p:sp>
      <p:sp>
        <p:nvSpPr>
          <p:cNvPr id="28" name="m verify"/>
          <p:cNvSpPr txBox="1"/>
          <p:nvPr/>
        </p:nvSpPr>
        <p:spPr>
          <a:xfrm>
            <a:off x="497190" y="6450000"/>
            <a:ext cx="9697620" cy="38000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검증 두 방향 — ① 추적성: 문항마다 어느 조항에서 왔는지 따라감  ② 표준 적합성: ISO/IEC 33004 요구사항 24건 자체점검(충족 22·해당 없음 1·보완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표준을 맞댄 방법 — 조항 매핑</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같은 물음을 물어 연계 가능성을 등급으로 매겼다.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sp>
        <p:nvSpPr>
          <p:cNvPr id="8" name="TextBox 7"/>
          <p:cNvSpPr txBox="1"/>
          <p:nvPr/>
        </p:nvSpPr>
        <p:spPr>
          <a:xfrm>
            <a:off x="497190" y="1180000"/>
            <a:ext cx="4490752" cy="2363184"/>
          </a:xfrm>
          <a:prstGeom prst="rect">
            <a:avLst/>
          </a:prstGeom>
          <a:noFill/>
        </p:spPr>
        <p:txBody>
          <a:bodyPr wrap="square" anchor="t" lIns="0" rIns="0" tIns="0" bIns="0">
            <a:spAutoFit/>
          </a:bodyPr>
          <a:lstStyle/>
          <a:p>
            <a:pPr>
              <a:spcAft>
                <a:spcPts val="400"/>
              </a:spcAft>
            </a:pPr>
            <a:r>
              <a:rPr sz="1600" b="1" i="0" a:lang="ko-KR">
                <a:solidFill>
                  <a:srgbClr val="2E74B5"/>
                </a:solidFill>
                <a:latin typeface="맑은 고딕"/>
                <a:ea typeface="맑은 고딕"/>
              </a:rPr>
              <a:t>네 가지 판정 질문 — 전조항에 같은 순서로</a:t>
            </a:r>
          </a:p>
          <a:p>
            <a:pPr>
              <a:spcAft>
                <a:spcPts val="300"/>
              </a:spcAft>
            </a:pPr>
            <a:r>
              <a:rPr sz="1500" b="0" i="0" a:lang="ko-KR">
                <a:solidFill>
                  <a:srgbClr val="111111"/>
                </a:solidFill>
                <a:latin typeface="맑은 고딕"/>
                <a:ea typeface="맑은 고딕"/>
              </a:rPr>
              <a:t>Q1 전과정 관점을 명시적으로 요구하거나 그 결과를 직접 입력으로 삼는가?</a:t>
            </a:r>
          </a:p>
          <a:p>
            <a:pPr>
              <a:spcAft>
                <a:spcPts val="300"/>
              </a:spcAft>
            </a:pPr>
            <a:r>
              <a:rPr sz="1500" b="0" i="0" a:lang="ko-KR">
                <a:solidFill>
                  <a:srgbClr val="111111"/>
                </a:solidFill>
                <a:latin typeface="맑은 고딕"/>
                <a:ea typeface="맑은 고딕"/>
              </a:rPr>
              <a:t>Q2 LCA 산출물 없이는 shall 이행이 불완전한가?</a:t>
            </a:r>
          </a:p>
          <a:p>
            <a:pPr>
              <a:spcAft>
                <a:spcPts val="300"/>
              </a:spcAft>
            </a:pPr>
            <a:r>
              <a:rPr sz="1500" b="0" i="0" a:lang="ko-KR">
                <a:solidFill>
                  <a:srgbClr val="111111"/>
                </a:solidFill>
                <a:latin typeface="맑은 고딕"/>
                <a:ea typeface="맑은 고딕"/>
              </a:rPr>
              <a:t>Q3 LCA 결과가 주요 입력값인가?</a:t>
            </a:r>
          </a:p>
          <a:p>
            <a:pPr>
              <a:spcAft>
                <a:spcPts val="300"/>
              </a:spcAft>
            </a:pPr>
            <a:r>
              <a:rPr sz="1500" b="0" i="0" a:lang="ko-KR">
                <a:solidFill>
                  <a:srgbClr val="111111"/>
                </a:solidFill>
                <a:latin typeface="맑은 고딕"/>
                <a:ea typeface="맑은 고딕"/>
              </a:rPr>
              <a:t>Q4 보조 정보라도 제공하는가?</a:t>
            </a:r>
          </a:p>
        </p:txBody>
      </p:sp>
      <p:graphicFrame>
        <p:nvGraphicFramePr>
          <p:cNvPr id="9" name="Table 8"/>
          <p:cNvGraphicFramePr>
            <a:graphicFrameLocks noGrp="1"/>
          </p:cNvGraphicFramePr>
          <p:nvPr/>
        </p:nvGraphicFramePr>
        <p:xfrm>
          <a:off x="5052096" y="1180000"/>
          <a:ext cx="5132288" cy="4759616"/>
        </p:xfrm>
        <a:graphic>
          <a:graphicData uri="http://schemas.openxmlformats.org/drawingml/2006/table">
            <a:tbl>
              <a:tblPr firstRow="1" bandRow="1">
                <a:tableStyleId>{5C22544A-7EE6-4342-B048-85BDC9FD1C3A}</a:tableStyleId>
              </a:tblPr>
              <a:tblGrid>
                <a:gridCol w="865240"/>
                <a:gridCol w="2646336"/>
                <a:gridCol w="1620712"/>
              </a:tblGrid>
              <a:tr h="725760">
                <a:tc>
                  <a:txBody>
                    <a:bodyPr wrap="square"/>
                    <a:lstStyle/>
                    <a:p>
                      <a:pPr algn="ctr"/>
                      <a:r>
                        <a:rPr sz="14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4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4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4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4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Rounded Rectangle 9"/>
          <p:cNvSpPr/>
          <p:nvPr/>
        </p:nvSpPr>
        <p:spPr>
          <a:xfrm>
            <a:off x="497190" y="4050800"/>
            <a:ext cx="4490752" cy="1108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「매우 높음」 4개 조항 = 뒤의 핵심 문항 4종의 자리</a:t>
            </a:r>
          </a:p>
          <a:p>
            <a:pPr algn="ctr"/>
            <a:r>
              <a:rPr sz="1400" b="0" i="0" a:lang="ko-KR">
                <a:solidFill>
                  <a:srgbClr val="111111"/>
                </a:solidFill>
                <a:latin typeface="맑은 고딕"/>
                <a:ea typeface="맑은 고딕"/>
              </a:rPr>
              <a:t>6.1.2 환경측면 · 6.2.1 환경목표 · 8.1 운용기획 및 관리 · 9.1.1 모니터링</a:t>
            </a:r>
          </a:p>
        </p:txBody>
      </p:sp>
      <p:sp>
        <p:nvSpPr>
          <p:cNvPr id="11" name="TextBox 10"/>
          <p:cNvSpPr txBox="1"/>
          <p:nvPr/>
        </p:nvSpPr>
        <p:spPr>
          <a:xfrm>
            <a:off x="497190" y="5742000"/>
            <a:ext cx="9695214" cy="894160"/>
          </a:xfrm>
          <a:prstGeom prst="rect">
            <a:avLst/>
          </a:prstGeom>
          <a:noFill/>
        </p:spPr>
        <p:txBody>
          <a:bodyPr wrap="square" anchor="t" lIns="0" rIns="0" tIns="0" bIns="0">
            <a:spAutoFit/>
          </a:bodyPr>
          <a:lstStyle/>
          <a:p>
            <a:pPr>
              <a:spcAft>
                <a:spcPts val="300"/>
              </a:spcAft>
            </a:pPr>
            <a:r>
              <a:rPr sz="1100" b="0" i="0" a:lang="ko-KR">
                <a:solidFill>
                  <a:srgbClr val="595959"/>
                </a:solidFill>
                <a:latin typeface="맑은 고딕"/>
                <a:ea typeface="맑은 고딕"/>
              </a:rPr>
              <a:t>ISO 14001 30개 조항 단위(7.4.1~7.4.3은 7.4로 통합)의 전 조항 판정 — 조항별 판정 전문은 부록 A·B.1. 판정 질문의 적용 흐름은 [그림 3-3](백업 B-1).</a:t>
            </a:r>
          </a:p>
          <a:p>
            <a:r>
              <a:rPr sz="1100" b="0" i="0" a:lang="ko-KR">
                <a:solidFill>
                  <a:srgbClr val="595959"/>
                </a:solidFill>
                <a:latin typeface="맑은 고딕"/>
                <a:ea typeface="맑은 고딕"/>
              </a:rPr>
              <a:t>55문항 중 44문항은 ISO 14001 조항에, 11문항은 ISO 14044 고유 요건(목적·범위 정의, 목록분석, 보고, 정밀검토)에 대응한다.</a:t>
            </a:r>
          </a:p>
        </p:txBody>
      </p:sp>
      <p:sp>
        <p:nvSpPr>
          <p:cNvPr id="12"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「반드시 해야 한다」는 의무, should = 권고 — KS 번역본에서 어느 문장이 의무이고 권고인지는 KS A 0001(표준의 서식과 작성방법) 부속서 I의 문장 말미 형태로 가름  ·  정밀검토 = LCA 결과를 제3자나 내부 전문가가 검토하는 절차(ISO 14044 6절)</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지점 — 두 관리 주기가 만나는 곳</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497190" y="1250000"/>
            <a:ext cx="5760720" cy="4320539"/>
          </a:xfrm>
          <a:prstGeom prst="rect">
            <a:avLst/>
          </a:prstGeom>
        </p:spPr>
      </p:pic>
      <p:sp>
        <p:nvSpPr>
          <p:cNvPr id="9" name="TextBox 8"/>
          <p:cNvSpPr txBox="1"/>
          <p:nvPr/>
        </p:nvSpPr>
        <p:spPr>
          <a:xfrm>
            <a:off x="497190" y="5650539"/>
            <a:ext cx="5760720"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주기(계획–실행–점검–조치) / 오른쪽 — ISO 14044의 4단계. 두 주기가 만나는 곳이 연계 지점이고, 네 곳 가운데 하나가 끊기면 순환이 그 단계에서 멈춘다.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지점(linkage point) = 매핑에서 확인된 두 표준의 결합 지점  ·  핵심 연계 지점 = 그 가운데 연계 성립에 필수인 네 곳</a:t>
            </a:r>
          </a:p>
        </p:txBody>
      </p:sp>
      <p:sp>
        <p:nvSpPr>
          <p:cNvPr id="11" name="lp head"/>
          <p:cNvSpPr txBox="1"/>
          <p:nvPr/>
        </p:nvSpPr>
        <p:spPr>
          <a:xfrm>
            <a:off x="6487910" y="1250000"/>
            <a:ext cx="3706900" cy="330000"/>
          </a:xfrm>
          <a:prstGeom prst="rect">
            <a:avLst/>
          </a:prstGeom>
          <a:noFill/>
        </p:spPr>
        <p:txBody>
          <a:bodyPr wrap="square" lIns="45720" rIns="45720" tIns="20000" bIns="20000">
            <a:spAutoFit/>
          </a:bodyPr>
          <a:lstStyle/>
          <a:p>
            <a:r>
              <a:rPr sz="1400" b="1">
                <a:solidFill>
                  <a:srgbClr val="1F3864"/>
                </a:solidFill>
                <a:latin typeface="맑은 고딕"/>
                <a:ea typeface="맑은 고딕"/>
              </a:rPr>
              <a:t>핵심 연계 지점 네 곳 — 굵은 선 ①~④</a:t>
            </a:r>
          </a:p>
        </p:txBody>
      </p:sp>
      <p:sp>
        <p:nvSpPr>
          <p:cNvPr id="12" name="lp0"/>
          <p:cNvSpPr/>
          <p:nvPr/>
        </p:nvSpPr>
        <p:spPr>
          <a:xfrm>
            <a:off x="6487910" y="163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① 환경측면(6.1.2) ↔ LCA 영향평가</a:t>
            </a:r>
          </a:p>
          <a:p>
            <a:r>
              <a:rPr sz="1200" b="0">
                <a:solidFill>
                  <a:srgbClr val="111111"/>
                </a:solidFill>
                <a:latin typeface="맑은 고딕"/>
                <a:ea typeface="맑은 고딕"/>
              </a:rPr>
              <a:t>영향이 가장 큰 곳(Hotspot)을 환경측면 결정의 근거로 쓴다</a:t>
            </a:r>
          </a:p>
        </p:txBody>
      </p:sp>
      <p:sp>
        <p:nvSpPr>
          <p:cNvPr id="13" name="lp1"/>
          <p:cNvSpPr/>
          <p:nvPr/>
        </p:nvSpPr>
        <p:spPr>
          <a:xfrm>
            <a:off x="6487910" y="272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② 환경목표(6.2.1) ↔ LCA 해석</a:t>
            </a:r>
          </a:p>
          <a:p>
            <a:r>
              <a:rPr sz="1200" b="0">
                <a:solidFill>
                  <a:srgbClr val="111111"/>
                </a:solidFill>
                <a:latin typeface="맑은 고딕"/>
                <a:ea typeface="맑은 고딕"/>
              </a:rPr>
              <a:t>Hotspot을 근거로 숫자 목표를 세운다</a:t>
            </a:r>
          </a:p>
        </p:txBody>
      </p:sp>
      <p:sp>
        <p:nvSpPr>
          <p:cNvPr id="14" name="lp2"/>
          <p:cNvSpPr/>
          <p:nvPr/>
        </p:nvSpPr>
        <p:spPr>
          <a:xfrm>
            <a:off x="6487910" y="381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③ 설계·개발(8.1) ↔ LCA 목록분석</a:t>
            </a:r>
          </a:p>
          <a:p>
            <a:r>
              <a:rPr sz="1200" b="0">
                <a:solidFill>
                  <a:srgbClr val="111111"/>
                </a:solidFill>
                <a:latin typeface="맑은 고딕"/>
                <a:ea typeface="맑은 고딕"/>
              </a:rPr>
              <a:t>설계할 때 LCA 결과를 반영한다</a:t>
            </a:r>
          </a:p>
        </p:txBody>
      </p:sp>
      <p:sp>
        <p:nvSpPr>
          <p:cNvPr id="15" name="lp3"/>
          <p:cNvSpPr/>
          <p:nvPr/>
        </p:nvSpPr>
        <p:spPr>
          <a:xfrm>
            <a:off x="6487910" y="490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④ 모니터링(9.1.1) ↔ LCA 재수행</a:t>
            </a:r>
          </a:p>
          <a:p>
            <a:r>
              <a:rPr sz="1200" b="0">
                <a:solidFill>
                  <a:srgbClr val="111111"/>
                </a:solidFill>
                <a:latin typeface="맑은 고딕"/>
                <a:ea typeface="맑은 고딕"/>
              </a:rPr>
              <a:t>개선 전·후를 LCA로 다시 측정해 비교한다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평가 모델 — 55문항과 채점 기준</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250000"/>
            <a:ext cx="5394960" cy="2669055"/>
          </a:xfrm>
          <a:prstGeom prst="rect">
            <a:avLst/>
          </a:prstGeom>
        </p:spPr>
      </p:pic>
      <p:sp>
        <p:nvSpPr>
          <p:cNvPr id="9" name="TextBox 8"/>
          <p:cNvSpPr txBox="1"/>
          <p:nvPr/>
        </p:nvSpPr>
        <p:spPr>
          <a:xfrm>
            <a:off x="497190" y="4019055"/>
            <a:ext cx="5394960" cy="1500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ISO 14001 조항 대응 44 + ISO 14044 고유 11 (계획 30 · 실행 6 · 점검 10 · 개선 9)</a:t>
            </a:r>
          </a:p>
          <a:p>
            <a:r>
              <a:rPr sz="1300" b="0">
                <a:solidFill>
                  <a:srgbClr val="111111"/>
                </a:solidFill>
                <a:latin typeface="맑은 고딕"/>
                <a:ea typeface="맑은 고딕"/>
              </a:rPr>
              <a:t>문항마다 「무엇을 증거로 볼지」와 「어느 상태를 몇 점으로 볼지」(BARS 앵커)를 미리 정해 둠</a:t>
            </a:r>
          </a:p>
          <a:p>
            <a:r>
              <a:rPr sz="1150" b="0">
                <a:solidFill>
                  <a:srgbClr val="595959"/>
                </a:solidFill>
                <a:latin typeface="맑은 고딕"/>
                <a:ea typeface="맑은 고딕"/>
              </a:rPr>
              <a:t>그림 — 평가 문항 → 판정 기준 → 평가 기록부 → 평가 보고서의 순서로 쓰이는 평가 모델의 구성 [그림 3-8]</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앵커(BARS: Behaviorally Anchored Rating Scale, 행동기술척도) = 1~5점 각각이 어떤 상태인지 말로 적어 둔 기준 — 평가자가 달라도 같은 점수가 나오게 함</a:t>
            </a:r>
          </a:p>
        </p:txBody>
      </p:sp>
      <p:sp>
        <p:nvSpPr>
          <p:cNvPr id="14" name="sc head"/>
          <p:cNvSpPr/>
          <p:nvPr/>
        </p:nvSpPr>
        <p:spPr>
          <a:xfrm>
            <a:off x="6122150" y="1250000"/>
            <a:ext cx="407266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점수를 매기는 법 — 세 단계</a:t>
            </a:r>
          </a:p>
        </p:txBody>
      </p:sp>
      <p:sp>
        <p:nvSpPr>
          <p:cNvPr id="15" name="sc0"/>
          <p:cNvSpPr/>
          <p:nvPr/>
        </p:nvSpPr>
        <p:spPr>
          <a:xfrm>
            <a:off x="6122150" y="177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① 확인할 항목을 미리 정한다</a:t>
            </a:r>
          </a:p>
          <a:p>
            <a:r>
              <a:rPr sz="1200" b="0">
                <a:solidFill>
                  <a:srgbClr val="111111"/>
                </a:solidFill>
                <a:latin typeface="맑은 고딕"/>
                <a:ea typeface="맑은 고딕"/>
              </a:rPr>
              <a:t>문항마다 필수 항목(shall)과 추가 항목(should)을 적어 둠 — 체크포인트</a:t>
            </a:r>
          </a:p>
        </p:txBody>
      </p:sp>
      <p:sp>
        <p:nvSpPr>
          <p:cNvPr id="16" name="sc1"/>
          <p:cNvSpPr/>
          <p:nvPr/>
        </p:nvSpPr>
        <p:spPr>
          <a:xfrm>
            <a:off x="6122150" y="286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② 회사 문서를 보고 그 항목이 있는지 센다</a:t>
            </a:r>
          </a:p>
          <a:p>
            <a:r>
              <a:rPr sz="1200" b="0">
                <a:solidFill>
                  <a:srgbClr val="111111"/>
                </a:solidFill>
                <a:latin typeface="맑은 고딕"/>
                <a:ea typeface="맑은 고딕"/>
              </a:rPr>
              <a:t>구두 설명은 인정하지 않고 문서·기록만</a:t>
            </a:r>
          </a:p>
        </p:txBody>
      </p:sp>
      <p:sp>
        <p:nvSpPr>
          <p:cNvPr id="17" name="sc2"/>
          <p:cNvSpPr/>
          <p:nvPr/>
        </p:nvSpPr>
        <p:spPr>
          <a:xfrm>
            <a:off x="6122150" y="395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③ 센 개수가 점수 (BARS 앵커)</a:t>
            </a:r>
          </a:p>
          <a:p>
            <a:r>
              <a:rPr sz="1200" b="0">
                <a:solidFill>
                  <a:srgbClr val="111111"/>
                </a:solidFill>
                <a:latin typeface="맑은 고딕"/>
                <a:ea typeface="맑은 고딕"/>
              </a:rPr>
              <a:t>필수 전부 있으면 3점(기준선) · 추가까지 있으면 4·5점 · 필수가 빠지면 1·2점</a:t>
            </a:r>
          </a:p>
        </p:txBody>
      </p:sp>
      <p:sp>
        <p:nvSpPr>
          <p:cNvPr id="18" name="sc ex"/>
          <p:cNvSpPr/>
          <p:nvPr/>
        </p:nvSpPr>
        <p:spPr>
          <a:xfrm>
            <a:off x="6122150" y="5040000"/>
            <a:ext cx="4072660" cy="9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C00000"/>
                </a:solidFill>
                <a:latin typeface="맑은 고딕"/>
                <a:ea typeface="맑은 고딕"/>
              </a:rPr>
              <a:t>예 — ★ D-1 설계·개발 단계의 LCA 결과 반영</a:t>
            </a:r>
          </a:p>
          <a:p>
            <a:r>
              <a:rPr sz="1200" b="0">
                <a:solidFill>
                  <a:srgbClr val="111111"/>
                </a:solidFill>
                <a:latin typeface="맑은 고딕"/>
                <a:ea typeface="맑은 고딕"/>
              </a:rPr>
              <a:t>필수 3개 가운데 2개만 있어 2점 — 4장에서 판정을 가른 문항. 점수별 기준 전문은 백업 B-10a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 — 판정 규칙과 핵심 문항</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720000"/>
            <a:ext cx="9695214" cy="760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핵심 문항 하나라도 3점 미만이면 평균이 높아도 ML2에서 멈춘다 — 연계가 성립하지 않는 지점(핵심 문항 미달)과 연계가 얕은 지점(51문항의 점수 차)은 다르다</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
        <p:nvSpPr>
          <p:cNvPr id="21" name="ml5"/>
          <p:cNvSpPr/>
          <p:nvPr/>
        </p:nvSpPr>
        <p:spPr>
          <a:xfrm>
            <a:off x="2597190" y="1250000"/>
            <a:ext cx="462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ML5 혁신화  —  + 전 문항 3점 이상, 개선(A) 영역 전부 4점 이상</a:t>
            </a:r>
          </a:p>
        </p:txBody>
      </p:sp>
      <p:sp>
        <p:nvSpPr>
          <p:cNvPr id="22" name="ml4"/>
          <p:cNvSpPr/>
          <p:nvPr/>
        </p:nvSpPr>
        <p:spPr>
          <a:xfrm>
            <a:off x="2177190" y="1940000"/>
            <a:ext cx="504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ML4 예측화  —  + 핵심 문항 4종 모두 4점, 점검(C) 영역 전부 3점 이상</a:t>
            </a:r>
          </a:p>
        </p:txBody>
      </p:sp>
      <p:sp>
        <p:nvSpPr>
          <p:cNvPr id="23" name="ml3"/>
          <p:cNvSpPr/>
          <p:nvPr/>
        </p:nvSpPr>
        <p:spPr>
          <a:xfrm>
            <a:off x="1757190" y="2630000"/>
            <a:ext cx="5460840" cy="6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1">
                <a:solidFill>
                  <a:srgbClr val="C00000"/>
                </a:solidFill>
                <a:latin typeface="맑은 고딕"/>
                <a:ea typeface="맑은 고딕"/>
              </a:rPr>
              <a:t>ML3 체계화  —  + 핵심 문항 4종 모두 3점 이상</a:t>
            </a:r>
          </a:p>
        </p:txBody>
      </p:sp>
      <p:sp>
        <p:nvSpPr>
          <p:cNvPr id="24" name="ml2"/>
          <p:cNvSpPr/>
          <p:nvPr/>
        </p:nvSpPr>
        <p:spPr>
          <a:xfrm>
            <a:off x="1337190" y="3320000"/>
            <a:ext cx="588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ML2 관리화  —  + 나머지 51문항 가운데 절반 이상 3점</a:t>
            </a:r>
          </a:p>
        </p:txBody>
      </p:sp>
      <p:sp>
        <p:nvSpPr>
          <p:cNvPr id="25" name="ml mark"/>
          <p:cNvSpPr/>
          <p:nvPr/>
        </p:nvSpPr>
        <p:spPr>
          <a:xfrm>
            <a:off x="497190" y="2630000"/>
            <a:ext cx="1200000" cy="60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45000" bIns="45000"/>
          <a:lstStyle/>
          <a:p>
            <a:pPr algn="l"/>
            <a:r>
              <a:rPr sz="1200" b="1">
                <a:solidFill>
                  <a:srgbClr val="C00000"/>
                </a:solidFill>
                <a:latin typeface="맑은 고딕"/>
                <a:ea typeface="맑은 고딕"/>
              </a:rPr>
              <a:t>A사 ▶ ML2</a:t>
            </a:r>
          </a:p>
          <a:p>
            <a:pPr algn="l"/>
            <a:r>
              <a:rPr sz="1100" b="0">
                <a:solidFill>
                  <a:srgbClr val="C00000"/>
                </a:solidFill>
                <a:latin typeface="맑은 고딕"/>
                <a:ea typeface="맑은 고딕"/>
              </a:rPr>
              <a:t>(D-1 2점)</a:t>
            </a:r>
          </a:p>
        </p:txBody>
      </p:sp>
      <p:sp>
        <p:nvSpPr>
          <p:cNvPr id="26" name="ml1"/>
          <p:cNvSpPr/>
          <p:nvPr/>
        </p:nvSpPr>
        <p:spPr>
          <a:xfrm>
            <a:off x="917190" y="4010000"/>
            <a:ext cx="630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ML1 도입  —  핵심 문항 4종 모두 2점 이상</a:t>
            </a:r>
          </a:p>
        </p:txBody>
      </p:sp>
      <p:sp>
        <p:nvSpPr>
          <p:cNvPr id="27" name="ml0"/>
          <p:cNvSpPr/>
          <p:nvPr/>
        </p:nvSpPr>
        <p:spPr>
          <a:xfrm>
            <a:off x="497190" y="4700000"/>
            <a:ext cx="6720840" cy="600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ML0 도입 전  —  연계 활동이 없음</a:t>
            </a:r>
          </a:p>
        </p:txBody>
      </p:sp>
      <p:sp>
        <p:nvSpPr>
          <p:cNvPr id="28" name="ml note"/>
          <p:cNvSpPr txBox="1"/>
          <p:nvPr/>
        </p:nvSpPr>
        <p:spPr>
          <a:xfrm>
            <a:off x="497190" y="5350000"/>
            <a:ext cx="67208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조건은 누적 — 아래 수준의 조건을 모두 갖추어야 위로 올라간다. 조건의 어느 항에도 평균은 쓰이지 않는다.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[표 3-11], 부록 E</a:t>
            </a:r>
          </a:p>
        </p:txBody>
      </p:sp>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비워 둔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내용타당도 지수(CVI: Content Validity Index) = 전문가들이 「이 문항이 적절한가」를 평가한 비율  ·  객관적 증거 = 문서·기록처럼 남이 보아도 확인되는 증거</a:t>
            </a:r>
          </a:p>
        </p:txBody>
      </p:sp>
      <p:sp>
        <p:nvSpPr>
          <p:cNvPr id="21" name="card0"/>
          <p:cNvSpPr/>
          <p:nvPr/>
        </p:nvSpPr>
        <p:spPr>
          <a:xfrm>
            <a:off x="4971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참조 모델</a:t>
            </a:r>
          </a:p>
          <a:p>
            <a:pPr algn="ctr">
              <a:spcAft>
                <a:spcPts val="1000"/>
              </a:spcAft>
            </a:pPr>
            <a:r>
              <a:rPr sz="1400" b="0">
                <a:solidFill>
                  <a:srgbClr val="595959"/>
                </a:solidFill>
                <a:latin typeface="맑은 고딕"/>
                <a:ea typeface="맑은 고딕"/>
              </a:rPr>
              <a:t>— 평가할 업무 목록 —</a:t>
            </a:r>
          </a:p>
          <a:p>
            <a:pPr algn="ctr">
              <a:spcAft>
                <a:spcPts val="0"/>
              </a:spcAft>
            </a:pPr>
            <a:r>
              <a:rPr sz="1700" b="1">
                <a:solidFill>
                  <a:srgbClr val="111111"/>
                </a:solidFill>
                <a:latin typeface="맑은 고딕"/>
                <a:ea typeface="맑은 고딕"/>
              </a:rPr>
              <a:t>연계 프로세스 16종</a:t>
            </a:r>
          </a:p>
          <a:p>
            <a:pPr algn="ctr">
              <a:spcAft>
                <a:spcPts val="1400"/>
              </a:spcAft>
            </a:pPr>
            <a:r>
              <a:rPr sz="1300" b="0">
                <a:solidFill>
                  <a:srgbClr val="111111"/>
                </a:solidFill>
                <a:latin typeface="맑은 고딕"/>
                <a:ea typeface="맑은 고딕"/>
              </a:rPr>
              <a:t>계획 8 · 실행 2 · 점검 3 · 개선 3</a:t>
            </a:r>
          </a:p>
          <a:p>
            <a:pPr algn="l"/>
            <a:r>
              <a:rPr sz="1300" b="0">
                <a:solidFill>
                  <a:srgbClr val="1F3864"/>
                </a:solidFill>
                <a:latin typeface="맑은 고딕"/>
                <a:ea typeface="맑은 고딕"/>
              </a:rPr>
              <a:t>새로 만든 것 — 두 표준의 조항을 대응시켜 도출한 연계 프로세스</a:t>
            </a:r>
          </a:p>
        </p:txBody>
      </p:sp>
      <p:sp>
        <p:nvSpPr>
          <p:cNvPr id="22" name="card arr0"/>
          <p:cNvSpPr/>
          <p:nvPr/>
        </p:nvSpPr>
        <p:spPr>
          <a:xfrm>
            <a:off x="354471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1"/>
          <p:cNvSpPr/>
          <p:nvPr/>
        </p:nvSpPr>
        <p:spPr>
          <a:xfrm>
            <a:off x="383724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평가 모델</a:t>
            </a:r>
          </a:p>
          <a:p>
            <a:pPr algn="ctr">
              <a:spcAft>
                <a:spcPts val="1000"/>
              </a:spcAft>
            </a:pPr>
            <a:r>
              <a:rPr sz="1400" b="0">
                <a:solidFill>
                  <a:srgbClr val="595959"/>
                </a:solidFill>
                <a:latin typeface="맑은 고딕"/>
                <a:ea typeface="맑은 고딕"/>
              </a:rPr>
              <a:t>— 채점표 —</a:t>
            </a:r>
          </a:p>
          <a:p>
            <a:pPr algn="ctr">
              <a:spcAft>
                <a:spcPts val="0"/>
              </a:spcAft>
            </a:pPr>
            <a:r>
              <a:rPr sz="1700" b="1">
                <a:solidFill>
                  <a:srgbClr val="111111"/>
                </a:solidFill>
                <a:latin typeface="맑은 고딕"/>
                <a:ea typeface="맑은 고딕"/>
              </a:rPr>
              <a:t>평가 문항 55</a:t>
            </a:r>
          </a:p>
          <a:p>
            <a:pPr algn="ctr">
              <a:spcAft>
                <a:spcPts val="1400"/>
              </a:spcAft>
            </a:pPr>
            <a:r>
              <a:rPr sz="1300" b="0">
                <a:solidFill>
                  <a:srgbClr val="111111"/>
                </a:solidFill>
                <a:latin typeface="맑은 고딕"/>
                <a:ea typeface="맑은 고딕"/>
              </a:rPr>
              <a:t>문항별 판정 기준(BARS 앵커) · 객관적 증거 목록</a:t>
            </a:r>
          </a:p>
          <a:p>
            <a:pPr algn="l"/>
            <a:r>
              <a:rPr sz="1300" b="0">
                <a:solidFill>
                  <a:srgbClr val="1F3864"/>
                </a:solidFill>
                <a:latin typeface="맑은 고딕"/>
                <a:ea typeface="맑은 고딕"/>
              </a:rPr>
              <a:t>새로 만든 것 — 표준이 평가자에게 맡긴 평가지표를 이 분야에 맞게 개발</a:t>
            </a:r>
          </a:p>
        </p:txBody>
      </p:sp>
      <p:sp>
        <p:nvSpPr>
          <p:cNvPr id="24" name="card arr1"/>
          <p:cNvSpPr/>
          <p:nvPr/>
        </p:nvSpPr>
        <p:spPr>
          <a:xfrm>
            <a:off x="688476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rd2"/>
          <p:cNvSpPr/>
          <p:nvPr/>
        </p:nvSpPr>
        <p:spPr>
          <a:xfrm>
            <a:off x="71772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성숙도 모델</a:t>
            </a:r>
          </a:p>
          <a:p>
            <a:pPr algn="ctr">
              <a:spcAft>
                <a:spcPts val="1000"/>
              </a:spcAft>
            </a:pPr>
            <a:r>
              <a:rPr sz="1400" b="0">
                <a:solidFill>
                  <a:srgbClr val="595959"/>
                </a:solidFill>
                <a:latin typeface="맑은 고딕"/>
                <a:ea typeface="맑은 고딕"/>
              </a:rPr>
              <a:t>— 수준 규칙 —</a:t>
            </a:r>
          </a:p>
          <a:p>
            <a:pPr algn="ctr">
              <a:spcAft>
                <a:spcPts val="0"/>
              </a:spcAft>
            </a:pPr>
            <a:r>
              <a:rPr sz="1700" b="1">
                <a:solidFill>
                  <a:srgbClr val="111111"/>
                </a:solidFill>
                <a:latin typeface="맑은 고딕"/>
                <a:ea typeface="맑은 고딕"/>
              </a:rPr>
              <a:t>ML0~ML5 여섯 수준</a:t>
            </a:r>
          </a:p>
          <a:p>
            <a:pPr algn="ctr">
              <a:spcAft>
                <a:spcPts val="1400"/>
              </a:spcAft>
            </a:pPr>
            <a:r>
              <a:rPr sz="1300" b="0">
                <a:solidFill>
                  <a:srgbClr val="111111"/>
                </a:solidFill>
                <a:latin typeface="맑은 고딕"/>
                <a:ea typeface="맑은 고딕"/>
              </a:rPr>
              <a:t>핵심 문항 4종</a:t>
            </a:r>
          </a:p>
          <a:p>
            <a:pPr algn="l"/>
            <a:r>
              <a:rPr sz="1300" b="0">
                <a:solidFill>
                  <a:srgbClr val="1F3864"/>
                </a:solidFill>
                <a:latin typeface="맑은 고딕"/>
                <a:ea typeface="맑은 고딕"/>
              </a:rPr>
              <a:t>새로 만든 것 — 핵심 문항 4종에만 최소충족 판정을 적용한 규칙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모델은 어떻게 만들어졌나 — 반복 개발의 경위</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19</a:t>
            </a:r>
          </a:p>
        </p:txBody>
      </p:sp>
      <p:sp>
        <p:nvSpPr>
          <p:cNvPr id="7" name="Rectangle 6"/>
          <p:cNvSpPr/>
          <p:nvPr/>
        </p:nvSpPr>
        <p:spPr>
          <a:xfrm>
            <a:off x="497190" y="217188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484308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59908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번에 설계하지 않고 전 조항 대조 → 55문항 → 채점 기준 → 표준 대조의 순서로 다듬었다.</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2.4.5, 3.1, 3.2.1, 3.2.3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평가를 한 그림으로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 4.3.5, 4.5, 4.6</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조직 간 비교나 공식 등급이 아닌, 모델이 작동하는지 보는 연구용 평가</a:t>
            </a:r>
          </a:p>
        </p:txBody>
      </p:sp>
      <p:sp>
        <p:nvSpPr>
          <p:cNvPr id="18" name="ev0"/>
          <p:cNvSpPr/>
          <p:nvPr/>
        </p:nvSpPr>
        <p:spPr>
          <a:xfrm>
            <a:off x="497190"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① 문서 받기</a:t>
            </a:r>
          </a:p>
          <a:p>
            <a:pPr algn="ctr">
              <a:spcAft>
                <a:spcPts val="400"/>
              </a:spcAft>
            </a:pPr>
            <a:r>
              <a:rPr sz="1150" b="0">
                <a:solidFill>
                  <a:srgbClr val="111111"/>
                </a:solidFill>
                <a:latin typeface="맑은 고딕"/>
                <a:ea typeface="맑은 고딕"/>
              </a:rPr>
              <a:t>A사 문서 16종(33건)</a:t>
            </a:r>
          </a:p>
          <a:p>
            <a:pPr algn="ctr"/>
            <a:r>
              <a:rPr sz="1300" b="1">
                <a:solidFill>
                  <a:srgbClr val="1F3864"/>
                </a:solidFill>
                <a:latin typeface="맑은 고딕"/>
                <a:ea typeface="맑은 고딕"/>
              </a:rPr>
              <a:t>매뉴얼 · 절차서 · 기록 · 보고서</a:t>
            </a:r>
          </a:p>
        </p:txBody>
      </p:sp>
      <p:sp>
        <p:nvSpPr>
          <p:cNvPr id="19" name="ev arr0"/>
          <p:cNvSpPr/>
          <p:nvPr/>
        </p:nvSpPr>
        <p:spPr>
          <a:xfrm>
            <a:off x="2272714"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1"/>
          <p:cNvSpPr/>
          <p:nvPr/>
        </p:nvSpPr>
        <p:spPr>
          <a:xfrm>
            <a:off x="2482714"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② 채점</a:t>
            </a:r>
          </a:p>
          <a:p>
            <a:pPr algn="ctr">
              <a:spcAft>
                <a:spcPts val="400"/>
              </a:spcAft>
            </a:pPr>
            <a:r>
              <a:rPr sz="1150" b="0">
                <a:solidFill>
                  <a:srgbClr val="111111"/>
                </a:solidFill>
                <a:latin typeface="맑은 고딕"/>
                <a:ea typeface="맑은 고딕"/>
              </a:rPr>
              <a:t>55문항마다 확인 항목이 있는지 보고 점수</a:t>
            </a:r>
          </a:p>
          <a:p>
            <a:pPr algn="ctr"/>
            <a:r>
              <a:rPr sz="1300" b="1">
                <a:solidFill>
                  <a:srgbClr val="1F3864"/>
                </a:solidFill>
                <a:latin typeface="맑은 고딕"/>
                <a:ea typeface="맑은 고딕"/>
              </a:rPr>
              <a:t>잠정 종합 2.89</a:t>
            </a:r>
          </a:p>
        </p:txBody>
      </p:sp>
      <p:sp>
        <p:nvSpPr>
          <p:cNvPr id="21" name="ev arr1"/>
          <p:cNvSpPr/>
          <p:nvPr/>
        </p:nvSpPr>
        <p:spPr>
          <a:xfrm>
            <a:off x="4258238"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2"/>
          <p:cNvSpPr/>
          <p:nvPr/>
        </p:nvSpPr>
        <p:spPr>
          <a:xfrm>
            <a:off x="4468238"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③ 다시 확인</a:t>
            </a:r>
          </a:p>
          <a:p>
            <a:pPr algn="ctr">
              <a:spcAft>
                <a:spcPts val="400"/>
              </a:spcAft>
            </a:pPr>
            <a:r>
              <a:rPr sz="1150" b="0">
                <a:solidFill>
                  <a:srgbClr val="111111"/>
                </a:solidFill>
                <a:latin typeface="맑은 고딕"/>
                <a:ea typeface="맑은 고딕"/>
              </a:rPr>
              <a:t>증빙 문서로 하나씩 대조</a:t>
            </a:r>
          </a:p>
          <a:p>
            <a:pPr algn="ctr"/>
            <a:r>
              <a:rPr sz="1300" b="1">
                <a:solidFill>
                  <a:srgbClr val="1F3864"/>
                </a:solidFill>
                <a:latin typeface="맑은 고딕"/>
                <a:ea typeface="맑은 고딕"/>
              </a:rPr>
              <a:t>상향 7 · 하향 9 → 확정 2.85</a:t>
            </a:r>
          </a:p>
        </p:txBody>
      </p:sp>
      <p:sp>
        <p:nvSpPr>
          <p:cNvPr id="23" name="ev arr2"/>
          <p:cNvSpPr/>
          <p:nvPr/>
        </p:nvSpPr>
        <p:spPr>
          <a:xfrm>
            <a:off x="6243762"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3"/>
          <p:cNvSpPr/>
          <p:nvPr/>
        </p:nvSpPr>
        <p:spPr>
          <a:xfrm>
            <a:off x="6453762" y="1250000"/>
            <a:ext cx="1755524" cy="16002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C00000"/>
                </a:solidFill>
                <a:latin typeface="맑은 고딕"/>
                <a:ea typeface="맑은 고딕"/>
              </a:rPr>
              <a:t>④ 판정</a:t>
            </a:r>
          </a:p>
          <a:p>
            <a:pPr algn="ctr">
              <a:spcAft>
                <a:spcPts val="400"/>
              </a:spcAft>
            </a:pPr>
            <a:r>
              <a:rPr sz="1150" b="0">
                <a:solidFill>
                  <a:srgbClr val="111111"/>
                </a:solidFill>
                <a:latin typeface="맑은 고딕"/>
                <a:ea typeface="맑은 고딕"/>
              </a:rPr>
              <a:t>핵심 문항 4종 확인 — D-1이 2점</a:t>
            </a:r>
          </a:p>
          <a:p>
            <a:pPr algn="ctr"/>
            <a:r>
              <a:rPr sz="1300" b="1">
                <a:solidFill>
                  <a:srgbClr val="C00000"/>
                </a:solidFill>
                <a:latin typeface="맑은 고딕"/>
                <a:ea typeface="맑은 고딕"/>
              </a:rPr>
              <a:t>ML2(관리화)</a:t>
            </a:r>
          </a:p>
        </p:txBody>
      </p:sp>
      <p:sp>
        <p:nvSpPr>
          <p:cNvPr id="25" name="ev arr3"/>
          <p:cNvSpPr/>
          <p:nvPr/>
        </p:nvSpPr>
        <p:spPr>
          <a:xfrm>
            <a:off x="8229286"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v4"/>
          <p:cNvSpPr/>
          <p:nvPr/>
        </p:nvSpPr>
        <p:spPr>
          <a:xfrm>
            <a:off x="8439286"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⑤ 개선</a:t>
            </a:r>
          </a:p>
          <a:p>
            <a:pPr algn="ctr">
              <a:spcAft>
                <a:spcPts val="400"/>
              </a:spcAft>
            </a:pPr>
            <a:r>
              <a:rPr sz="1150" b="0">
                <a:solidFill>
                  <a:srgbClr val="111111"/>
                </a:solidFill>
                <a:latin typeface="맑은 고딕"/>
                <a:ea typeface="맑은 고딕"/>
              </a:rPr>
              <a:t>낮은 점수의 원인 3건 → 과제 R1~R5</a:t>
            </a:r>
          </a:p>
          <a:p>
            <a:pPr algn="ctr"/>
            <a:r>
              <a:rPr sz="1300" b="1">
                <a:solidFill>
                  <a:srgbClr val="1F3864"/>
                </a:solidFill>
                <a:latin typeface="맑은 고딕"/>
                <a:ea typeface="맑은 고딕"/>
              </a:rPr>
              <a:t>완수 시 3.15 · ML3 전망</a:t>
            </a:r>
          </a:p>
        </p:txBody>
      </p:sp>
      <p:sp>
        <p:nvSpPr>
          <p:cNvPr id="27" name="ev info"/>
          <p:cNvSpPr/>
          <p:nvPr/>
        </p:nvSpPr>
        <p:spPr>
          <a:xfrm>
            <a:off x="497190" y="3050200"/>
            <a:ext cx="9697620" cy="1783080"/>
          </a:xfrm>
          <a:prstGeom prst="roundRect">
            <a:avLst/>
          </a:prstGeom>
          <a:no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tIns="45000" bIns="45000"/>
          <a:lstStyle/>
          <a:p>
            <a:pPr algn="l">
              <a:spcAft>
                <a:spcPts val="300"/>
              </a:spcAft>
            </a:pPr>
            <a:r>
              <a:rPr sz="1250" b="1">
                <a:solidFill>
                  <a:srgbClr val="1F3864"/>
                </a:solidFill>
                <a:latin typeface="맑은 고딕"/>
                <a:ea typeface="맑은 고딕"/>
              </a:rPr>
              <a:t>적용 개요</a:t>
            </a:r>
          </a:p>
          <a:p>
            <a:pPr algn="l">
              <a:spcAft>
                <a:spcPts val="300"/>
              </a:spcAft>
            </a:pPr>
            <a:r>
              <a:rPr sz="1250" b="0">
                <a:solidFill>
                  <a:srgbClr val="111111"/>
                </a:solidFill>
                <a:latin typeface="맑은 고딕"/>
                <a:ea typeface="맑은 고딕"/>
              </a:rPr>
              <a:t>대상 — 제조기업 A사의 환경경영시스템(ISO 14001)과 2025년 제품 전과정평가(LCA)</a:t>
            </a:r>
          </a:p>
          <a:p>
            <a:pPr algn="l">
              <a:spcAft>
                <a:spcPts val="300"/>
              </a:spcAft>
            </a:pPr>
            <a:r>
              <a:rPr sz="1250" b="0">
                <a:solidFill>
                  <a:srgbClr val="111111"/>
                </a:solidFill>
                <a:latin typeface="맑은 고딕"/>
                <a:ea typeface="맑은 고딕"/>
              </a:rPr>
              <a:t>방법 — 문서 심사(면담·현장 관찰 없음), 평가자 1명</a:t>
            </a:r>
          </a:p>
          <a:p>
            <a:pPr algn="l">
              <a:spcAft>
                <a:spcPts val="300"/>
              </a:spcAft>
            </a:pPr>
            <a:r>
              <a:rPr sz="1250" b="0">
                <a:solidFill>
                  <a:srgbClr val="111111"/>
                </a:solidFill>
                <a:latin typeface="맑은 고딕"/>
                <a:ea typeface="맑은 고딕"/>
              </a:rPr>
              <a:t>기간 — 2026년 6~7월</a:t>
            </a:r>
          </a:p>
          <a:p>
            <a:pPr algn="l">
              <a:spcAft>
                <a:spcPts val="300"/>
              </a:spcAft>
            </a:pPr>
            <a:r>
              <a:rPr sz="1250" b="0">
                <a:solidFill>
                  <a:srgbClr val="111111"/>
                </a:solidFill>
                <a:latin typeface="맑은 고딕"/>
                <a:ea typeface="맑은 고딕"/>
              </a:rPr>
              <a:t>비고 — 연구 목적의 시범 적용(ISO/IEC 33002 평가 클래스 3 상당 · 독립성 범주 B 상당), 회사에 공식 성숙도 등급을 주는 평가가 아님</a:t>
            </a:r>
          </a:p>
        </p:txBody>
      </p:sp>
      <p:sp>
        <p:nvSpPr>
          <p:cNvPr id="28" name="ev key"/>
          <p:cNvSpPr/>
          <p:nvPr/>
        </p:nvSpPr>
        <p:spPr>
          <a:xfrm>
            <a:off x="497190" y="4993280"/>
            <a:ext cx="9697620" cy="64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C00000"/>
                </a:solidFill>
                <a:latin typeface="맑은 고딕"/>
                <a:ea typeface="맑은 고딕"/>
              </a:rPr>
              <a:t>목적은 모델의 판정 논리가 실제 자료에서 작동하는지 확인하는 것 — 이 다섯 단계를 차례로 말씀드린다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미리 정한 규칙 (판정 관례)</a:t>
            </a:r>
          </a:p>
          <a:p>
            <a:pPr>
              <a:spcBef>
                <a:spcPts val="300"/>
              </a:spcBef>
            </a:pPr>
            <a:r>
              <a:rPr sz="1150" b="0">
                <a:solidFill>
                  <a:srgbClr val="111111"/>
                </a:solidFill>
                <a:latin typeface="맑은 고딕"/>
                <a:ea typeface="맑은 고딕"/>
              </a:rPr>
              <a:t>· 말로만 한 것은 인정하지 않음</a:t>
            </a:r>
          </a:p>
          <a:p>
            <a:pPr>
              <a:spcBef>
                <a:spcPts val="300"/>
              </a:spcBef>
            </a:pPr>
            <a:r>
              <a:rPr sz="1150" b="0">
                <a:solidFill>
                  <a:srgbClr val="111111"/>
                </a:solidFill>
                <a:latin typeface="맑은 고딕"/>
                <a:ea typeface="맑은 고딕"/>
              </a:rPr>
              <a:t>· 양식만 있고 기입이 없으면 미충족</a:t>
            </a:r>
          </a:p>
          <a:p>
            <a:pPr>
              <a:spcBef>
                <a:spcPts val="300"/>
              </a:spcBef>
            </a:pPr>
            <a:r>
              <a:rPr sz="1150" b="0">
                <a:solidFill>
                  <a:srgbClr val="111111"/>
                </a:solidFill>
                <a:latin typeface="맑은 고딕"/>
                <a:ea typeface="맑은 고딕"/>
              </a:rPr>
              <a:t>· 판단이 어려우면 미충족 — 증빙은 체크포인트 단위로 적어 제3자가 재현 가능</a:t>
            </a:r>
          </a:p>
        </p:txBody>
      </p:sp>
      <p:sp>
        <p:nvSpPr>
          <p:cNvPr id="9" name="Rounded Rectangle 8"/>
          <p:cNvSpPr/>
          <p:nvPr/>
        </p:nvSpPr>
        <p:spPr>
          <a:xfrm>
            <a:off x="5461076"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다시 확인한 결과 (재검증)</a:t>
            </a:r>
          </a:p>
          <a:p>
            <a:pPr>
              <a:spcBef>
                <a:spcPts val="300"/>
              </a:spcBef>
            </a:pPr>
            <a:r>
              <a:rPr sz="1150" b="0">
                <a:solidFill>
                  <a:srgbClr val="111111"/>
                </a:solidFill>
                <a:latin typeface="맑은 고딕"/>
                <a:ea typeface="맑은 고딕"/>
              </a:rPr>
              <a:t>· 잠정 점수를 증빙 문서로 하나씩 대조</a:t>
            </a:r>
          </a:p>
          <a:p>
            <a:pPr>
              <a:spcBef>
                <a:spcPts val="300"/>
              </a:spcBef>
            </a:pPr>
            <a:r>
              <a:rPr sz="1150" b="0">
                <a:solidFill>
                  <a:srgbClr val="111111"/>
                </a:solidFill>
                <a:latin typeface="맑은 고딕"/>
                <a:ea typeface="맑은 고딕"/>
              </a:rPr>
              <a:t>· 올라간 것 7건, 내려간 것 9건 (순변동 −2점)</a:t>
            </a:r>
          </a:p>
          <a:p>
            <a:pPr>
              <a:spcBef>
                <a:spcPts val="300"/>
              </a:spcBef>
            </a:pPr>
            <a:r>
              <a:rPr sz="1150" b="0">
                <a:solidFill>
                  <a:srgbClr val="C00000"/>
                </a:solidFill>
                <a:latin typeface="맑은 고딕"/>
                <a:ea typeface="맑은 고딕"/>
              </a:rPr>
              <a:t>· 종합 2.89 → 2.85 — 재검증이 점수가 후해지는 것을 막는 방향으로 작동</a:t>
            </a:r>
          </a:p>
        </p:txBody>
      </p:sp>
      <p:graphicFrame>
        <p:nvGraphicFramePr>
          <p:cNvPr id="10" name="Table 9"/>
          <p:cNvGraphicFramePr>
            <a:graphicFrameLocks noGrp="1"/>
          </p:cNvGraphicFramePr>
          <p:nvPr/>
        </p:nvGraphicFramePr>
        <p:xfrm>
          <a:off x="574575" y="3154680"/>
          <a:ext cx="9542849" cy="3161696"/>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524160">
                <a:tc>
                  <a:txBody>
                    <a:bodyPr wrap="square"/>
                    <a:lstStyle/>
                    <a:p>
                      <a:pPr algn="ctr"/>
                      <a:r>
                        <a:rPr sz="14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a:t>
                      </a:r>
                    </a:p>
                  </a:txBody>
                  <a:tcPr marL="64008" marR="64008" marT="27432" marB="27432" anchor="ctr">
                    <a:solidFill>
                      <a:srgbClr val="1F3864"/>
                    </a:solidFill>
                  </a:tcPr>
                </a:tc>
              </a:tr>
              <a:tr h="780288">
                <a:tc>
                  <a:txBody>
                    <a:bodyPr wrap="square"/>
                    <a:lstStyle/>
                    <a:p>
                      <a:pPr algn="ctr"/>
                      <a:r>
                        <a:rPr sz="14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780288">
                <a:tc>
                  <a:txBody>
                    <a:bodyPr wrap="square"/>
                    <a:lstStyle/>
                    <a:p>
                      <a:pPr algn="ctr"/>
                      <a:r>
                        <a:rPr sz="14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a:t>
                      </a:r>
                    </a:p>
                  </a:txBody>
                  <a:tcPr marL="64008" marR="64008" marT="27432" marB="27432" anchor="ctr">
                    <a:solidFill>
                      <a:srgbClr val="E8EEF7"/>
                    </a:solidFill>
                  </a:tcPr>
                </a:tc>
              </a:tr>
              <a:tr h="538480">
                <a:tc>
                  <a:txBody>
                    <a:bodyPr wrap="square"/>
                    <a:lstStyle/>
                    <a:p>
                      <a:pPr algn="ctr"/>
                      <a:r>
                        <a:rPr sz="14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2</a:t>
                      </a:r>
                    </a:p>
                  </a:txBody>
                  <a:tcPr marL="64008" marR="64008" marT="27432" marB="27432" anchor="ctr">
                    <a:solidFill>
                      <a:srgbClr val="FFFFFF"/>
                    </a:solidFill>
                  </a:tcPr>
                </a:tc>
              </a:tr>
              <a:tr h="538480">
                <a:tc>
                  <a:txBody>
                    <a:bodyPr wrap="square"/>
                    <a:lstStyle/>
                    <a:p>
                      <a:pPr algn="ctr"/>
                      <a:r>
                        <a:rPr sz="14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6356376"/>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
        <p:nvSpPr>
          <p:cNvPr id="13" name="obj note"/>
          <p:cNvSpPr txBox="1"/>
          <p:nvPr/>
        </p:nvSpPr>
        <p:spPr>
          <a:xfrm>
            <a:off x="497190" y="2564600"/>
            <a:ext cx="9697620" cy="400000"/>
          </a:xfrm>
          <a:prstGeom prst="rect">
            <a:avLst/>
          </a:prstGeom>
          <a:noFill/>
        </p:spPr>
        <p:txBody>
          <a:bodyPr wrap="square" lIns="45720" rIns="45720" tIns="20000" bIns="20000">
            <a:spAutoFit/>
          </a:bodyPr>
          <a:lstStyle/>
          <a:p>
            <a:r>
              <a:rPr sz="1100" b="0">
                <a:solidFill>
                  <a:srgbClr val="595959"/>
                </a:solidFill>
                <a:latin typeface="맑은 고딕"/>
                <a:ea typeface="맑은 고딕"/>
              </a:rPr>
              <a:t>평가자가 이 회사의 환경경영 업무를 지원한 이력은 공평성 고려 사항으로 밝혔고, 판정은 회사가 생성·기입한 기록의 실재만을 근거로 하였다. 채점 기준은 평가 중 바꾸지 않았다(C-7·A-9 처리만 평가 뒤 3.4.3으로 확정, 점수 불변).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종합 판정 — ML2 (관리화)</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판정을 가른 것은 점수의 크기가 아니라 필요조건의 충족 여부다.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51200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pic>
        <p:nvPicPr>
          <p:cNvPr id="12" name="Picture 11" descr="f4-1.png"/>
          <p:cNvPicPr>
            <a:picLocks noChangeAspect="1"/>
          </p:cNvPicPr>
          <p:nvPr/>
        </p:nvPicPr>
        <p:blipFill>
          <a:blip r:embed="rId2"/>
          <a:stretch>
            <a:fillRect/>
          </a:stretch>
        </p:blipFill>
        <p:spPr>
          <a:xfrm>
            <a:off x="3034782" y="2489200"/>
            <a:ext cx="4622433" cy="1091814"/>
          </a:xfrm>
          <a:prstGeom prst="rect">
            <a:avLst/>
          </a:prstGeom>
        </p:spPr>
      </p:pic>
      <p:pic>
        <p:nvPicPr>
          <p:cNvPr id="13" name="Picture 12" descr="g4-3.png"/>
          <p:cNvPicPr>
            <a:picLocks noChangeAspect="1"/>
          </p:cNvPicPr>
          <p:nvPr/>
        </p:nvPicPr>
        <p:blipFill>
          <a:blip r:embed="rId3"/>
          <a:stretch>
            <a:fillRect/>
          </a:stretch>
        </p:blipFill>
        <p:spPr>
          <a:xfrm>
            <a:off x="2615274" y="4113891"/>
            <a:ext cx="5461451" cy="2084372"/>
          </a:xfrm>
          <a:prstGeom prst="rect">
            <a:avLst/>
          </a:prstGeom>
        </p:spPr>
      </p:pic>
      <p:sp>
        <p:nvSpPr>
          <p:cNvPr id="14" name="TextBox 13"/>
          <p:cNvSpPr txBox="1"/>
          <p:nvPr/>
        </p:nvSpPr>
        <p:spPr>
          <a:xfrm>
            <a:off x="497190" y="6268264"/>
            <a:ext cx="9695214" cy="681736"/>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종합점수 2.85는 판정에 쓰지 않는 보조값 — ML3 진입 조건(모든 핵심 문항 ≥ 3)에서 D-1이 걸려 ML2 — 과반 기준을 50→70%로, 핵심 문항 임계를 4·5점으로 올려도 판정은 변하지 않는다(민감도).</a:t>
            </a:r>
          </a:p>
          <a:p>
            <a:r>
              <a:rPr sz="1200" b="0" i="0" a:lang="ko-KR">
                <a:solidFill>
                  <a:srgbClr val="595959"/>
                </a:solidFill>
                <a:latin typeface="맑은 고딕"/>
                <a:ea typeface="맑은 고딕"/>
              </a:rPr>
              <a:t>[그림 4-3] 프로파일의 오른쪽은 개선 과제 완수 시 재산정치(3.15·ML3) — Ⅴ부.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결과 요약 — 낮은 점수는 세 가지 원인으로 모인다</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1496147" y="1188720"/>
            <a:ext cx="7699705" cy="3657600"/>
          </a:xfrm>
          <a:prstGeom prst="rect">
            <a:avLst/>
          </a:prstGeom>
        </p:spPr>
      </p:pic>
      <p:graphicFrame>
        <p:nvGraphicFramePr>
          <p:cNvPr id="9" name="Table 8"/>
          <p:cNvGraphicFramePr>
            <a:graphicFrameLocks noGrp="1"/>
          </p:cNvGraphicFramePr>
          <p:nvPr/>
        </p:nvGraphicFramePr>
        <p:xfrm>
          <a:off x="1216111" y="493776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423440"/>
            <a:ext cx="9695214" cy="54864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완수 시 값은 확정 점수를 기준으로 한 재산정이며 이행 결과가 아니다. R6(외부 정밀검토)은 ML4를 향한 장기 과제로 수치에 포함하지 않는다.</a:t>
            </a:r>
          </a:p>
          <a:p>
            <a:r>
              <a:rPr sz="1100" b="0" i="0" a:lang="ko-KR">
                <a:solidFill>
                  <a:srgbClr val="595959"/>
                </a:solidFill>
                <a:latin typeface="맑은 고딕"/>
                <a:ea typeface="맑은 고딕"/>
              </a:rPr>
              <a:t>시기 구분 — 단기 1년 이내 · 중기 3년 이내 · 장기 3년 초과 (1년 = A사 환경매뉴얼의 LCA 연 1회 재수행 주기, 3년 = 환경경영시스템(ISO 14001) 인증의 갱신 주기) — 4.6.3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장점과 단점, 그리고 한계</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말할 수 있는 범위와 말할 수 없는 범위를 갈라 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장점</a:t>
            </a:r>
          </a:p>
          <a:p>
            <a:pPr algn="l">
              <a:spcAft>
                <a:spcPts val="300"/>
              </a:spcAft>
            </a:pPr>
            <a:r>
              <a:rPr sz="1400" b="0">
                <a:solidFill>
                  <a:srgbClr val="111111"/>
                </a:solidFill>
                <a:latin typeface="맑은 고딕"/>
                <a:ea typeface="맑은 고딕"/>
              </a:rPr>
              <a:t>· 문항의 추적성 — 문항마다 근거 조항을 따라갈 수 있다</a:t>
            </a:r>
          </a:p>
          <a:p>
            <a:pPr algn="l">
              <a:spcAft>
                <a:spcPts val="300"/>
              </a:spcAft>
            </a:pPr>
            <a:r>
              <a:rPr sz="1400" b="0">
                <a:solidFill>
                  <a:srgbClr val="111111"/>
                </a:solidFill>
                <a:latin typeface="맑은 고딕"/>
                <a:ea typeface="맑은 고딕"/>
              </a:rPr>
              <a:t>· 판정 기준의 명문화 — 같은 증거면 같은 점수</a:t>
            </a:r>
          </a:p>
          <a:p>
            <a:pPr algn="l">
              <a:spcAft>
                <a:spcPts val="300"/>
              </a:spcAft>
            </a:pPr>
            <a:r>
              <a:rPr sz="1400" b="0">
                <a:solidFill>
                  <a:srgbClr val="111111"/>
                </a:solidFill>
                <a:latin typeface="맑은 고딕"/>
                <a:ea typeface="맑은 고딕"/>
              </a:rPr>
              <a:t>· 종합점수에 묻히는 미비의 식별 — 필수 네 곳이 빠지면 드러난다</a:t>
            </a:r>
          </a:p>
          <a:p>
            <a:pPr algn="l">
              <a:spcAft>
                <a:spcPts val="300"/>
              </a:spcAft>
            </a:pPr>
            <a:r>
              <a:rPr sz="1400" b="0">
                <a:solidFill>
                  <a:srgbClr val="111111"/>
                </a:solidFill>
                <a:latin typeface="맑은 고딕"/>
                <a:ea typeface="맑은 고딕"/>
              </a:rPr>
              <a:t>· 평가와 개선의 연결 — 고칠 목표가 다음 평가 기준과 같은 말</a:t>
            </a:r>
          </a:p>
          <a:p>
            <a:pPr algn="l">
              <a:spcAft>
                <a:spcPts val="300"/>
              </a:spcAft>
            </a:pPr>
            <a:r>
              <a:rPr sz="1400" b="0">
                <a:solidFill>
                  <a:srgbClr val="111111"/>
                </a:solidFill>
                <a:latin typeface="맑은 고딕"/>
                <a:ea typeface="맑은 고딕"/>
              </a:rPr>
              <a:t>· 표준 구조의 준용 — 판정 구조·평가 방법을 국제표준에서</a:t>
            </a:r>
          </a:p>
          <a:p>
            <a:pPr algn="l">
              <a:spcAft>
                <a:spcPts val="300"/>
              </a:spcAft>
            </a:pPr>
            <a:r>
              <a:rPr sz="1400" b="0">
                <a:solidFill>
                  <a:srgbClr val="111111"/>
                </a:solidFill>
                <a:latin typeface="맑은 고딕"/>
                <a:ea typeface="맑은 고딕"/>
              </a:rPr>
              <a:t>· 수준이 뜻하는 바의 구분 — ML3까지 체계,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단점</a:t>
            </a:r>
          </a:p>
          <a:p>
            <a:pPr algn="l">
              <a:spcAft>
                <a:spcPts val="300"/>
              </a:spcAft>
            </a:pPr>
            <a:r>
              <a:rPr sz="1400" b="0">
                <a:solidFill>
                  <a:srgbClr val="111111"/>
                </a:solidFill>
                <a:latin typeface="맑은 고딕"/>
                <a:ea typeface="맑은 고딕"/>
              </a:rPr>
              <a:t>· 핵심 문항 4종에 대한 의존 — 네 문항의 선택은 전문가 검토 전</a:t>
            </a:r>
          </a:p>
          <a:p>
            <a:pPr algn="l">
              <a:spcAft>
                <a:spcPts val="300"/>
              </a:spcAft>
            </a:pPr>
            <a:r>
              <a:rPr sz="1400" b="0">
                <a:solidFill>
                  <a:srgbClr val="111111"/>
                </a:solidFill>
                <a:latin typeface="맑은 고딕"/>
                <a:ea typeface="맑은 고딕"/>
              </a:rPr>
              <a:t>· 판정 파라미터 — 과반 50% 등은 연구자가 정한 값</a:t>
            </a:r>
          </a:p>
          <a:p>
            <a:pPr algn="l">
              <a:spcAft>
                <a:spcPts val="300"/>
              </a:spcAft>
            </a:pPr>
            <a:r>
              <a:rPr sz="1400" b="0">
                <a:solidFill>
                  <a:srgbClr val="111111"/>
                </a:solidFill>
                <a:latin typeface="맑은 고딕"/>
                <a:ea typeface="맑은 고딕"/>
              </a:rPr>
              <a:t>· 평가의 부담 — 55문항 문서 확인, 두 분야를 다 알아야</a:t>
            </a:r>
          </a:p>
          <a:p>
            <a:pPr algn="l">
              <a:spcAft>
                <a:spcPts val="300"/>
              </a:spcAft>
            </a:pPr>
            <a:r>
              <a:rPr sz="1400" b="0">
                <a:solidFill>
                  <a:srgbClr val="111111"/>
                </a:solidFill>
                <a:latin typeface="맑은 고딕"/>
                <a:ea typeface="맑은 고딕"/>
              </a:rPr>
              <a:t>· 적용 대상의 제약 — LCA를 안 하는 회사는 차이가 안 난다</a:t>
            </a:r>
          </a:p>
          <a:p>
            <a:pPr algn="l">
              <a:spcAft>
                <a:spcPts val="300"/>
              </a:spcAft>
            </a:pPr>
            <a:r>
              <a:rPr sz="1400" b="0">
                <a:solidFill>
                  <a:srgbClr val="111111"/>
                </a:solidFill>
                <a:latin typeface="맑은 고딕"/>
                <a:ea typeface="맑은 고딕"/>
              </a:rPr>
              <a:t>· 문항 간 종속 · 문서 심사 방식 — 미비 하나가 여러 점수에, 형식적 이행은 못 가림</a:t>
            </a:r>
          </a:p>
          <a:p>
            <a:pPr algn="l">
              <a:spcAft>
                <a:spcPts val="300"/>
              </a:spcAft>
            </a:pPr>
            <a:r>
              <a:rPr sz="1400" b="0">
                <a:solidFill>
                  <a:srgbClr val="111111"/>
                </a:solidFill>
                <a:latin typeface="맑은 고딕"/>
                <a:ea typeface="맑은 고딕"/>
              </a:rPr>
              <a:t>· 환경성과와의 관계 미검증 — 탄소·비용이 주는지는 확인 안 함</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36288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74768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74768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맺음</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29</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B-1~B-16 그림·표(B-10a 채점 기준 표 · B-11a 진입 조건 표 포함) · B-0 장별 요약(1·2장 한 장 요약, 5장 그림 세 장) · B-Q1~B-Q12 예상 질문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3-3.png"/>
          <p:cNvPicPr>
            <a:picLocks noChangeAspect="1"/>
          </p:cNvPicPr>
          <p:nvPr/>
        </p:nvPicPr>
        <p:blipFill>
          <a:blip r:embed="rId2"/>
          <a:stretch>
            <a:fillRect/>
          </a:stretch>
        </p:blipFill>
        <p:spPr>
          <a:xfrm>
            <a:off x="480000" y="1150000"/>
            <a:ext cx="9732000" cy="3859697"/>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pic>
        <p:nvPicPr>
          <p:cNvPr id="6" name="Picture 5" descr="g1-3.png"/>
          <p:cNvPicPr>
            <a:picLocks noChangeAspect="1"/>
          </p:cNvPicPr>
          <p:nvPr/>
        </p:nvPicPr>
        <p:blipFill>
          <a:blip r:embed="rId2"/>
          <a:stretch>
            <a:fillRect/>
          </a:stretch>
        </p:blipFill>
        <p:spPr>
          <a:xfrm>
            <a:off x="480000" y="1150000"/>
            <a:ext cx="9732000" cy="4246689"/>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f2-1.png"/>
          <p:cNvPicPr>
            <a:picLocks noChangeAspect="1"/>
          </p:cNvPicPr>
          <p:nvPr/>
        </p:nvPicPr>
        <p:blipFill>
          <a:blip r:embed="rId2"/>
          <a:stretch>
            <a:fillRect/>
          </a:stretch>
        </p:blipFill>
        <p:spPr>
          <a:xfrm>
            <a:off x="480000" y="1150000"/>
            <a:ext cx="9732000" cy="4516369"/>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pic>
        <p:nvPicPr>
          <p:cNvPr id="6" name="Picture 5" descr="f2-2.png"/>
          <p:cNvPicPr>
            <a:picLocks noChangeAspect="1"/>
          </p:cNvPicPr>
          <p:nvPr/>
        </p:nvPicPr>
        <p:blipFill>
          <a:blip r:embed="rId2"/>
          <a:stretch>
            <a:fillRect/>
          </a:stretch>
        </p:blipFill>
        <p:spPr>
          <a:xfrm>
            <a:off x="705999" y="1150000"/>
            <a:ext cx="9280001" cy="5799999"/>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g2-5.png"/>
          <p:cNvPicPr>
            <a:picLocks noChangeAspect="1"/>
          </p:cNvPicPr>
          <p:nvPr/>
        </p:nvPicPr>
        <p:blipFill>
          <a:blip r:embed="rId2"/>
          <a:stretch>
            <a:fillRect/>
          </a:stretch>
        </p:blipFill>
        <p:spPr>
          <a:xfrm>
            <a:off x="480000" y="1150000"/>
            <a:ext cx="9732000" cy="57581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3-1.jpg"/>
          <p:cNvPicPr>
            <a:picLocks noChangeAspect="1"/>
          </p:cNvPicPr>
          <p:nvPr/>
        </p:nvPicPr>
        <p:blipFill>
          <a:blip r:embed="rId2"/>
          <a:stretch>
            <a:fillRect/>
          </a:stretch>
        </p:blipFill>
        <p:spPr>
          <a:xfrm>
            <a:off x="1213460" y="1150000"/>
            <a:ext cx="8265079" cy="5799999"/>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f3-2r.png"/>
          <p:cNvPicPr>
            <a:picLocks noChangeAspect="1"/>
          </p:cNvPicPr>
          <p:nvPr/>
        </p:nvPicPr>
        <p:blipFill>
          <a:blip r:embed="rId2"/>
          <a:stretch>
            <a:fillRect/>
          </a:stretch>
        </p:blipFill>
        <p:spPr>
          <a:xfrm>
            <a:off x="1172238" y="1150000"/>
            <a:ext cx="8347523" cy="5799999"/>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f3-4.png"/>
          <p:cNvPicPr>
            <a:picLocks noChangeAspect="1"/>
          </p:cNvPicPr>
          <p:nvPr/>
        </p:nvPicPr>
        <p:blipFill>
          <a:blip r:embed="rId2"/>
          <a:stretch>
            <a:fillRect/>
          </a:stretch>
        </p:blipFill>
        <p:spPr>
          <a:xfrm>
            <a:off x="480000" y="1150000"/>
            <a:ext cx="9732000" cy="5363781"/>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g3-9.jpg"/>
          <p:cNvPicPr>
            <a:picLocks noChangeAspect="1"/>
          </p:cNvPicPr>
          <p:nvPr/>
        </p:nvPicPr>
        <p:blipFill>
          <a:blip r:embed="rId2"/>
          <a:stretch>
            <a:fillRect/>
          </a:stretch>
        </p:blipFill>
        <p:spPr>
          <a:xfrm>
            <a:off x="2319913" y="1150000"/>
            <a:ext cx="6052173" cy="5799999"/>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pic>
        <p:nvPicPr>
          <p:cNvPr id="6" name="Picture 5" descr="f3-8.png"/>
          <p:cNvPicPr>
            <a:picLocks noChangeAspect="1"/>
          </p:cNvPicPr>
          <p:nvPr/>
        </p:nvPicPr>
        <p:blipFill>
          <a:blip r:embed="rId2"/>
          <a:stretch>
            <a:fillRect/>
          </a:stretch>
        </p:blipFill>
        <p:spPr>
          <a:xfrm>
            <a:off x="480000" y="1150000"/>
            <a:ext cx="9732000" cy="487594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D-1 채점 기준 — 점수별 상태(BARS 앵커) 전문</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3.3.2, [표 3-6], 부록 C</a:t>
            </a:r>
          </a:p>
        </p:txBody>
      </p:sp>
      <p:sp>
        <p:nvSpPr>
          <p:cNvPr id="10" name="Rounded Rectangle 9"/>
          <p:cNvSpPr/>
          <p:nvPr/>
        </p:nvSpPr>
        <p:spPr>
          <a:xfrm>
            <a:off x="497190" y="1250000"/>
            <a:ext cx="9697620" cy="600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497190" y="1950000"/>
          <a:ext cx="9699883" cy="3825360"/>
        </p:xfrm>
        <a:graphic>
          <a:graphicData uri="http://schemas.openxmlformats.org/drawingml/2006/table">
            <a:tbl>
              <a:tblPr firstRow="1" bandRow="1">
                <a:tableStyleId>{5C22544A-7EE6-4342-B048-85BDC9FD1C3A}</a:tableStyleId>
              </a:tblPr>
              <a:tblGrid>
                <a:gridCol w="1732122"/>
                <a:gridCol w="7967761"/>
              </a:tblGrid>
              <a:tr h="637560">
                <a:tc>
                  <a:txBody>
                    <a:bodyPr wrap="square"/>
                    <a:lstStyle/>
                    <a:p>
                      <a:pPr algn="ctr"/>
                      <a:r>
                        <a:rPr sz="16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600" b="1" i="0" a:lang="ko-KR">
                          <a:solidFill>
                            <a:srgbClr val="FFFFFF"/>
                          </a:solidFill>
                          <a:latin typeface="맑은 고딕"/>
                          <a:ea typeface="맑은 고딕"/>
                        </a:rPr>
                        <a:t>상태 (BARS 앵커)</a:t>
                      </a:r>
                    </a:p>
                  </a:txBody>
                  <a:tcPr marL="64008" marR="64008" marT="27432" marB="27432" anchor="ctr">
                    <a:solidFill>
                      <a:srgbClr val="1F3864"/>
                    </a:solidFill>
                  </a:tcPr>
                </a:tc>
              </a:tr>
              <a:tr h="637560">
                <a:tc>
                  <a:txBody>
                    <a:bodyPr wrap="square"/>
                    <a:lstStyle/>
                    <a:p>
                      <a:pPr algn="ctr"/>
                      <a:r>
                        <a:rPr sz="16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637560">
                <a:tc>
                  <a:txBody>
                    <a:bodyPr wrap="square"/>
                    <a:lstStyle/>
                    <a:p>
                      <a:pPr algn="ctr"/>
                      <a:r>
                        <a:rPr sz="16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637560">
                <a:tc>
                  <a:txBody>
                    <a:bodyPr wrap="square"/>
                    <a:lstStyle/>
                    <a:p>
                      <a:pPr algn="ctr"/>
                      <a:r>
                        <a:rPr sz="16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6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637560">
                <a:tc>
                  <a:txBody>
                    <a:bodyPr wrap="square"/>
                    <a:lstStyle/>
                    <a:p>
                      <a:pPr algn="ctr"/>
                      <a:r>
                        <a:rPr sz="16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637560">
                <a:tc>
                  <a:txBody>
                    <a:bodyPr wrap="square"/>
                    <a:lstStyle/>
                    <a:p>
                      <a:pPr algn="ctr"/>
                      <a:r>
                        <a:rPr sz="16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497190" y="5925360"/>
            <a:ext cx="9697620" cy="12096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300" b="0" i="0" a:lang="ko-KR">
                <a:solidFill>
                  <a:srgbClr val="595959"/>
                </a:solidFill>
                <a:latin typeface="맑은 고딕"/>
                <a:ea typeface="맑은 고딕"/>
              </a:rPr>
              <a:t>추가 체크포인트(should성) — ④ 폐기단계 고려 설계 ⑤ 설계 대안 간 LCA 비교 정례화</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graphicFrame>
        <p:nvGraphicFramePr>
          <p:cNvPr id="6" name="Table 5"/>
          <p:cNvGraphicFramePr>
            <a:graphicFrameLocks noGrp="1"/>
          </p:cNvGraphicFramePr>
          <p:nvPr/>
        </p:nvGraphicFramePr>
        <p:xfrm>
          <a:off x="574575" y="1008000"/>
          <a:ext cx="9542848" cy="5010592"/>
        </p:xfrm>
        <a:graphic>
          <a:graphicData uri="http://schemas.openxmlformats.org/drawingml/2006/table">
            <a:tbl>
              <a:tblPr firstRow="1" bandRow="1">
                <a:tableStyleId>{5C22544A-7EE6-4342-B048-85BDC9FD1C3A}</a:tableStyleId>
              </a:tblPr>
              <a:tblGrid>
                <a:gridCol w="1042496"/>
                <a:gridCol w="2485952"/>
                <a:gridCol w="2967104"/>
                <a:gridCol w="3047296"/>
              </a:tblGrid>
              <a:tr h="624960">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846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5760">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4960">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5744">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5744">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4960">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진입 조건과 설계 근거 — [표 3-7]</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3.4.1~3.4.4, [표 3-7]</a:t>
            </a:r>
          </a:p>
        </p:txBody>
      </p:sp>
      <p:graphicFrame>
        <p:nvGraphicFramePr>
          <p:cNvPr id="8" name="Table 7"/>
          <p:cNvGraphicFramePr>
            <a:graphicFrameLocks noGrp="1"/>
          </p:cNvGraphicFramePr>
          <p:nvPr/>
        </p:nvGraphicFramePr>
        <p:xfrm>
          <a:off x="497190" y="1250000"/>
          <a:ext cx="9693301" cy="4640344"/>
        </p:xfrm>
        <a:graphic>
          <a:graphicData uri="http://schemas.openxmlformats.org/drawingml/2006/table">
            <a:tbl>
              <a:tblPr firstRow="1" bandRow="1">
                <a:tableStyleId>{5C22544A-7EE6-4342-B048-85BDC9FD1C3A}</a:tableStyleId>
              </a:tblPr>
              <a:tblGrid>
                <a:gridCol w="1961739"/>
                <a:gridCol w="3923479"/>
                <a:gridCol w="3808083"/>
              </a:tblGrid>
              <a:tr h="554400">
                <a:tc>
                  <a:txBody>
                    <a:bodyPr wrap="square"/>
                    <a:lstStyle/>
                    <a:p>
                      <a:pPr algn="ctr"/>
                      <a:r>
                        <a:rPr sz="15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설계 근거</a:t>
                      </a:r>
                    </a:p>
                  </a:txBody>
                  <a:tcPr marL="64008" marR="64008" marT="27432" marB="27432" anchor="ctr">
                    <a:solidFill>
                      <a:srgbClr val="1F3864"/>
                    </a:solidFill>
                  </a:tcPr>
                </a:tc>
              </a:tr>
              <a:tr h="592328">
                <a:tc>
                  <a:txBody>
                    <a:bodyPr wrap="square"/>
                    <a:lstStyle/>
                    <a:p>
                      <a:pPr algn="l"/>
                      <a:r>
                        <a:rPr sz="15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92328">
                <a:tc>
                  <a:txBody>
                    <a:bodyPr wrap="square"/>
                    <a:lstStyle/>
                    <a:p>
                      <a:pPr algn="l"/>
                      <a:r>
                        <a:rPr sz="15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92328">
                <a:tc>
                  <a:txBody>
                    <a:bodyPr wrap="square"/>
                    <a:lstStyle/>
                    <a:p>
                      <a:pPr algn="l"/>
                      <a:r>
                        <a:rPr sz="15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858316">
                <a:tc>
                  <a:txBody>
                    <a:bodyPr wrap="square"/>
                    <a:lstStyle/>
                    <a:p>
                      <a:pPr algn="l"/>
                      <a:r>
                        <a:rPr sz="15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5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92328">
                <a:tc>
                  <a:txBody>
                    <a:bodyPr wrap="square"/>
                    <a:lstStyle/>
                    <a:p>
                      <a:pPr algn="l"/>
                      <a:r>
                        <a:rPr sz="15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858316">
                <a:tc>
                  <a:txBody>
                    <a:bodyPr wrap="square"/>
                    <a:lstStyle/>
                    <a:p>
                      <a:pPr algn="l"/>
                      <a:r>
                        <a:rPr sz="15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19" name="TextBox 18"/>
          <p:cNvSpPr txBox="1"/>
          <p:nvPr/>
        </p:nvSpPr>
        <p:spPr>
          <a:xfrm>
            <a:off x="497190" y="6040344"/>
            <a:ext cx="9697620" cy="349584"/>
          </a:xfrm>
          <a:prstGeom prst="rect">
            <a:avLst/>
          </a:prstGeom>
          <a:noFill/>
        </p:spPr>
        <p:txBody>
          <a:bodyPr wrap="square" anchor="t" lIns="0" rIns="0" tIns="0" bIns="0">
            <a:spAutoFit/>
          </a:bodyPr>
          <a:lstStyle/>
          <a:p>
            <a:r>
              <a:rPr sz="12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graphicFrame>
        <p:nvGraphicFramePr>
          <p:cNvPr id="6" name="Table 5"/>
          <p:cNvGraphicFramePr>
            <a:graphicFrameLocks noGrp="1"/>
          </p:cNvGraphicFramePr>
          <p:nvPr/>
        </p:nvGraphicFramePr>
        <p:xfrm>
          <a:off x="574575" y="105840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04000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pic>
        <p:nvPicPr>
          <p:cNvPr id="6" name="Picture 5" descr="f4-3.png"/>
          <p:cNvPicPr>
            <a:picLocks noChangeAspect="1"/>
          </p:cNvPicPr>
          <p:nvPr/>
        </p:nvPicPr>
        <p:blipFill>
          <a:blip r:embed="rId2"/>
          <a:stretch>
            <a:fillRect/>
          </a:stretch>
        </p:blipFill>
        <p:spPr>
          <a:xfrm>
            <a:off x="1290646" y="1150000"/>
            <a:ext cx="8110707" cy="5799999"/>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pic>
        <p:nvPicPr>
          <p:cNvPr id="6" name="Picture 5" descr="g4-5.png"/>
          <p:cNvPicPr>
            <a:picLocks noChangeAspect="1"/>
          </p:cNvPicPr>
          <p:nvPr/>
        </p:nvPicPr>
        <p:blipFill>
          <a:blip r:embed="rId2"/>
          <a:stretch>
            <a:fillRect/>
          </a:stretch>
        </p:blipFill>
        <p:spPr>
          <a:xfrm>
            <a:off x="949476" y="1150000"/>
            <a:ext cx="8793048" cy="5799999"/>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g4-6.png"/>
          <p:cNvPicPr>
            <a:picLocks noChangeAspect="1"/>
          </p:cNvPicPr>
          <p:nvPr/>
        </p:nvPicPr>
        <p:blipFill>
          <a:blip r:embed="rId2"/>
          <a:stretch>
            <a:fillRect/>
          </a:stretch>
        </p:blipFill>
        <p:spPr>
          <a:xfrm>
            <a:off x="810000" y="1150000"/>
            <a:ext cx="9072000" cy="5799999"/>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pic>
        <p:nvPicPr>
          <p:cNvPr id="6" name="Picture 5" descr="g4-7.png"/>
          <p:cNvPicPr>
            <a:picLocks noChangeAspect="1"/>
          </p:cNvPicPr>
          <p:nvPr/>
        </p:nvPicPr>
        <p:blipFill>
          <a:blip r:embed="rId2"/>
          <a:stretch>
            <a:fillRect/>
          </a:stretch>
        </p:blipFill>
        <p:spPr>
          <a:xfrm>
            <a:off x="810000" y="1150000"/>
            <a:ext cx="9072000" cy="5799999"/>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pic>
        <p:nvPicPr>
          <p:cNvPr id="6" name="Picture 5" descr="g4-8.png"/>
          <p:cNvPicPr>
            <a:picLocks noChangeAspect="1"/>
          </p:cNvPicPr>
          <p:nvPr/>
        </p:nvPicPr>
        <p:blipFill>
          <a:blip r:embed="rId2"/>
          <a:stretch>
            <a:fillRect/>
          </a:stretch>
        </p:blipFill>
        <p:spPr>
          <a:xfrm>
            <a:off x="661385" y="1150000"/>
            <a:ext cx="9369230" cy="5799999"/>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pic>
        <p:nvPicPr>
          <p:cNvPr id="6" name="Picture 5" descr="g4-9.png"/>
          <p:cNvPicPr>
            <a:picLocks noChangeAspect="1"/>
          </p:cNvPicPr>
          <p:nvPr/>
        </p:nvPicPr>
        <p:blipFill>
          <a:blip r:embed="rId2"/>
          <a:stretch>
            <a:fillRect/>
          </a:stretch>
        </p:blipFill>
        <p:spPr>
          <a:xfrm>
            <a:off x="949476" y="1150000"/>
            <a:ext cx="8793048" cy="5799999"/>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graphicFrame>
        <p:nvGraphicFramePr>
          <p:cNvPr id="6" name="Table 5"/>
          <p:cNvGraphicFramePr>
            <a:graphicFrameLocks noGrp="1"/>
          </p:cNvGraphicFramePr>
          <p:nvPr/>
        </p:nvGraphicFramePr>
        <p:xfrm>
          <a:off x="494383" y="100800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graphicFrame>
        <p:nvGraphicFramePr>
          <p:cNvPr id="6" name="Table 5"/>
          <p:cNvGraphicFramePr>
            <a:graphicFrameLocks noGrp="1"/>
          </p:cNvGraphicFramePr>
          <p:nvPr/>
        </p:nvGraphicFramePr>
        <p:xfrm>
          <a:off x="494383" y="100800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sp>
        <p:nvSpPr>
          <p:cNvPr id="6" name="TextBox 5"/>
          <p:cNvSpPr txBox="1"/>
          <p:nvPr/>
        </p:nvSpPr>
        <p:spPr>
          <a:xfrm>
            <a:off x="497190" y="1108800"/>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pic>
        <p:nvPicPr>
          <p:cNvPr id="6" name="Picture 5" descr="ch1.png"/>
          <p:cNvPicPr>
            <a:picLocks noChangeAspect="1"/>
          </p:cNvPicPr>
          <p:nvPr/>
        </p:nvPicPr>
        <p:blipFill>
          <a:blip r:embed="rId2"/>
          <a:stretch>
            <a:fillRect/>
          </a:stretch>
        </p:blipFill>
        <p:spPr>
          <a:xfrm>
            <a:off x="2605842" y="1150000"/>
            <a:ext cx="5480315" cy="5799998"/>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pic>
        <p:nvPicPr>
          <p:cNvPr id="6" name="Picture 5" descr="ch2.png"/>
          <p:cNvPicPr>
            <a:picLocks noChangeAspect="1"/>
          </p:cNvPicPr>
          <p:nvPr/>
        </p:nvPicPr>
        <p:blipFill>
          <a:blip r:embed="rId2"/>
          <a:stretch>
            <a:fillRect/>
          </a:stretch>
        </p:blipFill>
        <p:spPr>
          <a:xfrm>
            <a:off x="3091140" y="1150000"/>
            <a:ext cx="4509719" cy="5799999"/>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g5-1.png"/>
          <p:cNvPicPr>
            <a:picLocks noChangeAspect="1"/>
          </p:cNvPicPr>
          <p:nvPr/>
        </p:nvPicPr>
        <p:blipFill>
          <a:blip r:embed="rId2"/>
          <a:stretch>
            <a:fillRect/>
          </a:stretch>
        </p:blipFill>
        <p:spPr>
          <a:xfrm>
            <a:off x="480000" y="1150000"/>
            <a:ext cx="9732000" cy="4588427"/>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pic>
        <p:nvPicPr>
          <p:cNvPr id="6" name="Picture 5" descr="g5-2.png"/>
          <p:cNvPicPr>
            <a:picLocks noChangeAspect="1"/>
          </p:cNvPicPr>
          <p:nvPr/>
        </p:nvPicPr>
        <p:blipFill>
          <a:blip r:embed="rId2"/>
          <a:stretch>
            <a:fillRect/>
          </a:stretch>
        </p:blipFill>
        <p:spPr>
          <a:xfrm>
            <a:off x="480000" y="1150000"/>
            <a:ext cx="9732000" cy="563357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pic>
        <p:nvPicPr>
          <p:cNvPr id="6" name="Picture 5" descr="g5-3.png"/>
          <p:cNvPicPr>
            <a:picLocks noChangeAspect="1"/>
          </p:cNvPicPr>
          <p:nvPr/>
        </p:nvPicPr>
        <p:blipFill>
          <a:blip r:embed="rId2"/>
          <a:stretch>
            <a:fillRect/>
          </a:stretch>
        </p:blipFill>
        <p:spPr>
          <a:xfrm>
            <a:off x="480000" y="1150000"/>
            <a:ext cx="9732000" cy="5126577"/>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