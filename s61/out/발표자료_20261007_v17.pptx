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영향평가 결과를 근거로 중대한 환경측면을 결정하고,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갈랐습니다.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가릅니다.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판정을 가른 것은 점수의 크기가 아니라 필요조건의 충족 여부입니다.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연계(linkage)</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결과(LCA 영향평가)를 근거로 중대한 환경측면을 결정하고 환경목표를 정하며,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206240" cy="1828800"/>
          </a:xfrm>
          <a:prstGeom prst="rect">
            <a:avLst/>
          </a:prstGeom>
          <a:noFill/>
        </p:spPr>
        <p:txBody>
          <a:bodyPr wrap="square" anchor="t" lIns="0" rIns="0" tIns="0" bIns="0">
            <a:spAutoFit/>
          </a:bodyPr>
          <a:lstStyle/>
          <a:p>
            <a:pPr>
              <a:spcAft>
                <a:spcPts val="400"/>
              </a:spcAft>
            </a:pPr>
            <a:r>
              <a:rPr sz="1350" b="1" i="0" a:lang="ko-KR">
                <a:solidFill>
                  <a:srgbClr val="1F3864"/>
                </a:solidFill>
                <a:latin typeface="맑은 고딕"/>
                <a:ea typeface="맑은 고딕"/>
              </a:rPr>
              <a:t>네 가지 판정 질문 — 30개 조항 전부에 같은 순서로</a:t>
            </a:r>
          </a:p>
          <a:p>
            <a:pPr algn="l">
              <a:spcBef>
                <a:spcPts val="200"/>
              </a:spcBef>
            </a:pPr>
            <a:r>
              <a:rPr sz="1350" b="0">
                <a:solidFill>
                  <a:srgbClr val="111111"/>
                </a:solidFill>
                <a:latin typeface="맑은 고딕"/>
                <a:ea typeface="맑은 고딕"/>
              </a:rPr>
              <a:t>Q1 전과정 관점을 요구하거나 그 결과를 직접 쓰는가</a:t>
            </a:r>
          </a:p>
          <a:p>
            <a:pPr algn="l">
              <a:spcBef>
                <a:spcPts val="200"/>
              </a:spcBef>
            </a:pPr>
            <a:r>
              <a:rPr sz="1350" b="0">
                <a:solidFill>
                  <a:srgbClr val="111111"/>
                </a:solidFill>
                <a:latin typeface="맑은 고딕"/>
                <a:ea typeface="맑은 고딕"/>
              </a:rPr>
              <a:t>Q2 LCA 없이는 의무(shall)를 다 지킬 수 없는가</a:t>
            </a:r>
          </a:p>
          <a:p>
            <a:pPr algn="l">
              <a:spcBef>
                <a:spcPts val="200"/>
              </a:spcBef>
            </a:pPr>
            <a:r>
              <a:rPr sz="1350" b="0">
                <a:solidFill>
                  <a:srgbClr val="111111"/>
                </a:solidFill>
                <a:latin typeface="맑은 고딕"/>
                <a:ea typeface="맑은 고딕"/>
              </a:rPr>
              <a:t>Q3 LCA 결과가 주요 입력인가</a:t>
            </a:r>
          </a:p>
          <a:p>
            <a:pPr algn="l">
              <a:spcBef>
                <a:spcPts val="200"/>
              </a:spcBef>
            </a:pPr>
            <a:r>
              <a:rPr sz="1350" b="0">
                <a:solidFill>
                  <a:srgbClr val="111111"/>
                </a:solidFill>
                <a:latin typeface="맑은 고딕"/>
                <a:ea typeface="맑은 고딕"/>
              </a:rPr>
              <a:t>Q4 보조 정보라도 주는가</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note"/>
          <p:cNvSpPr txBox="1"/>
          <p:nvPr/>
        </p:nvSpPr>
        <p:spPr>
          <a:xfrm>
            <a:off x="497190" y="3158800"/>
            <a:ext cx="4206240" cy="1280160"/>
          </a:xfrm>
          <a:prstGeom prst="rect">
            <a:avLst/>
          </a:prstGeom>
          <a:noFill/>
        </p:spPr>
        <p:txBody>
          <a:bodyPr wrap="square" lIns="45720" rIns="45720" tIns="20000" bIns="20000">
            <a:spAutoFit/>
          </a:bodyPr>
          <a:lstStyle/>
          <a:p>
            <a:pPr algn="l"/>
            <a:r>
              <a:rPr sz="1200" b="0">
                <a:solidFill>
                  <a:srgbClr val="595959"/>
                </a:solidFill>
                <a:latin typeface="맑은 고딕"/>
                <a:ea typeface="맑은 고딕"/>
              </a:rPr>
              <a:t>「예」가 나오는 물음이 앞쪽일수록 연계 가능성이 높다 — 네 등급으로 매김. 조항별 판정 전문은 백업 B-1(흐름)·B-1a(등급표)·부록 A.</a:t>
            </a:r>
          </a:p>
        </p:txBody>
      </p:sp>
      <p:sp>
        <p:nvSpPr>
          <p:cNvPr id="14" name="bar lab0"/>
          <p:cNvSpPr/>
          <p:nvPr/>
        </p:nvSpPr>
        <p:spPr>
          <a:xfrm>
            <a:off x="4977750" y="1179576"/>
            <a:ext cx="1325880" cy="96012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매우 높음</a:t>
            </a:r>
          </a:p>
          <a:p>
            <a:pPr algn="ctr"/>
            <a:r>
              <a:rPr sz="1200" b="0">
                <a:solidFill>
                  <a:srgbClr val="FFFFFF"/>
                </a:solidFill>
                <a:latin typeface="맑은 고딕"/>
                <a:ea typeface="맑은 고딕"/>
              </a:rPr>
              <a:t>4개 조항</a:t>
            </a:r>
          </a:p>
        </p:txBody>
      </p:sp>
      <p:sp>
        <p:nvSpPr>
          <p:cNvPr id="15" name="bar0"/>
          <p:cNvSpPr/>
          <p:nvPr/>
        </p:nvSpPr>
        <p:spPr>
          <a:xfrm>
            <a:off x="6395070" y="1179576"/>
            <a:ext cx="2406502" cy="9601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6.1.2 · 6.2.1 · 8.1 · 9.1.1 — 뒤의 핵심 문항 4종의 자리</a:t>
            </a:r>
          </a:p>
        </p:txBody>
      </p:sp>
      <p:sp>
        <p:nvSpPr>
          <p:cNvPr id="16" name="bar lab1"/>
          <p:cNvSpPr/>
          <p:nvPr/>
        </p:nvSpPr>
        <p:spPr>
          <a:xfrm>
            <a:off x="4977750" y="2249696"/>
            <a:ext cx="1325880" cy="9601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높음</a:t>
            </a:r>
          </a:p>
          <a:p>
            <a:pPr algn="ctr"/>
            <a:r>
              <a:rPr sz="1200" b="0">
                <a:solidFill>
                  <a:srgbClr val="FFFFFF"/>
                </a:solidFill>
                <a:latin typeface="맑은 고딕"/>
                <a:ea typeface="맑은 고딕"/>
              </a:rPr>
              <a:t>12개 조항</a:t>
            </a:r>
          </a:p>
        </p:txBody>
      </p:sp>
      <p:sp>
        <p:nvSpPr>
          <p:cNvPr id="17" name="bar1"/>
          <p:cNvSpPr/>
          <p:nvPr/>
        </p:nvSpPr>
        <p:spPr>
          <a:xfrm>
            <a:off x="6395070" y="2249696"/>
            <a:ext cx="3799740" cy="9601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18" name="bar lab2"/>
          <p:cNvSpPr/>
          <p:nvPr/>
        </p:nvSpPr>
        <p:spPr>
          <a:xfrm>
            <a:off x="4977750" y="3319816"/>
            <a:ext cx="1325880" cy="9601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중간</a:t>
            </a:r>
          </a:p>
          <a:p>
            <a:pPr algn="ctr"/>
            <a:r>
              <a:rPr sz="1200" b="0">
                <a:solidFill>
                  <a:srgbClr val="FFFFFF"/>
                </a:solidFill>
                <a:latin typeface="맑은 고딕"/>
                <a:ea typeface="맑은 고딕"/>
              </a:rPr>
              <a:t>10개 조항</a:t>
            </a:r>
          </a:p>
        </p:txBody>
      </p:sp>
      <p:sp>
        <p:nvSpPr>
          <p:cNvPr id="19" name="bar2"/>
          <p:cNvSpPr/>
          <p:nvPr/>
        </p:nvSpPr>
        <p:spPr>
          <a:xfrm>
            <a:off x="6395070" y="3319816"/>
            <a:ext cx="3451430" cy="9601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250" b="0">
                <a:solidFill>
                  <a:srgbClr val="111111"/>
                </a:solidFill>
                <a:latin typeface="맑은 고딕"/>
                <a:ea typeface="맑은 고딕"/>
              </a:rPr>
              <a:t>LCA는 보조 정보</a:t>
            </a:r>
          </a:p>
        </p:txBody>
      </p:sp>
      <p:sp>
        <p:nvSpPr>
          <p:cNvPr id="20" name="bar lab3"/>
          <p:cNvSpPr/>
          <p:nvPr/>
        </p:nvSpPr>
        <p:spPr>
          <a:xfrm>
            <a:off x="4977750" y="4389936"/>
            <a:ext cx="1325880" cy="9601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낮음</a:t>
            </a:r>
          </a:p>
          <a:p>
            <a:pPr algn="ctr"/>
            <a:r>
              <a:rPr sz="1200" b="0">
                <a:solidFill>
                  <a:srgbClr val="FFFFFF"/>
                </a:solidFill>
                <a:latin typeface="맑은 고딕"/>
                <a:ea typeface="맑은 고딕"/>
              </a:rPr>
              <a:t>4개 조항</a:t>
            </a:r>
          </a:p>
        </p:txBody>
      </p:sp>
      <p:sp>
        <p:nvSpPr>
          <p:cNvPr id="21" name="bar3"/>
          <p:cNvSpPr/>
          <p:nvPr/>
        </p:nvSpPr>
        <p:spPr>
          <a:xfrm>
            <a:off x="6395070" y="4389936"/>
            <a:ext cx="2406502" cy="9601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250" b="0">
                <a:solidFill>
                  <a:srgbClr val="111111"/>
                </a:solidFill>
                <a:latin typeface="맑은 고딕"/>
                <a:ea typeface="맑은 고딕"/>
              </a:rPr>
              <a:t>조항 본질이 LCA 영역 밖</a:t>
            </a:r>
          </a:p>
        </p:txBody>
      </p:sp>
      <p:sp>
        <p:nvSpPr>
          <p:cNvPr id="22" name="map foot"/>
          <p:cNvSpPr txBox="1"/>
          <p:nvPr/>
        </p:nvSpPr>
        <p:spPr>
          <a:xfrm>
            <a:off x="497190" y="5806440"/>
            <a:ext cx="9697620" cy="6858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요건(목적·범위 정의, 목록분석, 보고, 정밀검토)에 대응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가른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017520"/>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0921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467440"/>
            <a:ext cx="9697620" cy="4000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1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18872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188720"/>
            <a:ext cx="9697620" cy="370111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