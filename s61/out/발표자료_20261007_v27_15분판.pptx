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1" r:id="rId13"/>
    <p:sldId id="267" r:id="rId19"/>
    <p:sldId id="268" r:id="rId20"/>
    <p:sldId id="269" r:id="rId21"/>
    <p:sldId id="270" r:id="rId22"/>
    <p:sldId id="271" r:id="rId23"/>
    <p:sldId id="272" r:id="rId24"/>
    <p:sldId id="274" r:id="rId26"/>
    <p:sldId id="277" r:id="rId29"/>
    <p:sldId id="278" r:id="rId30"/>
    <p:sldId id="279" r:id="rId31"/>
    <p:sldId id="281" r:id="rId33"/>
    <p:sldId id="283" r:id="rId35"/>
    <p:sldId id="284" r:id="rId36"/>
    <p:sldId id="285" r:id="rId37"/>
    <p:sldId id="260" r:id="rId12"/>
    <p:sldId id="262" r:id="rId14"/>
    <p:sldId id="263" r:id="rId15"/>
    <p:sldId id="264" r:id="rId16"/>
    <p:sldId id="265" r:id="rId17"/>
    <p:sldId id="266" r:id="rId18"/>
    <p:sldId id="273" r:id="rId25"/>
    <p:sldId id="328" r:id="rId80"/>
    <p:sldId id="275" r:id="rId27"/>
    <p:sldId id="276" r:id="rId28"/>
    <p:sldId id="280" r:id="rId32"/>
    <p:sldId id="282" r:id="rId34"/>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20.xml"/><Relationship Id="rId13" Type="http://schemas.openxmlformats.org/officeDocument/2006/relationships/slide" Target="slides/slide5.xml"/><Relationship Id="rId14" Type="http://schemas.openxmlformats.org/officeDocument/2006/relationships/slide" Target="slides/slide21.xml"/><Relationship Id="rId15" Type="http://schemas.openxmlformats.org/officeDocument/2006/relationships/slide" Target="slides/slide22.xml"/><Relationship Id="rId16" Type="http://schemas.openxmlformats.org/officeDocument/2006/relationships/slide" Target="slides/slide23.xml"/><Relationship Id="rId17" Type="http://schemas.openxmlformats.org/officeDocument/2006/relationships/slide" Target="slides/slide24.xml"/><Relationship Id="rId18" Type="http://schemas.openxmlformats.org/officeDocument/2006/relationships/slide" Target="slides/slide2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26.xml"/><Relationship Id="rId26" Type="http://schemas.openxmlformats.org/officeDocument/2006/relationships/slide" Target="slides/slide12.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30.xml"/><Relationship Id="rId33" Type="http://schemas.openxmlformats.org/officeDocument/2006/relationships/slide" Target="slides/slide16.xml"/><Relationship Id="rId34" Type="http://schemas.openxmlformats.org/officeDocument/2006/relationships/slide" Target="slides/slide31.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27.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논문의 장 순서대로 하겠습니다. 1장 왜 이 연구인가, 2장 무엇을 바탕으로 하였는가, 3장 무엇을 만들었는가, 4장 적용하면 어떻게 되고 무엇을 고치는가, 5장 결론입니다.</a:t>
            </a:r>
          </a:p>
          <a:p>
            <a:r>
              <a:t>3장이 판정의 기준을 만드는 장이고, 4장은 그 기준을 바꾸지 않고 한 기업에 적용한 결과와 개선 과제를 다룹니다. 시간이 15분이라 2장 학술적 배경은 다음 장의 요약에서 함께 말씀드리고, 세부는 질문 때 보여 드리겠습니다.</a:t>
            </a:r>
          </a:p>
          <a:p>
            <a:r>
              <a:t>〔15초. 숫자(16종·55문항·2.85·ML2·3.15)는 4번에서. 화면에서 뺀 세부 — Ⅰ(1장) 이 연구를 한 장으로 · 두 표준에서 서로 비어 있는 곳 · 「LCA를 했다」의 두 상태 · 연구 목적과 연구 문제 / Ⅱ(2장) ISO 14001과 전과정 관점 · LCA의 4단계 · 따른 표준 · 선행연구와 연구 공백 / Ⅲ(3장) LMA 세 계층 · 조항 매핑 · 연계 지점 · 16종 · 55문항과 채점 기준 · 판정 규칙과 핵심 문항 · 한 장 요약과 검증 · 반복 개발 / Ⅳ(4장) 평가를 한 그림으로 · 객관성의 확보 · 영역별 결과 · 종합 판정 ML2 · 결과 요약 / Ⅴ(4.6) 개선 과제 R1~R5 · 개선 로드맵과 재평가 · 장점과 단점, 한계 / 결론(5장)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논문은 다섯 장이고, 이 그림이 장 사이의 연결입니다.</a:t>
            </a:r>
          </a:p>
          <a:p>
            <a:r>
              <a:t>1장은 왜 이 연구인가입니다. 두 표준이 실무에서 별도로 운영되고 그 연계 수준을 측정하는 기준이 없다는 문제에서 출발해 연구 문제 네 가지를 세웠습니다.</a:t>
            </a:r>
          </a:p>
          <a:p>
            <a:r>
              <a:t>2장은 무엇을 바탕으로 하였는가입니다. 두 표준에서 서로 비어 있는 곳과, 성숙도 평가의 표준과 기법, 선행연구에서 비어 있는 자리를 확인했습니다.</a:t>
            </a:r>
          </a:p>
          <a:p>
            <a:r>
              <a:t>3장은 무엇을 만들었는가입니다. 두 표준의 조항을 하나하나 대응시켜 연계 프로세스 열여섯 가지와 평가 문항 쉰다섯 개, ML0부터 ML5까지의 판정 규칙을 만들고 두 방향으로 검증했습니다. 핵심은 네 지점 가운데 하나라도 빠지면 평균이 높아도 ML3으로 올라가지 못한다는 규칙입니다.</a:t>
            </a:r>
          </a:p>
          <a:p>
            <a:r>
              <a:t>4장은 그 기준을 바꾸지 않고 A사에 적용한 결과입니다. 종합 2.85점이지만 핵심 문항 하나가 미달이라 ML2이고, 낮은 점수의 원인 세 가지에서 개선 과제 다섯 건을 도출했습니다. 다 마치면 3.15점, ML3이 전망됩니다.</a:t>
            </a:r>
          </a:p>
          <a:p>
            <a:r>
              <a:t>5장은 결론입니다. 네 연구 문제에 답하고 기여와 한계, 향후 연구 과제를 적었습니다.</a:t>
            </a:r>
          </a:p>
          <a:p>
            <a:r>
              <a:t>맨 아래 한 줄이 논문 전체입니다. 연계, 모델링, 평가, 지속적 개선, 환경영향 저감입니다.</a:t>
            </a:r>
          </a:p>
          <a:p>
            <a:r>
              <a:t>〔1분 30초. 장별 요약 전문은 백업 57·58. 세부(네 질문·서른 개 조항)는 말하지 않고, 물으면 참고 상자로.〕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전과정평가(LCA) 표준인 ISO 14044는 계산 방법을 정하되 언제 다시 할지는 정하지 않았습니다. 두 표준은 서로 비어 있는 곳을 상대가 채울 수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「LCA를 했다」에도 두 상태가 있습니다.</a:t>
            </a:r>
          </a:p>
          <a:p>
            <a:r>
              <a:t>왼쪽 상태 A는 보고서를 한 번 받아 두고 끝내는 회사이고, 오른쪽 상태 B는 LCA 결과로 중대한 환경측면을 정하고, 환경목표를 세우고, 다음 해에 다시 측정해 확인하는 회사입니다.</a:t>
            </a:r>
          </a:p>
          <a:p>
            <a:r>
              <a:t>본 연구가 말하는 연계는 상태 B입니다. 있다 없다가 아니라 정도의 문제이고, 그 정도를 판정하는 것이 성숙도 모델입니다.</a:t>
            </a:r>
          </a:p>
          <a:p>
            <a:r>
              <a:t>〔40초〕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단계입니다. 두 표준을 연계하고, 모델을 만들고, 회사를 평가하고, 그 결과를 개선 과제로 연결하여 환경경영시스템(ISO 14001)을 개선하는 것입니다. 연계, 모델링, 성숙도 평가, 개선의 순서입니다.</a:t>
            </a:r>
          </a:p>
          <a:p>
            <a:r>
              <a:t>연구 문제 넷도 이 흐름을 따라 묻습니다. 두 표준의 조항은 어떻게 대응되는가, 연계 프로세스와 평가 문항은 어떻게 구성되는가, 성숙도는 어떤 규칙으로 판정하는가, 그 판정이 실제 회사에 무엇을 뜻하는가입니다. 앞 문제에 답해야 다음 문제로 갈 수 있는 순서이고, 오늘 발표도 이 순서입니다.</a:t>
            </a:r>
          </a:p>
          <a:p>
            <a:r>
              <a:t>먼저 두 표준이 어떤 구조인지 짧게 보겠습니다.</a:t>
            </a:r>
          </a:p>
          <a:p>
            <a:r>
              <a:t>〔왼쪽 흐름도의 여섯 단계와 연구 문제의 대응만 짚고 넘어간다. 목적 넷(1.2.1)·RQ1~RQ4(1.2.2) 원문은 참고 상자.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어디서 가져왔는지 말씀드리면, 업무를 적는 형식은 데이터 품질관리 표준에서, 채점의 틀은 프로세스 평가 표준에서, 점수를 수준으로 바꾸는 원리는 데이터 품질 성숙도 표준에서 가져왔습니다. 평가를 진행하는 절차도 프로세스 평가 표준을 따랐습니다. 표준 번호는 화면에 있습니다.</a:t>
            </a:r>
          </a:p>
          <a:p>
            <a:r>
              <a:rPr sz="1200">
                <a:latin typeface="맑은 고딕"/>
                <a:ea typeface="맑은 고딕"/>
              </a:rPr>
              <a:t>이 표준들은 소프트웨어와 데이터 분야에서 이미 쓰이고 있는 평가 방법이고, 국내 공공데이터 성숙도 연구가 그 적용 선례입니다.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〔번호는 읽지 않는다 — 형식 ISO/IEC 33004·KS X ISO 8000-61 / 채점 ISO/IEC 33020·33003 / 판정 KS X ISO 8000-62·ISO/IEC 33004 / 수행 ISO/IEC 33002.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만든 모델을 그림으로 말씀드리겠습니다.</a:t>
            </a:r>
          </a:p>
          <a:p>
            <a:r>
              <a:t>위는 두 표준입니다. ISO 14001의 조항 서른 개와 LCA의 요구사항을 하나하나 대응시켰습니다. 이것이 매핑입니다. 두 표준이 결합하는 곳이 연계 지점이고, 그 가운데 꼭 있어야 할 네 곳이 핵심 연계 지점입니다.</a:t>
            </a:r>
          </a:p>
          <a:p>
            <a:r>
              <a:t>아래가 만든 것 셋입니다. 첫째, 참조 모델은 평가할 업무 목록으로 열여섯 가지입니다. 둘째, 평가 모델은 채점표로 문항 쉰다섯 개와 점수 기준입니다. 셋째, 성숙도 모델은 점수를 여섯 수준으로 바꾸는 규칙이고, 핵심 문항 넷 가운데 하나라도 빠지면 ML2에서 멈춥니다.</a:t>
            </a:r>
          </a:p>
          <a:p>
            <a:r>
              <a:t>이 셋을 합쳐 연계 성숙도 평가 모델, 영문으로 Linkage Maturity Assessment, 줄여서 LMA라고 합니다.</a:t>
            </a:r>
          </a:p>
          <a:p>
            <a:r>
              <a:t>만든 뒤에는 두 방향으로 검증했습니다. 문항마다 어느 조항에서 왔는지 따라간 추적성 검증과, 국제표준 요건 24건을 자체점검한 표준 적합성 검증입니다.</a:t>
            </a:r>
          </a:p>
          <a:p>
            <a:r>
              <a:t>이제 하나씩 보겠습니다. 먼저 두 표준의 조항을 어떻게 대응시켰는지입니다.</a:t>
            </a:r>
          </a:p>
          <a:p>
            <a:r>
              <a:t>〔논문 [그림 3-2] 전체는 백업 B-7. 1분〕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t>「예」가 앞쪽 물음에서 나올수록 연계 가능성이 높고, 네 등급으로 판정했습니다. 매우 높음이 네 개 조항, 환경측면 6.1.2, 환경목표 6.2.1, 운용기획 및 관리 8.1, 모니터링 9.1.1입니다. 높음이 열둘, 중간이 열, 낮음이 넷입니다.</a:t>
            </a:r>
          </a:p>
          <a:p>
            <a:r>
              <a:t>매핑의 결과가 연계 지점이고, 그 가운데 꼭 있어야 할 네 곳이 핵심 연계 지점으로 뒤의 핵심 문항 4종이 됩니다. 연계 지점을 업무 단위로 묶으면 연계 프로세스 열여섯 가지, 그 업무가 되어 있는지 묻는 것이 쉰다섯 문항입니다.</a:t>
            </a:r>
          </a:p>
          <a:p>
            <a:r>
              <a:t>이 네 조항이 두 표준의 관리 주기 어디에서 만나는지, 다음 장에서 보겠습니다.</a:t>
            </a:r>
          </a:p>
          <a:p>
            <a:r>
              <a:t>〔1분 10초. 「전조항을 매핑했는데 핵심은 4개뿐인가」 → 매핑(30조항) → 55문항·16종 → 연계 성립 지점 4곳. 등급별 판정 요건 전문은 백업 B-1a, 흐름은 B-1.〕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왼쪽이 환경경영시스템(ISO 14001)의 관리 주기, 오른쪽이 전과정평가(LCA)의 4단계입니다. 선이 두 표준이 만나는 곳, 곧 연계 지점입니다. 그 가운데 굵은 선 네 개가 핵심 연계 지점입니다.</a:t>
            </a:r>
          </a:p>
          <a:p>
            <a: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t>이 넷 가운데 하나가 끊기면 순환이 그 단계에서 멈춥니다. 그래서 이 넷이 뒤의 핵심 문항 4종이 됩니다.</a:t>
            </a:r>
          </a:p>
          <a:p>
            <a: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설계·개발 환경 피드백과 전과정 목록분석 운영의 둘, 점검 영역은 전과정 성과 모니터링·측정, 정밀검토, 심사 및 준수평가 연계의 셋, 개선 영역은 경영검토 피드백, 지속적 개선 및 사이클 향상, 전과정 결과 보고 및 비교주장 관리의 셋입니다.</a:t>
            </a:r>
          </a:p>
          <a:p>
            <a:r>
              <a:t>업무 하나는 제목·목적·성과·활동의 네 칸으로 적었고, 이 형식은 데이터 품질관리 표준 KS X ISO 8000-61을 따른 것입니다. 빨간 점이 핵심 문항 4종이 들어 있는 자리입니다.</a:t>
            </a:r>
          </a:p>
          <a:p>
            <a:r>
              <a:t>각 업무의 성과가 되어 있는지 묻는 것이 다음 장의 평가 문항 쉰다섯 개입니다.</a:t>
            </a:r>
          </a:p>
          <a:p>
            <a:r>
              <a:t>〔1분. 16종 이름은 [표 3-4] 그대로, 코드는 읽지 않는다. 「왜 16종인가, 원형은 20종인데」 → 백업 B-Q3. 16종 전문은 [표 3-4], 백업 B-7.〕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모델은 채점표입니다. 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t>그래서 점수는 평가자의 재량이 아니라 체크포인트 충족 개수로 정해집니다.</a:t>
            </a:r>
          </a:p>
          <a:p>
            <a:r>
              <a:t>예를 하나 들면 D-1, 설계·개발 단계의 LCA 결과 반영 문항입니다. A사는 필수 세 개 가운데 두 개만 있어 2점이었고, 이 문항이 4장에서 판정을 정하였습니다.</a:t>
            </a:r>
          </a:p>
          <a:p>
            <a:r>
              <a:t>점수를 성숙도 수준으로 바꾸는 규칙이 다음 장의 성숙도 모델입니다.</a:t>
            </a:r>
          </a:p>
          <a:p>
            <a:r>
              <a:t>〔1분 5초. 점수별 기준 전문(BARS 앵커)은 백업 B-10a, 부록 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성숙도 모델은 점수를 수준으로 바꾸는 규칙입니다. 수준은 ML0에서 ML5까지 여섯이고, 계단처럼 아래 조건을 모두 갖추어야 위로 올라갑니다.</a:t>
            </a:r>
          </a:p>
          <a:p>
            <a:r>
              <a:t>ML1은 핵심 문항 네 가지가 모두 2점 이상, ML2는 거기에 나머지 쉰한 문항 가운데 절반 이상이 3점, ML3은 핵심 문항 네 가지가 모두 3점 이상입니다. ML4와 ML5는 점검과 개선 영역까지 갖추어야 합니다.</a:t>
            </a:r>
          </a:p>
          <a:p>
            <a:r>
              <a:t>조건의 어느 항에도 평균은 쓰이지 않습니다. 연계가 아예 끊긴 것과 연계가 얕은 것은 다르기 때문에, 끊기면 안 되는 네 곳, 핵심 문항에만 「최소한 3점」이라는 문턱을 두었습니다. 논문 용어로는 최소충족 판정이고, 이 원리는 데이터 품질 성숙도 표준 KS X ISO 8000-62에서 가져왔습니다.</a:t>
            </a:r>
          </a:p>
          <a:p>
            <a:r>
              <a:t>오른쪽이 핵심 문항 네 가지입니다. 핵심 문항 하나라도 3점 미만이면 평균이 높아도 ML2에서 멈춥니다. A사가 바로 그 자리입니다.</a:t>
            </a:r>
          </a:p>
          <a:p>
            <a:r>
              <a:t>이 모델을 한 회사에 적용한 결과를 보겠습니다.</a:t>
            </a:r>
          </a:p>
          <a:p>
            <a:r>
              <a:t>〔1분 10초. 진입 조건·설계 근거 표 전문은 백업 B-11a, 수준별 기준은 B-11. 모델 한 장 요약·검증 두 방향은 백업 S-18, 개발 경위는 S-19. 비교주장 조건부 shall(C-7·A-9)은 3.4.3 — 백업 B-Q5. 말로 풀 때만 비유 — 건강검진의 필수 검사(논문에 없음).〕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업무 목록, 연계 프로세스 열여섯 가지입니다. 이 목록 자체가 새로 만든 것입니다.</a:t>
            </a:r>
          </a:p>
          <a:p>
            <a:r>
              <a:rPr sz="1200">
                <a:latin typeface="맑은 고딕"/>
              </a:rPr>
              <a:t>평가 모델은 채점표, 문항 쉰다섯 개와 점수 기준, 확인할 증거 목록입니다. 표준은 문항을 평가자에게 맡기므로 이 분야에 맞는 문항과 기준을 새로 만들었습니다.</a:t>
            </a:r>
          </a:p>
          <a:p>
            <a:r>
              <a:rPr sz="1200">
                <a:latin typeface="맑은 고딕"/>
              </a:rPr>
              <a:t>성숙도 모델은 수준 규칙, 여섯 수준과 핵심 문항 4종입니다. 핵심 문항에만 문턱을 두는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이 모델을 한 회사에 적용한 결과입니다. 평가가 어떻게 흘러갔는지 그림으로 먼저 보겠습니다.</a:t>
            </a:r>
          </a:p>
          <a:p>
            <a:r>
              <a:t>첫째, 문서를 받았습니다. 제조기업 A사의 환경경영시스템(ISO 14001)과 2025년 제품 전과정평가(LCA)에 관한 문서 열여섯 종, 서른세 건입니다.</a:t>
            </a:r>
          </a:p>
          <a:p>
            <a:r>
              <a:t>둘째, 쉰다섯 문항을 채점하여 잠정 종합점수 2.89를 얻었습니다. 셋째, 잠정 점수를 증빙 문서로 하나씩 다시 확인하여 확정 종합점수는 2.85입니다. 올라간 것 일곱, 내려간 것 아홉입니다.</a:t>
            </a:r>
          </a:p>
          <a:p>
            <a:r>
              <a:t>넷째, 판정입니다. 핵심 문항 네 가지 가운데 D-1이 2점이어서 ML2, 관리화입니다. 다섯째, 낮은 점수의 원인 세 가지에서 개선 과제 다섯 건을 도출하였고, 모두 마치면 3.15, ML3이 전망됩니다.</a:t>
            </a:r>
          </a:p>
          <a:p>
            <a:r>
              <a:t>평가는 문서 심사만으로, 평가자 한 명이, 2026년 6월과 7월에 했습니다. 공식 등급을 주는 평가가 아니라 모델의 판정 논리가 실제 자료에서 작동하는지 확인하는 시범 적용입니다. 평가자가 한 사람이라 판정 규칙을 미리 정해 두고 잠정 점수를 증빙으로 다시 확인하는 두 가지로 객관성을 확보했습니다.</a:t>
            </a:r>
          </a:p>
          <a:p>
            <a:r>
              <a:t>판정 결과는 다음 장입니다.</a:t>
            </a:r>
          </a:p>
          <a:p>
            <a:r>
              <a:t>〔1분 10초. 객관성 두 가지 전문은 백업 S-21. ISO/IEC 33002 평가 클래스 3 상당(4.2.3). 「회사가 쓰겠다던가」 → 백업 B-Q9.〕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제가 이 회사의 환경경영 업무를 도운 적이 있다는 점은 논문에 공평성 고려 사항으로 적었고, 판정은 회사가 만든 기록이 있는지 없는지만으로 했습니다.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4종 중 P-9는 4점, P-14와 C-1은 3점으로 통과하였으나, D-1이 2점으로 미달하였습니다.</a:t>
            </a:r>
          </a:p>
          <a:p>
            <a:r>
              <a:t>판정 경로는 아래 조건부터 차례로 묻습니다. ML1 진입 조건, 핵심 문항 4종이 모두 2점 이상이어서 통과입니다. ML2 진입 조건, 나머지 쉰한 문항 가운데 절반 이상이 3점이어서 통과입니다. 서른여섯 문항입니다. ML3 진입 조건, 핵심 문항 4종이 모두 3점 이상이어야 하는데 D-1이 2점이라 미충족입니다. 그래서 판정은 ML2, 관리화입니다.</a:t>
            </a:r>
          </a:p>
          <a:p>
            <a:r>
              <a:t>영역별로는 계획 3.23, 실행 3.00, 점검 2.10, 개선 2.33입니다. LCA가 계획과 실행에는 반영되나 점검과 개선으로는 이어지지 않는 모습입니다.</a:t>
            </a:r>
          </a:p>
          <a:p>
            <a:r>
              <a:t>종합점수 2.85는 판정에 쓰지 않는 보조값입니다. 과반 기준이나 핵심 문항 기준을 올려도 이 판정은 변하지 않습니다. 판정은 점수의 크기가 아니라 핵심 문항의 충족 여부로 정해집니다.</a:t>
            </a:r>
          </a:p>
          <a:p>
            <a:r>
              <a:t>그러면 낮은 점수는 어디에서 왔는지, 다음 장에서 보겠습니다.</a:t>
            </a:r>
          </a:p>
          <a:p>
            <a:r>
              <a:t>〔1분 20초. 영역별 결과 전문은 백업 S-22, 그래프는 B-13a. 「너무 가혹하지 않은가」 → 백업 B-Q1.〕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한 장으로 모았습니다. 가운데 2.85가 종합점수이고, 네 칸이 계획·실행·점검·개선입니다.</a:t>
            </a:r>
          </a:p>
          <a:p>
            <a: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t>낮은 점수는 이 세 가지로 모입니다. 역량의 문제가 아니라 절차를 공식화하고 주기가 오는 문제이고, 이 세 가지 미비가 그대로 개선 과제가 됩니다.</a:t>
            </a:r>
          </a:p>
          <a:p>
            <a:r>
              <a:t>〔50초. 2.85 → ML2 → R1~R5 → 3.15 → ML3.〕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미비 사항 3건에 대응하는 개선 과제 5건을 도출하였습니다. 과제마다 무엇을, 어느 부서가, 언제 할지와 대상 문항, 점수 효과를 적었습니다. 개선 과제의 목표 상태는 평가 문항의 판정 기준과 같은 문구여서, 차기 평가에서 조치 완료 여부를 그대로 판정할 수 있습니다.</a:t>
            </a:r>
          </a:p>
          <a:p>
            <a:r>
              <a:t>과제를 추진 시기로 배치한 것이 개선 로드맵이고, 빨간 R3 설계·개발 절차서 제정이 판정을 바꾸는 과제입니다. 다섯 과제를 다 마치면 종합 3.15, 핵심 문항 4종 모두 통과로 ML3이 전망됩니다. 다만 이것은 지금 점수로 다시 계산한 것이지 실제 이행 결과는 아닙니다.</a:t>
            </a:r>
          </a:p>
          <a:p>
            <a:r>
              <a:t>끝으로 이 모델의 장점과 단점, 한계입니다.</a:t>
            </a:r>
          </a:p>
          <a:p>
            <a:r>
              <a:t>〔1분. 로드맵과 재평가 전문은 백업 S-26, 과제별 1매 카드는 B-14. 「3.15의 근거」 → 목표 상태가 채점 기준과 같은 문구, [표 4-16]·[표 4-17].〕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여섯, 한계 셋입니다.</a:t>
            </a:r>
          </a:p>
          <a:p>
            <a:r>
              <a:t>장점은 문항의 출처를 조항까지 따라갈 수 있다는 것, 같은 증거면 같은 점수가 나온다는 것, 종합점수에 묻히는 미비를 드러낸다는 것, 평가가 개선과 재평가로 이어진다는 것, 판정 구조와 평가 방법을 국제표준에서 가져왔다는 것, 수준의 뜻을 체계 단계와 숫자 확인 단계로 나눈 것입니다.</a:t>
            </a:r>
          </a:p>
          <a:p>
            <a:r>
              <a:t>단점은 판정이 핵심 문항 4종에 좌우된다는 것, 기준값이 연구자 확정값이라는 것, 평가에 손이 많이 간다는 것, LCA를 안 하는 회사는 차이가 안 난다는 것, 미비 하나가 여러 점수에 함께 영향을 주고 문서 심사라 형식적 이행을 가리기 어렵다는 것, 환경성과와의 관계는 검증하지 않았다는 것입니다.</a:t>
            </a:r>
          </a:p>
          <a:p>
            <a:r>
              <a:t>한계는 한 회사·한 시점·평가자 한 명, 전문가 타당도 조사 미실시, 가장 높은 두 수준의 사례 미확인이고, 이 셋이 그대로 향후 연구 과제입니다.</a:t>
            </a:r>
          </a:p>
          <a:p>
            <a:r>
              <a:t>〔1분. 화면 글은 쉬운 말판, 항목 이름은 [표 5-1] 그대로. 장점·단점 전문은 백업 B-15a·B-15b, 한계 여덟 항목은 B-0c③. 연구 전체 한 장 요약은 백업 S-28.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15분. 백업은 이때 쓴다 — 구분 슬라이드 뒤 S-5~S-28(본심사판에서 옮긴 12장), B-1~B-16 그림·표, B-0 장별 요약, B-Q1~B-Q13 예상 질문. 전문은 발표 노트북 부록. 뒤 장에서 다루는 질문이 오면 「백업에 있습니다」 하고 띄운다.〕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한 번에 설계되지 않았습니다. 일곱 단계로 다듬었습니다.</a:t>
            </a:r>
          </a:p>
          <a:p>
            <a:r>
              <a:t>2025년 가을에 목적과 범위를 정하고 ISO 14001 전 조항 검토표와 성숙도표를 만들었습니다. 2026년 봄에 전조항 분석으로 평가 문항 쉰다섯 개를 정했습니다. 여름에 체크포인트와 행동기술척도, 핵심 문항 4종을 정해 잠정 채점을 하고, 전수 재검증으로 종합 2.85, ML2를 확정했습니다. 가을에 국제표준에 대조해 판정 규칙과 16종 편성을 보완하고, 지도교수 검토와 자체점검을 마쳤습니다.</a:t>
            </a:r>
          </a:p>
          <a:p>
            <a:r>
              <a:t>표준에 대조해 보니 실제로 고쳐진 것이 셋 있었습니다. 핵심 문항에만 문턱을 두는 판정, 수준마다 어떤 업무까지 갖추어야 하는지 정하는 규칙, 업무를 적는 형식입니다. 조항 번호는 화면에 있습니다.</a:t>
            </a:r>
          </a:p>
          <a:p>
            <a:r>
              <a:t>이제 이 도구로 한 기업을 평가한 결과입니다.</a:t>
            </a:r>
          </a:p>
          <a:p>
            <a:r>
              <a:t>〔1분. 날짜 — 2025.9 목적·범위, 10 검토표·연계표·성숙도표 / 2026.3 55문항·판정 포인트, 6 체크포인트·BARS·핵심 4종·잠정 채점, 7 전수 재검증 2.85·ML2, 8 33000 계열·8000-61·62 대조, 9 지도교수 검토·용어 정리·33004 자체점검. 조항 — 최소충족 KS X ISO 8000-62 4.5.1, 수준별 프로세스 집합 ISO/IEC 33004 7.3.6, 기술 형식 KS X ISO 8000-61 5.3. 「처음 설계와 무엇이 달라졌나」 → 2025년 10월 성숙도표의 수준 이름이 현행 문항 점수 이름(1~5점)의 유래(예상 질문 17번). 16종 편성 기준·명칭·경계는 연구자가 확정하고 지도교수 검토(3.2.1 K1~K4).〕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대조하여 업무 목록</a:t>
            </a:r>
            <a:r>
              <a:rPr sz="1600" b="1" i="0" a:lang="ko-KR">
                <a:solidFill>
                  <a:srgbClr val="1F3864"/>
                </a:solidFill>
                <a:latin typeface="맑은 고딕"/>
                <a:ea typeface="맑은 고딕"/>
              </a:rPr>
              <a:t>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네 등급으로 판정하였다.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여섯, 한계 셋 — 한계는 그대로 향후 연구 과제다.</a:t>
            </a:r>
            <a:r>
              <a:rPr sz="1600" b="1" i="0" a:lang="ko-KR">
                <a:solidFill>
                  <a:srgbClr val="1F3864"/>
                </a:solidFill>
                <a:latin typeface="맑은 고딕"/>
                <a:ea typeface="맑은 고딕"/>
              </a:rPr>
              <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S-5~S-28 본심사판에서 옮긴 12장(두 표준의 빈 곳 · 연구 목적과 문제 · ISO 14001 구조 · LCA 4단계 · 따른 표준 · 선행연구 · 모델 한 장 요약 · 개발 경위 · 객관성 · 영역별 결과 · 로드맵 · 연구 전체 요약) · B-1~B-16 그림·표(B-1a 등급표 · B-10a 채점 기준 표 · B-11a 진입 조건 표 · B-13a 영역별 그래프 포함) · B-0 장별 요약 · B-Q1~B-Q13 예상 질문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S-5 (본심사판 5번)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S-7 (본심사판 7번)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S-8 (본심사판 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S-9 (본심사판 9번)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S-10 (본심사판 10번)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S-11 (본심사판 11번)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S-18 (본심사판 18번)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S-19 (본심사판 19번)</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S-21 (본심사판 21번)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S-22 (본심사판 22번)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S-26 (본심사판 26번)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S-28 (본심사판 28번)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