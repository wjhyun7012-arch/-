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2.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41.xml"/><Relationship Id="rId79" Type="http://schemas.openxmlformats.org/officeDocument/2006/relationships/slide" Target="slides/slide4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현욱진입니다. 「환경경영시스템(ISO 14001)과 전과정평가(LCA)의 프로세스 연계 모델 개발 및 성숙도 평가」를 발표하겠습니다.</a:t>
            </a:r>
          </a:p>
          <a:p>
            <a:r>
              <a:rPr sz="1200">
                <a:latin typeface="맑은 고딕"/>
              </a:rPr>
              <a:t>한 문장으로 먼저 말씀드리면, 두 국제표준이 별개의 표준이라 현장에서 따로 운영되는 것을, 조항 단위로 연계를 확인하고 성숙도 수준으로 판정하는 모델로 다룬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발표는 다섯 부와 맺음으로 구성하였습니다. 왜 이 연구인가, 무엇을 바탕으로 하였는가, 무엇을 만들었는가, 적용하면 어떻게 되는가, 무엇을 고치는가입니다.</a:t>
            </a:r>
          </a:p>
          <a:p>
            <a:r>
              <a:rPr sz="1200">
                <a:latin typeface="맑은 고딕"/>
              </a:rPr>
              <a:t>3부가 판정의 기준을 만드는 장이고, 4부는 그 기준을 바꾸지 않고 한 기업에 적용한 결과만 다루는 장입니다.</a:t>
            </a:r>
          </a:p>
          <a:p>
            <a:r>
              <a:rPr sz="1200">
                <a:latin typeface="맑은 고딕"/>
              </a:rPr>
              <a:t>만든 것은 연계 프로세스 16종, 평가 문항 55개, 핵심 문항 4종, 성숙도 수준 ML0부터 ML5까지이고, 적용해 본 결과는 종합점수 2.85, 판정 ML2, 개선 과제를 마치면 3.15와 ML3 전망입니다.</a:t>
            </a:r>
          </a:p>
          <a:p>
            <a:r>
              <a:rPr sz="1200">
                <a:latin typeface="맑은 고딕"/>
              </a:rPr>
              <a:t>오늘은 모델의 뼈대와 적용 결과를 중심으로 말씀드리고, 조항별 판정과 문항 전문은 부록에 두었습니다.</a:t>
            </a:r>
          </a:p>
          <a:p>
            <a:r>
              <a:rPr sz="1200">
                <a:latin typeface="맑은 고딕"/>
              </a:rPr>
              <a:t>〔40초. 화면에서 뺀 세부 — Ⅰ 왜 지금인가 · 두 표준이 서로 비워 둔 곳 · 「LCA를 했다」의 두 상태 · 연구 문제 / Ⅱ ISO 14001의 전과정 관점 · LCA의 4단계 · 따른 표준 · 선행연구와 연구 공백 / Ⅲ LMA 3계층 · 조항 매핑 · 연계 지점 · 16종 · 55문항 · 판정 규칙 · 검증 / Ⅳ 적용 개요 · 객관성의 확보 · 영역별 결과 · 종합 판정 ML2 · 결과 요약 / Ⅴ 개선 과제 R1~R5 · 개선 로드맵과 재평가 · 장점과 단점, 한계 / 맺음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논문은 다섯 장입니다. 그림의 위 두 상자가 「왜」와 「무엇을 바탕으로」, 가운데 두 상자가 「무엇을 만들었나」와 「적용하면 어떻게 되나」, 아래가 「결론」입니다.</a:t>
            </a:r>
          </a:p>
          <a:p>
            <a:r>
              <a:rPr sz="1200">
                <a:latin typeface="맑은 고딕"/>
              </a:rPr>
              <a:t>3장은 판정의 기준을 만들고, 4장은 그 기준을 바꾸지 않고 한 기업에 적용한 결과만 다룹니다.</a:t>
            </a:r>
          </a:p>
          <a:p>
            <a:r>
              <a:rPr sz="1200">
                <a:latin typeface="맑은 고딕"/>
              </a:rPr>
              <a:t>맨 아래 한 줄이 논문 전체입니다. 연계, 모델링, 평가, 지속적 개선, 환경영향 저감입니다.</a:t>
            </a:r>
          </a:p>
          <a:p>
            <a:r>
              <a:rPr sz="1200">
                <a:latin typeface="맑은 고딕"/>
              </a:rPr>
              <a:t>〔세부는 각 장에서. 장별 요약 전문은 백업 B-0. 1분〕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ISO 14044는 정량적 평가 방법을 규정하되 그 평가를 되풀이하는 관리 주기를 정하지 않았습니다. 두 표준은 서로의 빈 곳을 채울 수 있는 것을 갖고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그 결과로 중대한 환경측면을 다시 정하고, 환경목표를 세우고, 다음 해에 다시 재서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본 연구의 목적은 환경경영시스템(ISO 14001)과 전과정평가(LCA)의 프로세스를 연계한 모델을 개발하고, 이를 기준으로 조직의 연계 성숙도를 평가하며, 그 결과를 개선 과제로 도출하여 조직의 환경경영시스템(ISO 14001)을 효과적으로 개선하는 데 있습니다. 곧 연계, 모델링, 성숙도 평가, 개선의 순서입니다.</a:t>
            </a:r>
          </a:p>
          <a:p>
            <a:r>
              <a:rPr sz="1200">
                <a:latin typeface="맑은 고딕"/>
              </a:rPr>
              <a:t>네 가지 연구 문제는 이 네 가지 목적과 같은 순서로, RQ1은 연계에, RQ2와 RQ3은 모델링에, RQ4는 평가와 개선에 해당합니다. 또한 각 연구 문제는 앞의 문제에 답해야 다음 문제를 제기할 수 있는 순서로 구성하였습니다. 오늘 발표도 이 순서를 따릅니다.</a:t>
            </a:r>
          </a:p>
          <a:p>
            <a:r>
              <a:rPr sz="1200">
                <a:latin typeface="맑은 고딕"/>
              </a:rPr>
              <a:t>먼저 두 표준이 어떤 구조인지 짧게 보겠습니다.</a:t>
            </a:r>
          </a:p>
          <a:p>
            <a:r>
              <a:rPr sz="1200">
                <a:latin typeface="맑은 고딕"/>
              </a:rPr>
              <a:t>〔왼쪽 흐름도의 여섯 단계와 연구 문제의 대응만 짚고 넘어간다.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잇고 그 수준을 재려면 성숙도 모델의 방법을 빌려야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모델의 뼈대는 모두 표준에서 가져왔습니다.</a:t>
            </a:r>
          </a:p>
          <a:p>
            <a:r>
              <a:rPr sz="1200">
                <a:latin typeface="맑은 고딕"/>
              </a:rPr>
              <a:t>측정 대상은 환경경영시스템(ISO 14001)과 전과정평가(LCA, ISO 14044)의 연계입니다.</a:t>
            </a:r>
          </a:p>
          <a:p>
            <a:r>
              <a:rPr sz="1200">
                <a:latin typeface="맑은 고딕"/>
              </a:rPr>
              <a:t>판정 구조는 KS X ISO 8000-62를, 모델 형식과 평가 방법은 ISO/IEC 33000 계열을, 프로세스 기술 형식은 KS X ISO 8000-61을 따랐으며, 그 적용 선례는 국내 공공데이터 연구입니다. 참조 모델은 평가 모델의, 평가 모델은 성숙도 모델의 기초가 됩니다. 평가의 수행은 ISO/IEC 33002를 따랐습니다.</a:t>
            </a:r>
          </a:p>
          <a:p>
            <a:r>
              <a:rPr sz="1200">
                <a:latin typeface="맑은 고딕"/>
              </a:rPr>
              <a:t>그러면 이 대상을 다룬 연구는 이미 있었는가. 다음 장입니다.</a:t>
            </a:r>
          </a:p>
          <a:p>
            <a:r>
              <a:rPr sz="1200">
                <a:latin typeface="맑은 고딕"/>
              </a:rPr>
              <a:t>〔조항 번호는 읽지 않는다. 선행 모델은 논문 제목으로 부른다(PPDQM3·APDQM3라 하지 않는다).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만든 모델을 한 그림으로 말씀드리겠습니다.</a:t>
            </a:r>
          </a:p>
          <a:p>
            <a:r>
              <a:rPr sz="1200">
                <a:latin typeface="맑은 고딕"/>
              </a:rPr>
              <a:t>위에 두 표준이 있습니다. 환경경영시스템(ISO 14001)의 조항 30개와 전과정평가(LCA)의 요구사항을 하나하나 대응시켰습니다. 이것이 매핑입니다. 맞닿는 곳이 연계 지점이고, 그 가운데 꼭 있어야 할 네 곳이 핵심 연계 지점입니다.</a:t>
            </a:r>
          </a:p>
          <a:p>
            <a:r>
              <a:rPr sz="1200">
                <a:latin typeface="맑은 고딕"/>
              </a:rPr>
              <a:t>그 아래가 만든 것 세 가지입니다. 첫째, 참조 모델은 평가할 업무 목록입니다. 연계 지점을 업무 단위로 묶어 열여섯 가지로 적었습니다. 둘째, 평가 모델은 채점표입니다. 업무마다 되어 있는가를 묻는 문항 쉰다섯 개와, 확인할 항목, 몇 점으로 볼지의 기준입니다. 셋째, 성숙도 모델은 수준 규칙입니다. 점수를 ML0부터 ML5까지 여섯 수준으로 바꾸는 규칙이고, 핵심 문항 네 가지는 하나라도 빠지면 ML2에서 멈춥니다.</a:t>
            </a:r>
          </a:p>
          <a:p>
            <a:r>
              <a:rPr sz="1200">
                <a:latin typeface="맑은 고딕"/>
              </a:rPr>
              <a:t>이 셋을 합쳐 연계 성숙도 평가 모델, LMA라고 합니다. 결과는 회사의 연계가 어느 수준에 있는가입니다.</a:t>
            </a:r>
          </a:p>
          <a:p>
            <a:r>
              <a:rPr sz="1200">
                <a:latin typeface="맑은 고딕"/>
              </a:rPr>
              <a:t>만든 뒤에는 두 방향으로 검증하였습니다. 문항마다 어느 조항에서 왔는지 따라가는 추적성 검증과, 국제표준 요건 24건을 자체점검한 표준 적합성 검증입니다.</a:t>
            </a:r>
          </a:p>
          <a:p>
            <a:r>
              <a:rPr sz="1200">
                <a:latin typeface="맑은 고딕"/>
              </a:rPr>
              <a:t>이제 하나씩 보겠습니다. 먼저 두 표준을 어떻게 맞대었는지입니다.</a:t>
            </a:r>
          </a:p>
          <a:p>
            <a:r>
              <a:rPr sz="1200">
                <a:latin typeface="맑은 고딕"/>
              </a:rPr>
              <a:t>〔논문 [그림 3-2] 전체는 백업 B-7.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모든 조항에 대하여 같은 네 가지 질문을 같은 순서로 물었습니다. 전과정 관점을 명시적으로 요구하거나 그 결과를 직접 입력으로 삼는가, LCA 산출물 없이는 shall 이행이 불완전한가, LCA 결과가 주요 입력값인가, 보조 정보라도 제공하는가입니다.</a:t>
            </a:r>
          </a:p>
          <a:p>
            <a:r>
              <a:rPr sz="1200">
                <a:latin typeface="맑은 고딕"/>
              </a:rPr>
              <a:t>「매우 높음」의 판정 요건은 전과정 관점의 명시적 요구 또는 그 결과의 직접 사용, LCA 없는 shall 이행의 사실상 불완전, LCA 결과의 핵심 산출물 지위로, 연계의 성립 여부를 가르는 관찰입니다. 이 등급의 4개 조항이 6.1.2·6.2.1·8.1·9.1.1이며, 이 네 곳이 뒤의 핵심 문항 4종의 자리가 됩니다.</a:t>
            </a:r>
          </a:p>
          <a:p>
            <a:r>
              <a:rPr sz="1200">
                <a:latin typeface="맑은 고딕"/>
              </a:rPr>
              <a:t>네 지점이 어디에 놓이는지 그림으로 보겠습니다.</a:t>
            </a:r>
          </a:p>
          <a:p>
            <a:r>
              <a:rPr sz="1200">
                <a:latin typeface="맑은 고딕"/>
              </a:rPr>
              <a:t>〔「전조항을 매핑했는데 핵심은 4개뿐인가」가 나오면 셋으로 나누어 답한다 — 매핑(30조항) → 55문항·16종 → 연계 성립 지점 4곳.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연계 업무 16종입니다. 계획 8, 실행 2, 점검 3, 개선 3입니다.</a:t>
            </a:r>
          </a:p>
          <a:p>
            <a:r>
              <a:rPr sz="1200">
                <a:latin typeface="맑은 고딕"/>
              </a:rPr>
              <a:t>각 업무는 제목·목적·성과·활동의 형식으로 적었고, 이 형식은 KS X ISO 8000-61을 따른 것입니다. 빨간 점이 핵심 문항 4종이 들어 있는 자리입니다.</a:t>
            </a:r>
          </a:p>
          <a:p>
            <a:r>
              <a:rPr sz="1200">
                <a:latin typeface="맑은 고딕"/>
              </a:rPr>
              <a:t>각 업무의 성과를 묻는 물음이 다음 장의 평가 문항이 됩니다.</a:t>
            </a:r>
          </a:p>
          <a:p>
            <a:r>
              <a:rPr sz="1200">
                <a:latin typeface="맑은 고딕"/>
              </a:rPr>
              <a:t>〔「왜 16종인가, 원형은 20종인데」 → 백업 B-Q3. 1분〕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점수를 매기는 법은 세 단계입니다. 첫째, 문항마다 확인할 항목을 미리 정해 둡니다. 반드시 있어야 할 필수 항목과, 있으면 더 좋은 추가 항목입니다. 이것을 체크포인트라 합니다. 둘째, 회사 문서를 보고 그 항목이 있는지 셉니다. 말로 설명한 것은 인정하지 않고 문서와 기록만 봅니다. 셋째, 센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갈랐습니다.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성립하지 않는 지점과 연계가 얕은 지점은 다르기 때문에, 연계 성립의 필요조건인 핵심 문항 4종에만 최소충족 판정을 적용하였습니다. 이 원리는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세 계층입니다.</a:t>
            </a:r>
          </a:p>
          <a:p>
            <a:r>
              <a:rPr sz="1200">
                <a:latin typeface="맑은 고딕"/>
              </a:rPr>
              <a:t>참조 모델은 평가할 업무 목록으로, 연계 프로세스 열여섯 가지입니다. 두 표준의 조항을 대응시켜 도출한 것이 새로 만든 것입니다.</a:t>
            </a:r>
          </a:p>
          <a:p>
            <a:r>
              <a:rPr sz="1200">
                <a:latin typeface="맑은 고딕"/>
              </a:rPr>
              <a:t>평가 모델은 채점표로, 평가 문항 쉰다섯 개와 문항별 판정 기준, 객관적 증거 목록입니다. 표준이 평가자에게 맡긴 평가지표를 이 분야에 맞게 개발한 것이 새로 만든 것입니다.</a:t>
            </a:r>
          </a:p>
          <a:p>
            <a:r>
              <a:rPr sz="1200">
                <a:latin typeface="맑은 고딕"/>
              </a:rPr>
              <a:t>성숙도 모델은 수준 규칙으로, ML0부터 ML5까지 여섯 수준과 핵심 문항 4종입니다. 핵심 문항 4종에만 최소충족 판정을 적용한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비워 둔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4부는 이 모델을 한 회사에 적용한 결과입니다. 평가가 어떻게 흘러갔는지 한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점수를 매겼습니다.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수행하였습니다. ISO/IEC 33002의 평가 클래스 3에 상당하는 연구 목적의 시범 적용이며, 회사에 공식 성숙도 등급을 주는 평가가 아닙니다. 목적은 모델의 판정 논리가 실제 자료에서 작동하는지 확인하는 것입니다.</a:t>
            </a:r>
          </a:p>
          <a:p>
            <a:r>
              <a:rPr sz="1200">
                <a:latin typeface="맑은 고딕"/>
              </a:rPr>
              <a:t>평가자가 한 사람이므로 객관성을 어떻게 확보하였는지 먼저 말씀드리겠습니다.</a:t>
            </a:r>
          </a:p>
          <a:p>
            <a:r>
              <a:rPr sz="1200">
                <a:latin typeface="맑은 고딕"/>
              </a:rPr>
              <a:t>〔「회사가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평가자가 이 회사의 환경경영 업무를 지원한 이력은 공평성 고려 사항으로 밝혔고, 판정은 회사가 만든 기록의 실재만을 근거로 하였습니다.</a:t>
            </a:r>
          </a:p>
          <a:p>
            <a:r>
              <a:rPr sz="1200">
                <a:latin typeface="맑은 고딕"/>
              </a:rPr>
              <a:t>아래는 평가 기록부의 실제 기입으로, 핵심 문항 네 가지만 발췌한 것입니다. D-1 행이 뒤의 판정을 가릅니다.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핵심 문항 4종 중 P-9는 4점, P-14와 C-1은 3점으로 shall 충족 기준 이상으로 통과하였으나, D-1이 2점으로 미달하였습니다. 최소충족 원리에 따라 판정 상한이 ML2로 제한되었습니다.</a:t>
            </a:r>
          </a:p>
          <a:p>
            <a:r>
              <a:rPr sz="1200">
                <a:latin typeface="맑은 고딕"/>
              </a:rPr>
              <a:t>종합점수 2.85는 판정에 쓰지 않는 보조값입니다. ML3 진입 조건인 「모든 핵심 문항 3점 이상」이 D-1에서 미달하여 ML2(관리화)로 판정됩니다.</a:t>
            </a:r>
          </a:p>
          <a:p>
            <a:r>
              <a:rPr sz="1200">
                <a:latin typeface="맑은 고딕"/>
              </a:rPr>
              <a:t>과반 기준을 50%에서 70%로 올려도, 핵심 문항의 임계를 4점이나 5점으로 올려도 이 판정은 변하지 않습니다.</a:t>
            </a:r>
          </a:p>
          <a:p>
            <a:r>
              <a:rPr sz="1200">
                <a:latin typeface="맑은 고딕"/>
              </a:rPr>
              <a:t>판정을 가른 것은 점수의 크기가 아니라 필요조건의 충족 여부입니다. 그러면 낮은 점수는 어디에서 왔는가. 다음 장입니다.</a:t>
            </a:r>
          </a:p>
          <a:p>
            <a:r>
              <a:rPr sz="1200">
                <a:latin typeface="맑은 고딕"/>
              </a:rPr>
              <a:t>〔「너무 가혹하지 않은가」가 나오면 백업 B-Q1.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말할 수 있는 범위와 말할 수 없는 범위를 갈라 두겠습니다.</a:t>
            </a:r>
          </a:p>
          <a:p>
            <a:r>
              <a:rPr sz="1200">
                <a:latin typeface="맑은 고딕"/>
              </a:rPr>
              <a:t>장점은 문항의 출처를 조항까지 따라갈 수 있다는 것, 판정 기준을 미리 정해 두어 같은 증거에 같은 점수가 나온다는 것, 종합점수에 묻히는 미비를 판정에 반영한다는 것, 평가가 개선과 재평가로 이어진다는 것입니다.</a:t>
            </a:r>
          </a:p>
          <a:p>
            <a:r>
              <a:rPr sz="1200">
                <a:latin typeface="맑은 고딕"/>
              </a:rPr>
              <a:t>단점은 핵심 문항 4종에 판정이 좌우된다는 것, 판정 파라미터가 연구자 확정값이라는 것, 평가에 손이 많이 간다는 것, 문서 심사여서 형식적 이행을 가려내기 어렵다는 것, 그리고 성숙도 수준과 실제 환경성과의 관계는 검증하지 않았다는 것입니다.</a:t>
            </a:r>
          </a:p>
          <a:p>
            <a:r>
              <a:rPr sz="1200">
                <a:latin typeface="맑은 고딕"/>
              </a:rPr>
              <a:t>한계는 한 회사, 한 시점, 평가자 한 명이라는 것, 전문가 타당도 조사를 아직 하지 않았다는 것, 가장 높은 두 수준은 사례로 확인하지 못했다는 것입니다. 이 셋이 그대로 향후 연구 과제입니다.</a:t>
            </a:r>
          </a:p>
          <a:p>
            <a:r>
              <a:rPr sz="1200">
                <a:latin typeface="맑은 고딕"/>
              </a:rPr>
              <a:t>끝으로 오늘 말씀드린 것을 한 장으로 정리하겠습니다.</a:t>
            </a:r>
          </a:p>
          <a:p>
            <a:r>
              <a:rPr sz="1200">
                <a:latin typeface="맑은 고딕"/>
              </a:rPr>
              <a:t>〔화면 글은 쉬운 말판, 항목 이름은 [표 5-1] 그대로.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 곧 한쪽이 다른 쪽을 요구하지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B-Q1~B-Q12 예상 질문. 전문은 예상 질문 v5(48문).〕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설계와 많이 달라졌다는 물음에는 이 순서로 답한다 — 3월의 55문항·shall/should 기준표가 뼈대이고, 6~7월의 채점과 재검증이 문항을 확정했으며, 8월의 표준 대조가 판정 규칙(최소충족)·프로세스 집합(16종)·기술 형식을 보완했다. 표준 대조가 모델을 실제로 바꾼 세 곳을 말한다. 예상 질문 8·9·43번.</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맺음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표준이 서로 비워 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3435456"/>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780288">
                <a:tc>
                  <a:txBody>
                    <a:bodyPr wrap="square"/>
                    <a:lstStyle/>
                    <a:p>
                      <a:pPr algn="l"/>
                      <a:r>
                        <a:rPr sz="1400" b="0" i="0" a:lang="ko-KR">
                          <a:solidFill>
                            <a:srgbClr val="111111"/>
                          </a:solidFill>
                          <a:latin typeface="맑은 고딕"/>
                          <a:ea typeface="맑은 고딕"/>
                        </a:rPr>
                        <a:t>접근의 성격</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관리적 프레임워크 — 전과정 관점은 고려 사항(6.1.2)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정량적 분석 방법론 — 평가의 방법과 절차를 요구사항으로 규정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 프레임워크와 정량 방법론의 결합</a:t>
                      </a:r>
                    </a:p>
                  </a:txBody>
                  <a:tcPr marL="64008" marR="64008" marT="27432" marB="27432" anchor="ctr">
                    <a:solidFill>
                      <a:srgbClr val="FFFFFF"/>
                    </a:solidFill>
                  </a:tcPr>
                </a:tc>
              </a:tr>
              <a:tr h="7802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경영시스템과의 통합·실행 구조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구조 보유</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통합 미흡, 실행 전략·운영 지침 부재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PDCA 관리 주기에 LCA 연결</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4705456"/>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915056"/>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환경측면 = 조직의 활동·제품 가운데 환경에 영향을 줄 수 있는 요소(예: 전력 사용, 원료의 탄소 배출)  ·  중대한 환경측면 = 환경측면의 영향을 평가해 영향이 큰 것으로 결정한 것 — 이것을 환경목표에 반영한다(6.1.2 → 6.2.1)  ·  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  ·  PDCA(Plan–Do–Check–Act) = 계획–실행–점검–조치의 관리 순환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그 결과로 중대한 환경측면을 다시 결정하고 환경목표를 정하며 다음 해에 다시 산정 → LCA는 경영시스템의 운영에 쓰이는 입력</a:t>
            </a:r>
          </a:p>
          <a:p>
            <a:r>
              <a:rPr sz="1500" b="1" i="0" a:lang="ko-KR">
                <a:solidFill>
                  <a:srgbClr val="C00000"/>
                </a:solidFill>
                <a:latin typeface="맑은 고딕"/>
                <a:ea typeface="맑은 고딕"/>
              </a:rPr>
              <a:t>본 연구가 말하는 연계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5.2·5.4 (형식의 요건)</a:t>
            </a:r>
          </a:p>
          <a:p>
            <a:pPr algn="l"/>
            <a:r>
              <a:rPr sz="1300" b="0" i="0" a:lang="ko-KR">
                <a:solidFill>
                  <a:srgbClr val="111111"/>
                </a:solidFill>
                <a:latin typeface="맑은 고딕"/>
                <a:ea typeface="맑은 고딕"/>
              </a:rPr>
              <a:t>KS X ISO 8000-61  5.1·5.3 (기술 형식 · PDCA 편성)</a:t>
            </a:r>
          </a:p>
          <a:p>
            <a:pPr algn="l"/>
            <a:r>
              <a:rPr sz="1300" b="0" i="0" a:lang="ko-KR">
                <a:solidFill>
                  <a:srgbClr val="111111"/>
                </a:solidFill>
                <a:latin typeface="맑은 고딕"/>
                <a:ea typeface="맑은 고딕"/>
              </a:rPr>
              <a:t>김선호·이창수(2013) 참조 모델의 원형</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6.1·6.3.2 (참조 모델 + 측정 틀)</a:t>
            </a:r>
          </a:p>
          <a:p>
            <a:pPr algn="l"/>
            <a:r>
              <a:rPr sz="1300" b="0" i="0" a:lang="ko-KR">
                <a:solidFill>
                  <a:srgbClr val="111111"/>
                </a:solidFill>
                <a:latin typeface="맑은 고딕"/>
                <a:ea typeface="맑은 고딕"/>
              </a:rPr>
              <a:t>KS X ISO 8000-62  4.3·4.7·4.9 (평가 산출물)</a:t>
            </a:r>
          </a:p>
          <a:p>
            <a:pPr algn="l"/>
            <a:r>
              <a:rPr sz="1300" b="0" i="0" a:lang="ko-KR">
                <a:solidFill>
                  <a:srgbClr val="111111"/>
                </a:solidFill>
                <a:latin typeface="맑은 고딕"/>
                <a:ea typeface="맑은 고딕"/>
              </a:rPr>
              <a:t>ISO/IEC 33020  5.3·PA (N·P·L·F 부분 충족)  ·  33001 용어</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0" i="0" a:lang="ko-KR">
                <a:solidFill>
                  <a:srgbClr val="111111"/>
                </a:solidFill>
                <a:latin typeface="맑은 고딕"/>
                <a:ea typeface="맑은 고딕"/>
              </a:rPr>
              <a:t>ISO/IEC 33004  7.1·7.3.5·7.3.6 (수준의 요건)</a:t>
            </a:r>
          </a:p>
          <a:p>
            <a:pPr algn="l"/>
            <a:r>
              <a:rPr sz="1300" b="0" i="0" a:lang="ko-KR">
                <a:solidFill>
                  <a:srgbClr val="111111"/>
                </a:solidFill>
                <a:latin typeface="맑은 고딕"/>
                <a:ea typeface="맑은 고딕"/>
              </a:rPr>
              <a:t>KS X ISO 8000-62  4.5.1·부속서 C (최소충족 판정)</a:t>
            </a:r>
          </a:p>
          <a:p>
            <a:pPr algn="l"/>
            <a:r>
              <a:rPr sz="1300" b="0" i="0" a:lang="ko-KR">
                <a:solidFill>
                  <a:srgbClr val="111111"/>
                </a:solidFill>
                <a:latin typeface="맑은 고딕"/>
                <a:ea typeface="맑은 고딕"/>
              </a:rPr>
              <a:t>ISO/IEC 33003  3.7·3.12 (형성형 · 비보상)  ·  33020 5.5</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0" i="0" a:lang="ko-KR">
                <a:solidFill>
                  <a:srgbClr val="111111"/>
                </a:solidFill>
                <a:latin typeface="맑은 고딕"/>
                <a:ea typeface="맑은 고딕"/>
              </a:rPr>
              <a:t>평가의 수행 — ISO/IEC 33002 (평가 클래스)  ·  운영 준거 — KS Q ISO 19011 · ISO/IEC 17024 · KS Q ISO 10015 · KS I ISO 14004  ·  문장 판별 — KS A 0001  ·  「핵심 문항」 용어 — KS Q 8001·8002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점수를 매기는가)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맞대어 업무 목록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표준을 맞댄 방법 —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등급으로 매겼다.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8" name="TextBox 7"/>
          <p:cNvSpPr txBox="1"/>
          <p:nvPr/>
        </p:nvSpPr>
        <p:spPr>
          <a:xfrm>
            <a:off x="497190" y="1180000"/>
            <a:ext cx="4490752" cy="2363184"/>
          </a:xfrm>
          <a:prstGeom prst="rect">
            <a:avLst/>
          </a:prstGeom>
          <a:noFill/>
        </p:spPr>
        <p:txBody>
          <a:bodyPr wrap="square" anchor="t" lIns="0" rIns="0" tIns="0" bIns="0">
            <a:spAutoFit/>
          </a:bodyPr>
          <a:lstStyle/>
          <a:p>
            <a:pPr>
              <a:spcAft>
                <a:spcPts val="400"/>
              </a:spcAft>
            </a:pPr>
            <a:r>
              <a:rPr sz="1600" b="1" i="0" a:lang="ko-KR">
                <a:solidFill>
                  <a:srgbClr val="2E74B5"/>
                </a:solidFill>
                <a:latin typeface="맑은 고딕"/>
                <a:ea typeface="맑은 고딕"/>
              </a:rPr>
              <a:t>네 가지 판정 질문 — 전조항에 같은 순서로</a:t>
            </a:r>
          </a:p>
          <a:p>
            <a:pPr>
              <a:spcAft>
                <a:spcPts val="300"/>
              </a:spcAft>
            </a:pPr>
            <a:r>
              <a:rPr sz="1500" b="0" i="0" a:lang="ko-KR">
                <a:solidFill>
                  <a:srgbClr val="111111"/>
                </a:solidFill>
                <a:latin typeface="맑은 고딕"/>
                <a:ea typeface="맑은 고딕"/>
              </a:rPr>
              <a:t>Q1 전과정 관점을 명시적으로 요구하거나 그 결과를 직접 입력으로 삼는가?</a:t>
            </a:r>
          </a:p>
          <a:p>
            <a:pPr>
              <a:spcAft>
                <a:spcPts val="300"/>
              </a:spcAft>
            </a:pPr>
            <a:r>
              <a:rPr sz="1500" b="0" i="0" a:lang="ko-KR">
                <a:solidFill>
                  <a:srgbClr val="111111"/>
                </a:solidFill>
                <a:latin typeface="맑은 고딕"/>
                <a:ea typeface="맑은 고딕"/>
              </a:rPr>
              <a:t>Q2 LCA 산출물 없이는 shall 이행이 불완전한가?</a:t>
            </a:r>
          </a:p>
          <a:p>
            <a:pPr>
              <a:spcAft>
                <a:spcPts val="300"/>
              </a:spcAft>
            </a:pPr>
            <a:r>
              <a:rPr sz="1500" b="0" i="0" a:lang="ko-KR">
                <a:solidFill>
                  <a:srgbClr val="111111"/>
                </a:solidFill>
                <a:latin typeface="맑은 고딕"/>
                <a:ea typeface="맑은 고딕"/>
              </a:rPr>
              <a:t>Q3 LCA 결과가 주요 입력값인가?</a:t>
            </a:r>
          </a:p>
          <a:p>
            <a:pPr>
              <a:spcAft>
                <a:spcPts val="300"/>
              </a:spcAft>
            </a:pPr>
            <a:r>
              <a:rPr sz="1500" b="0" i="0" a:lang="ko-KR">
                <a:solidFill>
                  <a:srgbClr val="111111"/>
                </a:solidFill>
                <a:latin typeface="맑은 고딕"/>
                <a:ea typeface="맑은 고딕"/>
              </a:rPr>
              <a:t>Q4 보조 정보라도 제공하는가?</a:t>
            </a:r>
          </a:p>
        </p:txBody>
      </p:sp>
      <p:graphicFrame>
        <p:nvGraphicFramePr>
          <p:cNvPr id="9" name="Table 8"/>
          <p:cNvGraphicFramePr>
            <a:graphicFrameLocks noGrp="1"/>
          </p:cNvGraphicFramePr>
          <p:nvPr/>
        </p:nvGraphicFramePr>
        <p:xfrm>
          <a:off x="5052096" y="1180000"/>
          <a:ext cx="5132288" cy="4759616"/>
        </p:xfrm>
        <a:graphic>
          <a:graphicData uri="http://schemas.openxmlformats.org/drawingml/2006/table">
            <a:tbl>
              <a:tblPr firstRow="1" bandRow="1">
                <a:tableStyleId>{5C22544A-7EE6-4342-B048-85BDC9FD1C3A}</a:tableStyleId>
              </a:tblPr>
              <a:tblGrid>
                <a:gridCol w="865240"/>
                <a:gridCol w="2646336"/>
                <a:gridCol w="1620712"/>
              </a:tblGrid>
              <a:tr h="725760">
                <a:tc>
                  <a:txBody>
                    <a:bodyPr wrap="square"/>
                    <a:lstStyle/>
                    <a:p>
                      <a:pPr algn="ctr"/>
                      <a:r>
                        <a:rPr sz="14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4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4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4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4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Rounded Rectangle 9"/>
          <p:cNvSpPr/>
          <p:nvPr/>
        </p:nvSpPr>
        <p:spPr>
          <a:xfrm>
            <a:off x="497190" y="4050800"/>
            <a:ext cx="4490752" cy="1108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「매우 높음」 4개 조항 = 뒤의 핵심 문항 4종의 자리</a:t>
            </a:r>
          </a:p>
          <a:p>
            <a:pPr algn="ctr"/>
            <a:r>
              <a:rPr sz="1400" b="0" i="0" a:lang="ko-KR">
                <a:solidFill>
                  <a:srgbClr val="111111"/>
                </a:solidFill>
                <a:latin typeface="맑은 고딕"/>
                <a:ea typeface="맑은 고딕"/>
              </a:rPr>
              <a:t>6.1.2 환경측면 · 6.2.1 환경목표 · 8.1 운용기획 및 관리 · 9.1.1 모니터링</a:t>
            </a:r>
          </a:p>
        </p:txBody>
      </p:sp>
      <p:sp>
        <p:nvSpPr>
          <p:cNvPr id="11" name="TextBox 10"/>
          <p:cNvSpPr txBox="1"/>
          <p:nvPr/>
        </p:nvSpPr>
        <p:spPr>
          <a:xfrm>
            <a:off x="497190" y="5742000"/>
            <a:ext cx="9695214" cy="894160"/>
          </a:xfrm>
          <a:prstGeom prst="rect">
            <a:avLst/>
          </a:prstGeom>
          <a:noFill/>
        </p:spPr>
        <p:txBody>
          <a:bodyPr wrap="square" anchor="t" lIns="0" rIns="0" tIns="0" bIns="0">
            <a:spAutoFit/>
          </a:bodyPr>
          <a:lstStyle/>
          <a:p>
            <a:pPr>
              <a:spcAft>
                <a:spcPts val="300"/>
              </a:spcAft>
            </a:pPr>
            <a:r>
              <a:rPr sz="1100" b="0" i="0" a:lang="ko-KR">
                <a:solidFill>
                  <a:srgbClr val="595959"/>
                </a:solidFill>
                <a:latin typeface="맑은 고딕"/>
                <a:ea typeface="맑은 고딕"/>
              </a:rPr>
              <a:t>ISO 14001 30개 조항 단위(7.4.1~7.4.3은 7.4로 통합)의 전 조항 판정 — 조항별 판정 전문은 부록 A·B.1. 판정 질문의 적용 흐름은 [그림 3-3](백업 B-1).</a:t>
            </a:r>
          </a:p>
          <a:p>
            <a:r>
              <a:rPr sz="1100" b="0" i="0" a:lang="ko-KR">
                <a:solidFill>
                  <a:srgbClr val="595959"/>
                </a:solidFill>
                <a:latin typeface="맑은 고딕"/>
                <a:ea typeface="맑은 고딕"/>
              </a:rPr>
              <a:t>55문항 중 44문항은 ISO 14001 조항에, 11문항은 ISO 14044 고유 요건(목적·범위 정의, 목록분석, 보고, 정밀검토)에 대응한다.</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점수를 매기는 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있는지 센다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센 개수가 점수</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가른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비워 둔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41732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심사만(면담·현장 관찰 없음), 평가자 1명  ·  기간 — 2026년 6~7월</a:t>
            </a:r>
          </a:p>
          <a:p>
            <a:pPr algn="l"/>
            <a:r>
              <a:rPr sz="1250" b="0">
                <a:solidFill>
                  <a:srgbClr val="111111"/>
                </a:solidFill>
                <a:latin typeface="맑은 고딕"/>
                <a:ea typeface="맑은 고딕"/>
              </a:rPr>
              <a:t>지위 — 연구 목적의 시범 적용(ISO/IEC 33002 평가 클래스 3 상당 · 독립성 범주 B 상당) — 회사에 공식 성숙도 등급을 주는 평가가 아님</a:t>
            </a:r>
          </a:p>
        </p:txBody>
      </p:sp>
      <p:sp>
        <p:nvSpPr>
          <p:cNvPr id="28" name="ev key"/>
          <p:cNvSpPr/>
          <p:nvPr/>
        </p:nvSpPr>
        <p:spPr>
          <a:xfrm>
            <a:off x="497190" y="462752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78308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50" b="1" i="0" a:lang="ko-KR">
                <a:solidFill>
                  <a:srgbClr val="1F3864"/>
                </a:solidFill>
                <a:latin typeface="맑은 고딕"/>
                <a:ea typeface="맑은 고딕"/>
              </a:rPr>
              <a:t>미리 정한 규칙 (판정 관례)</a:t>
            </a:r>
          </a:p>
          <a:p>
            <a:pPr>
              <a:spcBef>
                <a:spcPts val="300"/>
              </a:spcBef>
            </a:pPr>
            <a:r>
              <a:rPr sz="1250" b="0">
                <a:solidFill>
                  <a:srgbClr val="111111"/>
                </a:solidFill>
                <a:latin typeface="맑은 고딕"/>
                <a:ea typeface="맑은 고딕"/>
              </a:rPr>
              <a:t>· 말로만 한 것은 인정하지 않음</a:t>
            </a:r>
          </a:p>
          <a:p>
            <a:pPr>
              <a:spcBef>
                <a:spcPts val="300"/>
              </a:spcBef>
            </a:pPr>
            <a:r>
              <a:rPr sz="1250" b="0">
                <a:solidFill>
                  <a:srgbClr val="111111"/>
                </a:solidFill>
                <a:latin typeface="맑은 고딕"/>
                <a:ea typeface="맑은 고딕"/>
              </a:rPr>
              <a:t>· 양식만 있고 기입이 없으면 미충족</a:t>
            </a:r>
          </a:p>
          <a:p>
            <a:pPr>
              <a:spcBef>
                <a:spcPts val="300"/>
              </a:spcBef>
            </a:pPr>
            <a:r>
              <a:rPr sz="12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78308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50" b="1" i="0" a:lang="ko-KR">
                <a:solidFill>
                  <a:srgbClr val="1F3864"/>
                </a:solidFill>
                <a:latin typeface="맑은 고딕"/>
                <a:ea typeface="맑은 고딕"/>
              </a:rPr>
              <a:t>다시 확인한 결과 (재검증)</a:t>
            </a:r>
          </a:p>
          <a:p>
            <a:pPr>
              <a:spcBef>
                <a:spcPts val="300"/>
              </a:spcBef>
            </a:pPr>
            <a:r>
              <a:rPr sz="1250" b="0">
                <a:solidFill>
                  <a:srgbClr val="111111"/>
                </a:solidFill>
                <a:latin typeface="맑은 고딕"/>
                <a:ea typeface="맑은 고딕"/>
              </a:rPr>
              <a:t>· 잠정 점수를 증빙 문서로 하나씩 대조</a:t>
            </a:r>
          </a:p>
          <a:p>
            <a:pPr>
              <a:spcBef>
                <a:spcPts val="300"/>
              </a:spcBef>
            </a:pPr>
            <a:r>
              <a:rPr sz="1250" b="0">
                <a:solidFill>
                  <a:srgbClr val="111111"/>
                </a:solidFill>
                <a:latin typeface="맑은 고딕"/>
                <a:ea typeface="맑은 고딕"/>
              </a:rPr>
              <a:t>· 올라간 것 7건, 내려간 것 9건 (순변동 −2점)</a:t>
            </a:r>
          </a:p>
          <a:p>
            <a:pPr>
              <a:spcBef>
                <a:spcPts val="300"/>
              </a:spcBef>
            </a:pPr>
            <a:r>
              <a:rPr sz="12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588304"/>
          <a:ext cx="9542849" cy="3161696"/>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524160">
                <a:tc>
                  <a:txBody>
                    <a:bodyPr wrap="square"/>
                    <a:lstStyle/>
                    <a:p>
                      <a:pPr algn="ctr"/>
                      <a:r>
                        <a:rPr sz="14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a:t>
                      </a:r>
                    </a:p>
                  </a:txBody>
                  <a:tcPr marL="64008" marR="64008" marT="27432" marB="27432" anchor="ctr">
                    <a:solidFill>
                      <a:srgbClr val="1F3864"/>
                    </a:solidFill>
                  </a:tcPr>
                </a:tc>
              </a:tr>
              <a:tr h="780288">
                <a:tc>
                  <a:txBody>
                    <a:bodyPr wrap="square"/>
                    <a:lstStyle/>
                    <a:p>
                      <a:pPr algn="ctr"/>
                      <a:r>
                        <a:rPr sz="14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780288">
                <a:tc>
                  <a:txBody>
                    <a:bodyPr wrap="square"/>
                    <a:lstStyle/>
                    <a:p>
                      <a:pPr algn="ctr"/>
                      <a:r>
                        <a:rPr sz="14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r h="538480">
                <a:tc>
                  <a:txBody>
                    <a:bodyPr wrap="square"/>
                    <a:lstStyle/>
                    <a:p>
                      <a:pPr algn="ctr"/>
                      <a:r>
                        <a:rPr sz="14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2</a:t>
                      </a:r>
                    </a:p>
                  </a:txBody>
                  <a:tcPr marL="64008" marR="64008" marT="27432" marB="27432" anchor="ctr">
                    <a:solidFill>
                      <a:srgbClr val="FFFFFF"/>
                    </a:solidFill>
                  </a:tcPr>
                </a:tc>
              </a:tr>
              <a:tr h="538480">
                <a:tc>
                  <a:txBody>
                    <a:bodyPr wrap="square"/>
                    <a:lstStyle/>
                    <a:p>
                      <a:pPr algn="ctr"/>
                      <a:r>
                        <a:rPr sz="14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7233296"/>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3093080"/>
            <a:ext cx="9697620" cy="4000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판정을 가른 것은 점수의 크기가 아니라 필요조건의 충족 여부다.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51200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51200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pic>
        <p:nvPicPr>
          <p:cNvPr id="12" name="Picture 11" descr="f4-1.png"/>
          <p:cNvPicPr>
            <a:picLocks noChangeAspect="1"/>
          </p:cNvPicPr>
          <p:nvPr/>
        </p:nvPicPr>
        <p:blipFill>
          <a:blip r:embed="rId2"/>
          <a:stretch>
            <a:fillRect/>
          </a:stretch>
        </p:blipFill>
        <p:spPr>
          <a:xfrm>
            <a:off x="3034782" y="2489200"/>
            <a:ext cx="4622433" cy="1091814"/>
          </a:xfrm>
          <a:prstGeom prst="rect">
            <a:avLst/>
          </a:prstGeom>
        </p:spPr>
      </p:pic>
      <p:pic>
        <p:nvPicPr>
          <p:cNvPr id="13" name="Picture 12" descr="g4-3.png"/>
          <p:cNvPicPr>
            <a:picLocks noChangeAspect="1"/>
          </p:cNvPicPr>
          <p:nvPr/>
        </p:nvPicPr>
        <p:blipFill>
          <a:blip r:embed="rId3"/>
          <a:stretch>
            <a:fillRect/>
          </a:stretch>
        </p:blipFill>
        <p:spPr>
          <a:xfrm>
            <a:off x="2615274" y="4113891"/>
            <a:ext cx="5461451" cy="2084372"/>
          </a:xfrm>
          <a:prstGeom prst="rect">
            <a:avLst/>
          </a:prstGeom>
        </p:spPr>
      </p:pic>
      <p:sp>
        <p:nvSpPr>
          <p:cNvPr id="14" name="TextBox 13"/>
          <p:cNvSpPr txBox="1"/>
          <p:nvPr/>
        </p:nvSpPr>
        <p:spPr>
          <a:xfrm>
            <a:off x="497190" y="6268264"/>
            <a:ext cx="9695214" cy="681736"/>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종합점수 2.85는 판정에 쓰지 않는 보조값 — ML3 진입 조건(모든 핵심 문항 ≥ 3)에서 D-1이 걸려 ML2 — 과반 기준을 50→70%로, 핵심 문항 임계를 4·5점으로 올려도 판정은 변하지 않는다(민감도).</a:t>
            </a:r>
          </a:p>
          <a:p>
            <a:r>
              <a:rPr sz="1200" b="0" i="0" a:lang="ko-KR">
                <a:solidFill>
                  <a:srgbClr val="595959"/>
                </a:solidFill>
                <a:latin typeface="맑은 고딕"/>
                <a:ea typeface="맑은 고딕"/>
              </a:rPr>
              <a:t>[그림 4-3] 프로파일의 오른쪽은 개선 과제 완수 시 재산정치(3.15·ML3) — Ⅴ부.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924228" y="1233360"/>
            <a:ext cx="8843544" cy="4200959"/>
          </a:xfrm>
          <a:prstGeom prst="rect">
            <a:avLst/>
          </a:prstGeom>
        </p:spPr>
      </p:pic>
      <p:graphicFrame>
        <p:nvGraphicFramePr>
          <p:cNvPr id="9" name="Table 8"/>
          <p:cNvGraphicFramePr>
            <a:graphicFrameLocks noGrp="1"/>
          </p:cNvGraphicFramePr>
          <p:nvPr/>
        </p:nvGraphicFramePr>
        <p:xfrm>
          <a:off x="1216111" y="550432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899599"/>
            <a:ext cx="9695214" cy="647192"/>
          </a:xfrm>
          <a:prstGeom prst="rect">
            <a:avLst/>
          </a:prstGeom>
          <a:noFill/>
        </p:spPr>
        <p:txBody>
          <a:bodyPr wrap="square" anchor="t" lIns="0" rIns="0" tIns="0" bIns="0">
            <a:spAutoFit/>
          </a:bodyPr>
          <a:lstStyle/>
          <a:p>
            <a:pPr>
              <a:spcAft>
                <a:spcPts val="200"/>
              </a:spcAft>
            </a:pPr>
            <a:r>
              <a:rPr sz="1200" b="0" i="0" a:lang="ko-KR">
                <a:solidFill>
                  <a:srgbClr val="595959"/>
                </a:solidFill>
                <a:latin typeface="맑은 고딕"/>
                <a:ea typeface="맑은 고딕"/>
              </a:rPr>
              <a:t>완수 시 값은 확정 점수를 기준으로 한 재산정이며 이행 결과가 아니다. R6(외부 정밀검토)은 ML4를 향한 장기 과제로 수치에 포함하지 않는다.</a:t>
            </a:r>
          </a:p>
          <a:p>
            <a:r>
              <a:rPr sz="1200" b="0" i="0" a:lang="ko-KR">
                <a:solidFill>
                  <a:srgbClr val="595959"/>
                </a:solidFill>
                <a:latin typeface="맑은 고딕"/>
                <a:ea typeface="맑은 고딕"/>
              </a:rPr>
              <a:t>시기 구분 — 단기 1년 이내 · 중기 3년 이내 · 장기 3년 초과 (1년 = A사 환경매뉴얼의 LCA 연 1회 재수행 주기, 3년 = 환경경영시스템(ISO 14001) 인증의 갱신 주기) — 4.6.3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말할 수 있는 범위와 말할 수 없는 범위를 갈라 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장점</a:t>
            </a:r>
          </a:p>
          <a:p>
            <a:pPr algn="l"/>
            <a:r>
              <a:rPr sz="1400" b="0" i="0" a:lang="ko-KR">
                <a:solidFill>
                  <a:srgbClr val="111111"/>
                </a:solidFill>
                <a:latin typeface="맑은 고딕"/>
                <a:ea typeface="맑은 고딕"/>
              </a:rPr>
              <a:t>· 문항의 추적성 — 문항마다 근거 조항을 따라갈 수 있다</a:t>
            </a:r>
          </a:p>
          <a:p>
            <a:pPr algn="l"/>
            <a:r>
              <a:rPr sz="1400" b="0" i="0" a:lang="ko-KR">
                <a:solidFill>
                  <a:srgbClr val="111111"/>
                </a:solidFill>
                <a:latin typeface="맑은 고딕"/>
                <a:ea typeface="맑은 고딕"/>
              </a:rPr>
              <a:t>· 판정 기준의 명문화 — 점수 기준을 미리 적어, 같은 증거면 같은 점수</a:t>
            </a:r>
          </a:p>
          <a:p>
            <a:pPr algn="l"/>
            <a:r>
              <a:rPr sz="1400" b="0" i="0" a:lang="ko-KR">
                <a:solidFill>
                  <a:srgbClr val="111111"/>
                </a:solidFill>
                <a:latin typeface="맑은 고딕"/>
                <a:ea typeface="맑은 고딕"/>
              </a:rPr>
              <a:t>· 종합점수에 묻히는 미비의 식별 — 평균이 높아도 꼭 있어야 할 네 곳이 빠지면 드러난다</a:t>
            </a:r>
          </a:p>
          <a:p>
            <a:pPr algn="l"/>
            <a:r>
              <a:rPr sz="1400" b="0" i="0" a:lang="ko-KR">
                <a:solidFill>
                  <a:srgbClr val="111111"/>
                </a:solidFill>
                <a:latin typeface="맑은 고딕"/>
                <a:ea typeface="맑은 고딕"/>
              </a:rPr>
              <a:t>· 평가와 개선의 연결 — 고칠 목표가 다음 평가 기준과 같은 말</a:t>
            </a:r>
          </a:p>
          <a:p>
            <a:pPr algn="l"/>
            <a:r>
              <a:rPr sz="1400" b="0" i="0" a:lang="ko-KR">
                <a:solidFill>
                  <a:srgbClr val="111111"/>
                </a:solidFill>
                <a:latin typeface="맑은 고딕"/>
                <a:ea typeface="맑은 고딕"/>
              </a:rPr>
              <a:t>· 표준 구조의 준용 — 판정 구조·평가 방법을 국제표준에서 가져옴</a:t>
            </a:r>
          </a:p>
          <a:p>
            <a:pPr algn="l"/>
            <a:r>
              <a:rPr sz="1400" b="0" i="0" a:lang="ko-KR">
                <a:solidFill>
                  <a:srgbClr val="111111"/>
                </a:solidFill>
                <a:latin typeface="맑은 고딕"/>
                <a:ea typeface="맑은 고딕"/>
              </a:rPr>
              <a:t>· 수준이 뜻하는 바의 구분 — ML3까지 체계 갖추기,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i="0" a:lang="ko-KR">
                <a:solidFill>
                  <a:srgbClr val="1F3864"/>
                </a:solidFill>
                <a:latin typeface="맑은 고딕"/>
                <a:ea typeface="맑은 고딕"/>
              </a:rPr>
              <a:t>단점</a:t>
            </a:r>
          </a:p>
          <a:p>
            <a:pPr algn="l"/>
            <a:r>
              <a:rPr sz="1400" b="0" i="0" a:lang="ko-KR">
                <a:solidFill>
                  <a:srgbClr val="111111"/>
                </a:solidFill>
                <a:latin typeface="맑은 고딕"/>
                <a:ea typeface="맑은 고딕"/>
              </a:rPr>
              <a:t>· 핵심 문항 4종에 대한 의존 — 네 문항이 수준을 정하는데, 그 선택은 전문가 검토 전</a:t>
            </a:r>
          </a:p>
          <a:p>
            <a:pPr algn="l"/>
            <a:r>
              <a:rPr sz="1400" b="0" i="0" a:lang="ko-KR">
                <a:solidFill>
                  <a:srgbClr val="111111"/>
                </a:solidFill>
                <a:latin typeface="맑은 고딕"/>
                <a:ea typeface="맑은 고딕"/>
              </a:rPr>
              <a:t>· 판정 파라미터 — 과반 50% 등은 연구자가 정한 값, 상위 두 수준은 사례 없음</a:t>
            </a:r>
          </a:p>
          <a:p>
            <a:pPr algn="l"/>
            <a:r>
              <a:rPr sz="1400" b="0" i="0" a:lang="ko-KR">
                <a:solidFill>
                  <a:srgbClr val="111111"/>
                </a:solidFill>
                <a:latin typeface="맑은 고딕"/>
                <a:ea typeface="맑은 고딕"/>
              </a:rPr>
              <a:t>· 평가의 부담 — 55문항 문서 확인, ISO 14001 심사와 LCA를 함께 알아야</a:t>
            </a:r>
          </a:p>
          <a:p>
            <a:pPr algn="l"/>
            <a:r>
              <a:rPr sz="1400" b="0" i="0" a:lang="ko-KR">
                <a:solidFill>
                  <a:srgbClr val="111111"/>
                </a:solidFill>
                <a:latin typeface="맑은 고딕"/>
                <a:ea typeface="맑은 고딕"/>
              </a:rPr>
              <a:t>· 적용 대상의 제약 — LCA를 하지 않는 회사는 점수 차이가 안 난다</a:t>
            </a:r>
          </a:p>
          <a:p>
            <a:pPr algn="l"/>
            <a:r>
              <a:rPr sz="1400" b="0" i="0" a:lang="ko-KR">
                <a:solidFill>
                  <a:srgbClr val="111111"/>
                </a:solidFill>
                <a:latin typeface="맑은 고딕"/>
                <a:ea typeface="맑은 고딕"/>
              </a:rPr>
              <a:t>· 문항 간 종속 · 문서 심사 방식 — 미비 하나가 여러 점수를 끌어내리고, 형식적 이행은 못 가려냄</a:t>
            </a:r>
          </a:p>
          <a:p>
            <a:pPr algn="l"/>
            <a:r>
              <a:rPr sz="1400" b="0" i="0" a:lang="ko-KR">
                <a:solidFill>
                  <a:srgbClr val="111111"/>
                </a:solidFill>
                <a:latin typeface="맑은 고딕"/>
                <a:ea typeface="맑은 고딕"/>
              </a:rPr>
              <a:t>· 환경성과와의 관계 미검증 — 수준이 높으면 탄소·비용이 주는지는 미확인</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18000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56480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56480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685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56480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맺음</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맺음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그림·표(B-10a 채점 기준 표 · B-11a 진입 조건 표 포함) · B-17 개발 경위(타임라인) · B-0 장별 요약(1·2장 한 장 요약, 5장 그림 세 장) · B-Q1~B-Q12 예상 질문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pic>
        <p:nvPicPr>
          <p:cNvPr id="6" name="Picture 5" descr="g3-3.png"/>
          <p:cNvPicPr>
            <a:picLocks noChangeAspect="1"/>
          </p:cNvPicPr>
          <p:nvPr/>
        </p:nvPicPr>
        <p:blipFill>
          <a:blip r:embed="rId2"/>
          <a:stretch>
            <a:fillRect/>
          </a:stretch>
        </p:blipFill>
        <p:spPr>
          <a:xfrm>
            <a:off x="480000" y="1150000"/>
            <a:ext cx="9732000" cy="3859697"/>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1-3.png"/>
          <p:cNvPicPr>
            <a:picLocks noChangeAspect="1"/>
          </p:cNvPicPr>
          <p:nvPr/>
        </p:nvPicPr>
        <p:blipFill>
          <a:blip r:embed="rId2"/>
          <a:stretch>
            <a:fillRect/>
          </a:stretch>
        </p:blipFill>
        <p:spPr>
          <a:xfrm>
            <a:off x="480000" y="1150000"/>
            <a:ext cx="9732000" cy="4246689"/>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pic>
        <p:nvPicPr>
          <p:cNvPr id="6" name="Picture 5" descr="f2-1.png"/>
          <p:cNvPicPr>
            <a:picLocks noChangeAspect="1"/>
          </p:cNvPicPr>
          <p:nvPr/>
        </p:nvPicPr>
        <p:blipFill>
          <a:blip r:embed="rId2"/>
          <a:stretch>
            <a:fillRect/>
          </a:stretch>
        </p:blipFill>
        <p:spPr>
          <a:xfrm>
            <a:off x="480000" y="1150000"/>
            <a:ext cx="9732000" cy="4516369"/>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f2-2.png"/>
          <p:cNvPicPr>
            <a:picLocks noChangeAspect="1"/>
          </p:cNvPicPr>
          <p:nvPr/>
        </p:nvPicPr>
        <p:blipFill>
          <a:blip r:embed="rId2"/>
          <a:stretch>
            <a:fillRect/>
          </a:stretch>
        </p:blipFill>
        <p:spPr>
          <a:xfrm>
            <a:off x="705999" y="1150000"/>
            <a:ext cx="9280001" cy="5799999"/>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pic>
        <p:nvPicPr>
          <p:cNvPr id="6" name="Picture 5" descr="g2-5.png"/>
          <p:cNvPicPr>
            <a:picLocks noChangeAspect="1"/>
          </p:cNvPicPr>
          <p:nvPr/>
        </p:nvPicPr>
        <p:blipFill>
          <a:blip r:embed="rId2"/>
          <a:stretch>
            <a:fillRect/>
          </a:stretch>
        </p:blipFill>
        <p:spPr>
          <a:xfrm>
            <a:off x="480000" y="1150000"/>
            <a:ext cx="9732000" cy="57581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3-1.jpg"/>
          <p:cNvPicPr>
            <a:picLocks noChangeAspect="1"/>
          </p:cNvPicPr>
          <p:nvPr/>
        </p:nvPicPr>
        <p:blipFill>
          <a:blip r:embed="rId2"/>
          <a:stretch>
            <a:fillRect/>
          </a:stretch>
        </p:blipFill>
        <p:spPr>
          <a:xfrm>
            <a:off x="1213460" y="1150000"/>
            <a:ext cx="8265079" cy="5799999"/>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3-2r.png"/>
          <p:cNvPicPr>
            <a:picLocks noChangeAspect="1"/>
          </p:cNvPicPr>
          <p:nvPr/>
        </p:nvPicPr>
        <p:blipFill>
          <a:blip r:embed="rId2"/>
          <a:stretch>
            <a:fillRect/>
          </a:stretch>
        </p:blipFill>
        <p:spPr>
          <a:xfrm>
            <a:off x="1172238" y="1150000"/>
            <a:ext cx="8347523" cy="5799999"/>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f3-4.png"/>
          <p:cNvPicPr>
            <a:picLocks noChangeAspect="1"/>
          </p:cNvPicPr>
          <p:nvPr/>
        </p:nvPicPr>
        <p:blipFill>
          <a:blip r:embed="rId2"/>
          <a:stretch>
            <a:fillRect/>
          </a:stretch>
        </p:blipFill>
        <p:spPr>
          <a:xfrm>
            <a:off x="480000" y="1150000"/>
            <a:ext cx="9732000" cy="5363781"/>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g3-9.jpg"/>
          <p:cNvPicPr>
            <a:picLocks noChangeAspect="1"/>
          </p:cNvPicPr>
          <p:nvPr/>
        </p:nvPicPr>
        <p:blipFill>
          <a:blip r:embed="rId2"/>
          <a:stretch>
            <a:fillRect/>
          </a:stretch>
        </p:blipFill>
        <p:spPr>
          <a:xfrm>
            <a:off x="2319913" y="1150000"/>
            <a:ext cx="6052173" cy="5799999"/>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8.png"/>
          <p:cNvPicPr>
            <a:picLocks noChangeAspect="1"/>
          </p:cNvPicPr>
          <p:nvPr/>
        </p:nvPicPr>
        <p:blipFill>
          <a:blip r:embed="rId2"/>
          <a:stretch>
            <a:fillRect/>
          </a:stretch>
        </p:blipFill>
        <p:spPr>
          <a:xfrm>
            <a:off x="480000" y="1150000"/>
            <a:ext cx="9732000" cy="487594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250000"/>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1950000"/>
          <a:ext cx="9699883" cy="3825360"/>
        </p:xfrm>
        <a:graphic>
          <a:graphicData uri="http://schemas.openxmlformats.org/drawingml/2006/table">
            <a:tbl>
              <a:tblPr firstRow="1" bandRow="1">
                <a:tableStyleId>{5C22544A-7EE6-4342-B048-85BDC9FD1C3A}</a:tableStyleId>
              </a:tblPr>
              <a:tblGrid>
                <a:gridCol w="1732122"/>
                <a:gridCol w="7967761"/>
              </a:tblGrid>
              <a:tr h="63756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63756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63756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63756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63756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925360"/>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graphicFrame>
        <p:nvGraphicFramePr>
          <p:cNvPr id="6" name="Table 5"/>
          <p:cNvGraphicFramePr>
            <a:graphicFrameLocks noGrp="1"/>
          </p:cNvGraphicFramePr>
          <p:nvPr/>
        </p:nvGraphicFramePr>
        <p:xfrm>
          <a:off x="574575" y="1008000"/>
          <a:ext cx="9542848" cy="5010592"/>
        </p:xfrm>
        <a:graphic>
          <a:graphicData uri="http://schemas.openxmlformats.org/drawingml/2006/table">
            <a:tbl>
              <a:tblPr firstRow="1" bandRow="1">
                <a:tableStyleId>{5C22544A-7EE6-4342-B048-85BDC9FD1C3A}</a:tableStyleId>
              </a:tblPr>
              <a:tblGrid>
                <a:gridCol w="1042496"/>
                <a:gridCol w="2485952"/>
                <a:gridCol w="2967104"/>
                <a:gridCol w="3047296"/>
              </a:tblGrid>
              <a:tr h="624960">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846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5760">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4960">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5744">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5744">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4960">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250000"/>
          <a:ext cx="9693301" cy="4640344"/>
        </p:xfrm>
        <a:graphic>
          <a:graphicData uri="http://schemas.openxmlformats.org/drawingml/2006/table">
            <a:tbl>
              <a:tblPr firstRow="1" bandRow="1">
                <a:tableStyleId>{5C22544A-7EE6-4342-B048-85BDC9FD1C3A}</a:tableStyleId>
              </a:tblPr>
              <a:tblGrid>
                <a:gridCol w="1961739"/>
                <a:gridCol w="3923479"/>
                <a:gridCol w="3808083"/>
              </a:tblGrid>
              <a:tr h="554400">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92328">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92328">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583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92328">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583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040344"/>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graphicFrame>
        <p:nvGraphicFramePr>
          <p:cNvPr id="6" name="Table 5"/>
          <p:cNvGraphicFramePr>
            <a:graphicFrameLocks noGrp="1"/>
          </p:cNvGraphicFramePr>
          <p:nvPr/>
        </p:nvGraphicFramePr>
        <p:xfrm>
          <a:off x="574575" y="105840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04000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pic>
        <p:nvPicPr>
          <p:cNvPr id="6" name="Picture 5" descr="f4-3.png"/>
          <p:cNvPicPr>
            <a:picLocks noChangeAspect="1"/>
          </p:cNvPicPr>
          <p:nvPr/>
        </p:nvPicPr>
        <p:blipFill>
          <a:blip r:embed="rId2"/>
          <a:stretch>
            <a:fillRect/>
          </a:stretch>
        </p:blipFill>
        <p:spPr>
          <a:xfrm>
            <a:off x="1290646" y="1150000"/>
            <a:ext cx="8110707" cy="5799999"/>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g4-5.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g4-6.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g4-7.png"/>
          <p:cNvPicPr>
            <a:picLocks noChangeAspect="1"/>
          </p:cNvPicPr>
          <p:nvPr/>
        </p:nvPicPr>
        <p:blipFill>
          <a:blip r:embed="rId2"/>
          <a:stretch>
            <a:fillRect/>
          </a:stretch>
        </p:blipFill>
        <p:spPr>
          <a:xfrm>
            <a:off x="810000" y="1150000"/>
            <a:ext cx="9072000" cy="5799999"/>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8.png"/>
          <p:cNvPicPr>
            <a:picLocks noChangeAspect="1"/>
          </p:cNvPicPr>
          <p:nvPr/>
        </p:nvPicPr>
        <p:blipFill>
          <a:blip r:embed="rId2"/>
          <a:stretch>
            <a:fillRect/>
          </a:stretch>
        </p:blipFill>
        <p:spPr>
          <a:xfrm>
            <a:off x="661385" y="1150000"/>
            <a:ext cx="9369230" cy="5799999"/>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9.png"/>
          <p:cNvPicPr>
            <a:picLocks noChangeAspect="1"/>
          </p:cNvPicPr>
          <p:nvPr/>
        </p:nvPicPr>
        <p:blipFill>
          <a:blip r:embed="rId2"/>
          <a:stretch>
            <a:fillRect/>
          </a:stretch>
        </p:blipFill>
        <p:spPr>
          <a:xfrm>
            <a:off x="949476" y="1150000"/>
            <a:ext cx="8793048" cy="5799999"/>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graphicFrame>
        <p:nvGraphicFramePr>
          <p:cNvPr id="6" name="Table 5"/>
          <p:cNvGraphicFramePr>
            <a:graphicFrameLocks noGrp="1"/>
          </p:cNvGraphicFramePr>
          <p:nvPr/>
        </p:nvGraphicFramePr>
        <p:xfrm>
          <a:off x="494383" y="100800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graphicFrame>
        <p:nvGraphicFramePr>
          <p:cNvPr id="6" name="Table 5"/>
          <p:cNvGraphicFramePr>
            <a:graphicFrameLocks noGrp="1"/>
          </p:cNvGraphicFramePr>
          <p:nvPr/>
        </p:nvGraphicFramePr>
        <p:xfrm>
          <a:off x="494383" y="100800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sp>
        <p:nvSpPr>
          <p:cNvPr id="6" name="TextBox 5"/>
          <p:cNvSpPr txBox="1"/>
          <p:nvPr/>
        </p:nvSpPr>
        <p:spPr>
          <a:xfrm>
            <a:off x="497190" y="1108800"/>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개발 경위 — 반복 개발의 타임라인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sp>
        <p:nvSpPr>
          <p:cNvPr id="6" name="TextBox 5"/>
          <p:cNvSpPr txBox="1"/>
          <p:nvPr/>
        </p:nvSpPr>
        <p:spPr>
          <a:xfrm>
            <a:off x="497190" y="927360"/>
            <a:ext cx="9695214"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「모델을 어떻게 만들었나 / 처음 설계와 무엇이 달라졌나」를 묻는 경우 — 예상 질문 8·9·43번의 백업</a:t>
            </a:r>
          </a:p>
        </p:txBody>
      </p:sp>
      <p:sp>
        <p:nvSpPr>
          <p:cNvPr id="7" name="Rectangle 6"/>
          <p:cNvSpPr/>
          <p:nvPr/>
        </p:nvSpPr>
        <p:spPr>
          <a:xfrm>
            <a:off x="497190" y="236880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43136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43136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27808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52000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307440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504000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79600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ch1.png"/>
          <p:cNvPicPr>
            <a:picLocks noChangeAspect="1"/>
          </p:cNvPicPr>
          <p:nvPr/>
        </p:nvPicPr>
        <p:blipFill>
          <a:blip r:embed="rId2"/>
          <a:stretch>
            <a:fillRect/>
          </a:stretch>
        </p:blipFill>
        <p:spPr>
          <a:xfrm>
            <a:off x="2605842" y="1150000"/>
            <a:ext cx="5480315" cy="5799998"/>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ch2.png"/>
          <p:cNvPicPr>
            <a:picLocks noChangeAspect="1"/>
          </p:cNvPicPr>
          <p:nvPr/>
        </p:nvPicPr>
        <p:blipFill>
          <a:blip r:embed="rId2"/>
          <a:stretch>
            <a:fillRect/>
          </a:stretch>
        </p:blipFill>
        <p:spPr>
          <a:xfrm>
            <a:off x="3091140" y="1150000"/>
            <a:ext cx="4509719" cy="5799999"/>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5-1.png"/>
          <p:cNvPicPr>
            <a:picLocks noChangeAspect="1"/>
          </p:cNvPicPr>
          <p:nvPr/>
        </p:nvPicPr>
        <p:blipFill>
          <a:blip r:embed="rId2"/>
          <a:stretch>
            <a:fillRect/>
          </a:stretch>
        </p:blipFill>
        <p:spPr>
          <a:xfrm>
            <a:off x="480000" y="1150000"/>
            <a:ext cx="9732000" cy="4588427"/>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g5-2.png"/>
          <p:cNvPicPr>
            <a:picLocks noChangeAspect="1"/>
          </p:cNvPicPr>
          <p:nvPr/>
        </p:nvPicPr>
        <p:blipFill>
          <a:blip r:embed="rId2"/>
          <a:stretch>
            <a:fillRect/>
          </a:stretch>
        </p:blipFill>
        <p:spPr>
          <a:xfrm>
            <a:off x="480000" y="1150000"/>
            <a:ext cx="9732000" cy="563357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3.png"/>
          <p:cNvPicPr>
            <a:picLocks noChangeAspect="1"/>
          </p:cNvPicPr>
          <p:nvPr/>
        </p:nvPicPr>
        <p:blipFill>
          <a:blip r:embed="rId2"/>
          <a:stretch>
            <a:fillRect/>
          </a:stretch>
        </p:blipFill>
        <p:spPr>
          <a:xfrm>
            <a:off x="480000" y="1150000"/>
            <a:ext cx="9732000" cy="5126577"/>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