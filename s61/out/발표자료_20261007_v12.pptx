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이 둘은 서로를 전제하지 않아서 현장에서는 따로 돕니다. LCA 보고서를 받아 놓고 경영시스템에서는 쓰지 않는 식입니다.</a:t>
            </a:r>
          </a:p>
          <a:p>
            <a:r>
              <a:rPr sz="1200">
                <a:latin typeface="맑은 고딕"/>
              </a:rPr>
              <a:t>이 연구는 둘이 얼마나 이어졌는지를 측정하고 판정하는 모델을 만든 것입니다. 이어졌다는 것은 LCA 결과가 환경측면의 결정과 영향평가, 환경목표, 설계, 점검에 실제로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그 결과로 중대한 환경측면을 다시 정하고, 환경목표를 세우고, 다음 해에 다시 재서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모델의 전체 그림입니다. 위 띠가 입력, 곧 따른 표준이고, 가운데가 연계 업무가 도는 관리 주기, 아래 띠가 만든 세 가지와 그 적용입니다.</a:t>
            </a:r>
          </a:p>
          <a:p>
            <a:r>
              <a:rPr sz="1200">
                <a:latin typeface="맑은 고딕"/>
              </a:rPr>
              <a:t>세 가지는 참조 모델, 평가 모델, 성숙도 모델입니다. 쉽게 말하면 평가할 업무 목록 16종, 채점표 55문항, 등급 규칙 ML0부터 ML5입니다. 이 셋을 합쳐 연계 성숙도 평가 모델, LMA라고 합니다.</a:t>
            </a:r>
          </a:p>
          <a:p>
            <a:r>
              <a:rPr sz="1200">
                <a:latin typeface="맑은 고딕"/>
              </a:rPr>
              <a:t>먼저 두 표준을 어떻게 맞대었는지부터 보겠습니다.</a:t>
            </a:r>
          </a:p>
          <a:p>
            <a:r>
              <a:rPr sz="1200">
                <a:latin typeface="맑은 고딕"/>
              </a:rPr>
              <a:t>〔「검증은 했나」가 나오면 — 두 방향. 추적성 검증과 ISO/IEC 33004 24건 자체점검(충족 22·해당 없음 1·보완 1). CVI는 설계까지, 실시는 향후 연구 과제 — 3.5.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ISO 14001의 관리 주기, 오른쪽이 LCA의 4단계입니다. 선이 두 표준이 맞닿는 곳, 곧 연계 지점입니다.</a:t>
            </a:r>
          </a:p>
          <a:p>
            <a:r>
              <a:rPr sz="1200">
                <a:latin typeface="맑은 고딕"/>
              </a:rPr>
              <a:t>그 가운데 굵은 선 네 개가 핵심 연계 지점입니다. 환경측면 결정, 환경목표, 설계·개발, 성과 모니터링입니다. 이 넷 가운데 하나가 끊기면 순환이 그 단계에서 멈춥니다.</a:t>
            </a:r>
          </a:p>
          <a:p>
            <a:r>
              <a:rPr sz="1200">
                <a:latin typeface="맑은 고딕"/>
              </a:rPr>
              <a:t>이 지점들을 업무 단위로 묶은 것이 다음 장의 참조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55개 평가 문항과 문항별 판정 기준, 객관적 증거 목록입니다. 문항은 계획 30, 실행 6, 점검 10, 개선 9입니다.</a:t>
            </a:r>
          </a:p>
          <a:p>
            <a:r>
              <a:rPr sz="1200">
                <a:latin typeface="맑은 고딕"/>
              </a:rPr>
              <a:t>문항마다 무엇을 증거로 볼지와 어느 상태를 몇 점으로 볼지를 미리 정해 두었습니다. 점수는 평가자의 재량이 아니라 체크포인트 충족 개수로 정해지며, 3점이 필수 체크포인트 전부 충족, 곧 shall 충족 기준입니다.</a:t>
            </a:r>
          </a:p>
          <a:p>
            <a:r>
              <a:rPr sz="1200">
                <a:latin typeface="맑은 고딕"/>
              </a:rPr>
              <a:t>오른쪽이 D-1 한 문항의 5점 기준입니다. 4장에서 A사가 2점을 받은 바로 그 문항입니다.</a:t>
            </a:r>
          </a:p>
          <a:p>
            <a:r>
              <a:rPr sz="1200">
                <a:latin typeface="맑은 고딕"/>
              </a:rPr>
              <a:t>점수를 성숙도 수준으로 바꾸는 규칙이 성숙도 모델입니다.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수준은 ML0에서 ML5까지 여섯이고 진입 조건은 누적입니다. 조건의 어느 항에도 평균은 쓰이지 않습니다.</a:t>
            </a:r>
          </a:p>
          <a:p>
            <a:r>
              <a:rPr sz="1200">
                <a:latin typeface="맑은 고딕"/>
              </a:rPr>
              <a:t>연계가 성립하지 않는 지점과 연계가 얕은 지점은 다르므로, 연계 성립의 필요조건인 핵심 문항 4종에만 최소충족 판정을 적용하였습니다. 이 원리는 KS X ISO 8000-62 4.5.1에서 가져오고 적용 범위만 네 문항으로 한정한 것입니다.</a:t>
            </a:r>
          </a:p>
          <a:p>
            <a:r>
              <a:rPr sz="1200">
                <a:latin typeface="맑은 고딕"/>
              </a:rPr>
              <a:t>핵심 문항 하나라도 3점 미만이면 평균과 관계없이 상한은 ML2입니다.</a:t>
            </a:r>
          </a:p>
          <a:p>
            <a:r>
              <a:rPr sz="1200">
                <a:latin typeface="맑은 고딕"/>
              </a:rPr>
              <a:t>만든 도구가 요건을 갖추었는지 한 장으로 정리하겠습니다.</a:t>
            </a:r>
          </a:p>
          <a:p>
            <a:r>
              <a:rPr sz="1200">
                <a:latin typeface="맑은 고딕"/>
              </a:rPr>
              <a:t>〔비교주장을 하지 않는 조직의 C-7·A-9는 3.4.3의 기준대로 1점, 미수행 정책을 문서화하면 3점. 말로 풀 때만 비유 — 평균이 높아도 필수 넷 중 하나가 빠지면 등급이 안 올라간다, 건강검진의 필수 검사와 같다(논문 안에는 비유 없음).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모델은 세 계층, 16종, 55문항, 여섯 수준으로 갖추어졌고, 타당성은 두 가지 방향으로 검증하였습니다.</a:t>
            </a:r>
          </a:p>
          <a:p>
            <a:r>
              <a:rPr sz="1200">
                <a:latin typeface="맑은 고딕"/>
              </a:rPr>
              <a:t>첫째 방향은 추적성 검증으로, 55개 문항을 두 표준의 전 조항 대조에서 나온 근거 조항까지 추적하여 문항의 내용타당도 근거를 마련하였습니다. 둘째 방향은 표준 적합성 검증으로, 세 모델의 요건을 정한 ISO/IEC 33004의 24개 요구사항을 자체 점검하였습니다. 충족 22건, 해당 없음 1건, 보완 1건입니다.</a:t>
            </a:r>
          </a:p>
          <a:p>
            <a:r>
              <a:rPr sz="1200">
                <a:latin typeface="맑은 고딕"/>
              </a:rPr>
              <a:t>보완 1건은 55문항과 핵심 문항 지정에 대한 전문가 합의로, 전문가 내용타당도 조사(CVI)는 조사지 설계까지 마쳤으며 실시는 향후 연구 과제로 두었습니다. 그 사실을 논문에 적어 두었습니다.</a:t>
            </a:r>
          </a:p>
          <a:p>
            <a:r>
              <a:rPr sz="1200">
                <a:latin typeface="맑은 고딕"/>
              </a:rPr>
              <a:t>한 줄로 말씀드리면, 표준의 틀을 따르고 표준이 비워 둔 세 곳을 이 연구가 채웠습니다.</a:t>
            </a:r>
          </a:p>
          <a:p>
            <a:r>
              <a:rPr sz="1200">
                <a:latin typeface="맑은 고딕"/>
              </a:rPr>
              <a:t>이제 이 도구로 한 기업을 평가한 결과입니다.</a:t>
            </a:r>
          </a:p>
          <a:p>
            <a:r>
              <a:rPr sz="1200">
                <a:latin typeface="맑은 고딕"/>
              </a:rPr>
              <a:t>〔1분 30초〕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제조기업 A사의 환경경영시스템(ISO 14001)과 2025년 제품 전과정평가(LCA)를 대상으로, 증빙 문서 16종, 개별 33건에 대한 문서 심사로 수행하였습니다. 사내표준과 기록을 확인하여 체크포인트 단위로 판정하였고, 평가 기간은 2026년 6~7월입니다.</a:t>
            </a:r>
          </a:p>
          <a:p>
            <a:r>
              <a:rPr sz="1200">
                <a:latin typeface="맑은 고딕"/>
              </a:rPr>
              <a:t>본 평가는 ISO/IEC 33002의 평가 클래스 3에 상당합니다. 따라서 본 연구의 판정은 모델의 작동을 확인하는 시범 적용의 결과이며, 조직의 공식 성숙도 등급을 주는 평가가 아닙니다.</a:t>
            </a:r>
          </a:p>
          <a:p>
            <a:r>
              <a:rPr sz="1200">
                <a:latin typeface="맑은 고딕"/>
              </a:rPr>
              <a:t>평가자가 한 사람이므로 객관성을 어떻게 확보하였는지 먼저 말씀드리겠습니다.</a:t>
            </a:r>
          </a:p>
          <a:p>
            <a:r>
              <a:rPr sz="1200">
                <a:latin typeface="맑은 고딕"/>
              </a:rPr>
              <a:t>〔「회사가 쓰겠다던가」가 나오면 — 연구 목적의 시범 적용이라 공식 판정으로 전달하지 않았고, 공식 등급은 클래스 1·2 요건의 재평가가 필요하며 복수 기업 적용과 함께 향후 연구 과제 — 4.1, 4.7, 5.3, 백업 B-Q9.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판정 관례를 사전에 명문화하고 잠정 채점을 증빙으로 재검증하는 방식으로 평가자 편향의 위험을 줄였습니다. 구두 진술만으로는 충족을 인정하지 않고, 양식만 있고 기입이 없으면 미충족으로, 판단이 곤란한 경우도 미충족으로 처리하였습니다.</a:t>
            </a:r>
          </a:p>
          <a:p>
            <a:r>
              <a:rPr sz="1200">
                <a:latin typeface="맑은 고딕"/>
              </a:rPr>
              <a:t>재검증에서 실현된 변동은 상향 7건, 하향 9건이며, 종합점수는 2.89점에서 2.85점으로 낮아졌습니다. 재검증이 관대화를 억제하는 방향으로 작동한 것입니다.</a:t>
            </a:r>
          </a:p>
          <a:p>
            <a:r>
              <a:rPr sz="1200">
                <a:latin typeface="맑은 고딕"/>
              </a:rPr>
              <a:t>평가자가 대상 조직의 환경경영 업무를 지원한 이력은 공평성 고려 사항으로 밝혔으며, 판정은 조직이 생성·기입한 기록의 실재를 기준으로 하였습니다.</a:t>
            </a:r>
          </a:p>
          <a:p>
            <a:r>
              <a:rPr sz="1200">
                <a:latin typeface="맑은 고딕"/>
              </a:rPr>
              <a:t>아래는 평가 기록부의 실제 기입으로, 핵심 문항 4종만 발췌한 것입니다. D-1 행이 뒤의 판정을 가릅니다.</a:t>
            </a:r>
          </a:p>
          <a:p>
            <a:r>
              <a:rPr sz="1200">
                <a:latin typeface="맑은 고딕"/>
              </a:rPr>
              <a:t>〔1분 20초〕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둘이 회사 안에서 이어져 도는지를 등급으로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둘은 서로를 전제하지 않아 따로 돈다 — 얼마나 이어졌는지를 측정하고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이어졌다는 것은 — LCA 결과가 환경측면의 결정·영향평가·환경목표·설계·점검에 실제로 쓰이는 것</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 — 입력 · 과정 · 출력</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참조·평가·성숙도의 세 계층으로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3.2~3.4, [그림 3-2]</a:t>
            </a:r>
          </a:p>
        </p:txBody>
      </p:sp>
      <p:pic>
        <p:nvPicPr>
          <p:cNvPr id="8" name="Picture 7" descr="ch3.png"/>
          <p:cNvPicPr>
            <a:picLocks noChangeAspect="1"/>
          </p:cNvPicPr>
          <p:nvPr/>
        </p:nvPicPr>
        <p:blipFill>
          <a:blip r:embed="rId2"/>
          <a:stretch>
            <a:fillRect/>
          </a:stretch>
        </p:blipFill>
        <p:spPr>
          <a:xfrm>
            <a:off x="2487680" y="1233360"/>
            <a:ext cx="5716639" cy="571663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2136240" y="1233360"/>
            <a:ext cx="6419520" cy="4814639"/>
          </a:xfrm>
          <a:prstGeom prst="rect">
            <a:avLst/>
          </a:prstGeom>
        </p:spPr>
      </p:pic>
      <p:sp>
        <p:nvSpPr>
          <p:cNvPr id="9" name="TextBox 8"/>
          <p:cNvSpPr txBox="1"/>
          <p:nvPr/>
        </p:nvSpPr>
        <p:spPr>
          <a:xfrm>
            <a:off x="497190" y="6118000"/>
            <a:ext cx="9695214"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 / 오른쪽 — ISO 14044의 4단계. 굵은 선 네 개가 연계 성립의 필요조건에 해당하는 핵심 연계 지점 ①~④(6.1.2 · 6.2.1 · 8.1 · 9.1.1)이다.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 = 매핑에서 확인된 두 표준의 결합 지점  ·  핵심 연계 지점 = 그 가운데 연계 성립에 필수인 네 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662561" y="1233360"/>
            <a:ext cx="4848509" cy="2398709"/>
          </a:xfrm>
          <a:prstGeom prst="rect">
            <a:avLst/>
          </a:prstGeom>
        </p:spPr>
      </p:pic>
      <p:sp>
        <p:nvSpPr>
          <p:cNvPr id="9" name="TextBox 8"/>
          <p:cNvSpPr txBox="1"/>
          <p:nvPr/>
        </p:nvSpPr>
        <p:spPr>
          <a:xfrm>
            <a:off x="497190" y="3702069"/>
            <a:ext cx="4971904" cy="100533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44(ISO 14001 조항 대응) + 11(ISO 14044 고유) — P 30 · D 6 · C 10 · A 9</a:t>
            </a:r>
          </a:p>
          <a:p>
            <a:r>
              <a:rPr sz="1400" b="0" i="0" a:lang="ko-KR">
                <a:solidFill>
                  <a:srgbClr val="111111"/>
                </a:solidFill>
                <a:latin typeface="맑은 고딕"/>
                <a:ea typeface="맑은 고딕"/>
              </a:rPr>
              <a:t>문항마다 증거로 볼 것(평가 대상)과 어느 상태를 몇 점으로 볼지(BARS 앵커)를 미리 정해 둠</a:t>
            </a:r>
          </a:p>
        </p:txBody>
      </p:sp>
      <p:sp>
        <p:nvSpPr>
          <p:cNvPr id="10" name="Rounded Rectangle 9"/>
          <p:cNvSpPr/>
          <p:nvPr/>
        </p:nvSpPr>
        <p:spPr>
          <a:xfrm>
            <a:off x="5693632" y="1512000"/>
            <a:ext cx="4490752" cy="548335"/>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5693632" y="2110734"/>
          <a:ext cx="4490752" cy="3326400"/>
        </p:xfrm>
        <a:graphic>
          <a:graphicData uri="http://schemas.openxmlformats.org/drawingml/2006/table">
            <a:tbl>
              <a:tblPr firstRow="1" bandRow="1">
                <a:tableStyleId>{5C22544A-7EE6-4342-B048-85BDC9FD1C3A}</a:tableStyleId>
              </a:tblPr>
              <a:tblGrid>
                <a:gridCol w="801920"/>
                <a:gridCol w="3688832"/>
              </a:tblGrid>
              <a:tr h="554400">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상태 (BARS 앵커)</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5693632" y="5426560"/>
            <a:ext cx="4490752" cy="12096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100" b="0" i="0" a:lang="ko-KR">
                <a:solidFill>
                  <a:srgbClr val="595959"/>
                </a:solidFill>
                <a:latin typeface="맑은 고딕"/>
                <a:ea typeface="맑은 고딕"/>
              </a:rPr>
              <a:t>추가 체크포인트(should성) — ④ 폐기단계 고려 설계 ⑤ 설계 대안 간 LCA 비교 정례화</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graphicFrame>
        <p:nvGraphicFramePr>
          <p:cNvPr id="8" name="Table 7"/>
          <p:cNvGraphicFramePr>
            <a:graphicFrameLocks noGrp="1"/>
          </p:cNvGraphicFramePr>
          <p:nvPr/>
        </p:nvGraphicFramePr>
        <p:xfrm>
          <a:off x="497190" y="1180000"/>
          <a:ext cx="6736128" cy="4218496"/>
        </p:xfrm>
        <a:graphic>
          <a:graphicData uri="http://schemas.openxmlformats.org/drawingml/2006/table">
            <a:tbl>
              <a:tblPr firstRow="1" bandRow="1">
                <a:tableStyleId>{5C22544A-7EE6-4342-B048-85BDC9FD1C3A}</a:tableStyleId>
              </a:tblPr>
              <a:tblGrid>
                <a:gridCol w="1363264"/>
                <a:gridCol w="2726528"/>
                <a:gridCol w="2646336"/>
              </a:tblGrid>
              <a:tr h="504000">
                <a:tc>
                  <a:txBody>
                    <a:bodyPr wrap="square"/>
                    <a:lstStyle/>
                    <a:p>
                      <a:pPr algn="ctr"/>
                      <a:r>
                        <a:rPr sz="14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설계 근거</a:t>
                      </a:r>
                    </a:p>
                  </a:txBody>
                  <a:tcPr marL="64008" marR="64008" marT="27432" marB="27432" anchor="ctr">
                    <a:solidFill>
                      <a:srgbClr val="1F3864"/>
                    </a:solidFill>
                  </a:tcPr>
                </a:tc>
              </a:tr>
              <a:tr h="538480">
                <a:tc>
                  <a:txBody>
                    <a:bodyPr wrap="square"/>
                    <a:lstStyle/>
                    <a:p>
                      <a:pPr algn="l"/>
                      <a:r>
                        <a:rPr sz="14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780288">
                <a:tc>
                  <a:txBody>
                    <a:bodyPr wrap="square"/>
                    <a:lstStyle/>
                    <a:p>
                      <a:pPr algn="l"/>
                      <a:r>
                        <a:rPr sz="14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38480">
                <a:tc>
                  <a:txBody>
                    <a:bodyPr wrap="square"/>
                    <a:lstStyle/>
                    <a:p>
                      <a:pPr algn="l"/>
                      <a:r>
                        <a:rPr sz="14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458496"/>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조건의 어느 항에도 평균은 쓰이지 않는다 — 연계가 성립하지 않는 지점(핵심 문항 미달)과 연계가 얕은 지점(51문항의 점수 차)은 다르다</a:t>
            </a:r>
          </a:p>
        </p:txBody>
      </p:sp>
      <p:sp>
        <p:nvSpPr>
          <p:cNvPr id="19" name="TextBox 18"/>
          <p:cNvSpPr txBox="1"/>
          <p:nvPr/>
        </p:nvSpPr>
        <p:spPr>
          <a:xfrm>
            <a:off x="497190" y="6375296"/>
            <a:ext cx="9695214" cy="349584"/>
          </a:xfrm>
          <a:prstGeom prst="rect">
            <a:avLst/>
          </a:prstGeom>
          <a:noFill/>
        </p:spPr>
        <p:txBody>
          <a:bodyPr wrap="square" anchor="t" lIns="0" rIns="0" tIns="0" bIns="0">
            <a:spAutoFit/>
          </a:bodyPr>
          <a:lstStyle/>
          <a:p>
            <a:r>
              <a:rPr sz="11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부록 E</a:t>
            </a:r>
          </a:p>
        </p:txBody>
      </p:sp>
      <p:graphicFrame>
        <p:nvGraphicFramePr>
          <p:cNvPr id="8" name="Table 7"/>
          <p:cNvGraphicFramePr>
            <a:graphicFrameLocks noGrp="1"/>
          </p:cNvGraphicFramePr>
          <p:nvPr/>
        </p:nvGraphicFramePr>
        <p:xfrm>
          <a:off x="494383" y="1180000"/>
          <a:ext cx="9703232" cy="3294112"/>
        </p:xfrm>
        <a:graphic>
          <a:graphicData uri="http://schemas.openxmlformats.org/drawingml/2006/table">
            <a:tbl>
              <a:tblPr firstRow="1" bandRow="1">
                <a:tableStyleId>{5C22544A-7EE6-4342-B048-85BDC9FD1C3A}</a:tableStyleId>
              </a:tblPr>
              <a:tblGrid>
                <a:gridCol w="1202880"/>
                <a:gridCol w="1523648"/>
                <a:gridCol w="1844416"/>
                <a:gridCol w="2245376"/>
                <a:gridCol w="2886912"/>
              </a:tblGrid>
              <a:tr h="624960">
                <a:tc>
                  <a:txBody>
                    <a:bodyPr wrap="square"/>
                    <a:lstStyle/>
                    <a:p>
                      <a:pPr algn="ctr"/>
                      <a:r>
                        <a:rPr sz="1400" b="1" i="0" a:lang="ko-KR">
                          <a:solidFill>
                            <a:srgbClr val="FFFFFF"/>
                          </a:solidFill>
                          <a:latin typeface="맑은 고딕"/>
                          <a:ea typeface="맑은 고딕"/>
                        </a:rPr>
                        <a:t>계층</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산출물</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규모</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따른 표준(구조·방법)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본 연구가 새로 만든 것</a:t>
                      </a:r>
                    </a:p>
                  </a:txBody>
                  <a:tcPr marL="64008" marR="64008" marT="27432" marB="27432" anchor="ctr">
                    <a:solidFill>
                      <a:srgbClr val="1F3864"/>
                    </a:solidFill>
                  </a:tcPr>
                </a:tc>
              </a:tr>
              <a:tr h="624960">
                <a:tc>
                  <a:txBody>
                    <a:bodyPr wrap="square"/>
                    <a:lstStyle/>
                    <a:p>
                      <a:pPr algn="ctr"/>
                      <a:r>
                        <a:rPr sz="1400" b="0" i="0" a:lang="ko-KR">
                          <a:solidFill>
                            <a:srgbClr val="111111"/>
                          </a:solidFill>
                          <a:latin typeface="맑은 고딕"/>
                          <a:ea typeface="맑은 고딕"/>
                        </a:rPr>
                        <a:t>참조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연계 프로세스</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16종 (P 8·D 2·C 3·A 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5절 · KS X ISO 8000-61 5.3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표준의 조항을 대응시켜 도출한 연계 프로세스</a:t>
                      </a:r>
                    </a:p>
                  </a:txBody>
                  <a:tcPr marL="64008" marR="64008" marT="27432" marB="27432" anchor="ctr">
                    <a:solidFill>
                      <a:srgbClr val="FFFFFF"/>
                    </a:solidFill>
                  </a:tcPr>
                </a:tc>
              </a:tr>
              <a:tr h="1263904">
                <a:tc>
                  <a:txBody>
                    <a:bodyPr wrap="square"/>
                    <a:lstStyle/>
                    <a:p>
                      <a:pPr algn="ctr"/>
                      <a:r>
                        <a:rPr sz="1400" b="0" i="0" a:lang="ko-KR">
                          <a:solidFill>
                            <a:srgbClr val="111111"/>
                          </a:solidFill>
                          <a:latin typeface="맑은 고딕"/>
                          <a:ea typeface="맑은 고딕"/>
                        </a:rPr>
                        <a:t>평가 모델</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평가 문항·문항별 판정 기준·객관적 증거 목록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55문항 (P 30·D 6·C 10·A 9)</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ISO/IEC 33004 6절 · ISO/IEC 33020(N–P–L–F 대신 BARS 5점)</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표준이 평가자에게 식별하도록 맡긴 평가지표를 이 분야에 대해 개발</a:t>
                      </a:r>
                    </a:p>
                  </a:txBody>
                  <a:tcPr marL="64008" marR="64008" marT="27432" marB="27432" anchor="ctr">
                    <a:solidFill>
                      <a:srgbClr val="E8EEF7"/>
                    </a:solidFill>
                  </a:tcPr>
                </a:tc>
              </a:tr>
              <a:tr h="780288">
                <a:tc>
                  <a:txBody>
                    <a:bodyPr wrap="square"/>
                    <a:lstStyle/>
                    <a:p>
                      <a:pPr algn="ctr"/>
                      <a:r>
                        <a:rPr sz="1400" b="0" i="0" a:lang="ko-KR">
                          <a:solidFill>
                            <a:srgbClr val="111111"/>
                          </a:solidFill>
                          <a:latin typeface="맑은 고딕"/>
                          <a:ea typeface="맑은 고딕"/>
                        </a:rPr>
                        <a:t>성숙도 모델</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수준별 기준·판정 규칙·핵심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ML0~ML5, 핵심 문항 4종</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ISO/IEC 33004 7절 · KS X ISO 8000-62 4.5.1 · ISO/IEC 33003</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최소충족 판정을 연계 성립의 네 지점에 적용한 핵심 문항 규칙</a:t>
                      </a:r>
                    </a:p>
                  </a:txBody>
                  <a:tcPr marL="64008" marR="64008" marT="27432" marB="27432" anchor="ctr">
                    <a:solidFill>
                      <a:srgbClr val="FFFFFF"/>
                    </a:solidFill>
                  </a:tcPr>
                </a:tc>
              </a:tr>
            </a:tbl>
          </a:graphicData>
        </a:graphic>
      </p:graphicFrame>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적용 개요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4.2.1</a:t>
            </a:r>
          </a:p>
        </p:txBody>
      </p:sp>
      <p:sp>
        <p:nvSpPr>
          <p:cNvPr id="8" name="Rounded Rectangle 7"/>
          <p:cNvSpPr/>
          <p:nvPr/>
        </p:nvSpPr>
        <p:spPr>
          <a:xfrm>
            <a:off x="497190" y="1180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대상</a:t>
            </a:r>
          </a:p>
        </p:txBody>
      </p:sp>
      <p:sp>
        <p:nvSpPr>
          <p:cNvPr id="9" name="Rounded Rectangle 8"/>
          <p:cNvSpPr/>
          <p:nvPr/>
        </p:nvSpPr>
        <p:spPr>
          <a:xfrm>
            <a:off x="1820359" y="1180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제조기업 A사의 환경경영시스템(ISO 14001)과 2025년 제품 전과정평가(LCA)</a:t>
            </a:r>
          </a:p>
        </p:txBody>
      </p:sp>
      <p:sp>
        <p:nvSpPr>
          <p:cNvPr id="10" name="Rounded Rectangle 9"/>
          <p:cNvSpPr/>
          <p:nvPr/>
        </p:nvSpPr>
        <p:spPr>
          <a:xfrm>
            <a:off x="497190" y="2188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방법</a:t>
            </a:r>
          </a:p>
        </p:txBody>
      </p:sp>
      <p:sp>
        <p:nvSpPr>
          <p:cNvPr id="11" name="Rounded Rectangle 10"/>
          <p:cNvSpPr/>
          <p:nvPr/>
        </p:nvSpPr>
        <p:spPr>
          <a:xfrm>
            <a:off x="1820359" y="2188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증빙 문서 16종(개별 33건)에 대한 문서 심사 — 사내표준과 기록을 확인하여 체크포인트 단위로 판정</a:t>
            </a:r>
          </a:p>
        </p:txBody>
      </p:sp>
      <p:sp>
        <p:nvSpPr>
          <p:cNvPr id="12" name="Rounded Rectangle 11"/>
          <p:cNvSpPr/>
          <p:nvPr/>
        </p:nvSpPr>
        <p:spPr>
          <a:xfrm>
            <a:off x="497190" y="3196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기간</a:t>
            </a:r>
          </a:p>
        </p:txBody>
      </p:sp>
      <p:sp>
        <p:nvSpPr>
          <p:cNvPr id="13" name="Rounded Rectangle 12"/>
          <p:cNvSpPr/>
          <p:nvPr/>
        </p:nvSpPr>
        <p:spPr>
          <a:xfrm>
            <a:off x="1820359" y="3196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2026년 6~7월 — 기준 확정 → 잠정 채점 → 체크포인트 단위 전수 재검증 → 증빙 확정</a:t>
            </a:r>
          </a:p>
        </p:txBody>
      </p:sp>
      <p:sp>
        <p:nvSpPr>
          <p:cNvPr id="14" name="Rounded Rectangle 13"/>
          <p:cNvSpPr/>
          <p:nvPr/>
        </p:nvSpPr>
        <p:spPr>
          <a:xfrm>
            <a:off x="497190" y="4204000"/>
            <a:ext cx="1202880" cy="8568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지위</a:t>
            </a:r>
          </a:p>
        </p:txBody>
      </p:sp>
      <p:sp>
        <p:nvSpPr>
          <p:cNvPr id="15" name="Rounded Rectangle 14"/>
          <p:cNvSpPr/>
          <p:nvPr/>
        </p:nvSpPr>
        <p:spPr>
          <a:xfrm>
            <a:off x="1820359" y="4204000"/>
            <a:ext cx="8372045" cy="8568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0" i="0" a:lang="ko-KR">
                <a:solidFill>
                  <a:srgbClr val="111111"/>
                </a:solidFill>
                <a:latin typeface="맑은 고딕"/>
                <a:ea typeface="맑은 고딕"/>
              </a:rPr>
              <a:t>ISO/IEC 33002의 평가 클래스 3 상당 · 독립성 범주 B 상당(부속서 A) — 평가 후원자 없는 연구 목적의 평가</a:t>
            </a:r>
          </a:p>
        </p:txBody>
      </p:sp>
      <p:sp>
        <p:nvSpPr>
          <p:cNvPr id="16" name="Rounded Rectangle 15"/>
          <p:cNvSpPr/>
          <p:nvPr/>
        </p:nvSpPr>
        <p:spPr>
          <a:xfrm>
            <a:off x="497190" y="5312799"/>
            <a:ext cx="9695214" cy="756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C00000"/>
                </a:solidFill>
                <a:latin typeface="맑은 고딕"/>
                <a:ea typeface="맑은 고딕"/>
              </a:rPr>
              <a:t>이 평가는 조직의 공식 성숙도 등급을 주는 평가가 아니다 — 모델의 판정 논리를 실제 자료에서 확인하는 것이 목적</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확보 수단</a:t>
            </a:r>
          </a:p>
          <a:p>
            <a:pPr algn="l"/>
            <a:r>
              <a:rPr sz="1300" b="0" i="0" a:lang="ko-KR">
                <a:solidFill>
                  <a:srgbClr val="111111"/>
                </a:solidFill>
                <a:latin typeface="맑은 고딕"/>
                <a:ea typeface="맑은 고딕"/>
              </a:rPr>
              <a:t>· 판정 관례를 사전에 명문화 — 구두 진술만으로는 미충족, 양식만 있고 기입이 없으면 미충족, 판단 곤란도 미충족</a:t>
            </a:r>
          </a:p>
          <a:p>
            <a:pPr algn="l"/>
            <a:r>
              <a:rPr sz="1300" b="0" i="0" a:lang="ko-KR">
                <a:solidFill>
                  <a:srgbClr val="111111"/>
                </a:solidFill>
                <a:latin typeface="맑은 고딕"/>
                <a:ea typeface="맑은 고딕"/>
              </a:rPr>
              <a:t>· 체크포인트 단위로 증빙을 명시 — 제3자가 재현 가능</a:t>
            </a:r>
          </a:p>
          <a:p>
            <a:pPr algn="l"/>
            <a:r>
              <a:rPr sz="1300" b="0" i="0" a:lang="ko-KR">
                <a:solidFill>
                  <a:srgbClr val="111111"/>
                </a:solidFill>
                <a:latin typeface="맑은 고딕"/>
                <a:ea typeface="맑은 고딕"/>
              </a:rPr>
              <a:t>· 평가자의 환경경영 업무 지원 이력을 공평성 고려 사항으로 밝힘 — 판정은 조직이 생성·기입한 기록의 실재 기준</a:t>
            </a:r>
          </a:p>
        </p:txBody>
      </p:sp>
      <p:sp>
        <p:nvSpPr>
          <p:cNvPr id="9" name="Rounded Rectangle 8"/>
          <p:cNvSpPr/>
          <p:nvPr/>
        </p:nvSpPr>
        <p:spPr>
          <a:xfrm>
            <a:off x="5461076" y="1180000"/>
            <a:ext cx="4731328" cy="231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i="0" a:lang="ko-KR">
                <a:solidFill>
                  <a:srgbClr val="1F3864"/>
                </a:solidFill>
                <a:latin typeface="맑은 고딕"/>
                <a:ea typeface="맑은 고딕"/>
              </a:rPr>
              <a:t>결과</a:t>
            </a:r>
          </a:p>
          <a:p>
            <a:pPr algn="l"/>
            <a:r>
              <a:rPr sz="1300" b="0" i="0" a:lang="ko-KR">
                <a:solidFill>
                  <a:srgbClr val="111111"/>
                </a:solidFill>
                <a:latin typeface="맑은 고딕"/>
                <a:ea typeface="맑은 고딕"/>
              </a:rPr>
              <a:t>· 잠정 채점을 증빙으로 전수 재검증 — 상향 7건 · 하향 9건(순변동 −2점)</a:t>
            </a:r>
          </a:p>
          <a:p>
            <a:pPr algn="l"/>
            <a:r>
              <a:rPr sz="1300" b="1" i="0" a:lang="ko-KR">
                <a:solidFill>
                  <a:srgbClr val="C00000"/>
                </a:solidFill>
                <a:latin typeface="맑은 고딕"/>
                <a:ea typeface="맑은 고딕"/>
              </a:rPr>
              <a:t>· 종합 2.89 → 2.85 — 낮은 쪽으로 수렴(재검증이 관대화를 억제하는 방향으로 작동)</a:t>
            </a:r>
          </a:p>
          <a:p>
            <a:pPr algn="l"/>
            <a:r>
              <a:rPr sz="1300" b="0" i="0" a:lang="ko-KR">
                <a:solidFill>
                  <a:srgbClr val="111111"/>
                </a:solidFill>
                <a:latin typeface="맑은 고딕"/>
                <a:ea typeface="맑은 고딕"/>
              </a:rPr>
              <a:t>· 판정 포인트와 확정 점수 전수 대조(51문항) 일치 · 평가 중 채점 기준 수정 없음(C-7·A-9 처리만 평가 뒤 3.4.3으로 확정, 점수 불변)</a:t>
            </a:r>
          </a:p>
        </p:txBody>
      </p:sp>
      <p:graphicFrame>
        <p:nvGraphicFramePr>
          <p:cNvPr id="10" name="Table 9"/>
          <p:cNvGraphicFramePr>
            <a:graphicFrameLocks noGrp="1"/>
          </p:cNvGraphicFramePr>
          <p:nvPr/>
        </p:nvGraphicFramePr>
        <p:xfrm>
          <a:off x="574575" y="35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924228" y="1233360"/>
            <a:ext cx="8843544" cy="4200959"/>
          </a:xfrm>
          <a:prstGeom prst="rect">
            <a:avLst/>
          </a:prstGeom>
        </p:spPr>
      </p:pic>
      <p:graphicFrame>
        <p:nvGraphicFramePr>
          <p:cNvPr id="9" name="Table 8"/>
          <p:cNvGraphicFramePr>
            <a:graphicFrameLocks noGrp="1"/>
          </p:cNvGraphicFramePr>
          <p:nvPr/>
        </p:nvGraphicFramePr>
        <p:xfrm>
          <a:off x="1216111" y="550432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899599"/>
            <a:ext cx="9695214" cy="647192"/>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180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564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564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