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3.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42.xml"/><Relationship Id="rId79" Type="http://schemas.openxmlformats.org/officeDocument/2006/relationships/slide" Target="slides/slide44.xml"/><Relationship Id="rId80"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영향평가 결과를 근거로 중대한 환경측면을 결정하고,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갈랐습니다.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가릅니다.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요소(예: 전력 사용, 원료의 탄소 배출)  ·  중대한 환경측면 = 환경측면의 영향을 평가해 영향이 큰 것으로 결정한 것 — 이것을 환경목표에 반영한다(6.1.2 → 6.2.1)  ·  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  ·  PDCA(Plan–Do–Check–Act) = 계획–실행–점검–조치의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결과(LCA 영향평가)를 근거로 중대한 환경측면을 결정하고 환경목표를 정하며, 다음 해에 다시 측정해 확인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1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0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742000"/>
            <a:ext cx="9695214" cy="89416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가른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개발의 경위</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8692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687924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154680"/>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35637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564600"/>
            <a:ext cx="9697620" cy="4000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034782" y="2489200"/>
            <a:ext cx="4622433" cy="1091814"/>
          </a:xfrm>
          <a:prstGeom prst="rect">
            <a:avLst/>
          </a:prstGeom>
        </p:spPr>
      </p:pic>
      <p:pic>
        <p:nvPicPr>
          <p:cNvPr id="13" name="Picture 12" descr="g4-3.png"/>
          <p:cNvPicPr>
            <a:picLocks noChangeAspect="1"/>
          </p:cNvPicPr>
          <p:nvPr/>
        </p:nvPicPr>
        <p:blipFill>
          <a:blip r:embed="rId3"/>
          <a:stretch>
            <a:fillRect/>
          </a:stretch>
        </p:blipFill>
        <p:spPr>
          <a:xfrm>
            <a:off x="2615274" y="4113891"/>
            <a:ext cx="5461451" cy="2084372"/>
          </a:xfrm>
          <a:prstGeom prst="rect">
            <a:avLst/>
          </a:prstGeom>
        </p:spPr>
      </p:pic>
      <p:sp>
        <p:nvSpPr>
          <p:cNvPr id="14" name="TextBox 13"/>
          <p:cNvSpPr txBox="1"/>
          <p:nvPr/>
        </p:nvSpPr>
        <p:spPr>
          <a:xfrm>
            <a:off x="497190" y="6268264"/>
            <a:ext cx="9695214" cy="681736"/>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1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그림·표(B-10a 채점 기준 표 · B-11a 진입 조건 표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250000"/>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1950000"/>
          <a:ext cx="9699883" cy="3825360"/>
        </p:xfrm>
        <a:graphic>
          <a:graphicData uri="http://schemas.openxmlformats.org/drawingml/2006/table">
            <a:tbl>
              <a:tblPr firstRow="1" bandRow="1">
                <a:tableStyleId>{5C22544A-7EE6-4342-B048-85BDC9FD1C3A}</a:tableStyleId>
              </a:tblPr>
              <a:tblGrid>
                <a:gridCol w="1732122"/>
                <a:gridCol w="7967761"/>
              </a:tblGrid>
              <a:tr h="63756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63756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63756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63756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925360"/>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250000"/>
          <a:ext cx="9693301" cy="4640344"/>
        </p:xfrm>
        <a:graphic>
          <a:graphicData uri="http://schemas.openxmlformats.org/drawingml/2006/table">
            <a:tbl>
              <a:tblPr firstRow="1" bandRow="1">
                <a:tableStyleId>{5C22544A-7EE6-4342-B048-85BDC9FD1C3A}</a:tableStyleId>
              </a:tblPr>
              <a:tblGrid>
                <a:gridCol w="1961739"/>
                <a:gridCol w="3923479"/>
                <a:gridCol w="3808083"/>
              </a:tblGrid>
              <a:tr h="554400">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92328">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92328">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583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583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040344"/>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