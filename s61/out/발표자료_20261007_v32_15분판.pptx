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332" r:id="rId83"/>
    <p:sldId id="264" r:id="rId16"/>
    <p:sldId id="261" r:id="rId13"/>
    <p:sldId id="260" r:id="rId12"/>
    <p:sldId id="265" r:id="rId17"/>
    <p:sldId id="268" r:id="rId20"/>
    <p:sldId id="269" r:id="rId21"/>
    <p:sldId id="267" r:id="rId19"/>
    <p:sldId id="270" r:id="rId22"/>
    <p:sldId id="271" r:id="rId23"/>
    <p:sldId id="272" r:id="rId24"/>
    <p:sldId id="274" r:id="rId26"/>
    <p:sldId id="333" r:id="rId84"/>
    <p:sldId id="279" r:id="rId31"/>
    <p:sldId id="281" r:id="rId33"/>
    <p:sldId id="334" r:id="rId85"/>
    <p:sldId id="284" r:id="rId36"/>
    <p:sldId id="285" r:id="rId37"/>
    <p:sldId id="262" r:id="rId14"/>
    <p:sldId id="263" r:id="rId15"/>
    <p:sldId id="266" r:id="rId18"/>
    <p:sldId id="273" r:id="rId25"/>
    <p:sldId id="328" r:id="rId80"/>
    <p:sldId id="275" r:id="rId27"/>
    <p:sldId id="276" r:id="rId28"/>
    <p:sldId id="277" r:id="rId29"/>
    <p:sldId id="278" r:id="rId30"/>
    <p:sldId id="280" r:id="rId32"/>
    <p:sldId id="282" r:id="rId34"/>
    <p:sldId id="283" r:id="rId35"/>
    <p:sldId id="286" r:id="rId38"/>
    <p:sldId id="335" r:id="rId86"/>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8.xml"/><Relationship Id="rId13" Type="http://schemas.openxmlformats.org/officeDocument/2006/relationships/slide" Target="slides/slide7.xml"/><Relationship Id="rId14" Type="http://schemas.openxmlformats.org/officeDocument/2006/relationships/slide" Target="slides/slide23.xml"/><Relationship Id="rId15" Type="http://schemas.openxmlformats.org/officeDocument/2006/relationships/slide" Target="slides/slide24.xml"/><Relationship Id="rId16" Type="http://schemas.openxmlformats.org/officeDocument/2006/relationships/slide" Target="slides/slide6.xml"/><Relationship Id="rId17" Type="http://schemas.openxmlformats.org/officeDocument/2006/relationships/slide" Target="slides/slide9.xml"/><Relationship Id="rId18" Type="http://schemas.openxmlformats.org/officeDocument/2006/relationships/slide" Target="slides/slide25.xml"/><Relationship Id="rId19" Type="http://schemas.openxmlformats.org/officeDocument/2006/relationships/slide" Target="slides/slide12.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26.xml"/><Relationship Id="rId26" Type="http://schemas.openxmlformats.org/officeDocument/2006/relationships/slide" Target="slides/slide16.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18.xml"/><Relationship Id="rId32" Type="http://schemas.openxmlformats.org/officeDocument/2006/relationships/slide" Target="slides/slide32.xml"/><Relationship Id="rId33" Type="http://schemas.openxmlformats.org/officeDocument/2006/relationships/slide" Target="slides/slide19.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35.xml"/><Relationship Id="rId39" Type="http://schemas.openxmlformats.org/officeDocument/2006/relationships/slide" Target="slides/slide38.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9.xml"/><Relationship Id="rId49" Type="http://schemas.openxmlformats.org/officeDocument/2006/relationships/slide" Target="slides/slide51.xml"/><Relationship Id="rId50" Type="http://schemas.openxmlformats.org/officeDocument/2006/relationships/slide" Target="slides/slide52.xml"/><Relationship Id="rId51" Type="http://schemas.openxmlformats.org/officeDocument/2006/relationships/slide" Target="slides/slide53.xml"/><Relationship Id="rId52" Type="http://schemas.openxmlformats.org/officeDocument/2006/relationships/slide" Target="slides/slide54.xml"/><Relationship Id="rId53" Type="http://schemas.openxmlformats.org/officeDocument/2006/relationships/slide" Target="slides/slide55.xml"/><Relationship Id="rId54" Type="http://schemas.openxmlformats.org/officeDocument/2006/relationships/slide" Target="slides/slide56.xml"/><Relationship Id="rId55" Type="http://schemas.openxmlformats.org/officeDocument/2006/relationships/slide" Target="slides/slide57.xml"/><Relationship Id="rId56" Type="http://schemas.openxmlformats.org/officeDocument/2006/relationships/slide" Target="slides/slide58.xml"/><Relationship Id="rId57" Type="http://schemas.openxmlformats.org/officeDocument/2006/relationships/slide" Target="slides/slide59.xml"/><Relationship Id="rId58" Type="http://schemas.openxmlformats.org/officeDocument/2006/relationships/slide" Target="slides/slide60.xml"/><Relationship Id="rId59" Type="http://schemas.openxmlformats.org/officeDocument/2006/relationships/slide" Target="slides/slide79.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slide" Target="slides/slide67.xml"/><Relationship Id="rId67" Type="http://schemas.openxmlformats.org/officeDocument/2006/relationships/slide" Target="slides/slide68.xml"/><Relationship Id="rId68" Type="http://schemas.openxmlformats.org/officeDocument/2006/relationships/slide" Target="slides/slide69.xml"/><Relationship Id="rId69" Type="http://schemas.openxmlformats.org/officeDocument/2006/relationships/slide" Target="slides/slide70.xml"/><Relationship Id="rId70" Type="http://schemas.openxmlformats.org/officeDocument/2006/relationships/slide" Target="slides/slide71.xml"/><Relationship Id="rId71" Type="http://schemas.openxmlformats.org/officeDocument/2006/relationships/slide" Target="slides/slide72.xml"/><Relationship Id="rId72" Type="http://schemas.openxmlformats.org/officeDocument/2006/relationships/slide" Target="slides/slide73.xml"/><Relationship Id="rId73" Type="http://schemas.openxmlformats.org/officeDocument/2006/relationships/slide" Target="slides/slide74.xml"/><Relationship Id="rId74" Type="http://schemas.openxmlformats.org/officeDocument/2006/relationships/slide" Target="slides/slide75.xml"/><Relationship Id="rId75" Type="http://schemas.openxmlformats.org/officeDocument/2006/relationships/slide" Target="slides/slide76.xml"/><Relationship Id="rId76" Type="http://schemas.openxmlformats.org/officeDocument/2006/relationships/slide" Target="slides/slide77.xml"/><Relationship Id="rId77" Type="http://schemas.openxmlformats.org/officeDocument/2006/relationships/slide" Target="slides/slide78.xml"/><Relationship Id="rId78" Type="http://schemas.openxmlformats.org/officeDocument/2006/relationships/slide" Target="slides/slide48.xml"/><Relationship Id="rId79" Type="http://schemas.openxmlformats.org/officeDocument/2006/relationships/slide" Target="slides/slide50.xml"/><Relationship Id="rId80" Type="http://schemas.openxmlformats.org/officeDocument/2006/relationships/slide" Target="slides/slide27.xml"/><Relationship Id="rId81" Type="http://schemas.openxmlformats.org/officeDocument/2006/relationships/slide" Target="slides/slide37.xml"/><Relationship Id="rId82" Type="http://schemas.openxmlformats.org/officeDocument/2006/relationships/slide" Target="slides/slide39.xml"/><Relationship Id="rId83" Type="http://schemas.openxmlformats.org/officeDocument/2006/relationships/slide" Target="slides/slide5.xml"/><Relationship Id="rId84" Type="http://schemas.openxmlformats.org/officeDocument/2006/relationships/slide" Target="slides/slide17.xml"/><Relationship Id="rId85" Type="http://schemas.openxmlformats.org/officeDocument/2006/relationships/slide" Target="slides/slide20.xml"/><Relationship Id="rId86"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장 순서대로, 1장 왜 이 연구인가, 2장 무엇을 바탕으로 하였는가, 3장 무엇을 만들었는가, 4장 적용하면 어떻게 되고 무엇을 고치는가, 5장 결론입니다.</a:t>
            </a:r>
          </a:p>
          <a:p>
            <a:r>
              <a:t>〔15초. 진행 안내는 말하지 않는다. 세부는 구분 슬라이드 뒤 백업.〕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논문은 다섯 장으로 구성되어 있고, 이 그림은 장 사이의 연결을 보여 줍니다.</a:t>
            </a:r>
          </a:p>
          <a:p>
            <a:r>
              <a:t>1장은 왜 이 연구인가입니다. 두 표준이 실무에서 별도로 운영되고 그 연계 수준을 측정하는 기준이 없다는 문제에서 출발해 연구 문제 네 가지를 세웠습니다.</a:t>
            </a:r>
          </a:p>
          <a:p>
            <a:r>
              <a:t>2장은 무엇을 바탕으로 하였는가입니다. 두 표준에서 서로 비어 있는 곳과, 성숙도 평가의 표준과 기법, 선행연구에서 비어 있는 자리를 확인했습니다.</a:t>
            </a:r>
          </a:p>
          <a:p>
            <a:r>
              <a:t>3장은 무엇을 만들었는가입니다. 두 표준의 조항을 하나하나 대응시켜 연계 프로세스 열여섯 가지와 평가 문항 쉰다섯 개, ML0부터 ML5까지의 판정 규칙을 만들고 두 방향으로 검증했습니다. 핵심은 네 지점 가운데 하나라도 빠지면 평균이 높아도 ML3으로 올라가지 못한다는 규칙입니다.</a:t>
            </a:r>
          </a:p>
          <a:p>
            <a:r>
              <a:t>4장은 그 기준을 바꾸지 않고 A사에 적용한 결과입니다. 종합 2.85점이지만 핵심 문항 하나가 미달이라 ML2이고, 낮은 점수의 원인 세 가지에서 개선 과제 다섯 건을 도출했습니다. 다 마치면 3.15점, ML3이 전망됩니다.</a:t>
            </a:r>
          </a:p>
          <a:p>
            <a:r>
              <a:t>5장은 결론입니다. 네 연구 문제에 답하고 기여와 한계, 향후 연구 과제를 적었습니다.</a:t>
            </a:r>
          </a:p>
          <a:p>
            <a:r>
              <a:t>맨 아래 한 줄이 논문 전체입니다. 연계, 모델링, 평가, 지속적 개선, 환경영향 저감입니다.</a:t>
            </a:r>
          </a:p>
          <a:p>
            <a:r>
              <a:t>〔1분 30초. 장별 요약 전문은 백업 61·62. 세부(네 질문·서른 개 조항)는 말하지 않고, 물으면 참고 상자로.〕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환경경영시스템(ISO 14001)은 회사가 환경을 관리하는 틀이고, 오른쪽 전과정평가(LCA)는 제품이 원료 채취부터 폐기까지 각 단계에서 환경에 주는 영향을 숫자로 계산해 영향이 가장 큰 단계, 핫스팟을 찾는 방법입니다.</a:t>
            </a:r>
          </a:p>
          <a:p>
            <a:r>
              <a:t>두 표준은 별개의 표준이라 한쪽이 다른 쪽을 요구하지 않습니다. 그래서 실무에서는 별도로 운영되는 경우가 많습니다. LCA 보고서를 받아 놓고 경영시스템에서는 쓰지 않는 식입니다.</a:t>
            </a:r>
          </a:p>
          <a:p>
            <a: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t>배경으로는 제품 전과정의 환경정보를 요구하는 규제가 늘고 있다는 점이 있습니다.</a:t>
            </a:r>
          </a:p>
          <a:p>
            <a:r>
              <a:t>〔50초.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두 표준과 그 사이입니다. 앞서 보신 대로 ISO 14001은 전과정 관점을 요구하되 정량적 평가 방법을 정하지 않았고, ISO 14044는 계산 방법을 정하되 그 결과를 되풀이하여 관리하는 주기는 정하지 않았습니다. 두 표준은 서로 비어 있는 곳을 상대가 채울 수 있습니다.</a:t>
            </a:r>
          </a:p>
          <a:p>
            <a: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t>두 표준의 연계 정도를 조항 단위로 판정한 선행연구는 찾아보기 어려웠고, 그 빈 자리가 이 연구의 위치입니다.</a:t>
            </a:r>
          </a:p>
          <a:p>
            <a:r>
              <a:t>〔1분. 가져온 것 — 세 계층 구조 ISO/IEC 33004 · 최소충족·비보상 판정 KS X ISO 8000-62 · 측정 틀 ISO/IEC 33020, 점수별 상태 기술 BARS. 선례 — 국내 공공데이터 연구(PPDQM3·APDQM3). 따른 표준은 백업 S-10, 선행연구 대비표 [표 2-4]·[표 2-5]·[그림 2-7]은 S-11, ISO 14001 구조 S-8, LCA 4단계 S-9, 연계의 성숙도 수준 [그림 2-5]는 2.3. 「8000-62를 왜 가져왔나」 → B-Q7.〕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「LCA를 했다」에도 두 상태가 있습니다.</a:t>
            </a:r>
          </a:p>
          <a:p>
            <a:r>
              <a:t>왼쪽 상태 A는 보고서를 한 번 받아 두고 끝내는 회사이고, 오른쪽 상태 B는 LCA 결과로 중대한 환경측면을 결정하고, 환경목표를 세우고, 다음 해에 다시 측정해 확인하는 회사입니다.</a:t>
            </a:r>
          </a:p>
          <a:p>
            <a:r>
              <a:t>본 연구가 말하는 연계는 상태 B입니다. 있다 없다가 아니라 정도의 문제이고, 그 정도를 여섯 수준으로 판정하는 것이 성숙도 모델입니다.</a:t>
            </a:r>
          </a:p>
          <a:p>
            <a:r>
              <a:t>〔40초〕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전과정평가(LCA)의 요구사항 표준은 KS I ISO 14044, 「환경경영 — 전과정 평가 — 요구사항 및 지침」입니다. 원칙과 틀은 ISO 14040에 있고 수행 요건은 14044에 있어 이 연구는 14044를 기준으로 삼았습니다.</a:t>
            </a:r>
          </a:p>
          <a:p>
            <a:r>
              <a:t>LCA는 네 단계입니다. 왼쪽 위에서 아래로, 무엇을 얼마나 볼지 정하고, 들어가고 나오는 것을 세고, 그것이 환경에 미치는 영향을 계산합니다. 오른쪽 해석은 세 단계 모두와 오가며 결론을 냅니다.</a:t>
            </a:r>
          </a:p>
          <a:p>
            <a:r>
              <a:t>네 단계 앞에 일반 요구사항이 있고, 뒤에 보고와 정밀검토가 따로 있습니다. 한 번의 평가는 이 안에서 끝납니다. 그런데 「언제 다시 하는가」는 이 표준에 없습니다. 이 반복 구조가 PDCA 순환과 같은 꼴이라는 점이 뒤의 연계 프로세스 설계의 전제입니다.</a:t>
            </a:r>
          </a:p>
          <a:p>
            <a:r>
              <a:t>〔55초. 2.2.2(B392). 단계별 조항 — 목적 및 범위 정의 4.2, 목록분석 4.3, 영향평가 4.4, 해석 4.5. 「왜 ISO 14044인가(14040 아님)」 → 전문 4번.〕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모델의 뼈대는 모두 표준에서 가져왔습니다.</a:t>
            </a:r>
          </a:p>
          <a:p>
            <a:r>
              <a:t>측정 대상은 환경경영시스템(ISO 14001)과 전과정평가(LCA)의 연계입니다.</a:t>
            </a:r>
          </a:p>
          <a:p>
            <a: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t>이 표준들은 소프트웨어와 데이터 분야에서 이미 쓰이고 있는 평가 방법이고, 국내 공공데이터 성숙도 연구가 그 적용 선례입니다.</a:t>
            </a:r>
          </a:p>
          <a:p>
            <a: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 매핑의 결과로 만든 것이 셋입니다.</a:t>
            </a:r>
          </a:p>
          <a:p>
            <a:r>
              <a:t>첫째 참조 모델은 연계 지점을 업무 단위로 묶은 연계 프로세스 열여섯 가지로, 계획 여덟, 실행 둘, 점검 셋, 개선 셋입니다. 둘째 평가 모델은 프로세스의 성과 하나에 문항 하나씩 쉰다섯 문항이고, 문항마다 채점 기준과 확인할 증거를 정했습니다. 셋째 성숙도 모델은 점수를 여섯 수준으로 바꾸는 규칙이고, 핵심 문항 넷 가운데 하나라도 빠지면 ML2에서 멈춥니다.</a:t>
            </a:r>
          </a:p>
          <a:p>
            <a:r>
              <a:t>이 셋을 합쳐 연계 성숙도 평가 모델, LMA라고 하며, 만든 뒤 추적성과 표준 적합성 두 방향으로 검증했습니다.</a:t>
            </a:r>
          </a:p>
          <a:p>
            <a:r>
              <a:t>〔1분 10초. 논문 [그림 3-2] 전체는 백업 B-7, 방법론 구성 [그림 3-1]은 B-2. 검증 — 3.5.1 추적성, 3.5.2 ISO/IEC 33004 24건(충족 22·해당 없음 1·보완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3장의 출발은 매핑입니다. 두 표준의 조항을 하나하나 대응시켰습니다.</a:t>
            </a:r>
          </a:p>
          <a:p>
            <a:r>
              <a:t>조항마다 LCA가 그 조항을 지키는 데 얼마나 필요한지 네 가지 물음으로 네 등급을 매겼습니다. 전과정 관점을 직접 요구하는가, 없으면 의무를 못 지키는가, 주요 입력인가, 보조 정보라도 되는가이고, 예가 앞에서 나올수록 등급이 높습니다. 조항마다 두 번 또는 세 번 물으면 등급이 정해집니다.</a:t>
            </a:r>
          </a:p>
          <a:p>
            <a:r>
              <a:t>매우 높음이 네 조항, 환경측면, 환경목표, 운용기획 및 관리, 모니터링입니다. 이 네 곳이 뒤의 핵심 문항 4종이 되고, 관리 주기의 계획에 둘, 실행과 점검에 하나씩 놓입니다. ISO 14001의 요구사항 조항 서른 개는 모두 문항이 되었습니다.</a:t>
            </a:r>
          </a:p>
          <a:p>
            <a:r>
              <a:t>〔1분 10초. 30 = 부록 A.1 원표 34행에서 7.4.1~7.4.3을 하나로, 상위 조항 6.1·6.2 제외(3.2.2). ISO 14044는 전조항 28개 가운데 25개가 문항의 근거, 나머지 3개(4.2.1·4.2.3.1 일반 조항, 4.4.3)도 세부 조항 문항·체크포인트로 반영 → 빠진 조항 없음(부록 A.4). 대조 대상은 shall·should — may·can 제외(3.1.1). 55문항 근거 성격은 노트북. 기준은 B.1(등급 정의·징후·질문 흐름), 조항별 결과는 A.1(연계 가능성 열·연계 방안 열) — 「기준을 먼저 정하고 전 조항에 적용」(B551·B555). 흐름도 [그림 3-3]은 백업 B-1, 조항별 질문 경로(재구성)는 B-1b, 등급 요건은 B-1a.〕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환경경영시스템(ISO 14001)의 관리 주기, 오른쪽이 전과정평가(LCA)의 4단계입니다. 선이 두 표준이 만나는 곳, 곧 연계 지점입니다. 그 가운데 굵은 선 네 개가 핵심 연계 지점입니다.</a:t>
            </a:r>
          </a:p>
          <a:p>
            <a: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t>이 넷 가운데 하나가 끊기면 순환이 그 단계에서 멈춥니다. 그래서 이 넷이 뒤의 핵심 문항 4종이 됩니다.</a:t>
            </a:r>
          </a:p>
          <a:p>
            <a: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설계·개발 환경 피드백과 전과정 목록분석 운영의 둘, 점검 영역은 전과정 성과 모니터링·측정, 정밀검토, 심사 및 준수평가 연계의 셋, 개선 영역은 경영검토 피드백, 지속적 개선 및 사이클 향상, 전과정 결과 보고 및 비교주장 관리의 셋입니다.</a:t>
            </a:r>
          </a:p>
          <a:p>
            <a:r>
              <a:t>업무 하나는 제목·목적·성과·활동의 네 칸으로 적었고, 이 형식은 데이터 품질관리 표준 KS X ISO 8000-61을 따른 것입니다. 빨간 점이 핵심 문항 4종이 들어 있는 자리입니다.</a:t>
            </a:r>
          </a:p>
          <a:p>
            <a:r>
              <a:t>각 업무의 성과가 되어 있는지 묻는 것이 평가 문항 쉰다섯 개입니다.</a:t>
            </a:r>
          </a:p>
          <a:p>
            <a:r>
              <a:t>〔1분. 16종 이름은 [표 3-4] 그대로, 코드는 읽지 않는다. 「왜 16종인가, 원형은 20종인데」 → 백업 B-Q3. 16종 전문은 [표 3-4], 백업 B-7.〕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모델은 채점표입니다. 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t>그래서 점수는 평가자의 재량이 아니라 체크포인트 충족 개수로 정해집니다.</a:t>
            </a:r>
          </a:p>
          <a:p>
            <a:r>
              <a:t>예를 하나 들면 D-1, 설계·개발 단계의 LCA 결과 반영 문항입니다. A사는 필수 세 개 가운데 두 개만 있어 2점이었고, 이 문항이 4장에서 판정을 정하였습니다.</a:t>
            </a:r>
          </a:p>
          <a:p>
            <a:r>
              <a:t>〔1분 5초. 점수별 기준 전문(BARS 앵커)은 백업 B-10a, 부록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점수를 수준으로 바꾸는 규칙입니다. 수준은 ML0에서 ML5까지 여섯 계단이고, 아래 계단의 조건을 다 갖춰야 다음 계단으로 올라갑니다.</a:t>
            </a:r>
          </a:p>
          <a:p>
            <a:r>
              <a:t>계단을 오르는 열쇠가 핵심 문항 네 가지입니다. 환경측면 결정, 환경목표, 설계·개발, 모니터링에 LCA 결과가 쓰이는가입니다. 네 가지가 모두 2점이면 ML1, 거기에 나머지 쉰한 문항의 절반이 3점이면 ML2, 네 가지가 모두 3점이면 ML3입니다. ML4와 ML5는 점검과 개선 영역까지 갖춰야 합니다.</a:t>
            </a:r>
          </a:p>
          <a:p>
            <a:r>
              <a:t>평균은 쓰지 않습니다. 핵심 네 가지 가운데 하나라도 3점이 안 되면 다른 점수가 아무리 높아도 ML2에서 멈춥니다. 꼭 있어야 할 것이 빠졌는데 평균으로 덮지 않는다, 이것이 최소충족 판정이고 데이터 품질 성숙도 표준에서 가져온 원리입니다.</a:t>
            </a:r>
          </a:p>
          <a:p>
            <a:r>
              <a:t>〔1분 10초. 진입 조건·설계 근거 표 전문은 백업 B-11a, 수준별 기준은 B-11, 판정 트리 [그림 3-9]는 B-9. 비교주장 시 조건부 shall(C-7·A-9)은 3.4.3 — 백업 B-Q5. 연계가 성립하지 않은 것과 성숙도가 낮은 것은 다르다(3.4.1).〕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이 모델을 한 회사에 적용한 결과입니다.</a:t>
            </a:r>
          </a:p>
          <a:p>
            <a:r>
              <a:t>첫째, 문서를 접수했습니다. 제조기업 A사의 환경경영시스템(ISO 14001)과 2025년 제품 전과정평가(LCA)에 관한 문서 열여섯 종, 서른세 건입니다.</a:t>
            </a:r>
          </a:p>
          <a:p>
            <a:r>
              <a:t>둘째, 쉰다섯 문항을 채점하여 잠정 종합점수 2.89를 얻었습니다. 셋째, 잠정 점수를 증빙 문서로 하나씩 다시 확인하여 확정 종합점수는 2.85입니다. 올라간 것 일곱, 내려간 것 아홉입니다.</a:t>
            </a:r>
          </a:p>
          <a:p>
            <a:r>
              <a:t>넷째, 판정입니다. 핵심 문항 네 가지 가운데 D-1이 2점이어서 ML2, 관리화입니다. 다섯째, 구조적 미비 세 가지와 공통 원인 두 가지에서 개선 과제 다섯 건을 도출하였고, 모두 마치면 3.15, ML3이 전망됩니다.</a:t>
            </a:r>
          </a:p>
          <a:p>
            <a:r>
              <a:t>평가는 문서 심사로 면담과 실행 상태의 현장 관찰은 포함하지 않고, 평가자 한 명이, 2026년 6월과 7월에 했습니다. 공식 등급을 주는 평가가 아니라 모델의 판정 논리가 실제 자료에서 작동하는지 확인하는 시범 적용입니다. 평가자가 한 사람이라 판정 규칙을 미리 정해 두고 잠정 점수를 증빙으로 다시 확인하는 두 가지로 객관성을 확보했습니다.</a:t>
            </a:r>
          </a:p>
          <a:p>
            <a:r>
              <a:t>〔1분 10초. 2.89→2.85 — 재검증에서 16문항이 ±1점 변동: 오른 7(P-2·P-8·P-12·P-13·P-16·P-18 3→4, C-2 1→2), 내린 9(P-3 3→2 예고 역방향, P-10 4→3, P-21 2→1, P-23·D-5·C-4·C-8·C-9·A-6 3→2), 합계 −2점 ÷ 55 = −0.04. 핵심 문항 4종은 변동 없음. 재검증 전 분류 [표 4-3](확정 15·확인 16·상승 가능 7·하락 가능 11·핵심 4·미결 2), 내역 [표 4-4]. 확정치가 잠정치보다 낮게 수렴 = 재검증이 후하게 주는 쪽을 억제(비관대성, 4.2.3). 객관성 두 가지 전문은 백업 S-21. ISO/IEC 33002 평가 클래스 3 상당(4.2.3). 「회사가 쓰겠다던가」 → 백업 B-Q9.〕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4종 중 P-9는 4점, P-14와 C-1은 3점으로 통과하였으나, D-1이 2점으로 미달하였습니다.</a:t>
            </a:r>
          </a:p>
          <a:p>
            <a:r>
              <a:t>판정 경로는 아래 조건부터 차례로 묻습니다. ML1 진입 조건, 핵심 문항 4종이 모두 2점 이상이어서 통과입니다. ML2 진입 조건, 나머지 쉰한 문항 가운데 절반 이상이 3점이어서 통과입니다. 서른여섯 문항입니다. ML3 진입 조건, 핵심 문항 4종이 모두 3점 이상이어야 하는데 D-1이 2점이라 미충족입니다. 그래서 판정은 ML2, 관리화입니다.</a:t>
            </a:r>
          </a:p>
          <a:p>
            <a:r>
              <a:t>영역별로는 계획 3.23, 실행 3.00, 점검 2.10, 개선 2.33입니다. LCA가 계획과 실행에는 반영되나 점검과 개선으로는 이어지지 않는 모습입니다.</a:t>
            </a:r>
          </a:p>
          <a:p>
            <a:r>
              <a:t>종합점수 2.85는 판정에 쓰지 않는 보조값입니다. 과반 기준이나 핵심 문항 기준을 올려도 이 판정은 변하지 않습니다. 판정은 점수의 크기가 아니라 핵심 문항의 충족 여부로 정해집니다.</a:t>
            </a:r>
          </a:p>
          <a:p>
            <a:r>
              <a:t>〔1분 20초. 영역별 결과 전문은 백업 S-22, 그래프는 B-13a. 「너무 가혹하지 않은가」 → 백업 B-Q1.〕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한 장으로 모았습니다. 가운데 2.85가 종합점수이고, 네 칸이 계획·실행·점검·개선입니다.</a:t>
            </a:r>
          </a:p>
          <a:p>
            <a:r>
              <a:t>왼쪽 초록 상자가 강점입니다. LCA가 문서 체계에 들어와 있습니다. 오른쪽 빨간 상자가 미비 사항 3건입니다. 설계·개발 절차에 환경 고려 단계가 없고, 정밀검토 체계가 없고, LCA 연 1회 재수행 규정은 있으나 아직 이행 전입니다.</a:t>
            </a:r>
          </a:p>
          <a:p>
            <a:r>
              <a:t>낮은 점수는 이 세 가지로 모입니다. 역량의 문제가 아니라 절차를 공식화하고 주기가 오는 문제이고, 이 세 가지 미비가 그대로 개선 과제가 됩니다.</a:t>
            </a:r>
          </a:p>
          <a:p>
            <a:r>
              <a:t>〔50초. 2.85 → ML2 → R1~R5 → 3.15 → ML3.〕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구조적 미비 3건과 공통 원인 2건에 대응하는 개선 과제 5건을 도출하였습니다. 과제마다 무엇을, 어느 부서가, 언제 할지와 대상 문항, 점수 효과를 적었습니다. 개선 과제의 목표 상태는 평가 문항의 판정 기준과 같은 문구여서, 차기 평가에서 조치 완료 여부를 그대로 판정할 수 있습니다.</a:t>
            </a:r>
          </a:p>
          <a:p>
            <a:r>
              <a:t>과제를 추진 시기로 배치한 것이 개선 로드맵이고, 빨간 R3 설계·개발 절차서 제정이 판정을 바꾸는 과제입니다. 다섯 과제를 다 마치면 종합 3.15, 핵심 문항 4종 모두 통과로 ML3이 전망됩니다. 다만 이것은 지금 점수로 다시 계산한 것이지 실제 이행 결과는 아닙니다.</a:t>
            </a:r>
          </a:p>
          <a:p>
            <a:r>
              <a:t>〔1분. 로드맵과 재평가 전문은 백업 S-26, 과제별 1매 카드는 B-14. 「3.15의 근거」 → 목표 상태가 채점 기준과 같은 문구, [표 4-16]·[표 4-17].〕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일곱, 한계 셋입니다.</a:t>
            </a:r>
          </a:p>
          <a:p>
            <a:r>
              <a:t>장점은 문항의 출처를 조항까지 따라갈 수 있다는 것, 같은 증거면 같은 점수가 나온다는 것, 종합점수에 묻히는 미비를 드러낸다는 것, 평가가 개선과 재평가로 이어진다는 것, 판정 구조와 평가 방법을 국제표준에서 가져왔다는 것, 수준의 뜻을 체계 단계와 숫자 확인 단계로 나눈 것입니다.</a:t>
            </a:r>
          </a:p>
          <a:p>
            <a:r>
              <a:t>단점은 판정이 핵심 문항 4종에 좌우된다는 것, 기준값이 연구자 확정값이라는 것, 평가에 손이 많이 간다는 것, LCA를 안 하는 회사는 차이가 안 난다는 것, 미비 하나가 여러 점수에 함께 영향을 준다는 것, 문서 심사라 형식적 이행을 가리기 어렵다는 것, 환경성과와의 관계는 검증하지 않았다는 것입니다. 이 가운데 넷은 전문가 조사와 다사례 적용으로 보완하고, 셋은 설계에서 비롯되는 제약입니다.</a:t>
            </a:r>
          </a:p>
          <a:p>
            <a:r>
              <a:t>한계는 한 회사·한 시점·평가자 한 명, 전문가 타당도 조사 미실시, 가장 높은 두 수준은 A사가 ML2라 재수행 같은 상위 수준의 기록이 없어 사례로 확인하지 못한 것이고, 이 셋이 그대로 향후 연구 과제입니다. 규칙이 없는 것이 아닙니다.</a:t>
            </a:r>
          </a:p>
          <a:p>
            <a:r>
              <a:t>〔1분. 화면 글은 쉬운 말판, 항목 이름은 [표 5-1] 그대로. 단점 넷(핵심 문항 지정·판정 파라미터·문항 간 종속·환경성과)은 보완 가능, 셋(평가 부담·적용 대상·문서 심사)은 설계 제약(5.2). 한계는 논문 5.3에 여덟 항목(단일 사례·시점·평가자 / 문항 간 종속 / ML4·ML5 미검증 / 표준 판의 범위 / 타당화 확장(CVI) / 진단·개선 고도화 / 미측정 구간 / 표준화 경로) — [그림 5-3] 백업 B-0c③. 장점·단점 전문은 B-15a·B-15b, 연구 전체 한 장 요약은 S-28.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15분. 백업은 이때 쓴다 — 구분 슬라이드 뒤 S-7~S-29(본심사판에서 옮긴 12장), B-1~B-16 그림·표, B-0 장별 요약, B-Q1~B-Q13 예상 질문. 전문은 발표 노트북 부록. 뒤 장에서 다루는 질문이 오면 「백업에 있습니다」 하고 띄운다.〕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순서로 물었나」를 묻는 경우 — 논문 [그림 3-3]. 조항 하나를 넣으면 두세 번의 물음을 거쳐 오른쪽 네 상자 가운데 하나로 떨어진다. Q1 예→Q2(예 매우 높음 / 아니오 높음), Q1 아니오→Q3(예 높음 / 아니오 Q4: 예 중간 / 아니오 낮음). 3.2.2, 부록 B.1. 조항별 경로는 B-1b.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표준이 각각 무엇인지부터 보겠습니다. 환경경영시스템(ISO 14001)의 정식 이름은 KS I ISO 14001, 「환경경영시스템 — 요구사항 및 사용지침」입니다. 왼쪽은 품질, 안전보건, 환경 등 모든 경영시스템 표준이 같이 쓰는 공통 구조로, 상위 문서 구조, 줄여서 HLS라고 합니다. 조직 상황부터 개선까지 4절에서 10절이고 PDCA 순환입니다.</a:t>
            </a:r>
          </a:p>
          <a:p>
            <a:r>
              <a:t>오른쪽이 그 위에 얹는 분야별 요구사항이고, 환경 모듈인 ISO 14001에 전과정 관점을 고려하라는 요구가 있습니다.</a:t>
            </a:r>
          </a:p>
          <a:p>
            <a:r>
              <a:t>그런데 어떻게 고려하는지의 방법인 전과정평가(LCA)는 ISO 14040과 ISO 14044라는 별개 표준에 있어 경영시스템 구조 밖에 놓입니다. 이 둘 사이의 연계 프로세스가 본 연구의 대상입니다.</a:t>
            </a:r>
          </a:p>
          <a:p>
            <a:r>
              <a:t>〔50초. 2.1.2(B355). 공통 구조는 ISO 14001:2015가 채택한 상위 문서 구조. ISO 14001 절별 구조·PDCA는 백업 S-8 [그림 2-3].〕</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A사를 이 계단에 올려 보겠습니다. 핵심 문항 네 가지 가운데 셋은 통과했고, 설계·개발의 D-1 하나가 2점으로 모자랍니다.</a:t>
            </a:r>
          </a:p>
          <a:p>
            <a:r>
              <a:t>아래부터 묻습니다. 네 가지 모두 2점 이상인가, 예, ML1 통과입니다. 나머지 쉰한 문항의 절반 이상이 3점인가, 서른여섯 문항이라 예, ML2 통과입니다. 네 가지 모두 3점 이상인가, D-1이 2점이라 아니오. 그래서 ML2, 관리화입니다.</a:t>
            </a:r>
          </a:p>
          <a:p>
            <a:r>
              <a:t>네 칸이 계획·실행·점검·개선의 영역 평점입니다. LCA가 계획과 실행에는 들어와 있지만 점검과 개선으로는 이어지지 않는 모습이고, 낮은 점수의 원인은 설계 절차, 정밀검토 체계, 재수행 세 곳입니다. 강점은 LCA가 문서 체계에 들어와 있다는 것입니다.</a:t>
            </a:r>
          </a:p>
          <a:p>
            <a:r>
              <a:t>종합점수 2.85는 참고값일 뿐 판정에는 쓰지 않습니다. 기준을 더 엄하게 바꿔 봐도 판정은 같습니다. 점수가 얼마나 높은가가 아니라 꼭 있어야 할 네 가지가 있는가로 정해지기 때문입니다.</a:t>
            </a:r>
          </a:p>
          <a:p>
            <a:r>
              <a:t>〔1분 20초. 영역 평점 계획 3.23·실행 3.00·점검 2.10·개선 2.33, 전문은 백업 S-22. 판정 경로 상자 장은 S-23, 연계 상태 [그림 4-4]는 S-24, 개선 전·후 그래프 [그림 4-3]은 B-13a. 「너무 가혹하지 않은가」 → B-Q1. 민감도 — 과반 기준 50→70%, 핵심 기준 4·5점으로 올려도 판정 ML2 그대로(4.3.5).〕</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연구 문제의 답입니다.</a:t>
            </a:r>
          </a:p>
          <a:p>
            <a:r>
              <a:t>첫째, 두 표준의 조항은 연계할 수 있습니다. 관리 주기와 평가 절차가 서로 맞물리는 자리가 있고, 한쪽은 정량 방법을, 다른 쪽은 되풀이하는 주기를 비워 두었기 때문입니다.</a:t>
            </a:r>
          </a:p>
          <a:p>
            <a:r>
              <a:t>둘째, 그 자리를 업무로 묶으면 연계 프로세스 열여섯 가지이고, 되어 있는지 묻는 문항이 쉰다섯 개입니다.</a:t>
            </a:r>
          </a:p>
          <a:p>
            <a:r>
              <a:t>셋째, 성숙도는 여섯 수준이고, 핵심 문항 네 가지가 모두 갖춰졌는지로 판정하며 평균은 쓰지 않습니다.</a:t>
            </a:r>
          </a:p>
          <a:p>
            <a:r>
              <a:t>넷째, A사에 적용해 판정과 개선 계획이 나오는 것을 확인했고, 그 결과가 다음 주기의 입력이 됩니다.</a:t>
            </a:r>
          </a:p>
          <a:p>
            <a:r>
              <a:t>두 표준의 조항을 연계하여 LMA를 만들고, 이 모델로 조직을 평가하여, 그 결과를 환경경영시스템(ISO 14001)의 지속적 개선으로 연결함으로써 전과정의 환경영향을 줄이는 데 기여하고자 합니다. 이상입니다.</a:t>
            </a:r>
          </a:p>
          <a:p>
            <a:r>
              <a:t>〔50초. 결론 글 상자 장은 백업 S-29, 연구 전체 한 장 요약은 S-28, 기여 [그림 5-2]는 B-0c②.〕</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「조항별로 Q1~Q4에 어떻게 답했나, 기록이 있나」 — 기준은 B.1, 결과는 A.1에 있고, 경로는 등급에서 도출된다. 질문별 예·아니오 표는 따로 두지 않았고 본심사본 A.1에 열로 추가하겠다. 높음 12개의 두 경로 나눔은 이사님 확인 사항.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7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7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7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400" b="1" i="0" a:lang="ko-KR">
                <a:solidFill>
                  <a:srgbClr val="1F3864"/>
                </a:solidFill>
                <a:latin typeface="맑은 고딕"/>
                <a:ea typeface="맑은 고딕"/>
              </a:rPr>
              <a:t>환경경영시스템(ISO 14001)과</a:t>
            </a:r>
          </a:p>
          <a:p>
            <a:pPr>
              <a:spcAft>
                <a:spcPts val="400"/>
              </a:spcAft>
            </a:pPr>
            <a:r>
              <a:rPr sz="2400" b="1" i="0" a:lang="ko-KR">
                <a:solidFill>
                  <a:srgbClr val="1F3864"/>
                </a:solidFill>
                <a:latin typeface="맑은 고딕"/>
                <a:ea typeface="맑은 고딕"/>
              </a:rPr>
              <a:t>전과정평가(LCA)의</a:t>
            </a:r>
          </a:p>
          <a:p>
            <a:pPr>
              <a:spcAft>
                <a:spcPts val="400"/>
              </a:spcAft>
            </a:pPr>
            <a:r>
              <a:rPr sz="2400" b="1" i="0" a:lang="ko-KR">
                <a:solidFill>
                  <a:srgbClr val="1F3864"/>
                </a:solidFill>
                <a:latin typeface="맑은 고딕"/>
                <a:ea typeface="맑은 고딕"/>
              </a:rPr>
              <a:t>프로세스 연계 모델 개발 및</a:t>
            </a:r>
          </a:p>
          <a:p>
            <a:pPr>
              <a:spcAft>
                <a:spcPts val="400"/>
              </a:spcAft>
            </a:pPr>
            <a:r>
              <a:rPr sz="2400" b="1" i="0" a:lang="ko-KR">
                <a:solidFill>
                  <a:srgbClr val="1F3864"/>
                </a:solidFill>
                <a:latin typeface="맑은 고딕"/>
                <a:ea typeface="맑은 고딕"/>
              </a:rPr>
              <a:t>성숙도 평가에 대한 연구</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
        <p:nvSpPr>
          <p:cNvPr id="8" name="EnTitle"/>
          <p:cNvSpPr txBox="1"/>
          <p:nvPr/>
        </p:nvSpPr>
        <p:spPr>
          <a:xfrm>
            <a:off x="497190" y="4160520"/>
            <a:ext cx="6126480" cy="640080"/>
          </a:xfrm>
          <a:prstGeom prst="rect">
            <a:avLst/>
          </a:prstGeom>
          <a:noFill/>
        </p:spPr>
        <p:txBody>
          <a:bodyPr wrap="square" anchor="t" lIns="0" rIns="0" tIns="0" bIns="0">
            <a:spAutoFit/>
          </a:bodyPr>
          <a:lstStyle/>
          <a:p>
            <a:pPr>
              <a:spcAft>
                <a:spcPts val="600"/>
              </a:spcAft>
            </a:pPr>
            <a:r>
              <a:rPr sz="1050" b="0" i="0" a:lang="ko-KR">
                <a:solidFill>
                  <a:srgbClr val="595959"/>
                </a:solidFill>
                <a:latin typeface="맑은 고딕"/>
                <a:ea typeface="맑은 고딕"/>
              </a:rPr>
              <a:t>A Study on the Development and Maturity Assessment of a Process Linkage Model</a:t>
            </a:r>
          </a:p>
          <a:p>
            <a:pPr>
              <a:spcAft>
                <a:spcPts val="600"/>
              </a:spcAft>
            </a:pPr>
            <a:r>
              <a:rPr sz="1050" b="0" i="0" a:lang="ko-KR">
                <a:solidFill>
                  <a:srgbClr val="595959"/>
                </a:solidFill>
                <a:latin typeface="맑은 고딕"/>
                <a:ea typeface="맑은 고딕"/>
              </a:rPr>
              <a:t>between Environmental Management Systems (ISO 14001) and Life Cycle Assessment (LCA)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9144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a:t>
            </a:r>
          </a:p>
          <a:p>
            <a:pPr algn="ctr"/>
            <a:r>
              <a:rPr sz="1600" b="1">
                <a:solidFill>
                  <a:srgbClr val="C00000"/>
                </a:solidFill>
                <a:latin typeface="맑은 고딕"/>
                <a:ea typeface="맑은 고딕"/>
              </a:rPr>
              <a:t>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환경경영시스템(ISO 14001)은 어떤 표준인가</a:t>
            </a:r>
            <a:r>
              <a:rPr sz="1300" b="0">
                <a:solidFill>
                  <a:srgbClr val="7F7F7F"/>
                </a:solidFill>
                <a:latin typeface="맑은 고딕"/>
              </a:rPr>
              <a:t>  [그림 2-2]</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ISO 14001은 상위 문서 구조(HLS) 위의 환경 모듈, 전과정평가(LCA)는 구조 밖의 별개 표준 — 그 사이가 연계다.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2.1.2, [그림 2-2]</a:t>
            </a:r>
          </a:p>
        </p:txBody>
      </p:sp>
      <p:sp>
        <p:nvSpPr>
          <p:cNvPr id="8" name="TextBox 8"/>
          <p:cNvSpPr txBox="1"/>
          <p:nvPr/>
        </p:nvSpPr>
        <p:spPr>
          <a:xfrm>
            <a:off x="497190" y="6053328"/>
            <a:ext cx="9695214" cy="54864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왼쪽 공통 구조(4~10절) = 상위 문서 구조(HLS: High Level Structure) — 품질·안전보건·환경 등 모든 경영시스템 표준이 같이 쓴다 → ISO 14001은 그 위의 환경 모듈 — 전과정 관점의 고려(6.1.2)·일관성(8.1)을 요구하되 방법은 정하지 않음 → 방법인 전과정평가(ISO 14040, ISO 14044)는 구조 밖 별개 표준 → 그 사이의 연계 프로세스가 본 연구의 대상</a:t>
            </a:r>
          </a:p>
        </p:txBody>
      </p:sp>
      <p:pic>
        <p:nvPicPr>
          <p:cNvPr id="9" name="Picture 8" descr="fig2-2c.png"/>
          <p:cNvPicPr>
            <a:picLocks noChangeAspect="1"/>
          </p:cNvPicPr>
          <p:nvPr/>
        </p:nvPicPr>
        <p:blipFill>
          <a:blip r:embed="rId2"/>
          <a:stretch>
            <a:fillRect/>
          </a:stretch>
        </p:blipFill>
        <p:spPr>
          <a:xfrm>
            <a:off x="1955394" y="1481328"/>
            <a:ext cx="6769403" cy="4507992"/>
          </a:xfrm>
          <a:prstGeom prst="rect">
            <a:avLst/>
          </a:prstGeom>
        </p:spPr>
      </p:pic>
      <p:sp>
        <p:nvSpPr>
          <p:cNvPr id="10" name="TextBox 6"/>
          <p:cNvSpPr txBox="1"/>
          <p:nvPr/>
        </p:nvSpPr>
        <p:spPr>
          <a:xfrm>
            <a:off x="493776" y="1188720"/>
            <a:ext cx="9692640" cy="274320"/>
          </a:xfrm>
          <a:prstGeom prst="rect">
            <a:avLst/>
          </a:prstGeom>
          <a:noFill/>
        </p:spPr>
        <p:txBody>
          <a:bodyPr wrap="square" anchor="t" lIns="0" rIns="0" tIns="0" bIns="0">
            <a:spAutoFit/>
          </a:bodyPr>
          <a:lstStyle/>
          <a:p>
            <a:pPr algn="l"/>
            <a:r>
              <a:rPr sz="1150" b="0" i="0" a:lang="ko-KR">
                <a:solidFill>
                  <a:srgbClr val="595959"/>
                </a:solidFill>
                <a:latin typeface="맑은 고딕"/>
                <a:ea typeface="맑은 고딕"/>
              </a:rPr>
              <a:t>KS I ISO 14001:2015  환경경영시스템 — 요구사항 및 사용지침  (ISO 14001:2015)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전과정평가(LCA, ISO 14044)는 어떤 표준인가</a:t>
            </a:r>
            <a:r>
              <a:rPr sz="1300" b="0">
                <a:solidFill>
                  <a:srgbClr val="7F7F7F"/>
                </a:solidFill>
                <a:latin typeface="맑은 고딕"/>
              </a:rPr>
              <a:t>  [그림 2-4]</a:t>
            </a:r>
          </a:p>
        </p:txBody>
      </p:sp>
      <p:sp>
        <p:nvSpPr>
          <p:cNvPr id="3" name="TextBox 2"/>
          <p:cNvSpPr txBox="1"/>
          <p:nvPr/>
        </p:nvSpPr>
        <p:spPr>
          <a:xfrm>
            <a:off x="7708392" y="110000"/>
            <a:ext cx="248716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2.2.2, [그림 2-4]</a:t>
            </a:r>
          </a:p>
        </p:txBody>
      </p:sp>
      <p:pic>
        <p:nvPicPr>
          <p:cNvPr id="8" name="Picture 7" descr="g2-4.png"/>
          <p:cNvPicPr>
            <a:picLocks noChangeAspect="1"/>
          </p:cNvPicPr>
          <p:nvPr/>
        </p:nvPicPr>
        <p:blipFill>
          <a:blip r:embed="rId2"/>
          <a:stretch>
            <a:fillRect/>
          </a:stretch>
        </p:blipFill>
        <p:spPr>
          <a:xfrm>
            <a:off x="1487599" y="1481328"/>
            <a:ext cx="7704992" cy="4370832"/>
          </a:xfrm>
          <a:prstGeom prst="rect">
            <a:avLst/>
          </a:prstGeom>
        </p:spPr>
      </p:pic>
      <p:sp>
        <p:nvSpPr>
          <p:cNvPr id="9" name="TextBox 8"/>
          <p:cNvSpPr txBox="1"/>
          <p:nvPr/>
        </p:nvSpPr>
        <p:spPr>
          <a:xfrm>
            <a:off x="497190" y="5897880"/>
            <a:ext cx="9695214" cy="109728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목적 및 범위 정의 → 목록분석(LCI) → 영향평가(LCIA) → 해석. 해석은 세 단계 모두와 양방향으로 이어진다.</a:t>
            </a:r>
          </a:p>
          <a:p>
            <a:r>
              <a:rPr sz="1400" b="1" i="0" a:lang="ko-KR">
                <a:solidFill>
                  <a:srgbClr val="C00000"/>
                </a:solidFill>
                <a:latin typeface="맑은 고딕"/>
                <a:ea typeface="맑은 고딕"/>
              </a:rPr>
              <a:t>한 번의 수행은 이 안에서 완결되지만, 되풀이하는 관리 주기는 ISO 14044의 범위가 아니다.</a:t>
            </a:r>
          </a:p>
          <a:p>
            <a:r>
              <a:rPr sz="1400" b="0" i="0" a:lang="ko-KR">
                <a:solidFill>
                  <a:srgbClr val="111111"/>
                </a:solidFill>
                <a:latin typeface="맑은 고딕"/>
                <a:ea typeface="맑은 고딕"/>
              </a:rPr>
              <a:t>4.1 일반 요구사항은 네 단계 전체에 적용 · 5절 보고(A-7·A-8) · 6절 정밀검토(내부·외부·패널 — P-21·C-5~C-7)도 평가 문항의 근거</a:t>
            </a:r>
          </a:p>
        </p:txBody>
      </p:sp>
      <p:sp>
        <p:nvSpPr>
          <p:cNvPr id="10" name="TextBox 6"/>
          <p:cNvSpPr txBox="1"/>
          <p:nvPr/>
        </p:nvSpPr>
        <p:spPr>
          <a:xfrm>
            <a:off x="493776" y="1188720"/>
            <a:ext cx="9692640" cy="274320"/>
          </a:xfrm>
          <a:prstGeom prst="rect">
            <a:avLst/>
          </a:prstGeom>
          <a:noFill/>
        </p:spPr>
        <p:txBody>
          <a:bodyPr wrap="square" anchor="t" lIns="0" rIns="0" tIns="0" bIns="0">
            <a:spAutoFit/>
          </a:bodyPr>
          <a:lstStyle/>
          <a:p>
            <a:pPr algn="l"/>
            <a:r>
              <a:rPr sz="1050" b="0" i="0" a:lang="ko-KR">
                <a:solidFill>
                  <a:srgbClr val="595959"/>
                </a:solidFill>
                <a:latin typeface="맑은 고딕"/>
                <a:ea typeface="맑은 고딕"/>
              </a:rPr>
              <a:t>KS I ISO 14044:2006  환경경영 — 전과정 평가 — 요구사항 및 지침  (ISO 14044:2006/Amd 1:2017/Amd 2:2020)  ·  원칙과 기본 구조는 KS I ISO 14040:2006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연구가 말하는 연계 — 두 상태</a:t>
            </a:r>
            <a:r>
              <a:rPr sz="1300" b="0" i="0" a:lang="ko-KR">
                <a:solidFill>
                  <a:srgbClr val="7F7F7F"/>
                </a:solidFill>
                <a:latin typeface="맑은 고딕"/>
                <a:ea typeface="맑은 고딕"/>
              </a:rPr>
              <a:t>  [그림 1-1]</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2.1~2.5, [표 2-3], [그림 2-7]</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05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05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행동기술척도(BARS)의 5점 상태 기술로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050" b="0" i="0" a:lang="ko-KR">
                <a:solidFill>
                  <a:srgbClr val="FFFFFF"/>
                </a:solidFill>
                <a:latin typeface="맑은 고딕"/>
                <a:ea typeface="맑은 고딕"/>
              </a:rPr>
              <a:t>ML0~ML5</a:t>
            </a:r>
          </a:p>
          <a:p>
            <a:pPr algn="ctr"/>
            <a:r>
              <a:rPr sz="1050" b="0" i="0" a:lang="ko-KR">
                <a:solidFill>
                  <a:srgbClr val="FFFFFF"/>
                </a:solidFill>
                <a:latin typeface="맑은 고딕"/>
                <a:ea typeface="맑은 고딕"/>
              </a:rPr>
              <a:t>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  ·  행동기술척도(BARS: Behaviorally Anchored Rating Scales) = 점수마다 「어떤 상태면 몇 점」을 글로 적어 둔 척도 — 본 모델은 체크포인트 충족 개수로 1~5점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a:t>
            </a:r>
          </a:p>
        </p:txBody>
      </p:sp>
      <p:sp>
        <p:nvSpPr>
          <p:cNvPr id="3"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하나하나 대응시켜, 조항마다 네 가지 물음으로 네 등급을 매겼다 — 매우 높음 네 조항이 핵심 문항 4종.</a:t>
            </a:r>
          </a:p>
        </p:txBody>
      </p:sp>
      <p:sp>
        <p:nvSpPr>
          <p:cNvPr id="5"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6"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3-1], [표 3-2], [그림 3-3], 부록 A.1·B.1</a:t>
            </a:r>
          </a:p>
        </p:txBody>
      </p:sp>
      <p:sp>
        <p:nvSpPr>
          <p:cNvPr id="7"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8"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ISO 14001 요구사항 조항 30개에 같은 순서로(조항마다 두세 번 물으면 등급이 정해짐)</a:t>
            </a:r>
          </a:p>
        </p:txBody>
      </p:sp>
      <p:sp>
        <p:nvSpPr>
          <p:cNvPr id="9"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0"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1"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2"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3"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4"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15"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16"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17"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18"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19"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0"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1"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2" name="map foot"/>
          <p:cNvSpPr txBox="1"/>
          <p:nvPr/>
        </p:nvSpPr>
        <p:spPr>
          <a:xfrm>
            <a:off x="497190" y="5760720"/>
            <a:ext cx="9697620" cy="548640"/>
          </a:xfrm>
          <a:prstGeom prst="rect">
            <a:avLst/>
          </a:prstGeom>
          <a:noFill/>
        </p:spPr>
        <p:txBody>
          <a:bodyPr wrap="square" lIns="45720" rIns="45720" tIns="20000" bIns="20000">
            <a:spAutoFit/>
          </a:bodyPr>
          <a:lstStyle/>
          <a:p>
            <a:pPr algn="l"/>
            <a:r>
              <a:rPr sz="1250" b="0">
                <a:solidFill>
                  <a:srgbClr val="595959"/>
                </a:solidFill>
                <a:latin typeface="맑은 고딕"/>
                <a:ea typeface="맑은 고딕"/>
              </a:rPr>
              <a:t>ISO 14001 요구사항 조항 30개 전부 판정 · 매우 높음 4개 조항 = 핵심 문항 4종(P-9·P-14·D-1·C-1) — 관리 주기의 계획 둘·실행 하나·점검 하나 · 판정 흐름도는 [그림 3-3], 조항별 결과는 부록 A.1</a:t>
            </a:r>
          </a:p>
        </p:txBody>
      </p:sp>
      <p:sp>
        <p:nvSpPr>
          <p:cNvPr id="23" name="TextBox 2"/>
          <p:cNvSpPr txBox="1"/>
          <p:nvPr/>
        </p:nvSpPr>
        <p:spPr>
          <a:xfrm>
            <a:off x="7379208" y="110000"/>
            <a:ext cx="28163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연계 지점 맵 — 관리 조항과 평가 단계가 만나는 곳</a:t>
            </a:r>
            <a:r>
              <a:rPr sz="1300" b="0" i="0" a:lang="ko-KR">
                <a:solidFill>
                  <a:srgbClr val="7F7F7F"/>
                </a:solidFill>
                <a:latin typeface="맑은 고딕"/>
                <a:ea typeface="맑은 고딕"/>
              </a:rPr>
              <a:t>  [그림 3-4]</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모델(LMA)의 구성</a:t>
            </a:r>
            <a:r>
              <a:rPr sz="1300" b="0" i="0" a:lang="ko-KR">
                <a:solidFill>
                  <a:srgbClr val="7F7F7F"/>
                </a:solidFill>
                <a:latin typeface="맑은 고딕"/>
                <a:ea typeface="맑은 고딕"/>
              </a:rPr>
              <a:t>  [그림 3-2]</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매핑에서 연계 프로세스 16종을 도출하고, 그 성과를 55문항으로 평가하며, 점수를 성숙도 규칙으로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500" b="1">
                <a:solidFill>
                  <a:srgbClr val="1F3864"/>
                </a:solidFill>
                <a:latin typeface="맑은 고딕"/>
                <a:ea typeface="맑은 고딕"/>
              </a:rPr>
              <a:t>요구사항 조항 30개</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500" b="1">
                <a:solidFill>
                  <a:srgbClr val="2E6B4A"/>
                </a:solidFill>
                <a:latin typeface="맑은 고딕"/>
                <a:ea typeface="맑은 고딕"/>
              </a:rPr>
              <a:t>조항 25개(전조항 28개 가운데)</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조항 매핑의 결과</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매핑의 결과 = 연계 지점 · 그 가운데 핵심 네 곳 → 세 모델의 재료</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a:p>
            <a:pPr algn="ctr"/>
            <a:r>
              <a:rPr sz="1300" b="1">
                <a:solidFill>
                  <a:srgbClr val="1F3864"/>
                </a:solidFill>
                <a:latin typeface="맑은 고딕"/>
                <a:ea typeface="맑은 고딕"/>
              </a:rPr>
              <a:t>계획 8 · 실행 2 · 점검 3 · 개선 3</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a:t>
            </a:r>
          </a:p>
          <a:p>
            <a:pPr algn="ctr"/>
            <a:r>
              <a:rPr sz="1300" b="1">
                <a:solidFill>
                  <a:srgbClr val="1F3864"/>
                </a:solidFill>
                <a:latin typeface="맑은 고딕"/>
                <a:ea typeface="맑은 고딕"/>
              </a:rPr>
              <a:t>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프로세스의 성과 하나에 문항 하나 —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a:t>
            </a:r>
          </a:p>
          <a:p>
            <a:pPr algn="ctr"/>
            <a:r>
              <a:rPr sz="1300" b="1">
                <a:solidFill>
                  <a:srgbClr val="1F3864"/>
                </a:solidFill>
                <a:latin typeface="맑은 고딕"/>
                <a:ea typeface="맑은 고딕"/>
              </a:rPr>
              <a:t>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평가 모델의 구성 — 55문항과 채점 기준</a:t>
            </a:r>
            <a:r>
              <a:rPr sz="1300" b="0" i="0" a:lang="ko-KR">
                <a:solidFill>
                  <a:srgbClr val="7F7F7F"/>
                </a:solidFill>
                <a:latin typeface="맑은 고딕"/>
                <a:ea typeface="맑은 고딕"/>
              </a:rPr>
              <a:t>  [그림 3-8]</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 또는 체계화·지속 상태)을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성숙도 모델의 구성 — 판정 규칙과 핵심 문항</a:t>
            </a:r>
            <a:r>
              <a:rPr sz="1300" b="0" i="0" a:lang="ko-KR">
                <a:solidFill>
                  <a:srgbClr val="7F7F7F"/>
                </a:solidFill>
                <a:latin typeface="맑은 고딕"/>
                <a:ea typeface="맑은 고딕"/>
              </a:rPr>
              <a:t>  [그림 3-10]</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꼭 있어야 할 네 문항 가운데 하나라도 3점이 안 되면, 평균이 높아도 ML2에서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이상,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57200" y="3319272"/>
            <a:ext cx="859536"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모델이 작동하는지 보는 연구용 평가  ·  상향·하향 = 잠정 점수를 증빙으로 다시 확인해 점수가 오른·내린 문항 수(55문항 중 16문항 변동, [표 4-4])  ·  D-1 = 핵심 문항 4종의 하나, 설계·개발 단계의 LCA 결과 반영(14·15번)</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접수</a:t>
            </a:r>
          </a:p>
          <a:p>
            <a:pPr algn="ctr">
              <a:spcAft>
                <a:spcPts val="400"/>
              </a:spcAft>
            </a:pPr>
            <a:r>
              <a:rPr sz="1150" b="0">
                <a:solidFill>
                  <a:srgbClr val="111111"/>
                </a:solidFill>
                <a:latin typeface="맑은 고딕"/>
                <a:ea typeface="맑은 고딕"/>
              </a:rPr>
              <a:t>A사 문서 16종(33건)</a:t>
            </a:r>
          </a:p>
          <a:p>
            <a:pPr algn="ctr">
              <a:spcAft>
                <a:spcPts val="400"/>
              </a:spcAft>
            </a:pPr>
            <a:r>
              <a:rPr sz="1150" b="0">
                <a:solidFill>
                  <a:srgbClr val="111111"/>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 — 면담·실행 상태의 현장 관찰은 포함하지 않음,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영역별 평점과 핵심 문항의 판정</a:t>
            </a:r>
            <a:r>
              <a:rPr sz="1300" b="0">
                <a:solidFill>
                  <a:srgbClr val="7F7F7F"/>
                </a:solidFill>
                <a:latin typeface="맑은 고딕"/>
              </a:rPr>
              <a:t>  [그림 4-1]</a:t>
            </a:r>
          </a:p>
        </p:txBody>
      </p:sp>
      <p:sp>
        <p:nvSpPr>
          <p:cNvPr id="3" name="TextBox 2"/>
          <p:cNvSpPr txBox="1"/>
          <p:nvPr/>
        </p:nvSpPr>
        <p:spPr>
          <a:xfrm>
            <a:off x="6473952" y="110000"/>
            <a:ext cx="372160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판정은 점수의 크기가 아니라 핵심 문항의 충족 여부로 정해진다 — D-1 하나가 2점이라 ML2.</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4.3.5, [그림 4-1], [그림 4-2]</a:t>
            </a:r>
          </a:p>
        </p:txBody>
      </p:sp>
      <p:sp>
        <p:nvSpPr>
          <p:cNvPr id="8" name="TextBox 8"/>
          <p:cNvSpPr txBox="1"/>
          <p:nvPr/>
        </p:nvSpPr>
        <p:spPr>
          <a:xfrm>
            <a:off x="497190" y="6035040"/>
            <a:ext cx="9695214" cy="594360"/>
          </a:xfrm>
          <a:prstGeom prst="rect">
            <a:avLst/>
          </a:prstGeom>
          <a:noFill/>
        </p:spPr>
        <p:txBody>
          <a:bodyPr wrap="square" anchor="t" lIns="0" rIns="0" tIns="0" bIns="0">
            <a:spAutoFit/>
          </a:bodyPr>
          <a:lstStyle/>
          <a:p>
            <a:pPr>
              <a:spcAft>
                <a:spcPts val="400"/>
              </a:spcAft>
            </a:pPr>
            <a:r>
              <a:rPr sz="1300" b="0" i="0" a:lang="ko-KR">
                <a:solidFill>
                  <a:srgbClr val="111111"/>
                </a:solidFill>
                <a:latin typeface="맑은 고딕"/>
                <a:ea typeface="맑은 고딕"/>
              </a:rPr>
              <a:t>판정 경로 — ML1 진입: 핵심 4종 모두 2점 이상(4·3·2·3) 통과 → ML2 진입: 나머지 51문항 중 36문항(70.6%)이 3점 이상 통과 → ML3 진입: 핵심 4종 모두 3점 이상이어야 하는데 D-1이 2점 → 미충족 → 판정 ML2(관리화). 종합점수 2.85는 판정에 쓰지 않는 보조값</a:t>
            </a:r>
          </a:p>
        </p:txBody>
      </p:sp>
      <p:pic>
        <p:nvPicPr>
          <p:cNvPr id="9" name="Picture 8" descr="fig4-1c.png"/>
          <p:cNvPicPr>
            <a:picLocks noChangeAspect="1"/>
          </p:cNvPicPr>
          <p:nvPr/>
        </p:nvPicPr>
        <p:blipFill>
          <a:blip r:embed="rId2"/>
          <a:stretch>
            <a:fillRect/>
          </a:stretch>
        </p:blipFill>
        <p:spPr>
          <a:xfrm>
            <a:off x="2980765" y="1234440"/>
            <a:ext cx="4718660" cy="47091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R1~R5와 장기 과제 R6</a:t>
            </a:r>
            <a:r>
              <a:rPr sz="1300" b="0" i="0" a:lang="ko-KR">
                <a:solidFill>
                  <a:srgbClr val="7F7F7F"/>
                </a:solidFill>
                <a:latin typeface="맑은 고딕"/>
                <a:ea typeface="맑은 고딕"/>
              </a:rPr>
              <a:t>  [표 4-15]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모델의 장점과 단점, 그리고 한계</a:t>
            </a:r>
            <a:r>
              <a:rPr sz="1300" b="0" i="0" a:lang="ko-KR">
                <a:solidFill>
                  <a:srgbClr val="7F7F7F"/>
                </a:solidFill>
                <a:latin typeface="맑은 고딕"/>
                <a:ea typeface="맑은 고딕"/>
              </a:rPr>
              <a:t>  [표 5-1]</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일곱, 한계 셋 — 한계는 그대로 향후 연구 과제다.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350" b="1" i="0" a:lang="ko-KR">
                <a:solidFill>
                  <a:srgbClr val="1F3864"/>
                </a:solidFill>
                <a:latin typeface="맑은 고딕"/>
                <a:ea typeface="맑은 고딕"/>
              </a:rPr>
              <a:t>단점</a:t>
            </a:r>
          </a:p>
          <a:p>
            <a:pPr algn="l">
              <a:spcAft>
                <a:spcPts val="400"/>
              </a:spcAft>
            </a:pPr>
            <a:r>
              <a:rPr sz="1350" b="1" i="0" a:lang="ko-KR">
                <a:solidFill>
                  <a:srgbClr val="1F3864"/>
                </a:solidFill>
                <a:latin typeface="맑은 고딕"/>
                <a:ea typeface="맑은 고딕"/>
              </a:rPr>
              <a:t>· 핵심 문항 4종에 대한 의존 — 네 문항의 선택은 전문가 검토 전</a:t>
            </a:r>
          </a:p>
          <a:p>
            <a:pPr algn="l">
              <a:spcAft>
                <a:spcPts val="400"/>
              </a:spcAft>
            </a:pPr>
            <a:r>
              <a:rPr sz="1350" b="1" i="0" a:lang="ko-KR">
                <a:solidFill>
                  <a:srgbClr val="1F3864"/>
                </a:solidFill>
                <a:latin typeface="맑은 고딕"/>
                <a:ea typeface="맑은 고딕"/>
              </a:rPr>
              <a:t>· 판정 파라미터 — 과반 50% 등은 연구자가 정한 값</a:t>
            </a:r>
          </a:p>
          <a:p>
            <a:pPr algn="l">
              <a:spcAft>
                <a:spcPts val="400"/>
              </a:spcAft>
            </a:pPr>
            <a:r>
              <a:rPr sz="1350" b="1" i="0" a:lang="ko-KR">
                <a:solidFill>
                  <a:srgbClr val="1F3864"/>
                </a:solidFill>
                <a:latin typeface="맑은 고딕"/>
                <a:ea typeface="맑은 고딕"/>
              </a:rPr>
              <a:t>· 평가의 부담 — 55문항 문서 확인, 두 분야를 다 알아야</a:t>
            </a:r>
          </a:p>
          <a:p>
            <a:pPr algn="l">
              <a:spcAft>
                <a:spcPts val="400"/>
              </a:spcAft>
            </a:pPr>
            <a:r>
              <a:rPr sz="1350" b="1" i="0" a:lang="ko-KR">
                <a:solidFill>
                  <a:srgbClr val="1F3864"/>
                </a:solidFill>
                <a:latin typeface="맑은 고딕"/>
                <a:ea typeface="맑은 고딕"/>
              </a:rPr>
              <a:t>· 적용 대상의 제약 — LCA를 안 하는 회사는 차이가 안 난다</a:t>
            </a:r>
          </a:p>
          <a:p>
            <a:pPr algn="l">
              <a:spcAft>
                <a:spcPts val="400"/>
              </a:spcAft>
            </a:pPr>
            <a:r>
              <a:rPr sz="1350" b="1" i="0" a:lang="ko-KR">
                <a:solidFill>
                  <a:srgbClr val="1F3864"/>
                </a:solidFill>
                <a:latin typeface="맑은 고딕"/>
                <a:ea typeface="맑은 고딕"/>
              </a:rPr>
              <a:t>· 문항 간 종속 — 미비 하나가 여러 점수에 함께 영향</a:t>
            </a:r>
          </a:p>
          <a:p>
            <a:pPr algn="l">
              <a:spcAft>
                <a:spcPts val="400"/>
              </a:spcAft>
            </a:pPr>
            <a:r>
              <a:rPr sz="1350" b="1" i="0" a:lang="ko-KR">
                <a:solidFill>
                  <a:srgbClr val="1F3864"/>
                </a:solidFill>
                <a:latin typeface="맑은 고딕"/>
                <a:ea typeface="맑은 고딕"/>
              </a:rPr>
              <a:t>· 문서 심사 방식 — 형식적 이행은 못 가림</a:t>
            </a:r>
          </a:p>
          <a:p>
            <a:pPr algn="l">
              <a:spcAft>
                <a:spcPts val="400"/>
              </a:spcAft>
            </a:pPr>
            <a:r>
              <a:rPr sz="1350" b="1" i="0" a:lang="ko-KR">
                <a:solidFill>
                  <a:srgbClr val="1F3864"/>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결론 — 네 가지 연구 문제의 답</a:t>
            </a:r>
            <a:r>
              <a:rPr sz="1300" b="0">
                <a:solidFill>
                  <a:srgbClr val="7F7F7F"/>
                </a:solidFill>
                <a:latin typeface="맑은 고딕"/>
              </a:rPr>
              <a:t>  [그림 5-1]</a:t>
            </a:r>
          </a:p>
        </p:txBody>
      </p:sp>
      <p:sp>
        <p:nvSpPr>
          <p:cNvPr id="3" name="TextBox 2"/>
          <p:cNvSpPr txBox="1"/>
          <p:nvPr/>
        </p:nvSpPr>
        <p:spPr>
          <a:xfrm>
            <a:off x="7159752" y="110000"/>
            <a:ext cx="303580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연계하는 LMA를 만들고 한 기업에 적용하여 작동함을 확인하였다.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5.3, [그림 5-1]</a:t>
            </a:r>
          </a:p>
        </p:txBody>
      </p:sp>
      <p:sp>
        <p:nvSpPr>
          <p:cNvPr id="8" name="TextBox 8"/>
          <p:cNvSpPr txBox="1"/>
          <p:nvPr/>
        </p:nvSpPr>
        <p:spPr>
          <a:xfrm>
            <a:off x="497190" y="6080760"/>
            <a:ext cx="9695214" cy="548640"/>
          </a:xfrm>
          <a:prstGeom prst="rect">
            <a:avLst/>
          </a:prstGeom>
          <a:noFill/>
        </p:spPr>
        <p:txBody>
          <a:bodyPr wrap="square" anchor="t" lIns="0" rIns="0" tIns="0" bIns="0">
            <a:spAutoFit/>
          </a:bodyPr>
          <a:lstStyle/>
          <a:p>
            <a:pPr>
              <a:spcAft>
                <a:spcPts val="400"/>
              </a:spcAft>
            </a:pPr>
            <a:r>
              <a:rPr sz="14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pic>
        <p:nvPicPr>
          <p:cNvPr id="9" name="Picture 8" descr="fig5-1c.png"/>
          <p:cNvPicPr>
            <a:picLocks noChangeAspect="1"/>
          </p:cNvPicPr>
          <p:nvPr/>
        </p:nvPicPr>
        <p:blipFill>
          <a:blip r:embed="rId2"/>
          <a:stretch>
            <a:fillRect/>
          </a:stretch>
        </p:blipFill>
        <p:spPr>
          <a:xfrm>
            <a:off x="493776" y="1326944"/>
            <a:ext cx="9692640" cy="456987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
        <p:nvSpPr>
          <p:cNvPr id="3" name="TextBox 1"/>
          <p:cNvSpPr txBox="1"/>
          <p:nvPr/>
        </p:nvSpPr>
        <p:spPr>
          <a:xfrm>
            <a:off x="497190" y="4206240"/>
            <a:ext cx="9695214" cy="914400"/>
          </a:xfrm>
          <a:prstGeom prst="rect">
            <a:avLst/>
          </a:prstGeom>
          <a:noFill/>
        </p:spPr>
        <p:txBody>
          <a:bodyPr wrap="square" anchor="t" lIns="0" rIns="0" tIns="0" bIns="0">
            <a:spAutoFit/>
          </a:bodyPr>
          <a:lstStyle/>
          <a:p>
            <a:pPr algn="ctr"/>
            <a:r>
              <a:rPr sz="2800" b="1" i="0" a:lang="ko-KR">
                <a:solidFill>
                  <a:srgbClr val="595959"/>
                </a:solidFill>
                <a:latin typeface="맑은 고딕"/>
                <a:ea typeface="맑은 고딕"/>
              </a:rPr>
              <a:t>Q &amp; 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S-7~S-29 본심사판에서 옮긴 12장(연구 목적과 문제 · ISO 14001 구조 · 선행연구 · 모델 한 장 요약 · 개발 경위 · 객관성 · 영역별 결과 · 판정 경로 · 연계 상태 · 로드맵 · 연구 전체 요약 · 결론) · B-1~B-16 그림·표(B-1a 등급표 · B-10a 채점 기준 표 · B-11a 진입 조건 표 · B-13a 영역별 그래프 포함) · B-0 장별 요약 · B-Q1~B-Q13 예상 질문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S-7 (본심사판 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S-8 (본심사판 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S-11 (본심사판 11번)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S-18 (본심사판 18번)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S-19 (본심사판 19번)</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S-21 (본심사판 21번)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S-22 (본심사판 22번)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A사의 판정 경로 — 종합 판정 ML2 (관리화)</a:t>
            </a:r>
            <a:r>
              <a:rPr sz="1300" b="0" i="0" a:lang="ko-KR">
                <a:solidFill>
                  <a:srgbClr val="7F7F7F"/>
                </a:solidFill>
                <a:latin typeface="맑은 고딕"/>
                <a:ea typeface="맑은 고딕"/>
              </a:rPr>
              <a:t>  [그림 4-2]</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S-23 (본심사판 23번)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 연계 상태 — 강점과 구조적 미비</a:t>
            </a:r>
            <a:r>
              <a:rPr sz="1300" b="0" i="0" a:lang="ko-KR">
                <a:solidFill>
                  <a:srgbClr val="7F7F7F"/>
                </a:solidFill>
                <a:latin typeface="맑은 고딕"/>
                <a:ea typeface="맑은 고딕"/>
              </a:rPr>
              <a:t>  [그림 4-4]</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S-24 (본심사판 24번)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S-26 (본심사판 26번)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S-28 (본심사판 28번)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S-29 (본심사판 29번)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a:t>
            </a:r>
            <a:r>
              <a:rPr sz="1300" b="0">
                <a:solidFill>
                  <a:srgbClr val="7F7F7F"/>
                </a:solidFill>
                <a:latin typeface="맑은 고딕"/>
              </a:rPr>
              <a:t>  [그림 3-3]</a:t>
            </a:r>
          </a:p>
        </p:txBody>
      </p:sp>
      <p:sp>
        <p:nvSpPr>
          <p:cNvPr id="3"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pic>
        <p:nvPicPr>
          <p:cNvPr id="4" name="Picture 5" descr="g3-3.png"/>
          <p:cNvPicPr>
            <a:picLocks noChangeAspect="1"/>
          </p:cNvPicPr>
          <p:nvPr/>
        </p:nvPicPr>
        <p:blipFill>
          <a:blip r:embed="rId2"/>
          <a:stretch>
            <a:fillRect/>
          </a:stretch>
        </p:blipFill>
        <p:spPr>
          <a:xfrm>
            <a:off x="493776" y="1234440"/>
            <a:ext cx="9692640" cy="4480560"/>
          </a:xfrm>
          <a:prstGeom prst="rect">
            <a:avLst/>
          </a:prstGeom>
        </p:spPr>
      </p:pic>
      <p:sp>
        <p:nvSpPr>
          <p:cNvPr id="5" name="Guide 32"/>
          <p:cNvSpPr txBox="1"/>
          <p:nvPr/>
        </p:nvSpPr>
        <p:spPr>
          <a:xfrm>
            <a:off x="497190" y="740000"/>
            <a:ext cx="9695214" cy="420624"/>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조항마다 네 물음을 같은 순서로 물어 네 등급 가운데 하나로 매긴다 — 「예」가 앞에서 나올수록 연계 가능성이 높다.</a:t>
            </a:r>
          </a:p>
        </p:txBody>
      </p:sp>
      <p:sp>
        <p:nvSpPr>
          <p:cNvPr id="6"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3.3.1, [표 3-2], [그림 3-3], 부록 A.1·A.2·A.4</a:t>
            </a:r>
          </a:p>
        </p:txBody>
      </p:sp>
      <p:sp>
        <p:nvSpPr>
          <p:cNvPr id="7" name="TextBox 8"/>
          <p:cNvSpPr txBox="1"/>
          <p:nvPr/>
        </p:nvSpPr>
        <p:spPr>
          <a:xfrm>
            <a:off x="497190" y="5852160"/>
            <a:ext cx="9695214" cy="731520"/>
          </a:xfrm>
          <a:prstGeom prst="rect">
            <a:avLst/>
          </a:prstGeom>
          <a:noFill/>
        </p:spPr>
        <p:txBody>
          <a:bodyPr wrap="square" anchor="t" lIns="0" rIns="0" tIns="0" bIns="0">
            <a:spAutoFit/>
          </a:bodyPr>
          <a:lstStyle/>
          <a:p>
            <a:pPr>
              <a:spcAft>
                <a:spcPts val="400"/>
              </a:spcAft>
            </a:pPr>
            <a:r>
              <a:rPr sz="1300" b="0" i="0" a:lang="ko-KR">
                <a:solidFill>
                  <a:srgbClr val="111111"/>
                </a:solidFill>
                <a:latin typeface="맑은 고딕"/>
                <a:ea typeface="맑은 고딕"/>
              </a:rPr>
              <a:t>ISO 14001 — 요구사항 조항 30개 전부 판정·문항화   ·   ISO 14044 — 조항 25개가 문항의 근거(나머지 3개도 세부 조항의 문항·체크포인트로 반영) → 빠진 조항 없음(부록 A.4)   ·   매우 높음 4개 조항 = 핵심 문항 4종(P-9·P-14·D-1·C-1) — 계획 둘·실행 하나·점검 하나</a:t>
            </a:r>
          </a:p>
        </p:txBody>
      </p:sp>
      <p:sp>
        <p:nvSpPr>
          <p:cNvPr id="8" name="TextBox 2"/>
          <p:cNvSpPr txBox="1"/>
          <p:nvPr/>
        </p:nvSpPr>
        <p:spPr>
          <a:xfrm>
            <a:off x="7379208" y="110000"/>
            <a:ext cx="28163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9"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조항별 판정 질문 경로 — 부록 A.1 등급에서 재구성</a:t>
            </a:r>
          </a:p>
        </p:txBody>
      </p:sp>
      <p:sp>
        <p:nvSpPr>
          <p:cNvPr id="3"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등급은 질문 흐름에서 기계적으로 나오므로 조항별 경로는 등급에서 역으로 확인된다 — 조항마다 두 번 또는 세 번 묻는다.</a:t>
            </a:r>
          </a:p>
        </p:txBody>
      </p:sp>
      <p:sp>
        <p:nvSpPr>
          <p:cNvPr id="5"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sp>
        <p:nvSpPr>
          <p:cNvPr id="6"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B-1b</a:t>
            </a:r>
          </a:p>
        </p:txBody>
      </p:sp>
      <p:graphicFrame>
        <p:nvGraphicFramePr>
          <p:cNvPr id="7" name="Table 6"/>
          <p:cNvGraphicFramePr>
            <a:graphicFrameLocks noGrp="1"/>
          </p:cNvGraphicFramePr>
          <p:nvPr/>
        </p:nvGraphicFramePr>
        <p:xfrm>
          <a:off x="493776" y="1280160"/>
          <a:ext cx="9692640" cy="4206240"/>
        </p:xfrm>
        <a:graphic>
          <a:graphicData uri="http://schemas.openxmlformats.org/drawingml/2006/table">
            <a:tbl>
              <a:tblPr firstRow="1" bandRow="1">
                <a:tableStyleId>{5C22544A-7EE6-4342-B048-85BDC9FD1C3A}</a:tableStyleId>
              </a:tblPr>
              <a:tblGrid>
                <a:gridCol w="1188720"/>
                <a:gridCol w="3657600"/>
                <a:gridCol w="548640"/>
                <a:gridCol w="4297680"/>
              </a:tblGrid>
              <a:tr h="701040">
                <a:tc>
                  <a:txBody>
                    <a:bodyPr/>
                    <a:lstStyle/>
                    <a:p>
                      <a:r>
                        <a:rPr sz="1250" b="1">
                          <a:latin typeface="맑은 고딕"/>
                        </a:rPr>
                        <a:t>등급</a:t>
                      </a:r>
                    </a:p>
                  </a:txBody>
                  <a:tcPr marL="54864" marR="54864"/>
                </a:tc>
                <a:tc>
                  <a:txBody>
                    <a:bodyPr/>
                    <a:lstStyle/>
                    <a:p>
                      <a:r>
                        <a:rPr sz="1250" b="1">
                          <a:latin typeface="맑은 고딕"/>
                        </a:rPr>
                        <a:t>질문 경로</a:t>
                      </a:r>
                    </a:p>
                  </a:txBody>
                  <a:tcPr marL="54864" marR="54864"/>
                </a:tc>
                <a:tc>
                  <a:txBody>
                    <a:bodyPr/>
                    <a:lstStyle/>
                    <a:p>
                      <a:r>
                        <a:rPr sz="1250" b="1">
                          <a:latin typeface="맑은 고딕"/>
                        </a:rPr>
                        <a:t>물음</a:t>
                      </a:r>
                    </a:p>
                  </a:txBody>
                  <a:tcPr marL="54864" marR="54864"/>
                </a:tc>
                <a:tc>
                  <a:txBody>
                    <a:bodyPr/>
                    <a:lstStyle/>
                    <a:p>
                      <a:r>
                        <a:rPr sz="1250" b="1">
                          <a:latin typeface="맑은 고딕"/>
                        </a:rPr>
                        <a:t>조항(부록 A.1 등급)</a:t>
                      </a:r>
                    </a:p>
                  </a:txBody>
                  <a:tcPr marL="54864" marR="54864"/>
                </a:tc>
              </a:tr>
              <a:tr h="701040">
                <a:tc>
                  <a:txBody>
                    <a:bodyPr/>
                    <a:lstStyle/>
                    <a:p>
                      <a:r>
                        <a:rPr sz="1200" b="1">
                          <a:latin typeface="맑은 고딕"/>
                        </a:rPr>
                        <a:t>매우 높음 4</a:t>
                      </a:r>
                    </a:p>
                  </a:txBody>
                  <a:tcPr marL="54864" marR="54864"/>
                </a:tc>
                <a:tc>
                  <a:txBody>
                    <a:bodyPr/>
                    <a:lstStyle/>
                    <a:p>
                      <a:r>
                        <a:rPr sz="1200" b="0">
                          <a:latin typeface="맑은 고딕"/>
                        </a:rPr>
                        <a:t>Q1 예 → Q2 예</a:t>
                      </a:r>
                    </a:p>
                  </a:txBody>
                  <a:tcPr marL="54864" marR="54864"/>
                </a:tc>
                <a:tc>
                  <a:txBody>
                    <a:bodyPr/>
                    <a:lstStyle/>
                    <a:p>
                      <a:r>
                        <a:rPr sz="1200" b="0">
                          <a:latin typeface="맑은 고딕"/>
                        </a:rPr>
                        <a:t>2</a:t>
                      </a:r>
                    </a:p>
                  </a:txBody>
                  <a:tcPr marL="54864" marR="54864"/>
                </a:tc>
                <a:tc>
                  <a:txBody>
                    <a:bodyPr/>
                    <a:lstStyle/>
                    <a:p>
                      <a:r>
                        <a:rPr sz="1200" b="0">
                          <a:latin typeface="맑은 고딕"/>
                        </a:rPr>
                        <a:t>6.1.2 환경측면 · 6.2.1 환경목표 · 8.1 운용기획 및 관리 · 9.1.1 모니터링·측정·분석·평가</a:t>
                      </a:r>
                    </a:p>
                  </a:txBody>
                  <a:tcPr marL="54864" marR="54864"/>
                </a:tc>
              </a:tr>
              <a:tr h="701040">
                <a:tc>
                  <a:txBody>
                    <a:bodyPr/>
                    <a:lstStyle/>
                    <a:p>
                      <a:r>
                        <a:rPr sz="1200" b="1">
                          <a:latin typeface="맑은 고딕"/>
                        </a:rPr>
                        <a:t>높음 12 (a)</a:t>
                      </a:r>
                    </a:p>
                  </a:txBody>
                  <a:tcPr marL="54864" marR="54864"/>
                </a:tc>
                <a:tc>
                  <a:txBody>
                    <a:bodyPr/>
                    <a:lstStyle/>
                    <a:p>
                      <a:r>
                        <a:rPr sz="1200" b="0">
                          <a:latin typeface="맑은 고딕"/>
                        </a:rPr>
                        <a:t>Q1 예 → Q2 아니오 — 전과정 관점이나 그 결과(중대한 환경측면·환경목표)를 직접 받지만 LCA 없이도 이행은 됨</a:t>
                      </a:r>
                    </a:p>
                  </a:txBody>
                  <a:tcPr marL="54864" marR="54864"/>
                </a:tc>
                <a:tc>
                  <a:txBody>
                    <a:bodyPr/>
                    <a:lstStyle/>
                    <a:p>
                      <a:r>
                        <a:rPr sz="1200" b="0">
                          <a:latin typeface="맑은 고딕"/>
                        </a:rPr>
                        <a:t>2</a:t>
                      </a:r>
                    </a:p>
                  </a:txBody>
                  <a:tcPr marL="54864" marR="54864"/>
                </a:tc>
                <a:tc>
                  <a:txBody>
                    <a:bodyPr/>
                    <a:lstStyle/>
                    <a:p>
                      <a:r>
                        <a:rPr sz="1200" b="0">
                          <a:latin typeface="맑은 고딕"/>
                        </a:rPr>
                        <a:t>6.1.1 리스크·기회 일반 · 6.1.4 조치 계획 · 6.2.2 목표 달성 조치 · 9.3 경영검토 · 10.1 개선 일반 · 10.3 지속적 개선</a:t>
                      </a:r>
                    </a:p>
                  </a:txBody>
                  <a:tcPr marL="54864" marR="54864"/>
                </a:tc>
              </a:tr>
              <a:tr h="701040">
                <a:tc>
                  <a:txBody>
                    <a:bodyPr/>
                    <a:lstStyle/>
                    <a:p>
                      <a:r>
                        <a:rPr sz="1200" b="1">
                          <a:latin typeface="맑은 고딕"/>
                        </a:rPr>
                        <a:t>높음 12 (b)</a:t>
                      </a:r>
                    </a:p>
                  </a:txBody>
                  <a:tcPr marL="54864" marR="54864"/>
                </a:tc>
                <a:tc>
                  <a:txBody>
                    <a:bodyPr/>
                    <a:lstStyle/>
                    <a:p>
                      <a:r>
                        <a:rPr sz="1200" b="0">
                          <a:latin typeface="맑은 고딕"/>
                        </a:rPr>
                        <a:t>Q1 아니오 → Q3 예 — 전과정 관점 요구는 없지만 LCA 결과가 주요 입력</a:t>
                      </a:r>
                    </a:p>
                  </a:txBody>
                  <a:tcPr marL="54864" marR="54864"/>
                </a:tc>
                <a:tc>
                  <a:txBody>
                    <a:bodyPr/>
                    <a:lstStyle/>
                    <a:p>
                      <a:r>
                        <a:rPr sz="1200" b="0">
                          <a:latin typeface="맑은 고딕"/>
                        </a:rPr>
                        <a:t>2</a:t>
                      </a:r>
                    </a:p>
                  </a:txBody>
                  <a:tcPr marL="54864" marR="54864"/>
                </a:tc>
                <a:tc>
                  <a:txBody>
                    <a:bodyPr/>
                    <a:lstStyle/>
                    <a:p>
                      <a:r>
                        <a:rPr sz="1200" b="0">
                          <a:latin typeface="맑은 고딕"/>
                        </a:rPr>
                        <a:t>4.2 이해관계자 · 4.3 적용범위 · 5.2 환경방침 · 7.2 역량 · 7.4 의사소통 · 7.5.1 문서화된 정보 일반</a:t>
                      </a:r>
                    </a:p>
                  </a:txBody>
                  <a:tcPr marL="54864" marR="54864"/>
                </a:tc>
              </a:tr>
              <a:tr h="701040">
                <a:tc>
                  <a:txBody>
                    <a:bodyPr/>
                    <a:lstStyle/>
                    <a:p>
                      <a:r>
                        <a:rPr sz="1200" b="1">
                          <a:latin typeface="맑은 고딕"/>
                        </a:rPr>
                        <a:t>중간 10</a:t>
                      </a:r>
                    </a:p>
                  </a:txBody>
                  <a:tcPr marL="54864" marR="54864"/>
                </a:tc>
                <a:tc>
                  <a:txBody>
                    <a:bodyPr/>
                    <a:lstStyle/>
                    <a:p>
                      <a:r>
                        <a:rPr sz="1200" b="0">
                          <a:latin typeface="맑은 고딕"/>
                        </a:rPr>
                        <a:t>Q1 아니오 → Q3 아니오 → Q4 예</a:t>
                      </a:r>
                    </a:p>
                  </a:txBody>
                  <a:tcPr marL="54864" marR="54864"/>
                </a:tc>
                <a:tc>
                  <a:txBody>
                    <a:bodyPr/>
                    <a:lstStyle/>
                    <a:p>
                      <a:r>
                        <a:rPr sz="1200" b="0">
                          <a:latin typeface="맑은 고딕"/>
                        </a:rPr>
                        <a:t>3</a:t>
                      </a:r>
                    </a:p>
                  </a:txBody>
                  <a:tcPr marL="54864" marR="54864"/>
                </a:tc>
                <a:tc>
                  <a:txBody>
                    <a:bodyPr/>
                    <a:lstStyle/>
                    <a:p>
                      <a:r>
                        <a:rPr sz="1200" b="0">
                          <a:latin typeface="맑은 고딕"/>
                        </a:rPr>
                        <a:t>4.1 · 4.4 · 5.1 · 5.3 · 7.1 · 7.3 · 7.5.2 · 7.5.3 · 9.2.1 · 9.2.2</a:t>
                      </a:r>
                    </a:p>
                  </a:txBody>
                  <a:tcPr marL="54864" marR="54864"/>
                </a:tc>
              </a:tr>
              <a:tr h="701040">
                <a:tc>
                  <a:txBody>
                    <a:bodyPr/>
                    <a:lstStyle/>
                    <a:p>
                      <a:r>
                        <a:rPr sz="1200" b="1">
                          <a:latin typeface="맑은 고딕"/>
                        </a:rPr>
                        <a:t>낮음 4</a:t>
                      </a:r>
                    </a:p>
                  </a:txBody>
                  <a:tcPr marL="54864" marR="54864"/>
                </a:tc>
                <a:tc>
                  <a:txBody>
                    <a:bodyPr/>
                    <a:lstStyle/>
                    <a:p>
                      <a:r>
                        <a:rPr sz="1200" b="0">
                          <a:latin typeface="맑은 고딕"/>
                        </a:rPr>
                        <a:t>Q1 아니오 → Q3 아니오 → Q4 아니오</a:t>
                      </a:r>
                    </a:p>
                  </a:txBody>
                  <a:tcPr marL="54864" marR="54864"/>
                </a:tc>
                <a:tc>
                  <a:txBody>
                    <a:bodyPr/>
                    <a:lstStyle/>
                    <a:p>
                      <a:r>
                        <a:rPr sz="1200" b="0">
                          <a:latin typeface="맑은 고딕"/>
                        </a:rPr>
                        <a:t>3</a:t>
                      </a:r>
                    </a:p>
                  </a:txBody>
                  <a:tcPr marL="54864" marR="54864"/>
                </a:tc>
                <a:tc>
                  <a:txBody>
                    <a:bodyPr/>
                    <a:lstStyle/>
                    <a:p>
                      <a:r>
                        <a:rPr sz="1200" b="0">
                          <a:latin typeface="맑은 고딕"/>
                        </a:rPr>
                        <a:t>6.1.3 준수의무사항 · 8.2 비상사태 · 9.1.2 준수평가 · 10.2 부적합·시정조치</a:t>
                      </a:r>
                    </a:p>
                  </a:txBody>
                  <a:tcPr marL="54864" marR="54864"/>
                </a:tc>
              </a:tr>
            </a:tbl>
          </a:graphicData>
        </a:graphic>
      </p:graphicFrame>
      <p:sp>
        <p:nvSpPr>
          <p:cNvPr id="8" name="TextBox 8"/>
          <p:cNvSpPr txBox="1"/>
          <p:nvPr/>
        </p:nvSpPr>
        <p:spPr>
          <a:xfrm>
            <a:off x="497190" y="5669280"/>
            <a:ext cx="9695214" cy="914400"/>
          </a:xfrm>
          <a:prstGeom prst="rect">
            <a:avLst/>
          </a:prstGeom>
          <a:noFill/>
        </p:spPr>
        <p:txBody>
          <a:bodyPr wrap="square" anchor="t" lIns="0" rIns="0" tIns="0" bIns="0">
            <a:spAutoFit/>
          </a:bodyPr>
          <a:lstStyle/>
          <a:p>
            <a:pPr>
              <a:spcAft>
                <a:spcPts val="400"/>
              </a:spcAft>
            </a:pPr>
            <a:r>
              <a:rPr sz="1150" b="0" i="0" a:lang="ko-KR">
                <a:solidFill>
                  <a:srgbClr val="111111"/>
                </a:solidFill>
                <a:latin typeface="맑은 고딕"/>
                <a:ea typeface="맑은 고딕"/>
              </a:rPr>
              <a:t>기준(등급 정의·징후·질문 흐름)은 부록 B.1, 조항별 결과(연계 가능성 등급·연계 방안)는 부록 A.1 — 기준을 먼저 정하고 전 조항에 적용(3.2.2). 부록 A.1에는 질문별 예·아니오 열이 없어 이 표는 등급에서 재구성한 것이며, 높음 12개의 (a)·(b) 나눔은 A.1의 근거 문구(환경측면·환경목표를 참조하면 Q1 예, LCA 결과를 입력으로 하면 Q3 예)에 따름. 본심사본 부록 A.1에 「판정 경로」 열로 추가 예정.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79</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