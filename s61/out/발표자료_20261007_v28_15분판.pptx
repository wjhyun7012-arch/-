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1" r:id="rId13"/>
    <p:sldId id="267" r:id="rId19"/>
    <p:sldId id="268" r:id="rId20"/>
    <p:sldId id="269" r:id="rId21"/>
    <p:sldId id="270" r:id="rId22"/>
    <p:sldId id="271" r:id="rId23"/>
    <p:sldId id="272" r:id="rId24"/>
    <p:sldId id="274" r:id="rId26"/>
    <p:sldId id="277" r:id="rId29"/>
    <p:sldId id="278" r:id="rId30"/>
    <p:sldId id="279" r:id="rId31"/>
    <p:sldId id="281" r:id="rId33"/>
    <p:sldId id="283" r:id="rId35"/>
    <p:sldId id="284" r:id="rId36"/>
    <p:sldId id="285" r:id="rId37"/>
    <p:sldId id="260" r:id="rId12"/>
    <p:sldId id="262" r:id="rId14"/>
    <p:sldId id="263" r:id="rId15"/>
    <p:sldId id="264" r:id="rId16"/>
    <p:sldId id="265" r:id="rId17"/>
    <p:sldId id="266" r:id="rId18"/>
    <p:sldId id="273" r:id="rId25"/>
    <p:sldId id="328" r:id="rId80"/>
    <p:sldId id="275" r:id="rId27"/>
    <p:sldId id="276" r:id="rId28"/>
    <p:sldId id="280" r:id="rId32"/>
    <p:sldId id="282" r:id="rId34"/>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0.xml"/><Relationship Id="rId13" Type="http://schemas.openxmlformats.org/officeDocument/2006/relationships/slide" Target="slides/slide5.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26.xml"/><Relationship Id="rId26" Type="http://schemas.openxmlformats.org/officeDocument/2006/relationships/slide" Target="slides/slide12.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30.xml"/><Relationship Id="rId33" Type="http://schemas.openxmlformats.org/officeDocument/2006/relationships/slide" Target="slides/slide16.xml"/><Relationship Id="rId34" Type="http://schemas.openxmlformats.org/officeDocument/2006/relationships/slide" Target="slides/slide31.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27.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시간이 15분이라 2장 학술적 배경은 다음 장의 요약에서 함께 말씀드리고, 세부는 질문 때 보여 드리겠습니다.</a:t>
            </a:r>
          </a:p>
          <a:p>
            <a:r>
              <a:t>〔15초. 숫자(16종·55문항·2.85·ML2·3.15)는 4번에서. 화면에서 뺀 세부 — Ⅰ(1장) 이 연구를 한 장으로 · 두 표준에서 서로 비어 있는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논문은 다섯 장으로 구성되어 있고, 이 그림은 장 사이의 연결을 보여 줍니다.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정하고, 환경목표를 세우고, 다음 해에 다시 측정해 확인하는 회사입니다.</a:t>
            </a:r>
          </a:p>
          <a:p>
            <a:r>
              <a:t>본 연구가 말하는 연계는 상태 B입니다. 있다 없다가 아니라 정도의 문제이고, 그 정도를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모델을 그림으로 말씀드리겠습니다.</a:t>
            </a:r>
          </a:p>
          <a:p>
            <a:r>
              <a:t>위는 두 표준입니다. ISO 14001의 조항 서른 개와 LCA의 요구사항을 하나하나 대응시켰습니다. 이것이 매핑입니다. 두 표준이 결합하는 곳이 연계 지점이고, 그 가운데 꼭 있어야 할 네 곳이 핵심 연계 지점입니다.</a:t>
            </a:r>
          </a:p>
          <a:p>
            <a:r>
              <a:t>아래가 만든 것 셋입니다. 첫째, 참조 모델은 평가할 업무 목록으로 열여섯 가지입니다. 둘째, 평가 모델은 채점표로 문항 쉰다섯 개와 점수 기준입니다. 셋째, 성숙도 모델은 점수를 여섯 수준으로 바꾸는 규칙이고, 핵심 문항 넷 가운데 하나라도 빠지면 ML2에서 멈춥니다.</a:t>
            </a:r>
          </a:p>
          <a:p>
            <a:r>
              <a:t>이 셋을 합쳐 연계 성숙도 평가 모델, 영문으로 Linkage Maturity Assessment, 줄여서 LMA라고 합니다.</a:t>
            </a:r>
          </a:p>
          <a:p>
            <a:r>
              <a:t>만든 뒤에는 두 방향으로 검증했습니다. 문항마다 어느 조항에서 왔는지 따라간 추적성 검증과, 국제표준 요건 24건을 자체점검한 표준 적합성 검증입니다.</a:t>
            </a:r>
          </a:p>
          <a:p>
            <a:r>
              <a:t>이제 하나씩 보겠습니다. 먼저 두 표준의 조항을 어떻게 대응시켰는지입니다.</a:t>
            </a:r>
          </a:p>
          <a:p>
            <a:r>
              <a:t>〔논문 [그림 3-2] 전체는 백업 B-7.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t>「예」가 앞쪽 물음에서 나올수록 연계 가능성이 높고, 네 등급으로 판정했습니다. 매우 높음이 네 개 조항, 환경측면 6.1.2, 환경목표 6.2.1, 운용기획 및 관리 8.1, 모니터링 9.1.1입니다. 높음이 열둘, 중간이 열, 낮음이 넷입니다.</a:t>
            </a:r>
          </a:p>
          <a:p>
            <a:r>
              <a:t>매핑의 결과가 연계 지점이고, 그 가운데 꼭 있어야 할 네 곳이 핵심 연계 지점으로 뒤의 핵심 문항 4종이 됩니다. 연계 지점을 업무 단위로 묶으면 연계 프로세스 열여섯 가지, 그 업무가 되어 있는지 묻는 것이 쉰다섯 문항입니다.</a:t>
            </a:r>
          </a:p>
          <a:p>
            <a:r>
              <a:t>이 네 조항이 두 표준의 관리 주기 어디에서 만나는지, 다음 장에서 보겠습니다.</a:t>
            </a:r>
          </a:p>
          <a:p>
            <a:r>
              <a:t>〔1분 10초. 「전조항을 매핑했는데 핵심은 4개뿐인가」 → 매핑(30조항) → 55문항·16종 → 연계 성립 지점 4곳. 등급별 판정 요건 전문은 백업 B-1a, 흐름은 B-1.〕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다음 장의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예를 하나 들면 D-1, 설계·개발 단계의 LCA 결과 반영 문항입니다. A사는 필수 세 개 가운데 두 개만 있어 2점이었고, 이 문항이 4장에서 판정을 정하였습니다.</a:t>
            </a:r>
          </a:p>
          <a:p>
            <a:r>
              <a:t>점수를 성숙도 수준으로 바꾸는 규칙이 다음 장의 성숙도 모델입니다.</a:t>
            </a:r>
          </a:p>
          <a:p>
            <a:r>
              <a:t>〔1분 5초.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모델은 점수를 수준으로 바꾸는 규칙입니다. 수준은 ML0에서 ML5까지 여섯이고, 계단처럼 아래 조건을 모두 갖추어야 위로 올라갑니다.</a:t>
            </a:r>
          </a:p>
          <a:p>
            <a:r>
              <a:t>ML1은 핵심 문항 네 가지가 모두 2점 이상, ML2는 거기에 나머지 쉰한 문항 가운데 절반 이상이 3점, ML3은 핵심 문항 네 가지가 모두 3점 이상입니다. ML4와 ML5는 점검과 개선 영역까지 갖추어야 합니다.</a:t>
            </a:r>
          </a:p>
          <a:p>
            <a:r>
              <a:t>조건의 어느 항에도 평균은 쓰이지 않습니다. 연계가 아예 끊긴 것과 연계가 얕은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t>오른쪽이 핵심 문항 네 가지입니다. 핵심 문항 하나라도 3점 미만이면 평균이 높아도 ML2에서 멈춥니다. A사가 바로 그 자리입니다.</a:t>
            </a:r>
          </a:p>
          <a:p>
            <a:r>
              <a:t>이 모델을 한 회사에 적용한 결과를 보겠습니다.</a:t>
            </a:r>
          </a:p>
          <a:p>
            <a:r>
              <a:t>〔1분 10초. 진입 조건·설계 근거 표 전문은 백업 B-11a, 수준별 기준은 B-11. 모델 한 장 요약·검증 두 방향은 백업 S-18, 개발 경위는 S-19. 비교주장 조건부 shall(C-7·A-9)은 3.4.3 — 백업 B-Q5. 말로 풀 때만 비유 — 건강검진의 필수 검사(논문에 없음).〕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 평가가 어떻게 흘러갔는지 그림으로 먼저 보겠습니다.</a:t>
            </a:r>
          </a:p>
          <a:p>
            <a:r>
              <a:t>첫째, 문서를 받았습니다.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낮은 점수의 원인 세 가지에서 개선 과제 다섯 건을 도출하였고, 모두 마치면 3.15, ML3이 전망됩니다.</a:t>
            </a:r>
          </a:p>
          <a:p>
            <a:r>
              <a:t>평가는 문서 심사만으로, 평가자 한 명이, 2026년 6월과 7월에 했습니다. 공식 등급을 주는 평가가 아니라 모델의 판정 논리가 실제 자료에서 작동하는지 확인하는 시범 적용입니다. 평가자가 한 사람이라 판정 규칙을 미리 정해 두고 잠정 점수를 증빙으로 다시 확인하는 두 가지로 객관성을 확보했습니다.</a:t>
            </a:r>
          </a:p>
          <a:p>
            <a:r>
              <a:t>판정 결과는 다음 장입니다.</a:t>
            </a:r>
          </a:p>
          <a:p>
            <a:r>
              <a:t>〔1분 10초. 객관성 두 가지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영역별로는 계획 3.23, 실행 3.00, 점검 2.10, 개선 2.33입니다. LCA가 계획과 실행에는 반영되나 점검과 개선으로는 이어지지 않는 모습입니다.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그러면 낮은 점수는 어디에서 왔는지, 다음 장에서 보겠습니다.</a:t>
            </a:r>
          </a:p>
          <a:p>
            <a:r>
              <a:t>〔1분 20초. 영역별 결과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미비 사항 3건에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끝으로 이 모델의 장점과 단점, 한계입니다.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주고 문서 심사라 형식적 이행을 가리기 어렵다는 것, 환경성과와의 관계는 검증하지 않았다는 것입니다.</a:t>
            </a:r>
          </a:p>
          <a:p>
            <a:r>
              <a:t>한계는 한 회사·한 시점·평가자 한 명, 전문가 타당도 조사 미실시, 가장 높은 두 수준의 사례 미확인이고, 이 셋이 그대로 향후 연구 과제입니다.</a:t>
            </a:r>
          </a:p>
          <a:p>
            <a:r>
              <a:t>〔1분. 화면 글은 쉬운 말판, 항목 이름은 [표 5-1] 그대로. 장점·단점 전문은 백업 B-15a·B-15b, 한계 여덟 항목은 B-0c③. 연구 전체 한 장 요약은 백업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S-5~S-28(본심사판에서 옮긴 12장),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054496" cy="54864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 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대조하여 업무 목록</a:t>
            </a:r>
            <a:r>
              <a:rPr sz="1600" b="1" i="0" a:lang="ko-KR">
                <a:solidFill>
                  <a:srgbClr val="1F3864"/>
                </a:solidFill>
                <a:latin typeface="맑은 고딕"/>
                <a:ea typeface="맑은 고딕"/>
              </a:rPr>
              <a:t>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네 등급으로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S-5~S-28 본심사판에서 옮긴 12장(두 표준의 빈 곳 · 연구 목적과 문제 · ISO 14001 구조 · LCA 4단계 · 따른 표준 · 선행연구 · 모델 한 장 요약 · 개발 경위 · 객관성 · 영역별 결과 · 로드맵 · 연구 전체 요약) · B-1~B-16 그림·표(B-1a 등급표 · B-10a 채점 기준 표 · B-11a 진입 조건 표 · B-13a 영역별 그래프 포함) · B-0 장별 요약 · B-Q1~B-Q13 예상 질문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S-5 (본심사판 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S-9 (본심사판 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S-10 (본심사판 10번)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