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328" r:id="rId80"/>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329" r:id="rId81"/>
    <p:sldId id="287" r:id="rId39"/>
    <p:sldId id="330" r:id="rId82"/>
    <p:sldId id="288" r:id="rId40"/>
    <p:sldId id="289" r:id="rId41"/>
    <p:sldId id="290" r:id="rId42"/>
    <p:sldId id="291" r:id="rId43"/>
    <p:sldId id="292" r:id="rId44"/>
    <p:sldId id="293" r:id="rId45"/>
    <p:sldId id="294" r:id="rId46"/>
    <p:sldId id="295" r:id="rId47"/>
    <p:sldId id="326" r:id="rId78"/>
    <p:sldId id="296" r:id="rId48"/>
    <p:sldId id="327" r:id="rId79"/>
    <p:sldId id="297" r:id="rId49"/>
    <p:sldId id="298" r:id="rId50"/>
    <p:sldId id="299" r:id="rId51"/>
    <p:sldId id="300" r:id="rId52"/>
    <p:sldId id="301" r:id="rId53"/>
    <p:sldId id="302" r:id="rId54"/>
    <p:sldId id="303" r:id="rId55"/>
    <p:sldId id="304" r:id="rId56"/>
    <p:sldId id="305" r:id="rId57"/>
    <p:sldId id="306" r:id="rId58"/>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31" r:id="rId59"/>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4.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5.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75.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44.xml"/><Relationship Id="rId79" Type="http://schemas.openxmlformats.org/officeDocument/2006/relationships/slide" Target="slides/slide46.xml"/><Relationship Id="rId80" Type="http://schemas.openxmlformats.org/officeDocument/2006/relationships/slide" Target="slides/slide19.xml"/><Relationship Id="rId81" Type="http://schemas.openxmlformats.org/officeDocument/2006/relationships/slide" Target="slides/slide33.xml"/><Relationship Id="rId82"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latin typeface="맑은 고딕"/>
              </a:rPr>
              <a:t>55문항 점수 분포</a:t>
            </a:r>
          </a:p>
        </c:rich>
      </c:tx>
      <c:layout/>
      <c:overlay val="0"/>
    </c:title>
    <c:autoTitleDeleted val="0"/>
    <c:plotArea>
      <c:barChart>
        <c:barDir val="col"/>
        <c:grouping val="clustered"/>
        <c:ser>
          <c:idx val="0"/>
          <c:order val="0"/>
          <c:tx>
            <c:strRef>
              <c:f>Sheet1!$B$1</c:f>
              <c:strCache>
                <c:ptCount val="1"/>
                <c:pt idx="0">
                  <c:v>문항 수</c:v>
                </c:pt>
              </c:strCache>
            </c:strRef>
          </c:tx>
          <c:spPr>
            <a:solidFill>
              <a:srgbClr val="1F3864"/>
            </a:solidFill>
          </c:spPr>
          <c:cat>
            <c:strRef>
              <c:f>Sheet1!$A$2:$A$6</c:f>
              <c:strCache>
                <c:ptCount val="5"/>
                <c:pt idx="0">
                  <c:v>1점</c:v>
                </c:pt>
                <c:pt idx="1">
                  <c:v>2점</c:v>
                </c:pt>
                <c:pt idx="2">
                  <c:v>3점</c:v>
                </c:pt>
                <c:pt idx="3">
                  <c:v>4점</c:v>
                </c:pt>
                <c:pt idx="4">
                  <c:v>5점</c:v>
                </c:pt>
              </c:strCache>
            </c:strRef>
          </c:cat>
          <c:val>
            <c:numRef>
              <c:f>Sheet1!$B$2:$B$6</c:f>
              <c:numCache>
                <c:formatCode>General</c:formatCode>
                <c:ptCount val="5"/>
                <c:pt idx="0">
                  <c:v>5</c:v>
                </c:pt>
                <c:pt idx="1">
                  <c:v>11</c:v>
                </c:pt>
                <c:pt idx="2">
                  <c:v>26</c:v>
                </c:pt>
                <c:pt idx="3">
                  <c:v>13</c:v>
                </c:pt>
                <c:pt idx="4">
                  <c:v>0</c:v>
                </c:pt>
              </c:numCache>
            </c:numRef>
          </c:val>
        </c:ser>
        <c:dLbls>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안녕하십니까. 산업경영공학과 박사과정 현욱진입니다. 환경경영시스템(ISO 14001)과 전과정평가(LCA)의 프로세스 연계 모델 개발 및 성숙도 평가에 대한 논문을 발표하겠습니다.</a:t>
            </a:r>
          </a:p>
          <a:p>
            <a:r>
              <a:rPr sz="1200">
                <a:latin typeface="맑은 고딕"/>
              </a:rPr>
              <a:t>먼저 요지만 말씀드리면, 환경경영시스템(ISO 14001)은 전과정 관점을 고려하라고 요구하면서 그 방법은 정하지 않았고, 그 방법은 별개의 전과정평가(LCA) 표준인 ISO 14044에 있어 실무에서는 두 표준이 별도로 운영됩니다. 두 표준이 연계된 정도를 조항 단위로 확인하고 성숙도 수준으로 판정하는 모델을 만든 연구입니다.</a:t>
            </a:r>
          </a:p>
          <a:p>
            <a:r>
              <a:rPr sz="1200">
                <a:latin typeface="맑은 고딕"/>
              </a:rPr>
              <a:t>〔제목을 읽어 내리지 않는다. 20초〕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논문의 장 순서대로 하겠습니다. 1장 왜 이 연구인가, 2장 무엇을 바탕으로 하였는가, 3장 무엇을 만들었는가, 4장 적용하면 어떻게 되고 무엇을 고치는가, 5장 결론입니다.</a:t>
            </a:r>
          </a:p>
          <a:p>
            <a:r>
              <a:t>3장이 판정의 기준을 만드는 장이고, 4장은 그 기준을 바꾸지 않고 한 기업에 적용한 결과와 개선 과제를 다룹니다. 조항별 판정과 문항 전문은 부록에 두었습니다.</a:t>
            </a:r>
          </a:p>
          <a:p>
            <a:r>
              <a:t>〔15초. 숫자(16종·55문항·2.85·ML2·3.15)는 4번에서. 화면에서 뺀 세부 — Ⅰ(1장) 이 연구를 한 장으로 · 두 표준에서 서로 비어 있는 곳 · 「LCA를 했다」의 두 상태 · 연구 목적과 연구 문제 / Ⅱ(2장) ISO 14001과 전과정 관점 · LCA의 4단계 · 따른 표준 · 선행연구와 연구 공백 / Ⅲ(3장) LMA 세 계층 · 조항 매핑 · 연계 지점 · 16종 · 55문항과 채점 기준 · 판정 규칙과 핵심 문항 · 한 장 요약과 검증 · 반복 개발 / Ⅳ(4장) 평가를 한 그림으로 · 객관성의 확보 · 영역별 결과 · 종합 판정 ML2 · 결과 요약 / Ⅴ(4.6) 개선 과제 R1~R5 · 개선 로드맵과 재평가 · 장점과 단점, 한계 / 결론(5장) 연구 전체 한 장 요약〕</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논문은 다섯 장이고, 이 그림이 장 사이의 연결입니다.</a:t>
            </a:r>
          </a:p>
          <a:p>
            <a:r>
              <a:t>1장은 왜 이 연구인가입니다. 두 표준이 실무에서 별도로 운영되고 그 연계 수준을 측정하는 기준이 없다는 문제에서 출발해 연구 문제 네 가지를 세웠습니다.</a:t>
            </a:r>
          </a:p>
          <a:p>
            <a:r>
              <a:t>2장은 무엇을 바탕으로 하였는가입니다. 두 표준에서 서로 비어 있는 곳과, 성숙도 평가의 표준과 기법, 선행연구에서 비어 있는 자리를 확인했습니다.</a:t>
            </a:r>
          </a:p>
          <a:p>
            <a:r>
              <a:t>3장은 무엇을 만들었는가입니다. 두 표준의 조항을 하나하나 대응시켜 연계 프로세스 열여섯 가지와 평가 문항 쉰다섯 개, ML0부터 ML5까지의 판정 규칙을 만들고 두 방향으로 검증했습니다. 핵심은 네 지점 가운데 하나라도 빠지면 평균이 높아도 ML3으로 올라가지 못한다는 규칙입니다.</a:t>
            </a:r>
          </a:p>
          <a:p>
            <a:r>
              <a:t>4장은 그 기준을 바꾸지 않고 A사에 적용한 결과입니다. 종합 2.85점이지만 핵심 문항 하나가 미달이라 ML2이고, 낮은 점수의 원인 세 가지에서 개선 과제 다섯 건을 도출했습니다. 다 마치면 3.15점, ML3이 전망됩니다.</a:t>
            </a:r>
          </a:p>
          <a:p>
            <a:r>
              <a:t>5장은 결론입니다. 네 연구 문제에 답하고 기여와 한계, 향후 연구 과제를 적었습니다.</a:t>
            </a:r>
          </a:p>
          <a:p>
            <a:r>
              <a:t>맨 아래 한 줄이 논문 전체입니다. 연계, 모델링, 평가, 지속적 개선, 환경영향 저감입니다.</a:t>
            </a:r>
          </a:p>
          <a:p>
            <a:r>
              <a:t>〔1분 30초. 장별 요약 전문은 백업 57·58. 세부(네 질문·서른 개 조항)는 말하지 않고, 물으면 참고 상자로.〕</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먼저 이 연구를 한 장으로 말씀드리겠습니다.</a:t>
            </a:r>
          </a:p>
          <a:p>
            <a:r>
              <a:rPr sz="1200">
                <a:latin typeface="맑은 고딕"/>
              </a:rPr>
              <a:t>왼쪽 환경경영시스템(ISO 14001)은 회사가 환경을 관리하는 틀입니다. 환경측면을 결정하고, 그 영향을 평가해 중대한 환경측면을 결정하고, 그것을 환경목표에 반영해 실행하고, 점검하여 지속적으로 개선합니다.</a:t>
            </a:r>
          </a:p>
          <a:p>
            <a:r>
              <a:rPr sz="1200">
                <a:latin typeface="맑은 고딕"/>
              </a:rPr>
              <a:t>오른쪽 전과정평가(LCA)는 제품이 원료 채취, 설계, 생산, 운송과 배송, 사용, 폐기의 각 단계에서 환경에 주는 영향을 숫자로 계산해 영향이 가장 큰 단계, 이것을 핫스팟이라 하는데, 그것을 찾는 방법입니다.</a:t>
            </a:r>
          </a:p>
          <a:p>
            <a:r>
              <a:rPr sz="1200">
                <a:latin typeface="맑은 고딕"/>
              </a:rPr>
              <a:t>두 표준은 별개의 표준이라 한쪽이 다른 쪽을 요구하지 않습니다. 그래서 실무에서는 별도로 운영되는 경우가 많습니다. LCA 보고서를 받아 놓고 경영시스템에서는 쓰지 않는 식입니다.</a:t>
            </a:r>
          </a:p>
          <a:p>
            <a:r>
              <a:rPr sz="1200">
                <a:latin typeface="맑은 고딕"/>
              </a:rPr>
              <a:t>이 연구는 두 표준의 연계를 조항 단위로 확인하고 성숙도 수준으로 판정하는 모델을 만든 것입니다. 연계란 LCA 결과가 환경측면의 결정, 환경목표, 설계·개발, 모니터링에 쓰인다는 뜻이고, 판정 결과는 여섯 수준으로 나옵니다.</a:t>
            </a:r>
          </a:p>
          <a:p>
            <a:r>
              <a:rPr sz="1200">
                <a:latin typeface="맑은 고딕"/>
              </a:rPr>
              <a:t>배경으로는 제품 전과정의 환경정보를 요구하는 규제가 늘고 있다는 점이 있습니다.</a:t>
            </a:r>
          </a:p>
          <a:p>
            <a:r>
              <a:rPr sz="1200">
                <a:latin typeface="맑은 고딕"/>
              </a:rPr>
              <a:t>〔1분. 「ISO 14001은 많이 쓰이나」가 나오면 — 국내 유효 인증 28,137건, 세계 676,232건(ISO Survey 2024), 2.1.1. CBAM·ESG 공시는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14001은 환경측면의 결정에서 전과정 관점을 고려하도록 요구하되 정량적 평가 방법을 정하지 않았고, 전과정평가(LCA) 표준인 ISO 14044는 계산 방법을 정하되 언제 다시 할지는 정하지 않았습니다. 두 표준은 서로 비어 있는 곳을 상대가 채울 수 있습니다.</a:t>
            </a:r>
          </a:p>
          <a:p>
            <a:r>
              <a:rPr sz="1200">
                <a:latin typeface="맑은 고딕"/>
              </a:rPr>
              <a:t>아래 두 수치로 규모의 차이를 보실 수 있습니다. 환경경영시스템(ISO 14001) 유효 인증은 국내 28,137건으로 세계 2위이고, LCA 수행을 전제하는 환경성적표지 유효 인증은 707개 기업입니다. 두 체계를 함께 운영하는 조직은 아직 제한적입니다.</a:t>
            </a:r>
          </a:p>
          <a:p>
            <a:r>
              <a:rPr sz="1200">
                <a:latin typeface="맑은 고딕"/>
              </a:rPr>
              <a:t>그런데 「LCA를 했다」는 말은 두 가지 상태를 가립니다. 다음 장에서 말씀드리겠습니다.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같은 「LCA를 했다」에도 두 상태가 있습니다.</a:t>
            </a:r>
          </a:p>
          <a:p>
            <a:r>
              <a:rPr sz="1200">
                <a:latin typeface="맑은 고딕"/>
              </a:rPr>
              <a:t>왼쪽 상태 A는 보고서를 한 번 받아 두고 끝내는 회사입니다. LCA 결과가 경영시스템의 결정에 쓰이지 않습니다.</a:t>
            </a:r>
          </a:p>
          <a:p>
            <a:r>
              <a:rPr sz="1200">
                <a:latin typeface="맑은 고딕"/>
              </a:rPr>
              <a:t>오른쪽 상태 B는 LCA 결과를 받아 중대한 환경측면을 정하고, 환경목표를 세우고, 다음 해에 다시 측정해 확인하는 회사입니다. LCA가 경영시스템을 돌리는 입력이 됩니다.</a:t>
            </a:r>
          </a:p>
          <a:p>
            <a:r>
              <a:rPr sz="1200">
                <a:latin typeface="맑은 고딕"/>
              </a:rPr>
              <a:t>본 연구가 말하는 연계는 상태 B입니다. 있다 없다가 아니라 정도의 문제이고, 그 정도를 판정하는 것이 성숙도 모델입니다.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본 연구의 목적은 환경경영시스템(ISO 14001)과 전과정평가(LCA)의 프로세스를 연계한 모델을 개발하고, 이를 기준으로 조직의 연계 성숙도를 평가하며, 그 결과를 개선 과제로 도출하여 조직의 환경경영시스템(ISO 14001)을 효과적으로 개선하는 데 있습니다. 곧 연계, 모델링, 성숙도 평가, 개선의 순서입니다.</a:t>
            </a:r>
          </a:p>
          <a:p>
            <a:r>
              <a:rPr sz="1200">
                <a:latin typeface="맑은 고딕"/>
              </a:rPr>
              <a:t>네 가지 연구 문제는 이 네 가지 목적과 같은 순서로, RQ1은 연계에, RQ2와 RQ3은 모델링에, RQ4는 평가와 개선에 해당합니다. 또한 각 연구 문제는 앞의 문제에 답해야 다음 문제를 제기할 수 있는 순서로 구성하였습니다. 오늘 발표도 이 순서를 따릅니다.</a:t>
            </a:r>
          </a:p>
          <a:p>
            <a:r>
              <a:rPr sz="1200">
                <a:latin typeface="맑은 고딕"/>
              </a:rPr>
              <a:t>먼저 두 표준이 어떤 구조인지 짧게 보겠습니다.</a:t>
            </a:r>
          </a:p>
          <a:p>
            <a:r>
              <a:rPr sz="1200">
                <a:latin typeface="맑은 고딕"/>
              </a:rPr>
              <a:t>〔왼쪽 흐름도의 여섯 단계와 연구 문제의 대응만 짚고 넘어간다. 1분〕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조항 구조입니다. 4절 조직 상황부터 10절 개선까지 일곱 묶음이 계획–실행–점검–조치로 돕니다.</a:t>
            </a:r>
          </a:p>
          <a:p>
            <a:r>
              <a:rPr sz="1200">
                <a:latin typeface="맑은 고딕"/>
              </a:rPr>
              <a:t>빨간 칸 네 곳이 「전과정 관점을 고려하라」고 요구하는 자리입니다. 환경측면(6.1.2), 환경목표(6.2.1), 운용(8.1), 모니터링(9.1.1)입니다.</a:t>
            </a:r>
          </a:p>
          <a:p>
            <a:r>
              <a:rPr sz="1200">
                <a:latin typeface="맑은 고딕"/>
              </a:rPr>
              <a:t>그런데 「어떻게」 고려하는지는 이 표준 안에 없습니다. 그 방법이 아래 노란 상자, 전과정평가(LCA) 표준인 ISO 14044입니다. 다음 장입니다.</a:t>
            </a:r>
          </a:p>
          <a:p>
            <a:r>
              <a:rPr sz="1200">
                <a:latin typeface="맑은 고딕"/>
              </a:rPr>
              <a:t>〔뒤에서 핵심 문항 4종이 놓이는 자리가 이 네 칸. 1분〕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LCA는 네 단계입니다. 왼쪽 위에서 아래로, 무엇을 얼마나 볼지 정하고, 들어가고 나오는 것을 세고, 그것이 환경에 미치는 영향을 계산합니다. 오른쪽 해석은 세 단계 모두와 오가며 결론을 냅니다.</a:t>
            </a:r>
          </a:p>
          <a:p>
            <a:r>
              <a:rPr sz="1200">
                <a:latin typeface="맑은 고딕"/>
              </a:rPr>
              <a:t>한 번의 평가는 이 안에서 끝납니다. 그런데 「언제 다시 하는가」는 이 표준에 없습니다.</a:t>
            </a:r>
          </a:p>
          <a:p>
            <a:r>
              <a:rPr sz="1200">
                <a:latin typeface="맑은 고딕"/>
              </a:rPr>
              <a:t>그래서 두 표준을 연계하고 그 수준을 측정하려면 성숙도 모델의 방법을 적용해야 합니다.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모델의 뼈대는 모두 표준에서 가져왔습니다.</a:t>
            </a:r>
          </a:p>
          <a:p>
            <a:r>
              <a:rPr sz="1200">
                <a:latin typeface="맑은 고딕"/>
                <a:ea typeface="맑은 고딕"/>
              </a:rPr>
              <a:t>측정 대상은 환경경영시스템(ISO 14001)과 전과정평가(LCA)의 연계입니다.</a:t>
            </a:r>
          </a:p>
          <a:p>
            <a:r>
              <a:rPr sz="1200">
                <a:latin typeface="맑은 고딕"/>
                <a:ea typeface="맑은 고딕"/>
              </a:rPr>
              <a:t>세 가지를 각각 어느 표준에서 가져왔는지 말씀드리면, 업무를 적는 형식은 ISO/IEC 33004와 KS X ISO 8000-61에서, 채점의 틀은 ISO/IEC 33020과 33003에서, 점수를 수준으로 바꾸는 원리는 KS X ISO 8000-62와 ISO/IEC 33004에서 가져왔습니다. 평가의 수행은 ISO/IEC 33002를 따랐습니다.</a:t>
            </a:r>
          </a:p>
          <a:p>
            <a:r>
              <a:rPr sz="1200">
                <a:latin typeface="맑은 고딕"/>
                <a:ea typeface="맑은 고딕"/>
              </a:rPr>
              <a:t>판정 구조는 KS X ISO 8000-62를, 모델 형식과 평가 방법은 ISO/IEC 33000 계열을 따랐고, 그 적용 선례는 국내 공공데이터 연구입니다.</a:t>
            </a:r>
          </a:p>
          <a:p>
            <a:r>
              <a:rPr sz="1200">
                <a:latin typeface="맑은 고딕"/>
                <a:ea typeface="맑은 고딕"/>
              </a:rPr>
              <a:t>그러면 이 대상을 다룬 연구는 이미 있었는지, 다음 장에서 보겠습니다.</a:t>
            </a:r>
          </a:p>
          <a:p>
            <a:r>
              <a:rPr sz="1200">
                <a:latin typeface="맑은 고딕"/>
                <a:ea typeface="맑은 고딕"/>
              </a:rPr>
              <a:t>〔조항 번호는 읽지 않는다 — 백업 B-2 [그림 1-3]·[표 1-1]. 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선행연구를 두 축으로 봤습니다.</a:t>
            </a:r>
          </a:p>
          <a:p>
            <a:r>
              <a:rPr sz="1200">
                <a:latin typeface="맑은 고딕"/>
              </a:rPr>
              <a:t>왼쪽 방법론 축은 소프트웨어·데이터 분야에서 성숙도를 어떻게 판정하는지 보여 줍니다. 판정 원리는 여기서 가져왔습니다.</a:t>
            </a:r>
          </a:p>
          <a:p>
            <a:r>
              <a:rPr sz="1200">
                <a:latin typeface="맑은 고딕"/>
              </a:rPr>
              <a:t>오른쪽 분야 축은 환경 분야의 성숙도 모델들입니다. 환경경영 운영, 제품 설계, LCA 활용을 각각 다루었지만, 두 표준의 연계 자체를 조항 단위로 판정한 모델은 없었습니다.</a:t>
            </a:r>
          </a:p>
          <a:p>
            <a:r>
              <a:rPr sz="1200">
                <a:latin typeface="맑은 고딕"/>
              </a:rPr>
              <a:t>그 빈자리에 무엇을 만들었는지 말씀드리겠습니다.</a:t>
            </a:r>
          </a:p>
          <a:p>
            <a:r>
              <a:rPr sz="1200">
                <a:latin typeface="맑은 고딕"/>
              </a:rPr>
              <a:t>〔선행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만든 모델을 그림으로 말씀드리겠습니다.</a:t>
            </a:r>
          </a:p>
          <a:p>
            <a:r>
              <a:rPr sz="1200">
                <a:latin typeface="맑은 고딕"/>
              </a:rPr>
              <a:t>위에 두 표준이 있습니다. 환경경영시스템(ISO 14001)의 조항 30개와 전과정평가(LCA)의 요구사항을 하나하나 대응시켰습니다. 이것이 매핑입니다. 맞닿는 곳이 연계 지점이고, 그 가운데 꼭 있어야 할 네 곳이 핵심 연계 지점입니다.</a:t>
            </a:r>
          </a:p>
          <a:p>
            <a:r>
              <a:rPr sz="1200">
                <a:latin typeface="맑은 고딕"/>
              </a:rPr>
              <a:t>그 아래가 만든 것 세 가지입니다. 첫째, 참조 모델은 평가할 업무 목록입니다. 연계 지점을 업무 단위로 묶어 열여섯 가지로 적었습니다. 둘째, 평가 모델은 채점표입니다. 업무마다 되어 있는가를 묻는 문항 쉰다섯 개와, 확인할 항목, 몇 점으로 볼지의 기준입니다. 셋째, 성숙도 모델은 수준 규칙입니다. 점수를 ML0부터 ML5까지 여섯 수준으로 바꾸는 규칙이고, 핵심 문항 네 가지는 하나라도 빠지면 ML2에서 멈춥니다.</a:t>
            </a:r>
          </a:p>
          <a:p>
            <a:r>
              <a:rPr sz="1200">
                <a:latin typeface="맑은 고딕"/>
              </a:rPr>
              <a:t>이 셋을 합쳐 연계 성숙도 평가 모델, 영문으로 Linkage Maturity Assessment, 줄여서 LMA라고 합니다. 결과는 회사의 연계가 어느 수준에 있는가입니다.</a:t>
            </a:r>
          </a:p>
          <a:p>
            <a:r>
              <a:rPr sz="1200">
                <a:latin typeface="맑은 고딕"/>
              </a:rPr>
              <a:t>만든 뒤에는 두 방향으로 검증하였습니다. 문항마다 어느 조항에서 왔는지 따라가는 추적성 검증과, 국제표준 요건 24건을 자체점검한 표준 적합성 검증입니다.</a:t>
            </a:r>
          </a:p>
          <a:p>
            <a:r>
              <a:rPr sz="1200">
                <a:latin typeface="맑은 고딕"/>
              </a:rPr>
              <a:t>이제 하나씩 보겠습니다. 먼저 두 표준의 조항을 어떻게 대응시켰는지입니다.</a:t>
            </a:r>
          </a:p>
          <a:p>
            <a:r>
              <a:rPr sz="1200">
                <a:latin typeface="맑은 고딕"/>
              </a:rPr>
              <a:t>〔논문 [그림 3-2] 전체는 백업 B-7.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ISO 14001의 모든 조항, 서른 개에 같은 네 가지 질문을 같은 순서로 물었습니다. 전과정 관점을 요구하거나 그 결과를 직접 쓰는가, LCA 없이는 의무를 다 지킬 수 없는가, LCA 결과가 주요 입력인가, 보조 정보라도 주는가입니다.</a:t>
            </a:r>
          </a:p>
          <a:p>
            <a:r>
              <a:rPr sz="1200">
                <a:latin typeface="맑은 고딕"/>
                <a:ea typeface="맑은 고딕"/>
              </a:rPr>
              <a:t>「예」가 앞쪽 물음에서 나올수록 연계 가능성이 높고, 네 등급으로 매겼습니다.</a:t>
            </a:r>
          </a:p>
          <a:p>
            <a:r>
              <a:rPr sz="1200">
                <a:latin typeface="맑은 고딕"/>
                <a:ea typeface="맑은 고딕"/>
              </a:rPr>
              <a:t>매우 높음이 네 개 조항입니다. 환경측면 6.1.2, 환경목표 6.2.1, 운용기획 및 관리 8.1, 모니터링 9.1.1입니다. 이 네 곳이 뒤의 핵심 문항 4종의 자리가 됩니다. 높음이 열둘, 중간이 열, 낮음이 넷입니다.</a:t>
            </a:r>
          </a:p>
          <a:p>
            <a:r>
              <a:rPr sz="1200">
                <a:latin typeface="맑은 고딕"/>
                <a:ea typeface="맑은 고딕"/>
              </a:rPr>
              <a:t>매핑의 결과가 연계 지점입니다. 두 표준이 결합하는 지점이고, 그 가운데 꼭 있어야 할 네 곳이 핵심 연계 지점으로 뒤의 핵심 문항 4종이 됩니다. 연계 지점을 업무 단위로 묶으면 연계 프로세스 열여섯 가지, 그 업무가 되어 있는지 묻는 것이 쉰다섯 문항입니다.
이 네 조항이 두 표준의 관리 주기 어디에서 만나는지, 다음 장에서 보겠습니다.</a:t>
            </a:r>
          </a:p>
          <a:p>
            <a:r>
              <a:rPr sz="1200">
                <a:latin typeface="맑은 고딕"/>
                <a:ea typeface="맑은 고딕"/>
              </a:rPr>
              <a:t>〔「전조항을 매핑했는데 핵심은 4개뿐인가」 → 매핑(30조항) → 55문항·16종 → 연계 성립 지점 4곳. 등급별 판정 요건 전문은 백업 B-1a, 흐름은 B-1. 1분 30초〕</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왼쪽이 환경경영시스템(ISO 14001)의 관리 주기, 오른쪽이 전과정평가(LCA)의 4단계입니다. 선이 두 표준이 맞닿는 곳, 곧 연계 지점입니다.</a:t>
            </a:r>
          </a:p>
          <a:p>
            <a:r>
              <a:rPr sz="1200">
                <a:latin typeface="맑은 고딕"/>
              </a:rPr>
              <a:t>그 가운데 굵은 선 네 개가 핵심 연계 지점입니다. 오른쪽에 풀어 두었습니다.</a:t>
            </a:r>
          </a:p>
          <a:p>
            <a:r>
              <a:rPr sz="1200">
                <a:latin typeface="맑은 고딕"/>
              </a:rPr>
              <a:t>첫째, 환경측면입니다. LCA 영향평가에서 영향이 가장 큰 곳, 핫스팟을 환경측면 결정의 근거로 씁니다. 둘째, 환경목표입니다. 핫스팟을 근거로 숫자 목표를 세웁니다. 셋째, 설계·개발입니다. 설계할 때 LCA 결과를 반영합니다. 넷째, 모니터링입니다. 개선 전과 후를 LCA로 다시 측정해 비교합니다.</a:t>
            </a:r>
          </a:p>
          <a:p>
            <a:r>
              <a:rPr sz="1200">
                <a:latin typeface="맑은 고딕"/>
              </a:rPr>
              <a:t>이 넷 가운데 하나가 끊기면 순환이 그 단계에서 멈춥니다. 그래서 이 넷이 뒤의 핵심 문항 4종이 됩니다.</a:t>
            </a:r>
          </a:p>
          <a:p>
            <a:r>
              <a:rPr sz="1200">
                <a:latin typeface="맑은 고딕"/>
              </a:rPr>
              <a:t>이 지점들을 업무 단위로 묶은 것이 다음 장의 참조 모델입니다.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참조 모델은 평가할 업무 목록, 연계 프로세스 열여섯 가지입니다. 계획 8, 실행 2, 점검 3, 개선 3입니다.</a:t>
            </a:r>
          </a:p>
          <a:p>
            <a:r>
              <a:t>계획 영역은 연계의 전제를 세우는 업무입니다. 조직 상황 및 요구사항 관리, 리더십 및 연계 체계, 전과정 환경측면 결정, 환경목표 및 실행계획 수립, LCA 방법론 관리, 자원·역량·인식, 의사소통 및 외부 보고, 문서화된 정보 관리의 여덟 가지입니다.</a:t>
            </a:r>
          </a:p>
          <a:p>
            <a:r>
              <a:t>실행 영역은 둘입니다. LCA 결과를 설계·개발로 되돌리는 설계·개발 환경 피드백과, 공급망을 포함한 목록분석 데이터를 운용 통제 아래에서 수집·갱신하는 전과정 목록분석 운영입니다.</a:t>
            </a:r>
          </a:p>
          <a:p>
            <a:r>
              <a:t>점검 영역은 전과정 성과 모니터링·측정, 정밀검토, 심사 및 준수평가 연계의 셋이고, 개선 영역은 경영검토 피드백, 지속적 개선 및 사이클 향상, 전과정 결과 보고 및 비교주장 관리의 셋입니다.</a:t>
            </a:r>
          </a:p>
          <a:p>
            <a:r>
              <a:t>업무 하나는 제목·목적·성과·활동의 네 칸으로 적었습니다. 예를 들어 전과정 환경측면 결정은 목적이 「LCIA 결과에 기초하여 전과정 관점의 환경측면과 그 중대성을 결정한다」이고, 성과는 「환경측면이 전과정 관점에서 LCIA에 기초하여 결정된다」입니다. 이 형식은 데이터 품질관리 표준 KS X ISO 8000-61을 따른 것입니다.</a:t>
            </a:r>
          </a:p>
          <a:p>
            <a:r>
              <a:t>빨간 점이 핵심 문항 4종이 들어 있는 자리입니다. 계획에 둘, 실행과 점검에 하나씩입니다.</a:t>
            </a:r>
          </a:p>
          <a:p>
            <a:r>
              <a:t>각 업무의 성과가 되어 있는지 묻는 것이 다음 장의 평가 문항 쉰다섯 개입니다.</a:t>
            </a:r>
          </a:p>
          <a:p>
            <a:r>
              <a:t>〔1분 20초. 16종 이름은 [표 3-4] 그대로, 코드는 읽지 않는다. 「왜 16종인가, 원형은 20종인데」 → 백업 65(B-Q3). 16종 전문은 [표 3-4](45쪽), 백업 40.〕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 모델은 채점표입니다. 문항은 쉰다섯 개이고, 계획 30, 실행 6, 점검 10, 개선 9입니다.</a:t>
            </a:r>
          </a:p>
          <a:p>
            <a:r>
              <a:rPr sz="1200">
                <a:latin typeface="맑은 고딕"/>
              </a:rPr>
              <a:t>채점은 세 단계입니다. 첫째, 문항마다 확인할 항목을 미리 정해 둡니다. 반드시 있어야 할 필수 항목과, 있으면 더 좋은 추가 항목입니다. 이것을 체크포인트라 합니다. 둘째, 회사 문서를 보고 그 항목이 충족되었는지 확인합니다. 말로 설명한 것은 인정하지 않고 문서와 기록만 봅니다. 셋째, 충족한 체크포인트의 개수가 점수입니다. 필수가 전부 있으면 3점, 이것이 기준선입니다. 추가까지 있으면 4점이나 5점, 필수가 빠지면 1점이나 2점입니다.</a:t>
            </a:r>
          </a:p>
          <a:p>
            <a:r>
              <a:rPr sz="1200">
                <a:latin typeface="맑은 고딕"/>
              </a:rPr>
              <a:t>그래서 점수는 평가자의 재량이 아니라 체크포인트 충족 개수로 정해집니다. 평가자가 달라도 같은 문서면 같은 점수가 나오게 한 것입니다.</a:t>
            </a:r>
          </a:p>
          <a:p>
            <a:r>
              <a:rPr sz="1200">
                <a:latin typeface="맑은 고딕"/>
              </a:rPr>
              <a:t>예를 하나 들면 D-1, 설계·개발 단계의 LCA 결과 반영 문항입니다. A사는 필수 세 개 가운데 두 개만 있어 2점이었고, 이 문항이 4장에서 판정을 정하였습니다.</a:t>
            </a:r>
          </a:p>
          <a:p>
            <a:r>
              <a:rPr sz="1200">
                <a:latin typeface="맑은 고딕"/>
              </a:rPr>
              <a:t>점수를 성숙도 수준으로 바꾸는 규칙이 다음 장의 성숙도 모델입니다.</a:t>
            </a:r>
          </a:p>
          <a:p>
            <a:r>
              <a:rPr sz="1200">
                <a:latin typeface="맑은 고딕"/>
              </a:rPr>
              <a:t>〔점수별 기준 전문(BARS 앵커)은 백업 B-10a, 부록 C.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성숙도 모델은 점수를 수준으로 바꾸는 규칙입니다. 수준은 ML0에서 ML5까지 여섯이고, 계단처럼 아래 조건을 모두 갖추어야 위로 올라갑니다.</a:t>
            </a:r>
          </a:p>
          <a:p>
            <a:r>
              <a:rPr sz="1200">
                <a:latin typeface="맑은 고딕"/>
              </a:rPr>
              <a:t>ML1은 핵심 문항 네 가지가 모두 2점 이상, ML2는 거기에 나머지 쉰한 문항 가운데 절반 이상이 3점, ML3은 핵심 문항 네 가지가 모두 3점 이상입니다. ML4와 ML5는 점검과 개선 영역까지 갖추어야 합니다.</a:t>
            </a:r>
          </a:p>
          <a:p>
            <a:r>
              <a:rPr sz="1200">
                <a:latin typeface="맑은 고딕"/>
              </a:rPr>
              <a:t>조건의 어느 항에도 평균은 쓰이지 않습니다. 연계가 성립하지 않는 지점과 연계가 얕은 지점은 다르기 때문에, 연계 성립의 필요조건인 핵심 문항 4종에만 최소충족 판정을 적용하였습니다. 이 원리는 KS X ISO 8000-62에서 가져왔습니다.</a:t>
            </a:r>
          </a:p>
          <a:p>
            <a:r>
              <a:rPr sz="1200">
                <a:latin typeface="맑은 고딕"/>
              </a:rPr>
              <a:t>오른쪽이 핵심 문항 네 가지입니다. 환경측면 결정, 환경목표, 설계·개발, 성과 모니터링입니다. 핵심 문항 하나라도 3점 미만이면 평균이 높아도 ML2에서 멈춥니다. A사가 바로 그 자리입니다.</a:t>
            </a:r>
          </a:p>
          <a:p>
            <a:r>
              <a:rPr sz="1200">
                <a:latin typeface="맑은 고딕"/>
              </a:rPr>
              <a:t>만든 도구가 요건을 갖추었는지 한 장으로 정리하겠습니다.</a:t>
            </a:r>
          </a:p>
          <a:p>
            <a:r>
              <a:rPr sz="1200">
                <a:latin typeface="맑은 고딕"/>
              </a:rPr>
              <a:t>〔진입 조건·설계 근거 표 전문은 백업 B-11a, 수준별 기준은 B-11. 비교주장 조건부 shall(C-7·A-9)은 3.4.3 — 백업 B-Q5. 말로 풀 때만 비유 — 건강검진의 필수 검사(논문에 없음).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모델을 한 장으로 정리하겠습니다. 참조 모델, 평가 모델, 성숙도 모델의 세 계층입니다.</a:t>
            </a:r>
          </a:p>
          <a:p>
            <a:r>
              <a:rPr sz="1200">
                <a:latin typeface="맑은 고딕"/>
              </a:rPr>
              <a:t>참조 모델은 평가할 업무 목록으로, 연계 프로세스 열여섯 가지입니다. 두 표준의 조항을 대응시켜 도출한 것이 새로 만든 것입니다.</a:t>
            </a:r>
          </a:p>
          <a:p>
            <a:r>
              <a:rPr sz="1200">
                <a:latin typeface="맑은 고딕"/>
              </a:rPr>
              <a:t>평가 모델은 채점표로, 평가 문항 쉰다섯 개와 문항별 판정 기준, 객관적 증거 목록입니다. 표준이 평가자에게 맡긴 평가지표를 이 분야에 맞게 개발한 것이 새로 만든 것입니다.</a:t>
            </a:r>
          </a:p>
          <a:p>
            <a:r>
              <a:rPr sz="1200">
                <a:latin typeface="맑은 고딕"/>
              </a:rPr>
              <a:t>성숙도 모델은 수준 규칙으로, ML0부터 ML5까지 여섯 수준과 핵심 문항 4종입니다. 핵심 문항 4종에만 최소충족 판정을 적용한 규칙이 새로 만든 것입니다.</a:t>
            </a:r>
          </a:p>
          <a:p>
            <a:r>
              <a:rPr sz="1200">
                <a:latin typeface="맑은 고딕"/>
              </a:rPr>
              <a:t>검증은 두 방향입니다. 추적성 검증은 쉰다섯 문항을 두 표준의 전 조항 대조에서 나온 근거 조항까지 추적한 것입니다. 표준 적합성 검증은 ISO/IEC 33004 요구사항 24건을 자체 점검한 것으로, 충족 22건, 해당 없음 1건, 보완 1건입니다. 보완 1건은 전문가 합의로, 조사지 설계까지 마쳤고 실시는 향후 연구 과제입니다.</a:t>
            </a:r>
          </a:p>
          <a:p>
            <a:r>
              <a:rPr sz="1200">
                <a:latin typeface="맑은 고딕"/>
              </a:rPr>
              <a:t>한 줄로 말씀드리면, 표준의 틀을 따르고 표준이 정하지 않은 세 곳을 이 연구가 채웠습니다. 이제 이 도구로 한 기업을 평가한 결과입니다.</a:t>
            </a:r>
          </a:p>
          <a:p>
            <a:r>
              <a:rPr sz="1200">
                <a:latin typeface="맑은 고딕"/>
              </a:rPr>
              <a:t>〔따른 표준 전문은 10번·백업 B-2.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4장은 이 모델을 한 회사에 적용한 결과입니다. 평가가 어떻게 흘러갔는지 그림으로 먼저 보겠습니다.</a:t>
            </a:r>
          </a:p>
          <a:p>
            <a:r>
              <a:rPr sz="1200">
                <a:latin typeface="맑은 고딕"/>
              </a:rPr>
              <a:t>첫째, 문서를 받았습니다. 제조기업 A사의 환경경영시스템(ISO 14001)과 2025년 제품 전과정평가(LCA)에 관한 문서 열여섯 종, 서른세 건입니다. 매뉴얼, 절차서, 기록, 보고서입니다.</a:t>
            </a:r>
          </a:p>
          <a:p>
            <a:r>
              <a:rPr sz="1200">
                <a:latin typeface="맑은 고딕"/>
              </a:rPr>
              <a:t>둘째, 채점입니다. 쉰다섯 문항마다 확인 항목이 있는지 보고 채점하였습니다. 잠정 종합점수는 2.89였습니다.</a:t>
            </a:r>
          </a:p>
          <a:p>
            <a:r>
              <a:rPr sz="1200">
                <a:latin typeface="맑은 고딕"/>
              </a:rPr>
              <a:t>셋째, 다시 확인입니다. 잠정 점수를 증빙 문서로 하나씩 대조하였습니다. 올라간 것 일곱, 내려간 것 아홉으로 확정 종합점수는 2.85입니다.</a:t>
            </a:r>
          </a:p>
          <a:p>
            <a:r>
              <a:rPr sz="1200">
                <a:latin typeface="맑은 고딕"/>
              </a:rPr>
              <a:t>넷째, 판정입니다. 핵심 문항 네 가지를 확인하니 D-1이 2점이었고, 판정은 ML2, 관리화입니다.</a:t>
            </a:r>
          </a:p>
          <a:p>
            <a:r>
              <a:rPr sz="1200">
                <a:latin typeface="맑은 고딕"/>
              </a:rPr>
              <a:t>다섯째, 개선입니다. 낮은 점수의 원인 세 가지에서 개선 과제 다섯 건을 도출하였고, 모두 마치면 3.15, ML3이 전망됩니다.</a:t>
            </a:r>
          </a:p>
          <a:p>
            <a:r>
              <a:rPr sz="1200">
                <a:latin typeface="맑은 고딕"/>
              </a:rPr>
              <a:t>평가는 문서 심사만으로, 평가자 한 명이, 2026년 6월과 7월에 수행하였습니다. ISO/IEC 33002의 평가 클래스 3에 상당하는 연구 목적의 시범 적용이며, 회사에 공식 성숙도 등급을 주는 평가가 아닙니다. 목적은 모델의 판정 논리가 실제 자료에서 작동하는지 확인하는 것입니다.</a:t>
            </a:r>
          </a:p>
          <a:p>
            <a:r>
              <a:rPr sz="1200">
                <a:latin typeface="맑은 고딕"/>
              </a:rPr>
              <a:t>평가자가 한 사람이므로 객관성을 어떻게 확보하였는지 먼저 말씀드리겠습니다.</a:t>
            </a:r>
          </a:p>
          <a:p>
            <a:r>
              <a:rPr sz="1200">
                <a:latin typeface="맑은 고딕"/>
              </a:rPr>
              <a:t>〔「회사가 쓰겠다던가」 → 백업 B-Q9.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평가자가 한 사람이라 객관성을 두 가지로 확보하였습니다.</a:t>
            </a:r>
          </a:p>
          <a:p>
            <a:r>
              <a:rPr sz="1200">
                <a:latin typeface="맑은 고딕"/>
              </a:rPr>
              <a:t>첫째, 규칙을 미리 정해 두었습니다. 말로만 한 것은 인정하지 않고, 양식만 있고 기입이 없으면 미충족, 판단이 어려우면 미충족입니다. 증빙은 체크포인트 단위로 적어 두어 제3자가 다시 볼 수 있게 하였습니다.</a:t>
            </a:r>
          </a:p>
          <a:p>
            <a:r>
              <a:rPr sz="1200">
                <a:latin typeface="맑은 고딕"/>
              </a:rPr>
              <a:t>둘째, 잠정 점수를 증빙 문서로 하나씩 다시 확인하였습니다. 올라간 것이 일곱 건, 내려간 것이 아홉 건이고, 종합점수는 2.89에서 2.85로 낮아졌습니다. 재검증이 점수가 후해지는 것을 막는 방향으로 작동한 것입니다.</a:t>
            </a:r>
          </a:p>
          <a:p>
            <a:r>
              <a:rPr sz="1200">
                <a:latin typeface="맑은 고딕"/>
              </a:rPr>
              <a:t>평가자가 이 회사의 환경경영 업무를 지원한 이력은 공평성 고려 사항으로 밝혔고, 판정은 회사가 만든 기록의 실재만을 근거로 하였습니다.</a:t>
            </a:r>
          </a:p>
          <a:p>
            <a:r>
              <a:rPr sz="1200">
                <a:latin typeface="맑은 고딕"/>
              </a:rPr>
              <a:t>아래는 평가 기록부의 실제 기입으로, 핵심 문항 네 가지만 발췌한 것입니다. D-1 행이 뒤의 판정을 정합니다.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영역 평점은 계획 3.23, 실행 3.00, 점검 2.10, 개선 2.33이고, 종합점수는 2.85입니다. 55문항 중 39문항이 3점 이상이고 5점에 도달한 문항은 없습니다.</a:t>
            </a:r>
          </a:p>
          <a:p>
            <a:r>
              <a:rPr sz="1200">
                <a:latin typeface="맑은 고딕"/>
              </a:rPr>
              <a:t>영역별 평점이 계획·실행은 3점 이상, 점검·개선은 2점대로 나뉩니다. 전과정평가(LCA) 결과가 환경측면과 목표에는 반영되나 검토·재수행으로는 이어지지 않는 A사의 연계 상태를 나타냅니다.</a:t>
            </a:r>
          </a:p>
          <a:p>
            <a:r>
              <a:rPr sz="1200">
                <a:latin typeface="맑은 고딕"/>
              </a:rPr>
              <a:t>다만 종합점수는 판정에 쓰지 않는 보조값이고, 판정은 핵심 문항이 정합니다. 다음 장입니다.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핵심 문항 4종 중 P-9는 4점, P-14와 C-1은 3점으로 shall 충족 기준 이상으로 통과하였으나, D-1이 2점으로 미달하였습니다.</a:t>
            </a:r>
          </a:p>
          <a:p>
            <a:r>
              <a:rPr sz="1200">
                <a:latin typeface="맑은 고딕"/>
                <a:ea typeface="맑은 고딕"/>
              </a:rPr>
              <a:t>판정 경로는 아래 조건부터 차례로 묻습니다. ML1 진입 조건, 핵심 문항 4종이 모두 2점 이상이어서 통과입니다. ML2 진입 조건, 나머지 쉰한 문항 가운데 절반 이상이 3점이어서 통과입니다. 서른여섯, 70.6%입니다. ML3 진입 조건, 핵심 문항 4종이 모두 3점 이상이어야 하는데 D-1이 2점이라 미충족입니다. 그래서 판정은 ML2, 관리화입니다.</a:t>
            </a:r>
          </a:p>
          <a:p>
            <a:r>
              <a:rPr sz="1200">
                <a:latin typeface="맑은 고딕"/>
                <a:ea typeface="맑은 고딕"/>
              </a:rPr>
              <a:t>종합점수 2.85는 판정에 쓰지 않는 보조값입니다. 과반 기준을 50%에서 70%로 올려도, 핵심 문항의 기준을 4점이나 5점으로 올려도 이 판정은 변하지 않습니다.</a:t>
            </a:r>
          </a:p>
          <a:p>
            <a:r>
              <a:rPr sz="1200">
                <a:latin typeface="맑은 고딕"/>
                <a:ea typeface="맑은 고딕"/>
              </a:rPr>
              <a:t>판정은 점수의 크기가 아니라 핵심 문항의 충족 여부로 정해집니다. 그러면 낮은 점수는 어디에서 왔는지, 다음 장에서 보겠습니다.</a:t>
            </a:r>
          </a:p>
          <a:p>
            <a:r>
              <a:rPr sz="1200">
                <a:latin typeface="맑은 고딕"/>
                <a:ea typeface="맑은 고딕"/>
              </a:rPr>
              <a:t>〔「너무 가혹하지 않은가」 → 백업 B-Q1. 영역별 그래프는 백업 B-13a.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결과를 한 장으로 모았습니다. 가운데 2.85가 종합점수이고, 네 칸이 계획·실행·점검·개선입니다.</a:t>
            </a:r>
          </a:p>
          <a:p>
            <a:r>
              <a:rPr sz="1200">
                <a:latin typeface="맑은 고딕"/>
              </a:rPr>
              <a:t>왼쪽 초록 상자가 강점입니다. LCA가 문서 체계에 들어와 있습니다. 오른쪽 빨간 상자가 미비 사항 3건입니다. 설계·개발 절차에 환경 고려 단계가 없고, 정밀검토 체계가 없고, LCA를 다시 할 때가 아직 오지 않았습니다.</a:t>
            </a:r>
          </a:p>
          <a:p>
            <a:r>
              <a:rPr sz="1200">
                <a:latin typeface="맑은 고딕"/>
              </a:rPr>
              <a:t>낮은 점수는 이 세 가지로 모입니다. 역량의 문제가 아니라 절차를 공식화하고 주기가 오는 문제입니다.</a:t>
            </a:r>
          </a:p>
          <a:p>
            <a:r>
              <a:rPr sz="1200">
                <a:latin typeface="맑은 고딕"/>
              </a:rPr>
              <a:t>아래 띠가 판정 경로입니다. ML1, ML2는 통과하고 ML3에서 D-1 하나에 걸려 ML2입니다. 이 세 가지 미비가 그대로 개선 과제가 됩니다.</a:t>
            </a:r>
          </a:p>
          <a:p>
            <a:r>
              <a:rPr sz="1200">
                <a:latin typeface="맑은 고딕"/>
              </a:rPr>
              <a:t>〔2.85 → ML2 → R1~R5 → 3.15 → ML3.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미비 사항 3건에 대응하는 개선 과제 5건을 도출하였습니다. 과제마다 무엇을, 어느 부서가, 언제 할지와 대상 문항, 점수 효과를 적었습니다.</a:t>
            </a:r>
          </a:p>
          <a:p>
            <a:r>
              <a:rPr sz="1200">
                <a:latin typeface="맑은 고딕"/>
              </a:rPr>
              <a:t>개선 과제의 목표 상태는 평가 문항의 판정 기준과 같은 문구여서, 차기 평가에서 조치 완료 여부를 그대로 판정할 수 있습니다.</a:t>
            </a:r>
          </a:p>
          <a:p>
            <a:r>
              <a:rPr sz="1200">
                <a:latin typeface="맑은 고딕"/>
              </a:rPr>
              <a:t>진단이 채점에서 끝나지 않고 실행 계획으로 이어지는 것입니다. 과제를 추진 시기로 배치한 것이 개선 로드맵입니다.</a:t>
            </a:r>
          </a:p>
          <a:p>
            <a:r>
              <a:rPr sz="1200">
                <a:latin typeface="맑은 고딕"/>
              </a:rPr>
              <a:t>〔과제별 1매 카드는 백업 B-14.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개선 과제를 시기별로 늘어놓은 로드맵입니다. 왼쪽부터 단기 1년, 중기 3년, 장기입니다. 1년은 A사의 LCA 재수행 주기, 3년은 인증 갱신 주기입니다.</a:t>
            </a:r>
          </a:p>
          <a:p>
            <a:r>
              <a:rPr sz="1200">
                <a:latin typeface="맑은 고딕"/>
              </a:rPr>
              <a:t>빨간 R3, 설계·개발 절차서 제정이 판정을 바꾸는 과제입니다. 다섯 과제를 다 마치면 아래 표처럼 종합 3.15, 핵심 문항 4종 모두 통과로 ML3이 전망됩니다. 다만 이것은 지금 점수로 다시 계산한 것이지 실제 이행 결과는 아닙니다.</a:t>
            </a:r>
          </a:p>
          <a:p>
            <a:r>
              <a:rPr sz="1200">
                <a:latin typeface="맑은 고딕"/>
              </a:rPr>
              <a:t>평가와 개선과 재평가가 같은 말로 이어집니다. 끝으로 이 모델의 장점과 단점, 한계입니다.</a:t>
            </a:r>
          </a:p>
          <a:p>
            <a:r>
              <a:rPr sz="1200">
                <a:latin typeface="맑은 고딕"/>
              </a:rPr>
              <a:t>〔「3.15의 근거」 → 목표 상태가 채점 기준과 같은 문구, [표 4-16]·[표 4-17].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모델의 장점과 단점, 그리고 한계입니다. 장점 여섯, 단점 여섯, 한계 셋입니다.</a:t>
            </a:r>
          </a:p>
          <a:p>
            <a:r>
              <a:t>장점입니다. 문항마다 근거 조항을 따라갈 수 있습니다. 판정 기준을 미리 적어 두어 같은 증거면 같은 점수가 나옵니다. 종합점수에 묻히는 미비를 판정에 드러냅니다. 고칠 목표가 다음 평가 기준과 같은 말이라 평가가 개선과 재평가로 이어집니다. 판정 구조와 평가 방법을 국제표준에서 가져왔습니다. ML3까지는 체계를 갖추는 단계, ML4부터는 숫자로 확인하는 단계로 수준의 뜻을 나누었습니다.</a:t>
            </a:r>
          </a:p>
          <a:p>
            <a:r>
              <a:t>단점입니다. 판정이 핵심 문항 4종에 좌우되는데 그 넷의 선택은 전문가 검토 전입니다. 과반 50% 같은 판정 기준값은 연구자가 정한 값입니다. 55문항을 문서로 확인해야 하고 평가자가 두 분야를 다 알아야 합니다. LCA를 하지 않는 회사는 점수 차이가 잘 나지 않습니다. 미비 하나가 여러 문항 점수에 함께 영향을 주고, 문서 심사라 형식적 이행은 가려내기 어렵습니다. 성숙도 수준과 실제 환경성과의 관계는 검증하지 않았습니다.</a:t>
            </a:r>
          </a:p>
          <a:p>
            <a:r>
              <a:t>한계는 셋입니다. 한 회사, 한 시점, 평가자 한 명입니다. 전문가 타당도 조사는 아직 하지 않았습니다. 가장 높은 두 수준은 사례로 확인하지 못했습니다. 이 셋이 그대로 향후 연구 과제입니다.</a:t>
            </a:r>
          </a:p>
          <a:p>
            <a:r>
              <a:t>끝으로 오늘 말씀드린 것을 한 장으로 정리하겠습니다.</a:t>
            </a:r>
          </a:p>
          <a:p>
            <a:r>
              <a:t>〔1분 30초. 화면 글은 쉬운 말판, 항목 이름은 [표 5-1] 그대로. 장점·단점 전문은 백업 54·55, 한계 여덟 항목은 백업 61. 「환경성과와의 관계」 → 전문 46번.〕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문제에서 방법, 결과, 의의, 한계까지 한 표로 정리하였습니다.</a:t>
            </a:r>
          </a:p>
          <a:p>
            <a:r>
              <a:rPr sz="1200">
                <a:latin typeface="맑은 고딕"/>
              </a:rPr>
              <a:t>두 표준은 서로를 전제하지 않아 현장에서 따로 운영되고, 연계 수준을 측정하는 기준은 찾아보기 어려웠습니다. 두 표준의 전조항을 양방향으로 매핑하여 참조·평가·성숙도의 세 계층으로 모델을 만들고, 두 방향으로 검증하였습니다. 제조기업 A사에 시범 적용한 결과 종합 2.85, 핵심 문항 D-1 미달로 ML2이며, 개선 과제 완수 시 3.15와 ML3이 전망됩니다. 의의는 연계를 조직 단위로 판정하는 척도를 만들고, 평가 결과가 곧 개선 과제로 이어지는 순환 구조를 설계한 것입니다. 한계는 단일 기업, 단일 시점, 단일 평가자입니다.</a:t>
            </a:r>
          </a:p>
          <a:p>
            <a:r>
              <a:rPr sz="1200">
                <a:latin typeface="맑은 고딕"/>
              </a:rPr>
              <a:t>맨 아래 한 줄이 논문 전체입니다. 연계, 모델링, 평가, 지속적 개선, 환경영향 저감입니다.</a:t>
            </a:r>
          </a:p>
          <a:p>
            <a:r>
              <a:rPr sz="1200">
                <a:latin typeface="맑은 고딕"/>
              </a:rPr>
              <a:t>〔덧붙이지 않는다. 다음 장에서 마지막 문장. 1분〕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환경경영시스템(ISO 14001)과 전과정평가(LCA)는 각각 성숙한 표준이나 서로를 전제하지 않습니다.</a:t>
            </a:r>
          </a:p>
          <a:p>
            <a:r>
              <a:rPr sz="1200">
                <a:latin typeface="맑은 고딕"/>
              </a:rPr>
              <a:t>본 연구는 두 표준의 연계를 조항 단위로 확인하고 성숙도 수준으로 판정하며 개선 과제로 연결하는 연계 성숙도 평가 모델(LMA)을 개발하고, 이를 한 기업에 적용하여 작동함을 확인하였습니다.</a:t>
            </a:r>
          </a:p>
          <a:p>
            <a:r>
              <a:rPr sz="1200">
                <a:latin typeface="맑은 고딕"/>
              </a:rPr>
              <a:t>두 표준의 조항을 연계하여 LMA를 만들고, 이 모델로 조직을 평가하여, 그 결과를 환경경영시스템(ISO 14001)의 지속적 개선으로 연결함으로써 전과정의 환경영향을 줄이는 데 기여하고자 합니다.</a:t>
            </a:r>
          </a:p>
          <a:p>
            <a:r>
              <a:rPr sz="1200">
                <a:latin typeface="맑은 고딕"/>
              </a:rPr>
              <a:t>이상으로 발표를 마치겠습니다. 감사합니다.</a:t>
            </a:r>
          </a:p>
          <a:p>
            <a:r>
              <a:rPr sz="1200">
                <a:latin typeface="맑은 고딕"/>
              </a:rPr>
              <a:t>〔논문 마지막 문단의 문장. 덧붙이지 않는다. 40초〕</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〔질의응답. 백업은 이때 쓴다 — 30번 구분 슬라이드 뒤 B-1~B-17 그림·표, B-0 장별 요약, B-Q1~B-Q13 예상 질문. 전문은 예상 질문 v7(48문).〕</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구분용. 발표에서는 넘긴다.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매핑의 판정 질문 Q1~Q4가 어떻게 이어지는지를 묻는 경우. 논문의 [그림 3-3](Q1 = 전과정 관점의 명시적 요구 또는 그 결과의 직접 입력). 그림은 ISO 14001 조항에서 LCA로의 판정이며, ISO 14044 조항에서 ISO 14001로의 대응은 부록 A.2. 3.2.2, [표 3-2].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표준들의 상하 관계를 한 번에 보여 달라는 경우. 무엇을·어떻게 측정·어떻게 수행의 3단과 오른쪽 문장·용어·운영 준거. 1.3.3 [표 1-1], [그림 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조항이 PDCA에 어떻게 배열되는지를 묻는 경우. 이 편성이 55문항을 P·D·C·A 네 영역으로 나눈 원리다. 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경영시스템과의 관계를 묻는 경우. 왼쪽이 공통 구조(4~10절), 오른쪽이 분야별 추가 요구사항. 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수준이 오르면 무엇이 달라지느냐는 물음. 아래 띠가 P·D·C·A ↔ LCA 4단계의 네 대응과 요구 수준, 위 계단이 ML0~ML5. 2.3, [그림 2-5], [표 3-8].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구조·평가 내용·기법과 도구의 관계를 묻는 경우. 3.1.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[그림 3-2]. 세 계층과 입력(두 표준·조항 매핑)·출력(개선 과제·성숙도 수준)을 묻는 경우. 3.1.2.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품질 표준을 왜 환경에 쓰느냐는 물음. 실행·데이터 관련 지원·자원 제공 프로세스, 실행은 PDCA 형태 — 본 모델 P·D·C·A 편성의 참조 원형. 2.4, 3.1.1, [그림 3-5].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규칙의 순서를 그림으로 묻는 경우. [표 3-7]의 조건을 위에서 아래로 적용. 3.4.3, [그림 3-9].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규칙·수준 진입 조건·수준별 기준의 관계. 3.4, [그림 3-10].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3-8]. ML3까지는 체계의 확립, ML4부터는 재수행에 의한 정량 검증 — 수준의 상승이 무엇을 뜻하는지가 여기에 정해져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조건의 순서대로 적용한 결과가 확정 판정(ML2)과 전망(ML3·3.15)과 일치함을 보이는 표. 4.6.2, [표 4-17].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강점과 미비를 함께 물을 때. 미비는 역량이 아니라 절차의 공식화와 주기 도래에 있다. 4.5.1, [그림 4-4].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4-9].</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장점. 5.2.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단점. 5.2.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「24건 중 1건이 보완인데 그대로 두어도 되는가」 — 보완으로 남긴 항목이 무엇이고 왜 남았는지를 자체점검표에 그대로 적었다. 충족으로 바꾸어 적지 않고 미충족 상태를 드러내는 것이 자체 점검의 취지에 맞다고 보았다. 3.5.2, [표 3-9], 부록 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13번에서 뺀 [표 3-2] 네 등급·판정 요건·해당 조항 전문. 「높음·중간·낮음에 어떤 조항이 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전체 — 인쇄 배포용. 화면에서는 작다.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전체 — 11·12번은 이 그림의 가운데·위 띠. 인쇄 배포용.</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 수행의 경과(모델 개발 · 사례 평가 · 개선 수립)와 RQ1~RQ4의 답. 논문 [그림 5-1].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 학문적 기여 세 가지, 실무적 기여(55문항 실물 도구와 세 쓰임 — 사례에서 수행된 것은 첫째 쓰임), [표 5-1] 요약, 기대 효과(확인된 것은 아님). 논문 [그림 5-2].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 한계 여덟 항목을 데이터 조건의 경계·심화·유지·고도화·확장·표준화로 나눔. 논문 [그림 5-3].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B-Q2의 그림. 위가 ISO/IEC 33020의 틀(평가 대상 → 무엇을 측정 → 어떻게 측정 → 어떻게 판정), 아래가 본 모델이 같은 네 자리에 놓은 것. 본 모델이 바꾼 것은 셋째 자리의 측정 척도뿐. 2.4.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16번에서 뺀 행동기술척도(BARS) 앵커 표 전문. 「점수 기준을 어떻게 정했나」가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17번에서 뺀 [표 3-7] 진입 조건·설계 근거 표 전문. 「PA.1.1 상당」 같은 근거를 물으면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모델은 한 번에 설계되지 않았습니다. 일곱 단계로 다듬었습니다.</a:t>
            </a:r>
          </a:p>
          <a:p>
            <a:r>
              <a:rPr sz="1200">
                <a:latin typeface="맑은 고딕"/>
                <a:ea typeface="맑은 고딕"/>
              </a:rPr>
              <a:t>2025년 9월에 두 표준 연계의 목적과 범위를 정리하였고, 10월에 ISO 14001 전 조항 검토표와 연계표, 성숙도표를 만들었습니다.</a:t>
            </a:r>
          </a:p>
          <a:p>
            <a:r>
              <a:rPr sz="1200">
                <a:latin typeface="맑은 고딕"/>
                <a:ea typeface="맑은 고딕"/>
              </a:rPr>
              <a:t>2026년 3월에 전조항 분석으로 평가 문항 쉰다섯 개와 판정 포인트를 정했고, 6월에 문항별 체크포인트와 행동기술척도, 곧 BARS 앵커 체계, 핵심 문항 4종을 정하고 잠정 채점을 하였습니다. 7월에 체크포인트 단위로 전수 재검증하여 종합 2.85, ML2로 확정하였습니다.</a:t>
            </a:r>
          </a:p>
          <a:p>
            <a:r>
              <a:rPr sz="1200">
                <a:latin typeface="맑은 고딕"/>
                <a:ea typeface="맑은 고딕"/>
              </a:rPr>
              <a:t>8월에 ISO/IEC 33000 계열과 KS X ISO 8000-61, 8000-62에 대조하여 판정 규칙과 연계 프로세스 16종 편성을 보완하였고, 9월에 지도교수 검토와 용어·구조 정리, 33004 자체점검 24건을 마쳤습니다.</a:t>
            </a:r>
          </a:p>
          <a:p>
            <a:r>
              <a:rPr sz="1200">
                <a:latin typeface="맑은 고딕"/>
                <a:ea typeface="맑은 고딕"/>
              </a:rPr>
              <a:t>표준 대조가 모델을 실제로 보완하였습니다. 최소충족 판정은 KS X ISO 8000-62 4.5.1에서, 수준별 프로세스 집합의 도출 규칙은 ISO/IEC 33004 7.3.6에서, 프로세스 기술 형식은 KS X ISO 8000-61 5.3에서 가져왔습니다.</a:t>
            </a:r>
          </a:p>
          <a:p>
            <a:r>
              <a:rPr sz="1200">
                <a:latin typeface="맑은 고딕"/>
                <a:ea typeface="맑은 고딕"/>
              </a:rPr>
              <a:t>이제 이 도구로 한 기업을 평가한 결과입니다.</a:t>
            </a:r>
          </a:p>
          <a:p>
            <a:r>
              <a:rPr sz="1200">
                <a:latin typeface="맑은 고딕"/>
                <a:ea typeface="맑은 고딕"/>
              </a:rPr>
              <a:t>〔「처음 설계와 무엇이 달라졌나」 → 2025년 10월 성숙도표의 수준 이름이 현행 문항 점수 이름(1~5점)의 유래, 성숙도 수준 이름과는 별개(예상 질문 17번). 55문항을 16종으로 묶은 기준·명칭·경계는 연구자가 확정하고 지도교수 검토(3.2.1 K1~K4). 1분〕</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23번에서 뺀 [그림 4-3] 영역별 평점(현행 · R1~R5 완수 시 재산정)과 핵심 문항 판정. 「영역별로 어디가 낮았나」·「개선 뒤 얼마나 오르나」가 나오면 이 장(26번 표와 같은 수치).</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생성형 AI는 도구로 썼고, 그 범위를 밝히겠습니다. 논문 전체 설계, 55문항과 채점 기준, A사 판정과 개선 과제, 그리고 모든 결정은 제가 했습니다. 두 표준의 전 조항 대조는 일부 AI의 보조를 받아 제가 검토하고 확정했습니다. AI는 제가 세운 구성안과 로드맵의 검토·수정, 55문항을 연계 프로세스 16종으로 편성하는 초안, 표준 원문을 확보한 뒤의 대조 보조, 문장 다듬기와 상호 참조 점검, 그림과 검토표 작성에 썼습니다. 조항을 찾는 데는 AI를 썼고, 논문에 넣은 조항과 인용은 제가 모두 원문에서 확인했습니다. 수치와 판정은 제가 산출하여 지도교수님 검토를 거쳤습니다. 대학원 지침과 심사 안내, 학위수여규정, 서식 6에 생성형 AI 조항이 없음을 확인하여 논문에 별도 표기는 두지 않았습니다.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7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6085440" y="0"/>
            <a:ext cx="4606560" cy="7560000"/>
          </a:xfrm>
          <a:prstGeom prst="rect">
            <a:avLst/>
          </a:prstGeom>
        </p:spPr>
      </p:pic>
      <p:sp>
        <p:nvSpPr>
          <p:cNvPr id="3" name="Rectangle 2"/>
          <p:cNvSpPr/>
          <p:nvPr/>
        </p:nvSpPr>
        <p:spPr>
          <a:xfrm>
            <a:off x="497190" y="2016000"/>
            <a:ext cx="5408250" cy="35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7190" y="1008000"/>
            <a:ext cx="6054496"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박사학위 논문 예비심사</a:t>
            </a:r>
          </a:p>
        </p:txBody>
      </p:sp>
      <p:sp>
        <p:nvSpPr>
          <p:cNvPr id="5" name="TextBox 4"/>
          <p:cNvSpPr txBox="1"/>
          <p:nvPr/>
        </p:nvSpPr>
        <p:spPr>
          <a:xfrm>
            <a:off x="497190" y="2116799"/>
            <a:ext cx="6054496" cy="2419200"/>
          </a:xfrm>
          <a:prstGeom prst="rect">
            <a:avLst/>
          </a:prstGeom>
          <a:noFill/>
        </p:spPr>
        <p:txBody>
          <a:bodyPr wrap="square" anchor="t" lIns="0" rIns="0" tIns="0" bIns="0">
            <a:spAutoFit/>
          </a:bodyPr>
          <a:lstStyle/>
          <a:p>
            <a:pPr>
              <a:spcAft>
                <a:spcPts val="400"/>
              </a:spcAft>
            </a:pPr>
            <a:r>
              <a:rPr sz="2600" b="1" i="0" a:lang="ko-KR">
                <a:solidFill>
                  <a:srgbClr val="1F3864"/>
                </a:solidFill>
                <a:latin typeface="맑은 고딕"/>
                <a:ea typeface="맑은 고딕"/>
              </a:rPr>
              <a:t>환경경영시스템(ISO 14001)과</a:t>
            </a:r>
          </a:p>
          <a:p>
            <a:pPr>
              <a:spcAft>
                <a:spcPts val="400"/>
              </a:spcAft>
            </a:pPr>
            <a:r>
              <a:rPr sz="2600" b="1" i="0" a:lang="ko-KR">
                <a:solidFill>
                  <a:srgbClr val="1F3864"/>
                </a:solidFill>
                <a:latin typeface="맑은 고딕"/>
                <a:ea typeface="맑은 고딕"/>
              </a:rPr>
              <a:t>전과정평가(LCA)의 프로세스</a:t>
            </a:r>
          </a:p>
          <a:p>
            <a:pPr>
              <a:spcAft>
                <a:spcPts val="400"/>
              </a:spcAft>
            </a:pPr>
            <a:r>
              <a:rPr sz="2600" b="1" i="0" a:lang="ko-KR">
                <a:solidFill>
                  <a:srgbClr val="1F3864"/>
                </a:solidFill>
                <a:latin typeface="맑은 고딕"/>
                <a:ea typeface="맑은 고딕"/>
              </a:rPr>
              <a:t>연계 모델 개발 및 성숙도 평가</a:t>
            </a:r>
          </a:p>
        </p:txBody>
      </p:sp>
      <p:sp>
        <p:nvSpPr>
          <p:cNvPr id="6" name="TextBox 5"/>
          <p:cNvSpPr txBox="1"/>
          <p:nvPr/>
        </p:nvSpPr>
        <p:spPr>
          <a:xfrm>
            <a:off x="497190" y="4838400"/>
            <a:ext cx="6054496" cy="1612800"/>
          </a:xfrm>
          <a:prstGeom prst="rect">
            <a:avLst/>
          </a:prstGeom>
          <a:noFill/>
        </p:spPr>
        <p:txBody>
          <a:bodyPr wrap="square" anchor="t" lIns="0" rIns="0" tIns="0" bIns="0">
            <a:spAutoFit/>
          </a:bodyPr>
          <a:lstStyle/>
          <a:p>
            <a:pPr>
              <a:spcAft>
                <a:spcPts val="600"/>
              </a:spcAft>
            </a:pPr>
            <a:r>
              <a:rPr sz="1600" b="0" i="0" a:lang="ko-KR">
                <a:solidFill>
                  <a:srgbClr val="111111"/>
                </a:solidFill>
                <a:latin typeface="맑은 고딕"/>
                <a:ea typeface="맑은 고딕"/>
              </a:rPr>
              <a:t>강원대학교대학원  산업경영공학과</a:t>
            </a:r>
          </a:p>
          <a:p>
            <a:pPr>
              <a:spcAft>
                <a:spcPts val="600"/>
              </a:spcAft>
            </a:pPr>
            <a:r>
              <a:rPr sz="1900" b="1" i="0" a:lang="ko-KR">
                <a:solidFill>
                  <a:srgbClr val="111111"/>
                </a:solidFill>
                <a:latin typeface="맑은 고딕"/>
                <a:ea typeface="맑은 고딕"/>
              </a:rPr>
              <a:t>현 욱 진</a:t>
            </a:r>
          </a:p>
          <a:p>
            <a:r>
              <a:rPr sz="1600" b="0" i="0" a:lang="ko-KR">
                <a:solidFill>
                  <a:srgbClr val="111111"/>
                </a:solidFill>
                <a:latin typeface="맑은 고딕"/>
                <a:ea typeface="맑은 고딕"/>
              </a:rPr>
              <a:t>지도교수  이 창 수</a:t>
            </a:r>
          </a:p>
        </p:txBody>
      </p:sp>
      <p:sp>
        <p:nvSpPr>
          <p:cNvPr id="7" name="TextBox 6"/>
          <p:cNvSpPr txBox="1"/>
          <p:nvPr/>
        </p:nvSpPr>
        <p:spPr>
          <a:xfrm>
            <a:off x="497190" y="6451199"/>
            <a:ext cx="6054496"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2026. 10. 22.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목차</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a:t>
            </a:r>
          </a:p>
        </p:txBody>
      </p:sp>
      <p:sp>
        <p:nvSpPr>
          <p:cNvPr id="5" name="TextBox 4"/>
          <p:cNvSpPr txBox="1"/>
          <p:nvPr/>
        </p:nvSpPr>
        <p:spPr>
          <a:xfrm>
            <a:off x="497190" y="1180000"/>
            <a:ext cx="9695214" cy="5443200"/>
          </a:xfrm>
          <a:prstGeom prst="rect">
            <a:avLst/>
          </a:prstGeom>
          <a:noFill/>
        </p:spPr>
        <p:txBody>
          <a:bodyPr wrap="square" anchor="t" lIns="0" rIns="0" tIns="0" bIns="0">
            <a:spAutoFit/>
          </a:bodyPr>
          <a:lstStyle/>
          <a:p>
            <a:pPr>
              <a:spcAft>
                <a:spcPts val="1800"/>
              </a:spcAft>
            </a:pPr>
            <a:r>
              <a:rPr sz="2800" b="1" i="0" a:lang="ko-KR">
                <a:solidFill>
                  <a:srgbClr val="1F3864"/>
                </a:solidFill>
                <a:latin typeface="맑은 고딕"/>
                <a:ea typeface="맑은 고딕"/>
              </a:rPr>
              <a:t>Ⅰ.  개요 — 왜 이 연구인가</a:t>
            </a:r>
          </a:p>
          <a:p>
            <a:pPr>
              <a:spcAft>
                <a:spcPts val="1800"/>
              </a:spcAft>
            </a:pPr>
            <a:r>
              <a:rPr sz="2800" b="1" i="0" a:lang="ko-KR">
                <a:solidFill>
                  <a:srgbClr val="1F3864"/>
                </a:solidFill>
                <a:latin typeface="맑은 고딕"/>
                <a:ea typeface="맑은 고딕"/>
              </a:rPr>
              <a:t>Ⅱ.  학술적 배경 — 무엇을 바탕으로</a:t>
            </a:r>
          </a:p>
          <a:p>
            <a:pPr>
              <a:spcAft>
                <a:spcPts val="1800"/>
              </a:spcAft>
            </a:pPr>
            <a:r>
              <a:rPr sz="2800" b="1" i="0" a:lang="ko-KR">
                <a:solidFill>
                  <a:srgbClr val="1F3864"/>
                </a:solidFill>
                <a:latin typeface="맑은 고딕"/>
                <a:ea typeface="맑은 고딕"/>
              </a:rPr>
              <a:t>Ⅲ.  모델링 — 무엇을 만들었나</a:t>
            </a:r>
          </a:p>
          <a:p>
            <a:pPr>
              <a:spcAft>
                <a:spcPts val="1800"/>
              </a:spcAft>
            </a:pPr>
            <a:r>
              <a:rPr sz="2800" b="1" i="0" a:lang="ko-KR">
                <a:solidFill>
                  <a:srgbClr val="1F3864"/>
                </a:solidFill>
                <a:latin typeface="맑은 고딕"/>
                <a:ea typeface="맑은 고딕"/>
              </a:rPr>
              <a:t>Ⅳ.  성숙도 평가 — 적용하면 어떻게 되나</a:t>
            </a:r>
          </a:p>
          <a:p>
            <a:pPr>
              <a:spcAft>
                <a:spcPts val="1800"/>
              </a:spcAft>
            </a:pPr>
            <a:r>
              <a:rPr sz="2800" b="1" i="0" a:lang="ko-KR">
                <a:solidFill>
                  <a:srgbClr val="1F3864"/>
                </a:solidFill>
                <a:latin typeface="맑은 고딕"/>
                <a:ea typeface="맑은 고딕"/>
              </a:rPr>
              <a:t>Ⅴ.  개선 과제 — 무엇을 고치나</a:t>
            </a:r>
          </a:p>
          <a:p>
            <a:pPr>
              <a:spcAft>
                <a:spcPts val="1800"/>
              </a:spcAft>
            </a:pPr>
            <a:r>
              <a:rPr sz="2800" b="1" i="0" a:lang="ko-KR">
                <a:solidFill>
                  <a:srgbClr val="1F3864"/>
                </a:solidFill>
                <a:latin typeface="맑은 고딕"/>
                <a:ea typeface="맑은 고딕"/>
              </a:rPr>
              <a:t>결론 — 답한 것 · 기여 · 남은 것</a:t>
            </a:r>
          </a:p>
        </p:txBody>
      </p:sp>
      <p:sp>
        <p:nvSpPr>
          <p:cNvPr id="22" name="Rounded Rectangle 21"/>
          <p:cNvSpPr/>
          <p:nvPr/>
        </p:nvSpPr>
        <p:spPr>
          <a:xfrm>
            <a:off x="497190" y="5968000"/>
            <a:ext cx="9695214"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lang="ko-KR">
                <a:solidFill>
                  <a:srgbClr val="111111"/>
                </a:solidFill>
                <a:latin typeface="맑은 고딕"/>
                <a:ea typeface="맑은 고딕"/>
              </a:rPr>
              <a:t>오늘은 모델의 뼈대와 적용 결과를 중심으로 말씀드리고, 조항별 판정과 문항 전문은 부록에 두었습니다.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논문의 구성과 장 간 연결</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a:t>
            </a:r>
          </a:p>
        </p:txBody>
      </p:sp>
      <p:sp>
        <p:nvSpPr>
          <p:cNvPr id="5" name="TextBox 4"/>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1.5, [그림 1-4]</a:t>
            </a:r>
          </a:p>
        </p:txBody>
      </p:sp>
      <p:pic>
        <p:nvPicPr>
          <p:cNvPr id="6" name="Picture 5" descr="ch0.png"/>
          <p:cNvPicPr>
            <a:picLocks noChangeAspect="1"/>
          </p:cNvPicPr>
          <p:nvPr/>
        </p:nvPicPr>
        <p:blipFill>
          <a:blip r:embed="rId2"/>
          <a:stretch>
            <a:fillRect/>
          </a:stretch>
        </p:blipFill>
        <p:spPr>
          <a:xfrm>
            <a:off x="1682842" y="1150000"/>
            <a:ext cx="7326315" cy="579999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이 연구를 한 장으로 — 두 표준과 연계</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관리하는 틀과 측정하는 방법, 이 둘의 연계를 조항 단위로 확인하고 성숙도 수준으로 판정한다.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1.2.1, [그림 1-1]</a:t>
            </a:r>
          </a:p>
        </p:txBody>
      </p:sp>
      <p:sp>
        <p:nvSpPr>
          <p:cNvPr id="20" name="Terms 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관점 = 위 여섯 단계를 함께 보는 것  ·  전과정평가(LCA: Life Cycle Assessment)  ·  환경측면 = 활동·제품 가운데 환경에 영향을 줄 수 있는 요소  ·  중대한 환경측면 = 그 가운데 영향이 큰 것으로 결정한 것 → 환경목표에 반영</a:t>
            </a:r>
          </a:p>
        </p:txBody>
      </p:sp>
      <p:sp>
        <p:nvSpPr>
          <p:cNvPr id="21" name="EMS box"/>
          <p:cNvSpPr/>
          <p:nvPr/>
        </p:nvSpPr>
        <p:spPr>
          <a:xfrm>
            <a:off x="497190" y="1330000"/>
            <a:ext cx="3879048" cy="2700000"/>
          </a:xfrm>
          <a:prstGeom prst="roundRect">
            <a:avLst/>
          </a:prstGeom>
          <a:solidFill>
            <a:srgbClr val="E8EEF7"/>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1F3864"/>
                </a:solidFill>
                <a:latin typeface="맑은 고딕"/>
                <a:ea typeface="맑은 고딕"/>
              </a:rPr>
              <a:t>환경경영시스템(ISO 14001)</a:t>
            </a:r>
          </a:p>
          <a:p>
            <a:pPr algn="ctr">
              <a:spcAft>
                <a:spcPts val="600"/>
              </a:spcAft>
            </a:pPr>
            <a:r>
              <a:rPr sz="1500" b="1">
                <a:solidFill>
                  <a:srgbClr val="111111"/>
                </a:solidFill>
                <a:latin typeface="맑은 고딕"/>
                <a:ea typeface="맑은 고딕"/>
              </a:rPr>
              <a:t>환경을 관리하는 틀</a:t>
            </a:r>
          </a:p>
          <a:p>
            <a:pPr algn="ctr"/>
            <a:r>
              <a:rPr sz="1400" b="0">
                <a:solidFill>
                  <a:srgbClr val="111111"/>
                </a:solidFill>
                <a:latin typeface="맑은 고딕"/>
                <a:ea typeface="맑은 고딕"/>
              </a:rPr>
              <a:t>환경측면을 결정하고 영향을 평가해 중대한 환경측면을 결정하고, 그것을 환경목표에 반영해 실행하고, 점검하여 지속적으로 개선한다</a:t>
            </a:r>
          </a:p>
        </p:txBody>
      </p:sp>
      <p:sp>
        <p:nvSpPr>
          <p:cNvPr id="22" name="LCA box"/>
          <p:cNvSpPr/>
          <p:nvPr/>
        </p:nvSpPr>
        <p:spPr>
          <a:xfrm>
            <a:off x="6315762" y="1330000"/>
            <a:ext cx="3879048" cy="2700000"/>
          </a:xfrm>
          <a:prstGeom prst="roundRect">
            <a:avLst/>
          </a:prstGeom>
          <a:solidFill>
            <a:srgbClr val="EAF4EE"/>
          </a:solidFill>
          <a:ln w="15875">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2E6B4A"/>
                </a:solidFill>
                <a:latin typeface="맑은 고딕"/>
                <a:ea typeface="맑은 고딕"/>
              </a:rPr>
              <a:t>전과정평가(LCA)</a:t>
            </a:r>
          </a:p>
          <a:p>
            <a:pPr algn="ctr">
              <a:spcAft>
                <a:spcPts val="600"/>
              </a:spcAft>
            </a:pPr>
            <a:r>
              <a:rPr sz="1500" b="1">
                <a:solidFill>
                  <a:srgbClr val="111111"/>
                </a:solidFill>
                <a:latin typeface="맑은 고딕"/>
                <a:ea typeface="맑은 고딕"/>
              </a:rPr>
              <a:t>환경영향을 측정하는 방법</a:t>
            </a:r>
          </a:p>
          <a:p>
            <a:pPr algn="ctr"/>
            <a:r>
              <a:rPr sz="1400" b="0">
                <a:solidFill>
                  <a:srgbClr val="111111"/>
                </a:solidFill>
                <a:latin typeface="맑은 고딕"/>
                <a:ea typeface="맑은 고딕"/>
              </a:rPr>
              <a:t>제품이 원료 채취 → 설계 → 생산 → 운송·배송 → 사용 → 폐기의 각 단계에서 환경에 주는 영향을 숫자로 계산해 영향이 가장 큰 단계(Hotspot)를 찾는다 (ISO 14044)</a:t>
            </a:r>
          </a:p>
        </p:txBody>
      </p:sp>
      <p:cxnSp>
        <p:nvCxnSpPr>
          <p:cNvPr id="23" name="link line"/>
          <p:cNvCxnSpPr/>
          <p:nvPr/>
        </p:nvCxnSpPr>
        <p:spPr>
          <a:xfrm>
            <a:off x="4416238" y="2680000"/>
            <a:ext cx="1859524" cy="0"/>
          </a:xfrm>
          <a:prstGeom prst="line">
            <a:avLst/>
          </a:prstGeom>
          <a:ln w="28575">
            <a:solidFill>
              <a:srgbClr val="1F3864"/>
            </a:solidFill>
          </a:ln>
        </p:spPr>
        <p:style>
          <a:lnRef idx="2">
            <a:schemeClr val="accent1"/>
          </a:lnRef>
          <a:fillRef idx="0">
            <a:schemeClr val="accent1"/>
          </a:fillRef>
          <a:effectRef idx="1">
            <a:schemeClr val="accent1"/>
          </a:effectRef>
          <a:fontRef idx="minor">
            <a:schemeClr val="tx1"/>
          </a:fontRef>
        </p:style>
      </p:cxnSp>
      <p:sp>
        <p:nvSpPr>
          <p:cNvPr id="24" name="link q"/>
          <p:cNvSpPr/>
          <p:nvPr/>
        </p:nvSpPr>
        <p:spPr>
          <a:xfrm>
            <a:off x="4826000" y="2380000"/>
            <a:ext cx="1040000" cy="600000"/>
          </a:xfrm>
          <a:prstGeom prst="ellipse">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60000" bIns="60000"/>
          <a:lstStyle/>
          <a:p>
            <a:pPr algn="ctr"/>
            <a:r>
              <a:rPr sz="2000" b="1">
                <a:solidFill>
                  <a:srgbClr val="1F3864"/>
                </a:solidFill>
                <a:latin typeface="맑은 고딕"/>
                <a:ea typeface="맑은 고딕"/>
              </a:rPr>
              <a:t>연계?</a:t>
            </a:r>
          </a:p>
        </p:txBody>
      </p:sp>
      <p:sp>
        <p:nvSpPr>
          <p:cNvPr id="25" name="key line"/>
          <p:cNvSpPr/>
          <p:nvPr/>
        </p:nvSpPr>
        <p:spPr>
          <a:xfrm>
            <a:off x="497190" y="4330000"/>
            <a:ext cx="9697620" cy="8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r>
              <a:rPr sz="1600" b="1">
                <a:solidFill>
                  <a:srgbClr val="C00000"/>
                </a:solidFill>
                <a:latin typeface="맑은 고딕"/>
                <a:ea typeface="맑은 고딕"/>
              </a:rPr>
              <a:t>두 표준은 별개의 표준이라 한쪽이 다른 쪽을 요구하지 않고, 실무에서는 별도로 운영되는 경우가 많다 — 두 표준의 연계를 조항 단위로 확인하고 성숙도 수준으로 판정하는 모델, 이것이 이 연구가 만든 것이다</a:t>
            </a:r>
          </a:p>
        </p:txBody>
      </p:sp>
      <p:sp>
        <p:nvSpPr>
          <p:cNvPr id="26" name="sub lines"/>
          <p:cNvSpPr txBox="1"/>
          <p:nvPr/>
        </p:nvSpPr>
        <p:spPr>
          <a:xfrm>
            <a:off x="497190" y="5390000"/>
            <a:ext cx="9697620" cy="760000"/>
          </a:xfrm>
          <a:prstGeom prst="rect">
            <a:avLst/>
          </a:prstGeom>
          <a:noFill/>
        </p:spPr>
        <p:txBody>
          <a:bodyPr wrap="square" lIns="45720">
            <a:spAutoFit/>
          </a:bodyPr>
          <a:lstStyle/>
          <a:p>
            <a:pPr>
              <a:spcAft>
                <a:spcPts val="400"/>
              </a:spcAft>
            </a:pPr>
            <a:r>
              <a:rPr sz="1500" b="0">
                <a:solidFill>
                  <a:srgbClr val="111111"/>
                </a:solidFill>
                <a:latin typeface="맑은 고딕"/>
                <a:ea typeface="맑은 고딕"/>
              </a:rPr>
              <a:t>연계(linkage)란 — LCA 결과가 환경측면의 결정·환경목표·설계·개발·모니터링에 쓰이는 것 (핵심 연계 지점 4곳)</a:t>
            </a:r>
          </a:p>
          <a:p>
            <a:r>
              <a:rPr sz="1500" b="0">
                <a:solidFill>
                  <a:srgbClr val="111111"/>
                </a:solidFill>
                <a:latin typeface="맑은 고딕"/>
                <a:ea typeface="맑은 고딕"/>
              </a:rPr>
              <a:t>판정 결과는 — ML0(도입 전)부터 ML5(혁신화)까지 여섯 수준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표준에서 서로 비어 있는 곳</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한쪽은 방법이 없고, 다른 쪽은 주기가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2.3, [표 2-3], 2.2.1</a:t>
            </a:r>
          </a:p>
        </p:txBody>
      </p:sp>
      <p:graphicFrame>
        <p:nvGraphicFramePr>
          <p:cNvPr id="8" name="Table 7"/>
          <p:cNvGraphicFramePr>
            <a:graphicFrameLocks noGrp="1"/>
          </p:cNvGraphicFramePr>
          <p:nvPr/>
        </p:nvGraphicFramePr>
        <p:xfrm>
          <a:off x="534479" y="1180000"/>
          <a:ext cx="9623040" cy="2522044"/>
        </p:xfrm>
        <a:graphic>
          <a:graphicData uri="http://schemas.openxmlformats.org/drawingml/2006/table">
            <a:tbl>
              <a:tblPr firstRow="1" bandRow="1">
                <a:tableStyleId>{5C22544A-7EE6-4342-B048-85BDC9FD1C3A}</a:tableStyleId>
              </a:tblPr>
              <a:tblGrid>
                <a:gridCol w="1924608"/>
                <a:gridCol w="2566144"/>
                <a:gridCol w="2566144"/>
                <a:gridCol w="2566144"/>
              </a:tblGrid>
              <a:tr h="624960">
                <a:tc>
                  <a:txBody>
                    <a:bodyPr wrap="square"/>
                    <a:lstStyle/>
                    <a:p>
                      <a:pPr algn="ctr"/>
                      <a:r>
                        <a:rPr sz="1400" b="1" i="0" a:lang="ko-KR">
                          <a:solidFill>
                            <a:srgbClr val="FFFFFF"/>
                          </a:solidFill>
                          <a:latin typeface="맑은 고딕"/>
                          <a:ea typeface="맑은 고딕"/>
                        </a:rPr>
                        <a:t>비교 항목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환경경영시스템(ISO 14001)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전과정평가(LCA)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연계 운영</a:t>
                      </a:r>
                    </a:p>
                  </a:txBody>
                  <a:tcPr marL="64008" marR="64008" marT="27432" marB="27432" anchor="ctr">
                    <a:solidFill>
                      <a:srgbClr val="1F3864"/>
                    </a:solidFill>
                  </a:tcPr>
                </a:tc>
              </a:tr>
              <a:tr h="1053388">
                <a:tc>
                  <a:txBody>
                    <a:bodyPr wrap="square"/>
                    <a:lstStyle/>
                    <a:p>
                      <a:pPr algn="l"/>
                      <a:r>
                        <a:rPr sz="1400" b="0" i="0" a:lang="ko-KR">
                          <a:solidFill>
                            <a:srgbClr val="111111"/>
                          </a:solidFill>
                          <a:latin typeface="맑은 고딕"/>
                          <a:ea typeface="맑은 고딕"/>
                        </a:rPr>
                        <a:t>전과정 환경영향의 정량 평가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미흡</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수행(LCI·LCIA·해석)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결과를 환경측면 결정·목표설정·성과평가의 객관적 데이터로 투입</a:t>
                      </a:r>
                    </a:p>
                  </a:txBody>
                  <a:tcPr marL="64008" marR="64008" marT="27432" marB="27432" anchor="ctr">
                    <a:solidFill>
                      <a:srgbClr val="E8EEF7"/>
                    </a:solidFill>
                  </a:tcPr>
                </a:tc>
              </a:tr>
              <a:tr h="843696">
                <a:tc>
                  <a:txBody>
                    <a:bodyPr wrap="square"/>
                    <a:lstStyle/>
                    <a:p>
                      <a:pPr algn="l"/>
                      <a:r>
                        <a:rPr sz="1400" b="0" i="0" a:lang="ko-KR">
                          <a:solidFill>
                            <a:srgbClr val="111111"/>
                          </a:solidFill>
                          <a:latin typeface="맑은 고딕"/>
                          <a:ea typeface="맑은 고딕"/>
                        </a:rPr>
                        <a:t>지속성(반복 수행)</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 주기는 있으나 되풀이할 정량 평가 방법이 없음</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일회성 평가로 종결되기 쉬움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주기적 반복 수행이 가능한 관리 구조</a:t>
                      </a:r>
                    </a:p>
                  </a:txBody>
                  <a:tcPr marL="64008" marR="64008" marT="27432" marB="27432" anchor="ctr">
                    <a:solidFill>
                      <a:srgbClr val="E8EEF7"/>
                    </a:solidFill>
                  </a:tcPr>
                </a:tc>
              </a:tr>
            </a:tbl>
          </a:graphicData>
        </a:graphic>
      </p:graphicFrame>
      <p:sp>
        <p:nvSpPr>
          <p:cNvPr id="9" name="Rounded Rectangle 8"/>
          <p:cNvSpPr/>
          <p:nvPr/>
        </p:nvSpPr>
        <p:spPr>
          <a:xfrm>
            <a:off x="497190"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환경경영시스템(ISO 14001) 유효 인증</a:t>
            </a:r>
          </a:p>
          <a:p>
            <a:pPr algn="ctr"/>
            <a:r>
              <a:rPr sz="1500" b="0" i="0" a:lang="ko-KR">
                <a:solidFill>
                  <a:srgbClr val="111111"/>
                </a:solidFill>
                <a:latin typeface="맑은 고딕"/>
                <a:ea typeface="맑은 고딕"/>
              </a:rPr>
              <a:t>국내 28,137건 (세계 2위, ISO Survey 2024)</a:t>
            </a:r>
          </a:p>
        </p:txBody>
      </p:sp>
      <p:sp>
        <p:nvSpPr>
          <p:cNvPr id="10" name="Rounded Rectangle 9"/>
          <p:cNvSpPr/>
          <p:nvPr/>
        </p:nvSpPr>
        <p:spPr>
          <a:xfrm>
            <a:off x="5461076"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환경성적표지 유효 인증 (LCA 수행 전제)</a:t>
            </a:r>
          </a:p>
          <a:p>
            <a:pPr algn="ctr"/>
            <a:r>
              <a:rPr sz="1500" b="0" i="0" a:lang="ko-KR">
                <a:solidFill>
                  <a:srgbClr val="111111"/>
                </a:solidFill>
                <a:latin typeface="맑은 고딕"/>
                <a:ea typeface="맑은 고딕"/>
              </a:rPr>
              <a:t>707개 기업 · 3,595개 제품 (2026.8.31. 기준)</a:t>
            </a:r>
          </a:p>
        </p:txBody>
      </p:sp>
      <p:sp>
        <p:nvSpPr>
          <p:cNvPr id="11" name="TextBox 10"/>
          <p:cNvSpPr txBox="1"/>
          <p:nvPr/>
        </p:nvSpPr>
        <p:spPr>
          <a:xfrm>
            <a:off x="497190" y="5107884"/>
            <a:ext cx="9695214" cy="7056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두 표준은 서로 필요한 것을 갖고 있다 — 관리 주기(14001)와 정량적 방법(LCA). 두 체계를 함께 운영하는 조직은 아직 제한적이다(인증 없이 수행되는 LCA는 집계 밖).</a:t>
            </a:r>
          </a:p>
        </p:txBody>
      </p:sp>
      <p:sp>
        <p:nvSpPr>
          <p:cNvPr id="12" name="Terms 5"/>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목록분석(LCI: Life Cycle Inventory) = 제품 한 단위(기능단위)에 들어가고 나오는 원료·에너지·배출을 모두 세는 단계  ·  전과정 영향평가(LCIA: Life Cycle Impact Assessment) = 그 목록이 기후변화·산성화 등에 미치는 영향을 계산하는 단계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「LCA를 했다」가 뜻하는 두 상태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있고 없고가 아니라 정도의 문제다.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[그림 1-1]</a:t>
            </a:r>
          </a:p>
        </p:txBody>
      </p:sp>
      <p:pic>
        <p:nvPicPr>
          <p:cNvPr id="8" name="Picture 7" descr="g1-1.png"/>
          <p:cNvPicPr>
            <a:picLocks noChangeAspect="1"/>
          </p:cNvPicPr>
          <p:nvPr/>
        </p:nvPicPr>
        <p:blipFill>
          <a:blip r:embed="rId2"/>
          <a:stretch>
            <a:fillRect/>
          </a:stretch>
        </p:blipFill>
        <p:spPr>
          <a:xfrm>
            <a:off x="1286439" y="1233360"/>
            <a:ext cx="8119120" cy="4194879"/>
          </a:xfrm>
          <a:prstGeom prst="rect">
            <a:avLst/>
          </a:prstGeom>
        </p:spPr>
      </p:pic>
      <p:sp>
        <p:nvSpPr>
          <p:cNvPr id="9" name="TextBox 8"/>
          <p:cNvSpPr txBox="1"/>
          <p:nvPr/>
        </p:nvSpPr>
        <p:spPr>
          <a:xfrm>
            <a:off x="497190" y="5498240"/>
            <a:ext cx="9695214" cy="1137920"/>
          </a:xfrm>
          <a:prstGeom prst="rect">
            <a:avLst/>
          </a:prstGeom>
          <a:noFill/>
        </p:spPr>
        <p:txBody>
          <a:bodyPr wrap="square" anchor="t" lIns="0" rIns="0" tIns="0" bIns="0">
            <a:spAutoFit/>
          </a:bodyPr>
          <a:lstStyle/>
          <a:p>
            <a:pPr>
              <a:spcAft>
                <a:spcPts val="400"/>
              </a:spcAft>
            </a:pPr>
            <a:r>
              <a:rPr sz="1500" b="0" i="0" a:lang="ko-KR">
                <a:solidFill>
                  <a:srgbClr val="111111"/>
                </a:solidFill>
                <a:latin typeface="맑은 고딕"/>
                <a:ea typeface="맑은 고딕"/>
              </a:rPr>
              <a:t>상태 A — 인증 갱신·고객 요구에 맞춰 보고서를 한 차례 받아 두고 끝냄 → LCA는 경영시스템과 분리된 보고서</a:t>
            </a:r>
          </a:p>
          <a:p>
            <a:pPr>
              <a:spcAft>
                <a:spcPts val="400"/>
              </a:spcAft>
            </a:pPr>
            <a:r>
              <a:rPr sz="1500" b="0" i="0" a:lang="ko-KR">
                <a:solidFill>
                  <a:srgbClr val="111111"/>
                </a:solidFill>
                <a:latin typeface="맑은 고딕"/>
                <a:ea typeface="맑은 고딕"/>
              </a:rPr>
              <a:t>상태 B — LCA 결과를 받아 중대한 환경측면을 정하고, 환경목표를 세우고, 다음 해에 다시 측정해 확인 → LCA는 경영시스템의 운영에 쓰이는 입력</a:t>
            </a:r>
          </a:p>
          <a:p>
            <a:r>
              <a:rPr sz="1500" b="1" i="0" a:lang="ko-KR">
                <a:solidFill>
                  <a:srgbClr val="C00000"/>
                </a:solidFill>
                <a:latin typeface="맑은 고딕"/>
                <a:ea typeface="맑은 고딕"/>
              </a:rPr>
              <a:t>본 연구가 말하는 연계(linkage) = 상태 B. 그 정도를 측정할 척도가 필요하다 → 성숙도 모델</a:t>
            </a:r>
          </a:p>
        </p:txBody>
      </p:sp>
      <p:sp>
        <p:nvSpPr>
          <p:cNvPr id="10" name="Terms 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환경목표 = 중대한 환경측면에 대해 조직이 세우는 측정 가능한 목표(ISO 14001 6.2.1)  ·  성숙도 모델 = 「어느 수준까지 갖추었는가」를 여러 단계로 나누어 판정하는 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목적과 연구 문제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연계한 모델을 만들고, 그 모델로 성숙도를 평가하여, 결과를 개선 과제로 연결한다.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1.2.2, 1.3.2, [그림 1-2]</a:t>
            </a:r>
          </a:p>
        </p:txBody>
      </p:sp>
      <p:pic>
        <p:nvPicPr>
          <p:cNvPr id="8" name="Picture 7" descr="f1-2.png"/>
          <p:cNvPicPr>
            <a:picLocks noChangeAspect="1"/>
          </p:cNvPicPr>
          <p:nvPr/>
        </p:nvPicPr>
        <p:blipFill>
          <a:blip r:embed="rId2"/>
          <a:stretch>
            <a:fillRect/>
          </a:stretch>
        </p:blipFill>
        <p:spPr>
          <a:xfrm>
            <a:off x="638990" y="1233360"/>
            <a:ext cx="5777764" cy="3812465"/>
          </a:xfrm>
          <a:prstGeom prst="rect">
            <a:avLst/>
          </a:prstGeom>
        </p:spPr>
      </p:pic>
      <p:sp>
        <p:nvSpPr>
          <p:cNvPr id="9" name="Rounded Rectangle 8"/>
          <p:cNvSpPr/>
          <p:nvPr/>
        </p:nvSpPr>
        <p:spPr>
          <a:xfrm>
            <a:off x="6575744" y="156240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RQ1</a:t>
            </a:r>
          </a:p>
        </p:txBody>
      </p:sp>
      <p:sp>
        <p:nvSpPr>
          <p:cNvPr id="10" name="Rounded Rectangle 9"/>
          <p:cNvSpPr/>
          <p:nvPr/>
        </p:nvSpPr>
        <p:spPr>
          <a:xfrm>
            <a:off x="7337569" y="156240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두 표준의 조항은 서로 어떻게 매핑되는가</a:t>
            </a:r>
          </a:p>
          <a:p>
            <a:pPr algn="l"/>
            <a:r>
              <a:rPr sz="1100" b="0" i="0" a:lang="ko-KR">
                <a:solidFill>
                  <a:srgbClr val="595959"/>
                </a:solidFill>
                <a:latin typeface="맑은 고딕"/>
                <a:ea typeface="맑은 고딕"/>
              </a:rPr>
              <a:t>목적 ① 연계 · 2장 · 3.2.2</a:t>
            </a:r>
          </a:p>
        </p:txBody>
      </p:sp>
      <p:sp>
        <p:nvSpPr>
          <p:cNvPr id="11" name="Rounded Rectangle 10"/>
          <p:cNvSpPr/>
          <p:nvPr/>
        </p:nvSpPr>
        <p:spPr>
          <a:xfrm>
            <a:off x="6575744" y="269136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RQ2</a:t>
            </a:r>
          </a:p>
        </p:txBody>
      </p:sp>
      <p:sp>
        <p:nvSpPr>
          <p:cNvPr id="12" name="Rounded Rectangle 11"/>
          <p:cNvSpPr/>
          <p:nvPr/>
        </p:nvSpPr>
        <p:spPr>
          <a:xfrm>
            <a:off x="7337569" y="269136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연계 프로세스와 평가지표는 어떻게 구성되는가</a:t>
            </a:r>
          </a:p>
          <a:p>
            <a:pPr algn="l"/>
            <a:r>
              <a:rPr sz="1100" b="0" i="0" a:lang="ko-KR">
                <a:solidFill>
                  <a:srgbClr val="595959"/>
                </a:solidFill>
                <a:latin typeface="맑은 고딕"/>
                <a:ea typeface="맑은 고딕"/>
              </a:rPr>
              <a:t>목적 ② 모델링(참조·평가) · 3.2 · 3.3</a:t>
            </a:r>
          </a:p>
        </p:txBody>
      </p:sp>
      <p:sp>
        <p:nvSpPr>
          <p:cNvPr id="13" name="Rounded Rectangle 12"/>
          <p:cNvSpPr/>
          <p:nvPr/>
        </p:nvSpPr>
        <p:spPr>
          <a:xfrm>
            <a:off x="6575744" y="382032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RQ3</a:t>
            </a:r>
          </a:p>
        </p:txBody>
      </p:sp>
      <p:sp>
        <p:nvSpPr>
          <p:cNvPr id="14" name="Rounded Rectangle 13"/>
          <p:cNvSpPr/>
          <p:nvPr/>
        </p:nvSpPr>
        <p:spPr>
          <a:xfrm>
            <a:off x="7337569" y="382032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성숙도는 어떤 규칙으로 판정되는가</a:t>
            </a:r>
          </a:p>
          <a:p>
            <a:pPr algn="l"/>
            <a:r>
              <a:rPr sz="1100" b="0" i="0" a:lang="ko-KR">
                <a:solidFill>
                  <a:srgbClr val="595959"/>
                </a:solidFill>
                <a:latin typeface="맑은 고딕"/>
                <a:ea typeface="맑은 고딕"/>
              </a:rPr>
              <a:t>목적 ② 모델링(성숙도) · 3.4</a:t>
            </a:r>
          </a:p>
        </p:txBody>
      </p:sp>
      <p:sp>
        <p:nvSpPr>
          <p:cNvPr id="15" name="Rounded Rectangle 14"/>
          <p:cNvSpPr/>
          <p:nvPr/>
        </p:nvSpPr>
        <p:spPr>
          <a:xfrm>
            <a:off x="6575744" y="4949280"/>
            <a:ext cx="681632" cy="9576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RQ4</a:t>
            </a:r>
          </a:p>
        </p:txBody>
      </p:sp>
      <p:sp>
        <p:nvSpPr>
          <p:cNvPr id="16" name="Rounded Rectangle 15"/>
          <p:cNvSpPr/>
          <p:nvPr/>
        </p:nvSpPr>
        <p:spPr>
          <a:xfrm>
            <a:off x="7337569" y="494928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그 판정 결과가 실제 조직에서 어떤 의미를 갖는가</a:t>
            </a:r>
          </a:p>
          <a:p>
            <a:pPr algn="l"/>
            <a:r>
              <a:rPr sz="1100" b="0" i="0" a:lang="ko-KR">
                <a:solidFill>
                  <a:srgbClr val="595959"/>
                </a:solidFill>
                <a:latin typeface="맑은 고딕"/>
                <a:ea typeface="맑은 고딕"/>
              </a:rPr>
              <a:t>목적 ③ 평가 · ④ 개선 · 4장 · 5장</a:t>
            </a:r>
          </a:p>
        </p:txBody>
      </p:sp>
      <p:sp>
        <p:nvSpPr>
          <p:cNvPr id="17" name="TextBox 16"/>
          <p:cNvSpPr txBox="1"/>
          <p:nvPr/>
        </p:nvSpPr>
        <p:spPr>
          <a:xfrm>
            <a:off x="6575744" y="6031360"/>
            <a:ext cx="3608640" cy="6048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네 목적(① 연계 ② 모델링 ③ 성숙도 평가 ④ 개선)과 같은 순서 — 오늘 발표도 이 순서를 따른다</a:t>
            </a:r>
          </a:p>
        </p:txBody>
      </p:sp>
      <p:sp>
        <p:nvSpPr>
          <p:cNvPr id="18" name="Terms 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매핑(mapping) = map은 「지도」지만 여기서는 「짝지어 대응시키다」는 뜻 — 두 표준의 조항을 하나하나 서로 대응시키는 일  ·  연계 프로세스 = 두 표준이 맞닿는 지점을 업무 단위로 묶은 것  ·  RQ = 연구 문제(Research Question)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환경경영시스템(ISO 14001)과 전과정 관점</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전과정 관점은 요구되지만 그 이행 방법은 표준 안에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 [그림 2-3]</a:t>
            </a:r>
          </a:p>
        </p:txBody>
      </p:sp>
      <p:pic>
        <p:nvPicPr>
          <p:cNvPr id="8" name="Picture 7" descr="f2-3.png"/>
          <p:cNvPicPr>
            <a:picLocks noChangeAspect="1"/>
          </p:cNvPicPr>
          <p:nvPr/>
        </p:nvPicPr>
        <p:blipFill>
          <a:blip r:embed="rId2"/>
          <a:stretch>
            <a:fillRect/>
          </a:stretch>
        </p:blipFill>
        <p:spPr>
          <a:xfrm>
            <a:off x="614395" y="1233360"/>
            <a:ext cx="9463210" cy="4402144"/>
          </a:xfrm>
          <a:prstGeom prst="rect">
            <a:avLst/>
          </a:prstGeom>
        </p:spPr>
      </p:pic>
      <p:sp>
        <p:nvSpPr>
          <p:cNvPr id="9" name="TextBox 8"/>
          <p:cNvSpPr txBox="1"/>
          <p:nvPr/>
        </p:nvSpPr>
        <p:spPr>
          <a:xfrm>
            <a:off x="497190" y="5705504"/>
            <a:ext cx="9695214" cy="9306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조항은 조직 상황(4)부터 개선(10)까지 일곱 군으로 묶여 PDCA로 순환한다.</a:t>
            </a:r>
          </a:p>
          <a:p>
            <a:pPr>
              <a:spcAft>
                <a:spcPts val="400"/>
              </a:spcAft>
            </a:pPr>
            <a:r>
              <a:rPr sz="1600" b="1" i="0" a:lang="ko-KR">
                <a:solidFill>
                  <a:srgbClr val="C00000"/>
                </a:solidFill>
                <a:latin typeface="맑은 고딕"/>
                <a:ea typeface="맑은 고딕"/>
              </a:rPr>
              <a:t>전과정 관점의 고려가 요구되는 곳 — 환경측면의 결정(6.1.2)과 운용기획 및 관리(8.1). 뒤에서 핵심 문항이 놓이는 자리다.</a:t>
            </a:r>
          </a:p>
        </p:txBody>
      </p:sp>
      <p:sp>
        <p:nvSpPr>
          <p:cNvPr id="10" name="Terms 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핵심 문항 = 연계가 성립하려면 반드시 갖추어야 할 네 곳을 묻는 문항 — 하나라도 빠지면 평균이 높아도 수준이 올라가지 않음  ·  PDCA(Plan–Do–Check–Act) = 계획–실행–점검–조치의 관리 순환</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전과정평가(LCA)의 4단계</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번의 평가를 완결시키는 규정이며, 반복의 주기는 규정하지 않는다.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2.2, [그림 2-4]</a:t>
            </a:r>
          </a:p>
        </p:txBody>
      </p:sp>
      <p:pic>
        <p:nvPicPr>
          <p:cNvPr id="8" name="Picture 7" descr="g2-4.png"/>
          <p:cNvPicPr>
            <a:picLocks noChangeAspect="1"/>
          </p:cNvPicPr>
          <p:nvPr/>
        </p:nvPicPr>
        <p:blipFill>
          <a:blip r:embed="rId2"/>
          <a:stretch>
            <a:fillRect/>
          </a:stretch>
        </p:blipFill>
        <p:spPr>
          <a:xfrm>
            <a:off x="1144508" y="1233360"/>
            <a:ext cx="8402983" cy="4766783"/>
          </a:xfrm>
          <a:prstGeom prst="rect">
            <a:avLst/>
          </a:prstGeom>
        </p:spPr>
      </p:pic>
      <p:sp>
        <p:nvSpPr>
          <p:cNvPr id="9" name="TextBox 8"/>
          <p:cNvSpPr txBox="1"/>
          <p:nvPr/>
        </p:nvSpPr>
        <p:spPr>
          <a:xfrm>
            <a:off x="497190" y="6070144"/>
            <a:ext cx="9695214" cy="8798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목적 및 범위 정의 → 목록분석(LCI) → 영향평가(LCIA) → 해석. 해석은 세 단계 모두와 양방향으로 이어진다.</a:t>
            </a:r>
          </a:p>
          <a:p>
            <a:r>
              <a:rPr sz="1600" b="1" i="0" a:lang="ko-KR">
                <a:solidFill>
                  <a:srgbClr val="C00000"/>
                </a:solidFill>
                <a:latin typeface="맑은 고딕"/>
                <a:ea typeface="맑은 고딕"/>
              </a:rPr>
              <a:t>한 번의 수행은 이 안에서 완결되지만, 되풀이하는 관리 주기는 ISO 14044의 범위가 아니다.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무엇을 어떻게 측정하는가 — 따른 표준</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뼈대는 모두 표준에서 가져왔다.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1.3.3 [표 1-1], 2.4, 3.1.2</a:t>
            </a:r>
          </a:p>
        </p:txBody>
      </p:sp>
      <p:sp>
        <p:nvSpPr>
          <p:cNvPr id="8" name="Rounded Rectangle 7"/>
          <p:cNvSpPr/>
          <p:nvPr/>
        </p:nvSpPr>
        <p:spPr>
          <a:xfrm>
            <a:off x="497190" y="1180000"/>
            <a:ext cx="9695214"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측정 대상 — 환경경영시스템(ISO 14001)과 전과정평가(LCA, ISO 14044)의 연계  ·  전조항 양방향 매핑</a:t>
            </a:r>
          </a:p>
        </p:txBody>
      </p:sp>
      <p:sp>
        <p:nvSpPr>
          <p:cNvPr id="9" name="Rounded Rectangle 8"/>
          <p:cNvSpPr/>
          <p:nvPr/>
        </p:nvSpPr>
        <p:spPr>
          <a:xfrm>
            <a:off x="497190" y="1966240"/>
            <a:ext cx="1603840" cy="10584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참조 모델</a:t>
            </a:r>
          </a:p>
          <a:p>
            <a:pPr algn="ctr"/>
            <a:r>
              <a:rPr sz="1300" b="0" i="0" a:lang="ko-KR">
                <a:solidFill>
                  <a:srgbClr val="FFFFFF"/>
                </a:solidFill>
                <a:latin typeface="맑은 고딕"/>
                <a:ea typeface="맑은 고딕"/>
              </a:rPr>
              <a:t>연계 프로세스 16종</a:t>
            </a:r>
          </a:p>
        </p:txBody>
      </p:sp>
      <p:sp>
        <p:nvSpPr>
          <p:cNvPr id="10" name="Rounded Rectangle 9"/>
          <p:cNvSpPr/>
          <p:nvPr/>
        </p:nvSpPr>
        <p:spPr>
          <a:xfrm>
            <a:off x="2221319" y="1966240"/>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업무를 어떤 형식으로 적는가</a:t>
            </a:r>
          </a:p>
          <a:p>
            <a:pPr algn="l">
              <a:spcBef>
                <a:spcPts val="200"/>
              </a:spcBef>
            </a:pPr>
            <a:r>
              <a:rPr sz="1300" b="0">
                <a:solidFill>
                  <a:srgbClr val="111111"/>
                </a:solidFill>
                <a:latin typeface="맑은 고딕"/>
                <a:ea typeface="맑은 고딕"/>
              </a:rPr>
              <a:t>ISO/IEC 33004가 요건을, KS X ISO 8000-61이 「제목·목적·성과·활동」 형식을 줌 — 원형은 국내 공공데이터 연구(김선호·이창수, 2013)</a:t>
            </a:r>
          </a:p>
        </p:txBody>
      </p:sp>
      <p:sp>
        <p:nvSpPr>
          <p:cNvPr id="11" name="Down Arrow 10"/>
          <p:cNvSpPr/>
          <p:nvPr/>
        </p:nvSpPr>
        <p:spPr>
          <a:xfrm>
            <a:off x="1178822" y="3034720"/>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7190" y="3276639"/>
            <a:ext cx="1603840" cy="10584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평가 모델</a:t>
            </a:r>
          </a:p>
          <a:p>
            <a:pPr algn="ctr"/>
            <a:r>
              <a:rPr sz="1300" b="0" i="0" a:lang="ko-KR">
                <a:solidFill>
                  <a:srgbClr val="FFFFFF"/>
                </a:solidFill>
                <a:latin typeface="맑은 고딕"/>
                <a:ea typeface="맑은 고딕"/>
              </a:rPr>
              <a:t>55문항 · 채점 기준</a:t>
            </a:r>
          </a:p>
        </p:txBody>
      </p:sp>
      <p:sp>
        <p:nvSpPr>
          <p:cNvPr id="13" name="Rounded Rectangle 12"/>
          <p:cNvSpPr/>
          <p:nvPr/>
        </p:nvSpPr>
        <p:spPr>
          <a:xfrm>
            <a:off x="2221319" y="32766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어떻게 매기는가</a:t>
            </a:r>
          </a:p>
          <a:p>
            <a:pPr algn="l">
              <a:spcBef>
                <a:spcPts val="200"/>
              </a:spcBef>
            </a:pPr>
            <a:r>
              <a:rPr sz="1300" b="0">
                <a:solidFill>
                  <a:srgbClr val="111111"/>
                </a:solidFill>
                <a:latin typeface="맑은 고딕"/>
                <a:ea typeface="맑은 고딕"/>
              </a:rPr>
              <a:t>ISO/IEC 33020이 등급의 틀을, ISO/IEC 33003이 척도가 갖출 요건을 줌 — 본 모델은 그 틀을 5점 상태 기술(BARS)로 구체화</a:t>
            </a:r>
          </a:p>
        </p:txBody>
      </p:sp>
      <p:sp>
        <p:nvSpPr>
          <p:cNvPr id="14" name="Down Arrow 13"/>
          <p:cNvSpPr/>
          <p:nvPr/>
        </p:nvSpPr>
        <p:spPr>
          <a:xfrm>
            <a:off x="1178822" y="4345119"/>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7190" y="4587039"/>
            <a:ext cx="1603840" cy="10584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성숙도 모델</a:t>
            </a:r>
          </a:p>
          <a:p>
            <a:pPr algn="ctr"/>
            <a:r>
              <a:rPr sz="1300" b="0" i="0" a:lang="ko-KR">
                <a:solidFill>
                  <a:srgbClr val="FFFFFF"/>
                </a:solidFill>
                <a:latin typeface="맑은 고딕"/>
                <a:ea typeface="맑은 고딕"/>
              </a:rPr>
              <a:t>ML0~ML5 · 핵심 문항 4종</a:t>
            </a:r>
          </a:p>
        </p:txBody>
      </p:sp>
      <p:sp>
        <p:nvSpPr>
          <p:cNvPr id="16" name="Rounded Rectangle 15"/>
          <p:cNvSpPr/>
          <p:nvPr/>
        </p:nvSpPr>
        <p:spPr>
          <a:xfrm>
            <a:off x="2221319" y="45870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수준으로 어떻게 바꾸는가</a:t>
            </a:r>
          </a:p>
          <a:p>
            <a:pPr algn="l">
              <a:spcBef>
                <a:spcPts val="200"/>
              </a:spcBef>
            </a:pPr>
            <a:r>
              <a:rPr sz="1300" b="0">
                <a:solidFill>
                  <a:srgbClr val="111111"/>
                </a:solidFill>
                <a:latin typeface="맑은 고딕"/>
                <a:ea typeface="맑은 고딕"/>
              </a:rPr>
              <a:t>KS X ISO 8000-62가 여섯 수준과 최소충족 원리를, ISO/IEC 33004가 수준의 요건을 줌 — 핵심 문항 4종에만 비보상 판정</a:t>
            </a:r>
          </a:p>
        </p:txBody>
      </p:sp>
      <p:sp>
        <p:nvSpPr>
          <p:cNvPr id="17" name="Rounded Rectangle 16"/>
          <p:cNvSpPr/>
          <p:nvPr/>
        </p:nvSpPr>
        <p:spPr>
          <a:xfrm>
            <a:off x="497190" y="5796640"/>
            <a:ext cx="9695214" cy="68544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0" i="0" a:lang="ko-KR">
                <a:solidFill>
                  <a:srgbClr val="111111"/>
                </a:solidFill>
                <a:latin typeface="맑은 고딕"/>
                <a:ea typeface="맑은 고딕"/>
              </a:rPr>
              <a:t>평가를 어떻게 수행하는가 — ISO/IEC 33002(평가 클래스)  ·  심사·평가자 자격·개선 계획의 운영 준거도 표준에서 — 조항 번호와 전체 목록은 백업 B-2</a:t>
            </a:r>
          </a:p>
        </p:txBody>
      </p:sp>
      <p:sp>
        <p:nvSpPr>
          <p:cNvPr id="18" name="Terms 1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참조 모델 = 평가할 업무의 목록(무엇을 평가하는가)  ·  평가 모델 = 채점표(어떻게 채점하는가)  ·  성숙도 모델 = 등급 규칙(점수를 수준으로 바꾸는 규칙)  ·  최소충족·비보상 = 필수 항목이 빠지면 다른 점수로 메우지 못함  ·  이 셋을 합쳐 연계 성숙도 평가 모델(LMA: Linkage Maturity Assessment)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선행연구와 연구 공백</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자체를 조항 단위로 판정한 모델은 찾아보기 어렵다.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2.5, [표 2-4], [표 2-5], [그림 2-7]</a:t>
            </a:r>
          </a:p>
        </p:txBody>
      </p:sp>
      <p:pic>
        <p:nvPicPr>
          <p:cNvPr id="8" name="Picture 7" descr="f2-7.png"/>
          <p:cNvPicPr>
            <a:picLocks noChangeAspect="1"/>
          </p:cNvPicPr>
          <p:nvPr/>
        </p:nvPicPr>
        <p:blipFill>
          <a:blip r:embed="rId2"/>
          <a:stretch>
            <a:fillRect/>
          </a:stretch>
        </p:blipFill>
        <p:spPr>
          <a:xfrm>
            <a:off x="1567672" y="1233360"/>
            <a:ext cx="7556656" cy="4257767"/>
          </a:xfrm>
          <a:prstGeom prst="rect">
            <a:avLst/>
          </a:prstGeom>
        </p:spPr>
      </p:pic>
      <p:sp>
        <p:nvSpPr>
          <p:cNvPr id="9" name="TextBox 8"/>
          <p:cNvSpPr txBox="1"/>
          <p:nvPr/>
        </p:nvSpPr>
        <p:spPr>
          <a:xfrm>
            <a:off x="497190" y="5561128"/>
            <a:ext cx="9695214" cy="1388872"/>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방법론 축 — 판정의 원리를 주었으나 적용 분야가 소프트웨어·데이터에 한정   /   분야 축 — 환경을 다루되 환경경영 운영·제품 설계·LCA 활용의 단일 측면에 머묾</a:t>
            </a:r>
          </a:p>
          <a:p>
            <a:pPr>
              <a:spcAft>
                <a:spcPts val="300"/>
              </a:spcAft>
            </a:pPr>
            <a:r>
              <a:rPr sz="1200" b="0" i="0" a:lang="ko-KR">
                <a:solidFill>
                  <a:srgbClr val="595959"/>
                </a:solidFill>
                <a:latin typeface="맑은 고딕"/>
                <a:ea typeface="맑은 고딕"/>
              </a:rPr>
              <a:t>※ 방법론 축 — 「공공데이터 품질관리를 위한 조직 성숙도 평가 모델」(김선호·이창수 외, 2015), 「활동능력수준 기반의 공공데이터 품질관리 성숙수준 평가 모델」(김선호·이진우·이창수, 2017)</a:t>
            </a:r>
          </a:p>
          <a:p>
            <a:r>
              <a:rPr sz="1200" b="0" i="0" a:lang="ko-KR">
                <a:solidFill>
                  <a:srgbClr val="595959"/>
                </a:solidFill>
                <a:latin typeface="맑은 고딕"/>
                <a:ea typeface="맑은 고딕"/>
              </a:rPr>
              <a:t>※ 분야 축 — EMM: 환경경영 성숙도 모델(Ormazabal 외, 2017) · EcoM2: 에코디자인 성숙도 모델(Pigosso 외, 2013·2014) · LCM CMM: 전과정경영 역량 성숙도 모델(Swarr 외, UNEP/SETAC 2011)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연계 성숙도 평가 모델(LMA)을 한 그림으로</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두 표준의 조항을 대조하여 업무 목록</a:t>
            </a:r>
            <a:r>
              <a:rPr sz="1600" b="1" i="0" a:lang="ko-KR">
                <a:solidFill>
                  <a:srgbClr val="1F3864"/>
                </a:solidFill>
                <a:latin typeface="맑은 고딕"/>
                <a:ea typeface="맑은 고딕"/>
              </a:rPr>
              <a:t> → 채점표 → 수준 규칙의 순서로 만들었다.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3.1.2, 3.2~3.5, [그림 3-2]</a:t>
            </a:r>
          </a:p>
        </p:txBody>
      </p:sp>
      <p:sp>
        <p:nvSpPr>
          <p:cNvPr id="8" name="m std1"/>
          <p:cNvSpPr/>
          <p:nvPr/>
        </p:nvSpPr>
        <p:spPr>
          <a:xfrm>
            <a:off x="1097190" y="1250000"/>
            <a:ext cx="3100000" cy="7600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1F3864"/>
                </a:solidFill>
                <a:latin typeface="맑은 고딕"/>
                <a:ea typeface="맑은 고딕"/>
              </a:rPr>
              <a:t>환경경영시스템(ISO 14001)</a:t>
            </a:r>
          </a:p>
          <a:p>
            <a:pPr algn="ctr"/>
            <a:r>
              <a:rPr sz="1200" b="0">
                <a:solidFill>
                  <a:srgbClr val="111111"/>
                </a:solidFill>
                <a:latin typeface="맑은 고딕"/>
                <a:ea typeface="맑은 고딕"/>
              </a:rPr>
              <a:t>조항 30개 (4~10절)</a:t>
            </a:r>
          </a:p>
        </p:txBody>
      </p:sp>
      <p:sp>
        <p:nvSpPr>
          <p:cNvPr id="9" name="m std2"/>
          <p:cNvSpPr/>
          <p:nvPr/>
        </p:nvSpPr>
        <p:spPr>
          <a:xfrm>
            <a:off x="6494810" y="1250000"/>
            <a:ext cx="3100000" cy="760000"/>
          </a:xfrm>
          <a:prstGeom prst="roundRect">
            <a:avLst/>
          </a:prstGeom>
          <a:solidFill>
            <a:srgbClr val="EAF4EE"/>
          </a:solidFill>
          <a:ln w="12700">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2E6B4A"/>
                </a:solidFill>
                <a:latin typeface="맑은 고딕"/>
                <a:ea typeface="맑은 고딕"/>
              </a:rPr>
              <a:t>전과정평가(LCA, ISO 14044)</a:t>
            </a:r>
          </a:p>
          <a:p>
            <a:pPr algn="ctr"/>
            <a:r>
              <a:rPr sz="1200" b="0">
                <a:solidFill>
                  <a:srgbClr val="111111"/>
                </a:solidFill>
                <a:latin typeface="맑은 고딕"/>
                <a:ea typeface="맑은 고딕"/>
              </a:rPr>
              <a:t>요구사항 (shall·should)</a:t>
            </a:r>
          </a:p>
        </p:txBody>
      </p:sp>
      <p:sp>
        <p:nvSpPr>
          <p:cNvPr id="10" name="m map arrow"/>
          <p:cNvSpPr/>
          <p:nvPr/>
        </p:nvSpPr>
        <p:spPr>
          <a:xfrm>
            <a:off x="4347190" y="1500000"/>
            <a:ext cx="1997620" cy="260000"/>
          </a:xfrm>
          <a:prstGeom prst="leftRightArrow">
            <a:avLst/>
          </a:prstGeom>
          <a:solidFill>
            <a:srgbClr val="5B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 map label"/>
          <p:cNvSpPr txBox="1"/>
          <p:nvPr/>
        </p:nvSpPr>
        <p:spPr>
          <a:xfrm>
            <a:off x="4197190" y="920000"/>
            <a:ext cx="2297620" cy="300000"/>
          </a:xfrm>
          <a:prstGeom prst="rect">
            <a:avLst/>
          </a:prstGeom>
          <a:noFill/>
        </p:spPr>
        <p:txBody>
          <a:bodyPr wrap="square" lIns="45720" rIns="45720" tIns="20000" bIns="20000">
            <a:spAutoFit/>
          </a:bodyPr>
          <a:lstStyle/>
          <a:p>
            <a:pPr algn="ctr"/>
            <a:r>
              <a:rPr sz="1200" b="1">
                <a:solidFill>
                  <a:srgbClr val="1F3864"/>
                </a:solidFill>
                <a:latin typeface="맑은 고딕"/>
                <a:ea typeface="맑은 고딕"/>
              </a:rPr>
              <a:t>매핑 — 조항을 하나하나 대응</a:t>
            </a:r>
          </a:p>
        </p:txBody>
      </p:sp>
      <p:sp>
        <p:nvSpPr>
          <p:cNvPr id="12" name="m map note"/>
          <p:cNvSpPr txBox="1"/>
          <p:nvPr/>
        </p:nvSpPr>
        <p:spPr>
          <a:xfrm>
            <a:off x="3146000" y="2040000"/>
            <a:ext cx="4400000" cy="320000"/>
          </a:xfrm>
          <a:prstGeom prst="rect">
            <a:avLst/>
          </a:prstGeom>
          <a:noFill/>
        </p:spPr>
        <p:txBody>
          <a:bodyPr wrap="square" lIns="45720" rIns="45720" tIns="20000" bIns="20000">
            <a:spAutoFit/>
          </a:bodyPr>
          <a:lstStyle/>
          <a:p>
            <a:pPr algn="ctr"/>
            <a:r>
              <a:rPr sz="1150" b="0">
                <a:solidFill>
                  <a:srgbClr val="595959"/>
                </a:solidFill>
                <a:latin typeface="맑은 고딕"/>
                <a:ea typeface="맑은 고딕"/>
              </a:rPr>
              <a:t>맞닿는 곳 = 연계 지점 · 그 가운데 필수인 네 곳 = 핵심 연계 지점</a:t>
            </a:r>
          </a:p>
        </p:txBody>
      </p:sp>
      <p:sp>
        <p:nvSpPr>
          <p:cNvPr id="13" name="arr"/>
          <p:cNvSpPr/>
          <p:nvPr/>
        </p:nvSpPr>
        <p:spPr>
          <a:xfrm>
            <a:off x="5236000" y="2370000"/>
            <a:ext cx="220000" cy="22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 row0 name"/>
          <p:cNvSpPr/>
          <p:nvPr/>
        </p:nvSpPr>
        <p:spPr>
          <a:xfrm>
            <a:off x="497190" y="263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① 참조 모델</a:t>
            </a:r>
          </a:p>
          <a:p>
            <a:pPr algn="ctr"/>
            <a:r>
              <a:rPr sz="1200" b="0">
                <a:solidFill>
                  <a:srgbClr val="FFFFFF"/>
                </a:solidFill>
                <a:latin typeface="맑은 고딕"/>
                <a:ea typeface="맑은 고딕"/>
              </a:rPr>
              <a:t>평가할 업무 목록</a:t>
            </a:r>
          </a:p>
        </p:txBody>
      </p:sp>
      <p:sp>
        <p:nvSpPr>
          <p:cNvPr id="15" name="m row0 scale"/>
          <p:cNvSpPr/>
          <p:nvPr/>
        </p:nvSpPr>
        <p:spPr>
          <a:xfrm>
            <a:off x="3117190" y="263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연계 프로세스 16종</a:t>
            </a:r>
          </a:p>
        </p:txBody>
      </p:sp>
      <p:sp>
        <p:nvSpPr>
          <p:cNvPr id="16" name="m row0 expl"/>
          <p:cNvSpPr/>
          <p:nvPr/>
        </p:nvSpPr>
        <p:spPr>
          <a:xfrm>
            <a:off x="6237190" y="263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연계 지점을 업무 단위로 묶고, 제목·목적·성과·활동으로 적음</a:t>
            </a:r>
          </a:p>
        </p:txBody>
      </p:sp>
      <p:sp>
        <p:nvSpPr>
          <p:cNvPr id="17" name="arr"/>
          <p:cNvSpPr/>
          <p:nvPr/>
        </p:nvSpPr>
        <p:spPr>
          <a:xfrm>
            <a:off x="1637190" y="347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 row1 name"/>
          <p:cNvSpPr/>
          <p:nvPr/>
        </p:nvSpPr>
        <p:spPr>
          <a:xfrm>
            <a:off x="497190" y="367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② 평가 모델</a:t>
            </a:r>
          </a:p>
          <a:p>
            <a:pPr algn="ctr"/>
            <a:r>
              <a:rPr sz="1200" b="0">
                <a:solidFill>
                  <a:srgbClr val="FFFFFF"/>
                </a:solidFill>
                <a:latin typeface="맑은 고딕"/>
                <a:ea typeface="맑은 고딕"/>
              </a:rPr>
              <a:t>채점표</a:t>
            </a:r>
          </a:p>
        </p:txBody>
      </p:sp>
      <p:sp>
        <p:nvSpPr>
          <p:cNvPr id="19" name="m row1 scale"/>
          <p:cNvSpPr/>
          <p:nvPr/>
        </p:nvSpPr>
        <p:spPr>
          <a:xfrm>
            <a:off x="3117190" y="367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평가 문항 55 · 문항별 판정 기준 · 증거 목록</a:t>
            </a:r>
          </a:p>
        </p:txBody>
      </p:sp>
      <p:sp>
        <p:nvSpPr>
          <p:cNvPr id="20" name="m row1 expl"/>
          <p:cNvSpPr/>
          <p:nvPr/>
        </p:nvSpPr>
        <p:spPr>
          <a:xfrm>
            <a:off x="6237190" y="367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업무마다 「되어 있는가」를 묻고, 확인 항목 개수로 1~5점</a:t>
            </a:r>
          </a:p>
        </p:txBody>
      </p:sp>
      <p:sp>
        <p:nvSpPr>
          <p:cNvPr id="21" name="arr"/>
          <p:cNvSpPr/>
          <p:nvPr/>
        </p:nvSpPr>
        <p:spPr>
          <a:xfrm>
            <a:off x="1637190" y="451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 row2 name"/>
          <p:cNvSpPr/>
          <p:nvPr/>
        </p:nvSpPr>
        <p:spPr>
          <a:xfrm>
            <a:off x="497190" y="471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③ 성숙도 모델</a:t>
            </a:r>
          </a:p>
          <a:p>
            <a:pPr algn="ctr"/>
            <a:r>
              <a:rPr sz="1200" b="0">
                <a:solidFill>
                  <a:srgbClr val="FFFFFF"/>
                </a:solidFill>
                <a:latin typeface="맑은 고딕"/>
                <a:ea typeface="맑은 고딕"/>
              </a:rPr>
              <a:t>수준 규칙</a:t>
            </a:r>
          </a:p>
        </p:txBody>
      </p:sp>
      <p:sp>
        <p:nvSpPr>
          <p:cNvPr id="23" name="m row2 scale"/>
          <p:cNvSpPr/>
          <p:nvPr/>
        </p:nvSpPr>
        <p:spPr>
          <a:xfrm>
            <a:off x="3117190" y="471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ML0~ML5 여섯 수준 · 핵심 문항 4종</a:t>
            </a:r>
          </a:p>
        </p:txBody>
      </p:sp>
      <p:sp>
        <p:nvSpPr>
          <p:cNvPr id="24" name="m row2 expl"/>
          <p:cNvSpPr/>
          <p:nvPr/>
        </p:nvSpPr>
        <p:spPr>
          <a:xfrm>
            <a:off x="6237190" y="471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점수를 수준으로 바꾸는 규칙 — 핵심 문항 4종은 하나라도 빠지면 ML2에서 멈춤</a:t>
            </a:r>
          </a:p>
        </p:txBody>
      </p:sp>
      <p:sp>
        <p:nvSpPr>
          <p:cNvPr id="25" name="arr"/>
          <p:cNvSpPr/>
          <p:nvPr/>
        </p:nvSpPr>
        <p:spPr>
          <a:xfrm>
            <a:off x="1637190" y="555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 out"/>
          <p:cNvSpPr/>
          <p:nvPr/>
        </p:nvSpPr>
        <p:spPr>
          <a:xfrm>
            <a:off x="497190" y="5770000"/>
            <a:ext cx="2500000" cy="560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판정 — 성숙도 수준</a:t>
            </a:r>
          </a:p>
        </p:txBody>
      </p:sp>
      <p:sp>
        <p:nvSpPr>
          <p:cNvPr id="27" name="m out expl"/>
          <p:cNvSpPr/>
          <p:nvPr/>
        </p:nvSpPr>
        <p:spPr>
          <a:xfrm>
            <a:off x="3117190" y="5770000"/>
            <a:ext cx="7077620" cy="56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1">
                <a:solidFill>
                  <a:srgbClr val="C00000"/>
                </a:solidFill>
                <a:latin typeface="맑은 고딕"/>
                <a:ea typeface="맑은 고딕"/>
              </a:rPr>
              <a:t>회사의 연계가 ML0(도입 전)~ML5(혁신화) 가운데 어디에 있는지 — 종합점수는 판정에 쓰지 않는 보조값</a:t>
            </a:r>
          </a:p>
        </p:txBody>
      </p:sp>
      <p:sp>
        <p:nvSpPr>
          <p:cNvPr id="28" name="m verify"/>
          <p:cNvSpPr txBox="1"/>
          <p:nvPr/>
        </p:nvSpPr>
        <p:spPr>
          <a:xfrm>
            <a:off x="497190" y="6450000"/>
            <a:ext cx="9697620" cy="38000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검증 두 방향 — ① 추적성: 문항마다 어느 조항에서 왔는지 따라감  ② 표준 적합성: ISO/IEC 33004 요구사항 24건 자체점검(충족 22·해당 없음 1·보완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표준의 조항 매핑</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같은 물음을 물어 연계 가능성을 네 등급으로 판정하였다.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sp>
        <p:nvSpPr>
          <p:cNvPr id="12" name="Terms 13"/>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shall = 「반드시 해야 한다」는 의무, should = 권고 — KS 번역본에서 어느 문장이 의무이고 권고인지는 KS A 0001(표준의 서식과 작성방법) 부속서 I의 문장 말미 형태로 가름  ·  정밀검토 = LCA 결과를 제3자나 내부 전문가가 검토하는 절차(ISO 14044 6절)</a:t>
            </a:r>
          </a:p>
        </p:txBody>
      </p:sp>
      <p:sp>
        <p:nvSpPr>
          <p:cNvPr id="13" name="q head"/>
          <p:cNvSpPr txBox="1"/>
          <p:nvPr/>
        </p:nvSpPr>
        <p:spPr>
          <a:xfrm>
            <a:off x="497190" y="1179576"/>
            <a:ext cx="9697620" cy="32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네 가지 판정 질문 — 30개 조항 전부에 같은 순서로</a:t>
            </a:r>
          </a:p>
        </p:txBody>
      </p:sp>
      <p:sp>
        <p:nvSpPr>
          <p:cNvPr id="14" name="q0"/>
          <p:cNvSpPr/>
          <p:nvPr/>
        </p:nvSpPr>
        <p:spPr>
          <a:xfrm>
            <a:off x="49719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Q1</a:t>
            </a:r>
          </a:p>
          <a:p>
            <a:pPr algn="ctr"/>
            <a:r>
              <a:rPr sz="1200" b="0">
                <a:solidFill>
                  <a:srgbClr val="111111"/>
                </a:solidFill>
                <a:latin typeface="맑은 고딕"/>
                <a:ea typeface="맑은 고딕"/>
              </a:rPr>
              <a:t>전과정 관점을 요구하거나 그 결과를 직접 쓰는가</a:t>
            </a:r>
          </a:p>
        </p:txBody>
      </p:sp>
      <p:sp>
        <p:nvSpPr>
          <p:cNvPr id="15" name="q1"/>
          <p:cNvSpPr/>
          <p:nvPr/>
        </p:nvSpPr>
        <p:spPr>
          <a:xfrm>
            <a:off x="295909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Q2</a:t>
            </a:r>
          </a:p>
          <a:p>
            <a:pPr algn="ctr"/>
            <a:r>
              <a:rPr sz="1200" b="0">
                <a:solidFill>
                  <a:srgbClr val="111111"/>
                </a:solidFill>
                <a:latin typeface="맑은 고딕"/>
                <a:ea typeface="맑은 고딕"/>
              </a:rPr>
              <a:t>LCA 없이는 의무(shall)를 다 지킬 수 없는가</a:t>
            </a:r>
          </a:p>
        </p:txBody>
      </p:sp>
      <p:sp>
        <p:nvSpPr>
          <p:cNvPr id="16" name="q2"/>
          <p:cNvSpPr/>
          <p:nvPr/>
        </p:nvSpPr>
        <p:spPr>
          <a:xfrm>
            <a:off x="542100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Q3</a:t>
            </a:r>
          </a:p>
          <a:p>
            <a:pPr algn="ctr"/>
            <a:r>
              <a:rPr sz="1200" b="0">
                <a:solidFill>
                  <a:srgbClr val="111111"/>
                </a:solidFill>
                <a:latin typeface="맑은 고딕"/>
                <a:ea typeface="맑은 고딕"/>
              </a:rPr>
              <a:t>LCA 결과가 주요 입력인가</a:t>
            </a:r>
          </a:p>
        </p:txBody>
      </p:sp>
      <p:sp>
        <p:nvSpPr>
          <p:cNvPr id="17" name="q3"/>
          <p:cNvSpPr/>
          <p:nvPr/>
        </p:nvSpPr>
        <p:spPr>
          <a:xfrm>
            <a:off x="788290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Q4</a:t>
            </a:r>
          </a:p>
          <a:p>
            <a:pPr algn="ctr"/>
            <a:r>
              <a:rPr sz="1200" b="0">
                <a:solidFill>
                  <a:srgbClr val="111111"/>
                </a:solidFill>
                <a:latin typeface="맑은 고딕"/>
                <a:ea typeface="맑은 고딕"/>
              </a:rPr>
              <a:t>보조 정보라도 주는가</a:t>
            </a:r>
          </a:p>
        </p:txBody>
      </p:sp>
      <p:sp>
        <p:nvSpPr>
          <p:cNvPr id="18" name="q to"/>
          <p:cNvSpPr txBox="1"/>
          <p:nvPr/>
        </p:nvSpPr>
        <p:spPr>
          <a:xfrm>
            <a:off x="497190" y="2553976"/>
            <a:ext cx="9697620" cy="320000"/>
          </a:xfrm>
          <a:prstGeom prst="rect">
            <a:avLst/>
          </a:prstGeom>
          <a:noFill/>
        </p:spPr>
        <p:txBody>
          <a:bodyPr wrap="square" lIns="45720" rIns="45720" tIns="20000" bIns="20000">
            <a:spAutoFit/>
          </a:bodyPr>
          <a:lstStyle/>
          <a:p>
            <a:pPr algn="ctr"/>
            <a:r>
              <a:rPr sz="1200" b="0">
                <a:solidFill>
                  <a:srgbClr val="595959"/>
                </a:solidFill>
                <a:latin typeface="맑은 고딕"/>
                <a:ea typeface="맑은 고딕"/>
              </a:rPr>
              <a:t>▼  「예」가 앞쪽 물음에서 나올수록 연계 가능성이 높다 — 네 등급으로 매김</a:t>
            </a:r>
          </a:p>
        </p:txBody>
      </p:sp>
      <p:sp>
        <p:nvSpPr>
          <p:cNvPr id="19" name="bar lab0"/>
          <p:cNvSpPr/>
          <p:nvPr/>
        </p:nvSpPr>
        <p:spPr>
          <a:xfrm>
            <a:off x="497190" y="2913976"/>
            <a:ext cx="1463040" cy="603504"/>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매우 높음  4</a:t>
            </a:r>
          </a:p>
        </p:txBody>
      </p:sp>
      <p:sp>
        <p:nvSpPr>
          <p:cNvPr id="20" name="bar0"/>
          <p:cNvSpPr/>
          <p:nvPr/>
        </p:nvSpPr>
        <p:spPr>
          <a:xfrm>
            <a:off x="2060230" y="2913976"/>
            <a:ext cx="5423053" cy="603504"/>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300" b="1">
                <a:solidFill>
                  <a:srgbClr val="C00000"/>
                </a:solidFill>
                <a:latin typeface="맑은 고딕"/>
                <a:ea typeface="맑은 고딕"/>
              </a:rPr>
              <a:t>6.1.2 환경측면 · 6.2.1 환경목표 · 8.1 운용기획 및 관리 · 9.1.1 모니터링  —  뒤의 핵심 문항 4종의 자리</a:t>
            </a:r>
          </a:p>
        </p:txBody>
      </p:sp>
      <p:sp>
        <p:nvSpPr>
          <p:cNvPr id="21" name="bar lab1"/>
          <p:cNvSpPr/>
          <p:nvPr/>
        </p:nvSpPr>
        <p:spPr>
          <a:xfrm>
            <a:off x="497190" y="3597480"/>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높음  12</a:t>
            </a:r>
          </a:p>
        </p:txBody>
      </p:sp>
      <p:sp>
        <p:nvSpPr>
          <p:cNvPr id="22" name="bar1"/>
          <p:cNvSpPr/>
          <p:nvPr/>
        </p:nvSpPr>
        <p:spPr>
          <a:xfrm>
            <a:off x="2060230" y="3597480"/>
            <a:ext cx="8134580"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 결과가 주요 입력 — 없이도 되지만 품질이 떨어짐</a:t>
            </a:r>
          </a:p>
        </p:txBody>
      </p:sp>
      <p:sp>
        <p:nvSpPr>
          <p:cNvPr id="23" name="bar lab2"/>
          <p:cNvSpPr/>
          <p:nvPr/>
        </p:nvSpPr>
        <p:spPr>
          <a:xfrm>
            <a:off x="497190" y="4280984"/>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중간  10</a:t>
            </a:r>
          </a:p>
        </p:txBody>
      </p:sp>
      <p:sp>
        <p:nvSpPr>
          <p:cNvPr id="24" name="bar2"/>
          <p:cNvSpPr/>
          <p:nvPr/>
        </p:nvSpPr>
        <p:spPr>
          <a:xfrm>
            <a:off x="2060230" y="4280984"/>
            <a:ext cx="7456698"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LCA는 보조 정보</a:t>
            </a:r>
          </a:p>
        </p:txBody>
      </p:sp>
      <p:sp>
        <p:nvSpPr>
          <p:cNvPr id="25" name="bar lab3"/>
          <p:cNvSpPr/>
          <p:nvPr/>
        </p:nvSpPr>
        <p:spPr>
          <a:xfrm>
            <a:off x="497190" y="4964488"/>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낮음  4</a:t>
            </a:r>
          </a:p>
        </p:txBody>
      </p:sp>
      <p:sp>
        <p:nvSpPr>
          <p:cNvPr id="26" name="bar3"/>
          <p:cNvSpPr/>
          <p:nvPr/>
        </p:nvSpPr>
        <p:spPr>
          <a:xfrm>
            <a:off x="2060230" y="4964488"/>
            <a:ext cx="5423053"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조항 본질이 LCA 영역 밖</a:t>
            </a:r>
          </a:p>
        </p:txBody>
      </p:sp>
      <p:sp>
        <p:nvSpPr>
          <p:cNvPr id="27" name="map foot"/>
          <p:cNvSpPr txBox="1"/>
          <p:nvPr/>
        </p:nvSpPr>
        <p:spPr>
          <a:xfrm>
            <a:off x="497190" y="5707992"/>
            <a:ext cx="9697620" cy="54864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ISO 14001 30개 조항(7.4.1~7.4.3은 7.4로 통합)을 전부 판정 — 55문항 중 44는 ISO 14001 조항에, 11은 ISO 14044 고유 요건에 대응. 조항별 판정 전문은 백업 B-1(흐름)·B-1a(등급표)·부록 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지점 — 두 관리 주기가 만나는 곳</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지점 가운데 하나가 끊기면 순환이 그 단계에서 멈춘다.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[그림 3-4]</a:t>
            </a:r>
          </a:p>
        </p:txBody>
      </p:sp>
      <p:pic>
        <p:nvPicPr>
          <p:cNvPr id="8" name="Picture 7" descr="f3-3.jpg"/>
          <p:cNvPicPr>
            <a:picLocks noChangeAspect="1"/>
          </p:cNvPicPr>
          <p:nvPr/>
        </p:nvPicPr>
        <p:blipFill>
          <a:blip r:embed="rId2"/>
          <a:stretch>
            <a:fillRect/>
          </a:stretch>
        </p:blipFill>
        <p:spPr>
          <a:xfrm>
            <a:off x="497190" y="1250000"/>
            <a:ext cx="5760720" cy="4320539"/>
          </a:xfrm>
          <a:prstGeom prst="rect">
            <a:avLst/>
          </a:prstGeom>
        </p:spPr>
      </p:pic>
      <p:sp>
        <p:nvSpPr>
          <p:cNvPr id="9" name="TextBox 8"/>
          <p:cNvSpPr txBox="1"/>
          <p:nvPr/>
        </p:nvSpPr>
        <p:spPr>
          <a:xfrm>
            <a:off x="497190" y="5650539"/>
            <a:ext cx="5760720" cy="518160"/>
          </a:xfrm>
          <a:prstGeom prst="rect">
            <a:avLst/>
          </a:prstGeom>
          <a:noFill/>
        </p:spPr>
        <p:txBody>
          <a:bodyPr wrap="square" anchor="t" lIns="0" rIns="0" tIns="0" bIns="0">
            <a:spAutoFit/>
          </a:bodyPr>
          <a:lstStyle/>
          <a:p>
            <a:r>
              <a:rPr sz="1500" b="0" i="0" a:lang="ko-KR">
                <a:solidFill>
                  <a:srgbClr val="111111"/>
                </a:solidFill>
                <a:latin typeface="맑은 고딕"/>
                <a:ea typeface="맑은 고딕"/>
              </a:rPr>
              <a:t>왼쪽 — ISO 14001의 관리 주기(계획–실행–점검–조치) / 오른쪽 — ISO 14044의 4단계. 두 주기가 만나는 곳이 연계 지점이고, 네 곳 가운데 하나가 끊기면 순환이 그 단계에서 멈춘다.</a:t>
            </a:r>
          </a:p>
        </p:txBody>
      </p:sp>
      <p:sp>
        <p:nvSpPr>
          <p:cNvPr id="10" name="Terms 1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연계 지점(linkage point) = 매핑에서 확인된 두 표준의 결합 지점  ·  핵심 연계 지점 = 그 가운데 연계 성립에 필수인 네 곳</a:t>
            </a:r>
          </a:p>
        </p:txBody>
      </p:sp>
      <p:sp>
        <p:nvSpPr>
          <p:cNvPr id="11" name="lp head"/>
          <p:cNvSpPr txBox="1"/>
          <p:nvPr/>
        </p:nvSpPr>
        <p:spPr>
          <a:xfrm>
            <a:off x="6487910" y="1250000"/>
            <a:ext cx="3706900" cy="330000"/>
          </a:xfrm>
          <a:prstGeom prst="rect">
            <a:avLst/>
          </a:prstGeom>
          <a:noFill/>
        </p:spPr>
        <p:txBody>
          <a:bodyPr wrap="square" lIns="45720" rIns="45720" tIns="20000" bIns="20000">
            <a:spAutoFit/>
          </a:bodyPr>
          <a:lstStyle/>
          <a:p>
            <a:r>
              <a:rPr sz="1400" b="1">
                <a:solidFill>
                  <a:srgbClr val="1F3864"/>
                </a:solidFill>
                <a:latin typeface="맑은 고딕"/>
                <a:ea typeface="맑은 고딕"/>
              </a:rPr>
              <a:t>핵심 연계 지점 네 곳 — 굵은 선 ①~④</a:t>
            </a:r>
          </a:p>
        </p:txBody>
      </p:sp>
      <p:sp>
        <p:nvSpPr>
          <p:cNvPr id="12" name="lp0"/>
          <p:cNvSpPr/>
          <p:nvPr/>
        </p:nvSpPr>
        <p:spPr>
          <a:xfrm>
            <a:off x="6487910" y="163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① 환경측면(6.1.2) ↔ LCA 영향평가</a:t>
            </a:r>
          </a:p>
          <a:p>
            <a:r>
              <a:rPr sz="1200" b="0">
                <a:solidFill>
                  <a:srgbClr val="111111"/>
                </a:solidFill>
                <a:latin typeface="맑은 고딕"/>
                <a:ea typeface="맑은 고딕"/>
              </a:rPr>
              <a:t>영향이 가장 큰 곳(Hotspot)을 환경측면 결정의 근거로 쓴다</a:t>
            </a:r>
          </a:p>
        </p:txBody>
      </p:sp>
      <p:sp>
        <p:nvSpPr>
          <p:cNvPr id="13" name="lp1"/>
          <p:cNvSpPr/>
          <p:nvPr/>
        </p:nvSpPr>
        <p:spPr>
          <a:xfrm>
            <a:off x="6487910" y="272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② 환경목표(6.2.1) ↔ LCA 해석</a:t>
            </a:r>
          </a:p>
          <a:p>
            <a:r>
              <a:rPr sz="1200" b="0">
                <a:solidFill>
                  <a:srgbClr val="111111"/>
                </a:solidFill>
                <a:latin typeface="맑은 고딕"/>
                <a:ea typeface="맑은 고딕"/>
              </a:rPr>
              <a:t>Hotspot을 근거로 숫자 목표를 세운다</a:t>
            </a:r>
          </a:p>
        </p:txBody>
      </p:sp>
      <p:sp>
        <p:nvSpPr>
          <p:cNvPr id="14" name="lp2"/>
          <p:cNvSpPr/>
          <p:nvPr/>
        </p:nvSpPr>
        <p:spPr>
          <a:xfrm>
            <a:off x="6487910" y="381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③ 설계·개발(8.1) ↔ LCA 목록분석</a:t>
            </a:r>
          </a:p>
          <a:p>
            <a:r>
              <a:rPr sz="1200" b="0">
                <a:solidFill>
                  <a:srgbClr val="111111"/>
                </a:solidFill>
                <a:latin typeface="맑은 고딕"/>
                <a:ea typeface="맑은 고딕"/>
              </a:rPr>
              <a:t>설계할 때 LCA 결과를 반영한다</a:t>
            </a:r>
          </a:p>
        </p:txBody>
      </p:sp>
      <p:sp>
        <p:nvSpPr>
          <p:cNvPr id="15" name="lp3"/>
          <p:cNvSpPr/>
          <p:nvPr/>
        </p:nvSpPr>
        <p:spPr>
          <a:xfrm>
            <a:off x="6487910" y="490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④ 모니터링(9.1.1) ↔ LCA 재수행</a:t>
            </a:r>
          </a:p>
          <a:p>
            <a:r>
              <a:rPr sz="1200" b="0">
                <a:solidFill>
                  <a:srgbClr val="111111"/>
                </a:solidFill>
                <a:latin typeface="맑은 고딕"/>
                <a:ea typeface="맑은 고딕"/>
              </a:rPr>
              <a:t>개선 전·후를 LCA로 다시 측정해 비교한다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참조 모델 — 연계 프로세스 16종</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지점을 업무 단위로 묶고 표준의 형식으로 기술하였다.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3.2.1, 3.2.3, [그림 3-6], [표 3-4]</a:t>
            </a:r>
          </a:p>
        </p:txBody>
      </p:sp>
      <p:pic>
        <p:nvPicPr>
          <p:cNvPr id="8" name="Picture 7" descr="f3-5.png"/>
          <p:cNvPicPr>
            <a:picLocks noChangeAspect="1"/>
          </p:cNvPicPr>
          <p:nvPr/>
        </p:nvPicPr>
        <p:blipFill>
          <a:blip r:embed="rId2"/>
          <a:stretch>
            <a:fillRect/>
          </a:stretch>
        </p:blipFill>
        <p:spPr>
          <a:xfrm>
            <a:off x="1158986" y="1233360"/>
            <a:ext cx="8374028" cy="4337023"/>
          </a:xfrm>
          <a:prstGeom prst="rect">
            <a:avLst/>
          </a:prstGeom>
        </p:spPr>
      </p:pic>
      <p:sp>
        <p:nvSpPr>
          <p:cNvPr id="9" name="Rounded Rectangle 8"/>
          <p:cNvSpPr/>
          <p:nvPr/>
        </p:nvSpPr>
        <p:spPr>
          <a:xfrm>
            <a:off x="497190" y="5640384"/>
            <a:ext cx="2285472" cy="7560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P 계획</a:t>
            </a:r>
          </a:p>
          <a:p>
            <a:pPr algn="ctr"/>
            <a:r>
              <a:rPr sz="1200" b="0" i="0" a:lang="ko-KR">
                <a:solidFill>
                  <a:srgbClr val="FFFFFF"/>
                </a:solidFill>
                <a:latin typeface="맑은 고딕"/>
                <a:ea typeface="맑은 고딕"/>
              </a:rPr>
              <a:t>8종 · LP.1~LP.8</a:t>
            </a:r>
          </a:p>
        </p:txBody>
      </p:sp>
      <p:sp>
        <p:nvSpPr>
          <p:cNvPr id="10" name="Rounded Rectangle 9"/>
          <p:cNvSpPr/>
          <p:nvPr/>
        </p:nvSpPr>
        <p:spPr>
          <a:xfrm>
            <a:off x="2902951" y="5640384"/>
            <a:ext cx="2285472" cy="7560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D 실행</a:t>
            </a:r>
          </a:p>
          <a:p>
            <a:pPr algn="ctr"/>
            <a:r>
              <a:rPr sz="1200" b="0" i="0" a:lang="ko-KR">
                <a:solidFill>
                  <a:srgbClr val="FFFFFF"/>
                </a:solidFill>
                <a:latin typeface="맑은 고딕"/>
                <a:ea typeface="맑은 고딕"/>
              </a:rPr>
              <a:t>2종 · LD.1~LD.2</a:t>
            </a:r>
          </a:p>
        </p:txBody>
      </p:sp>
      <p:sp>
        <p:nvSpPr>
          <p:cNvPr id="11" name="Rounded Rectangle 10"/>
          <p:cNvSpPr/>
          <p:nvPr/>
        </p:nvSpPr>
        <p:spPr>
          <a:xfrm>
            <a:off x="5308711" y="5640384"/>
            <a:ext cx="2285472" cy="756000"/>
          </a:xfrm>
          <a:prstGeom prst="roundRect">
            <a:avLst>
              <a:gd name="adj" fmla="val 8000"/>
            </a:avLst>
          </a:prstGeom>
          <a:solidFill>
            <a:srgbClr val="C77B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C 점검</a:t>
            </a:r>
          </a:p>
          <a:p>
            <a:pPr algn="ctr"/>
            <a:r>
              <a:rPr sz="1200" b="0" i="0" a:lang="ko-KR">
                <a:solidFill>
                  <a:srgbClr val="FFFFFF"/>
                </a:solidFill>
                <a:latin typeface="맑은 고딕"/>
                <a:ea typeface="맑은 고딕"/>
              </a:rPr>
              <a:t>3종 · LC.1~LC.3</a:t>
            </a:r>
          </a:p>
        </p:txBody>
      </p:sp>
      <p:sp>
        <p:nvSpPr>
          <p:cNvPr id="12" name="Rounded Rectangle 11"/>
          <p:cNvSpPr/>
          <p:nvPr/>
        </p:nvSpPr>
        <p:spPr>
          <a:xfrm>
            <a:off x="7714471" y="5640384"/>
            <a:ext cx="2285472" cy="7560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A 개선</a:t>
            </a:r>
          </a:p>
          <a:p>
            <a:pPr algn="ctr"/>
            <a:r>
              <a:rPr sz="1200" b="0" i="0" a:lang="ko-KR">
                <a:solidFill>
                  <a:srgbClr val="FFFFFF"/>
                </a:solidFill>
                <a:latin typeface="맑은 고딕"/>
                <a:ea typeface="맑은 고딕"/>
              </a:rPr>
              <a:t>3종 · LA.1~LA.3</a:t>
            </a:r>
          </a:p>
        </p:txBody>
      </p:sp>
      <p:sp>
        <p:nvSpPr>
          <p:cNvPr id="13" name="TextBox 12"/>
          <p:cNvSpPr txBox="1"/>
          <p:nvPr/>
        </p:nvSpPr>
        <p:spPr>
          <a:xfrm>
            <a:off x="497190" y="6466384"/>
            <a:ext cx="9695214" cy="483616"/>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L = 연계(Linkage), LP·LD·LC·LA = 연계 프로세스의 계획·실행·점검·개선. 각 프로세스는 제목·목적·성과·활동의 형식으로 기술 — KS X ISO 8000-61 5.3의 형식.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평가 모델 — 55문항과 채점 기준</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점수는 평가자의 재량이 아니라 체크포인트 충족 개수로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3.3.1~3.3.3, [그림 3-8], [표 3-6], 부록 C</a:t>
            </a:r>
          </a:p>
        </p:txBody>
      </p:sp>
      <p:pic>
        <p:nvPicPr>
          <p:cNvPr id="8" name="Picture 7" descr="f3-6.png"/>
          <p:cNvPicPr>
            <a:picLocks noChangeAspect="1"/>
          </p:cNvPicPr>
          <p:nvPr/>
        </p:nvPicPr>
        <p:blipFill>
          <a:blip r:embed="rId2"/>
          <a:stretch>
            <a:fillRect/>
          </a:stretch>
        </p:blipFill>
        <p:spPr>
          <a:xfrm>
            <a:off x="497190" y="1250000"/>
            <a:ext cx="5394960" cy="2669055"/>
          </a:xfrm>
          <a:prstGeom prst="rect">
            <a:avLst/>
          </a:prstGeom>
        </p:spPr>
      </p:pic>
      <p:sp>
        <p:nvSpPr>
          <p:cNvPr id="9" name="TextBox 8"/>
          <p:cNvSpPr txBox="1"/>
          <p:nvPr/>
        </p:nvSpPr>
        <p:spPr>
          <a:xfrm>
            <a:off x="497190" y="4019055"/>
            <a:ext cx="5394960" cy="1500000"/>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55문항 = ISO 14001 조항 대응 44 + ISO 14044 고유 11 (계획 30 · 실행 6 · 점검 10 · 개선 9)</a:t>
            </a:r>
          </a:p>
          <a:p>
            <a:r>
              <a:rPr sz="1300" b="0">
                <a:solidFill>
                  <a:srgbClr val="111111"/>
                </a:solidFill>
                <a:latin typeface="맑은 고딕"/>
                <a:ea typeface="맑은 고딕"/>
              </a:rPr>
              <a:t>문항마다 「무엇을 증거로 볼지」와 「어느 상태를 몇 점으로 볼지」(BARS 앵커)를 미리 정해 둠</a:t>
            </a:r>
          </a:p>
          <a:p>
            <a:r>
              <a:rPr sz="1150" b="0">
                <a:solidFill>
                  <a:srgbClr val="595959"/>
                </a:solidFill>
                <a:latin typeface="맑은 고딕"/>
                <a:ea typeface="맑은 고딕"/>
              </a:rPr>
              <a:t>그림 — 평가 문항 → 판정 기준 → 평가 기록부 → 평가 보고서의 순서로 쓰이는 평가 모델의 구성 [그림 3-8]</a:t>
            </a:r>
          </a:p>
        </p:txBody>
      </p:sp>
      <p:sp>
        <p:nvSpPr>
          <p:cNvPr id="13" name="Terms 1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체크포인트 = 문항마다 「이것이 있는가」를 확인하는 항목(필수·추가)  ·  BARS 앵커(BARS: Behaviorally Anchored Rating Scale, 행동기술척도) = 1~5점 각각이 어떤 상태인지 말로 적어 둔 기준 — 평가자가 달라도 같은 점수가 나오게 함</a:t>
            </a:r>
          </a:p>
        </p:txBody>
      </p:sp>
      <p:sp>
        <p:nvSpPr>
          <p:cNvPr id="14" name="sc head"/>
          <p:cNvSpPr/>
          <p:nvPr/>
        </p:nvSpPr>
        <p:spPr>
          <a:xfrm>
            <a:off x="6122150" y="1250000"/>
            <a:ext cx="407266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FFFFFF"/>
                </a:solidFill>
                <a:latin typeface="맑은 고딕"/>
                <a:ea typeface="맑은 고딕"/>
              </a:rPr>
              <a:t>채점 방법 — 세 단계</a:t>
            </a:r>
          </a:p>
        </p:txBody>
      </p:sp>
      <p:sp>
        <p:nvSpPr>
          <p:cNvPr id="15" name="sc0"/>
          <p:cNvSpPr/>
          <p:nvPr/>
        </p:nvSpPr>
        <p:spPr>
          <a:xfrm>
            <a:off x="6122150" y="177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① 확인할 항목을 미리 정한다</a:t>
            </a:r>
          </a:p>
          <a:p>
            <a:r>
              <a:rPr sz="1200" b="0">
                <a:solidFill>
                  <a:srgbClr val="111111"/>
                </a:solidFill>
                <a:latin typeface="맑은 고딕"/>
                <a:ea typeface="맑은 고딕"/>
              </a:rPr>
              <a:t>문항마다 필수 항목(shall)과 추가 항목(should)을 적어 둠 — 체크포인트</a:t>
            </a:r>
          </a:p>
        </p:txBody>
      </p:sp>
      <p:sp>
        <p:nvSpPr>
          <p:cNvPr id="16" name="sc1"/>
          <p:cNvSpPr/>
          <p:nvPr/>
        </p:nvSpPr>
        <p:spPr>
          <a:xfrm>
            <a:off x="6122150" y="286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② 회사 문서를 보고 그 항목이 충족되었는지 확인한다</a:t>
            </a:r>
          </a:p>
          <a:p>
            <a:r>
              <a:rPr sz="1200" b="0">
                <a:solidFill>
                  <a:srgbClr val="111111"/>
                </a:solidFill>
                <a:latin typeface="맑은 고딕"/>
                <a:ea typeface="맑은 고딕"/>
              </a:rPr>
              <a:t>구두 설명은 인정하지 않고 문서·기록만</a:t>
            </a:r>
          </a:p>
        </p:txBody>
      </p:sp>
      <p:sp>
        <p:nvSpPr>
          <p:cNvPr id="17" name="sc2"/>
          <p:cNvSpPr/>
          <p:nvPr/>
        </p:nvSpPr>
        <p:spPr>
          <a:xfrm>
            <a:off x="6122150" y="395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③ 충족한 체크포인트 개수가 점수 (BARS 앵커)</a:t>
            </a:r>
          </a:p>
          <a:p>
            <a:r>
              <a:rPr sz="1200" b="0">
                <a:solidFill>
                  <a:srgbClr val="111111"/>
                </a:solidFill>
                <a:latin typeface="맑은 고딕"/>
                <a:ea typeface="맑은 고딕"/>
              </a:rPr>
              <a:t>필수 전부 있으면 3점(기준선) · 추가까지 있으면 4·5점 · 필수가 빠지면 1·2점</a:t>
            </a:r>
          </a:p>
        </p:txBody>
      </p:sp>
      <p:sp>
        <p:nvSpPr>
          <p:cNvPr id="18" name="sc ex"/>
          <p:cNvSpPr/>
          <p:nvPr/>
        </p:nvSpPr>
        <p:spPr>
          <a:xfrm>
            <a:off x="6122150" y="5040000"/>
            <a:ext cx="4072660" cy="9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C00000"/>
                </a:solidFill>
                <a:latin typeface="맑은 고딕"/>
                <a:ea typeface="맑은 고딕"/>
              </a:rPr>
              <a:t>예 — ★ D-1 설계·개발 단계의 LCA 결과 반영</a:t>
            </a:r>
          </a:p>
          <a:p>
            <a:r>
              <a:rPr sz="1200" b="0">
                <a:solidFill>
                  <a:srgbClr val="111111"/>
                </a:solidFill>
                <a:latin typeface="맑은 고딕"/>
                <a:ea typeface="맑은 고딕"/>
              </a:rPr>
              <a:t>필수 3개 가운데 2개만 있어 2점 — 4장에서 판정을 정한 문항. 점수별 기준 전문은 백업 B-10a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 — 판정 규칙과 핵심 문항</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핵심 문항 하나라도 3점 미만이면 평균과 관계없이 상한은 ML2다.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3.4.1~3.4.3, [표 3-7], [표 3-8]</a:t>
            </a:r>
          </a:p>
        </p:txBody>
      </p:sp>
      <p:sp>
        <p:nvSpPr>
          <p:cNvPr id="9" name="TextBox 8"/>
          <p:cNvSpPr txBox="1"/>
          <p:nvPr/>
        </p:nvSpPr>
        <p:spPr>
          <a:xfrm>
            <a:off x="7377665" y="1180000"/>
            <a:ext cx="2806720" cy="403200"/>
          </a:xfrm>
          <a:prstGeom prst="rect">
            <a:avLst/>
          </a:prstGeom>
          <a:noFill/>
        </p:spPr>
        <p:txBody>
          <a:bodyPr wrap="square" anchor="t" lIns="0" rIns="0" tIns="0" bIns="0">
            <a:spAutoFit/>
          </a:bodyPr>
          <a:lstStyle/>
          <a:p>
            <a:r>
              <a:rPr sz="1400" b="1" i="0" a:lang="ko-KR">
                <a:solidFill>
                  <a:srgbClr val="2E74B5"/>
                </a:solidFill>
                <a:latin typeface="맑은 고딕"/>
                <a:ea typeface="맑은 고딕"/>
              </a:rPr>
              <a:t>핵심 문항 4종 — 연계 성립의 필요조건</a:t>
            </a:r>
          </a:p>
        </p:txBody>
      </p:sp>
      <p:sp>
        <p:nvSpPr>
          <p:cNvPr id="10" name="Rounded Rectangle 9"/>
          <p:cNvSpPr/>
          <p:nvPr/>
        </p:nvSpPr>
        <p:spPr>
          <a:xfrm>
            <a:off x="7377665" y="163360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P-9</a:t>
            </a:r>
          </a:p>
        </p:txBody>
      </p:sp>
      <p:sp>
        <p:nvSpPr>
          <p:cNvPr id="11" name="Rounded Rectangle 10"/>
          <p:cNvSpPr/>
          <p:nvPr/>
        </p:nvSpPr>
        <p:spPr>
          <a:xfrm>
            <a:off x="8099393" y="163360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① 전과정 관점 환경측면 결정 (6.1.2)</a:t>
            </a:r>
          </a:p>
        </p:txBody>
      </p:sp>
      <p:sp>
        <p:nvSpPr>
          <p:cNvPr id="12" name="Rounded Rectangle 11"/>
          <p:cNvSpPr/>
          <p:nvPr/>
        </p:nvSpPr>
        <p:spPr>
          <a:xfrm>
            <a:off x="7377665" y="235936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P-14</a:t>
            </a:r>
          </a:p>
        </p:txBody>
      </p:sp>
      <p:sp>
        <p:nvSpPr>
          <p:cNvPr id="13" name="Rounded Rectangle 12"/>
          <p:cNvSpPr/>
          <p:nvPr/>
        </p:nvSpPr>
        <p:spPr>
          <a:xfrm>
            <a:off x="8099393" y="235936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② Hotspot 근거 정량 환경목표 (6.2.1)</a:t>
            </a:r>
          </a:p>
        </p:txBody>
      </p:sp>
      <p:sp>
        <p:nvSpPr>
          <p:cNvPr id="14" name="Rounded Rectangle 13"/>
          <p:cNvSpPr/>
          <p:nvPr/>
        </p:nvSpPr>
        <p:spPr>
          <a:xfrm>
            <a:off x="7377665" y="377561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D-1</a:t>
            </a:r>
          </a:p>
        </p:txBody>
      </p:sp>
      <p:sp>
        <p:nvSpPr>
          <p:cNvPr id="15" name="Rounded Rectangle 14"/>
          <p:cNvSpPr/>
          <p:nvPr/>
        </p:nvSpPr>
        <p:spPr>
          <a:xfrm>
            <a:off x="8099393" y="377561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③ 설계·개발 단계의 LCA 결과 반영 (8.1)</a:t>
            </a:r>
          </a:p>
        </p:txBody>
      </p:sp>
      <p:sp>
        <p:nvSpPr>
          <p:cNvPr id="16" name="Rounded Rectangle 15"/>
          <p:cNvSpPr/>
          <p:nvPr/>
        </p:nvSpPr>
        <p:spPr>
          <a:xfrm>
            <a:off x="7377665" y="450137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C-1</a:t>
            </a:r>
          </a:p>
        </p:txBody>
      </p:sp>
      <p:sp>
        <p:nvSpPr>
          <p:cNvPr id="17" name="Rounded Rectangle 16"/>
          <p:cNvSpPr/>
          <p:nvPr/>
        </p:nvSpPr>
        <p:spPr>
          <a:xfrm>
            <a:off x="8099393" y="450137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④ LCA 기반 환경성과 모니터링 (9.1.1)</a:t>
            </a:r>
          </a:p>
        </p:txBody>
      </p:sp>
      <p:sp>
        <p:nvSpPr>
          <p:cNvPr id="18" name="Rounded Rectangle 17"/>
          <p:cNvSpPr/>
          <p:nvPr/>
        </p:nvSpPr>
        <p:spPr>
          <a:xfrm>
            <a:off x="497190" y="5720000"/>
            <a:ext cx="9695214" cy="7600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C00000"/>
                </a:solidFill>
                <a:latin typeface="맑은 고딕"/>
                <a:ea typeface="맑은 고딕"/>
              </a:rPr>
              <a:t>핵심 문항 하나라도 3점 미만이면 평균이 높아도 ML2에서 멈춘다 — 연계가 성립하지 않는 지점(핵심 문항 미달)과 연계가 얕은 지점(51문항의 점수 차)은 다르다</a:t>
            </a:r>
          </a:p>
        </p:txBody>
      </p:sp>
      <p:sp>
        <p:nvSpPr>
          <p:cNvPr id="20" name="Terms 1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Hotspot = LCA 결과에서 환경영향이 가장 큰 단계·부분  ·  비교주장 = 「우리 제품이 남의 제품보다 낫다」고 공개 주장하는 것(ISO 14044는 이때 더 엄격한 요건을 둠)  ·  종합점수 = 55문항 평균 — 판정에는 쓰지 않는 보조값</a:t>
            </a:r>
          </a:p>
        </p:txBody>
      </p:sp>
      <p:sp>
        <p:nvSpPr>
          <p:cNvPr id="21" name="ml5"/>
          <p:cNvSpPr/>
          <p:nvPr/>
        </p:nvSpPr>
        <p:spPr>
          <a:xfrm>
            <a:off x="2597190" y="1250000"/>
            <a:ext cx="462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ML5 혁신화  —  + 전 문항 3점 이상, 개선(A) 영역 전부 4점 이상</a:t>
            </a:r>
          </a:p>
        </p:txBody>
      </p:sp>
      <p:sp>
        <p:nvSpPr>
          <p:cNvPr id="22" name="ml4"/>
          <p:cNvSpPr/>
          <p:nvPr/>
        </p:nvSpPr>
        <p:spPr>
          <a:xfrm>
            <a:off x="2177190" y="1940000"/>
            <a:ext cx="504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ML4 예측화  —  + 핵심 문항 4종 모두 4점, 점검(C) 영역 전부 3점 이상</a:t>
            </a:r>
          </a:p>
        </p:txBody>
      </p:sp>
      <p:sp>
        <p:nvSpPr>
          <p:cNvPr id="23" name="ml3"/>
          <p:cNvSpPr/>
          <p:nvPr/>
        </p:nvSpPr>
        <p:spPr>
          <a:xfrm>
            <a:off x="1757190" y="2630000"/>
            <a:ext cx="5460840" cy="6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1">
                <a:solidFill>
                  <a:srgbClr val="C00000"/>
                </a:solidFill>
                <a:latin typeface="맑은 고딕"/>
                <a:ea typeface="맑은 고딕"/>
              </a:rPr>
              <a:t>ML3 체계화  —  + 핵심 문항 4종 모두 3점 이상</a:t>
            </a:r>
          </a:p>
        </p:txBody>
      </p:sp>
      <p:sp>
        <p:nvSpPr>
          <p:cNvPr id="24" name="ml2"/>
          <p:cNvSpPr/>
          <p:nvPr/>
        </p:nvSpPr>
        <p:spPr>
          <a:xfrm>
            <a:off x="1337190" y="3320000"/>
            <a:ext cx="588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ML2 관리화  —  + 나머지 51문항 가운데 절반 이상 3점</a:t>
            </a:r>
          </a:p>
        </p:txBody>
      </p:sp>
      <p:sp>
        <p:nvSpPr>
          <p:cNvPr id="25" name="ml mark"/>
          <p:cNvSpPr/>
          <p:nvPr/>
        </p:nvSpPr>
        <p:spPr>
          <a:xfrm>
            <a:off x="497190" y="2630000"/>
            <a:ext cx="1200000" cy="60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45000" bIns="45000"/>
          <a:lstStyle/>
          <a:p>
            <a:pPr algn="l"/>
            <a:r>
              <a:rPr sz="1200" b="1">
                <a:solidFill>
                  <a:srgbClr val="C00000"/>
                </a:solidFill>
                <a:latin typeface="맑은 고딕"/>
                <a:ea typeface="맑은 고딕"/>
              </a:rPr>
              <a:t>A사 ▶ ML2</a:t>
            </a:r>
          </a:p>
          <a:p>
            <a:pPr algn="l"/>
            <a:r>
              <a:rPr sz="1100" b="0">
                <a:solidFill>
                  <a:srgbClr val="C00000"/>
                </a:solidFill>
                <a:latin typeface="맑은 고딕"/>
                <a:ea typeface="맑은 고딕"/>
              </a:rPr>
              <a:t>(D-1 2점)</a:t>
            </a:r>
          </a:p>
        </p:txBody>
      </p:sp>
      <p:sp>
        <p:nvSpPr>
          <p:cNvPr id="26" name="ml1"/>
          <p:cNvSpPr/>
          <p:nvPr/>
        </p:nvSpPr>
        <p:spPr>
          <a:xfrm>
            <a:off x="917190" y="4010000"/>
            <a:ext cx="630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ML1 도입  —  핵심 문항 4종 모두 2점 이상</a:t>
            </a:r>
          </a:p>
        </p:txBody>
      </p:sp>
      <p:sp>
        <p:nvSpPr>
          <p:cNvPr id="27" name="ml0"/>
          <p:cNvSpPr/>
          <p:nvPr/>
        </p:nvSpPr>
        <p:spPr>
          <a:xfrm>
            <a:off x="497190" y="4700000"/>
            <a:ext cx="6720840" cy="6000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ML0 도입 전  —  연계 활동이 없음</a:t>
            </a:r>
          </a:p>
        </p:txBody>
      </p:sp>
      <p:sp>
        <p:nvSpPr>
          <p:cNvPr id="28" name="ml note"/>
          <p:cNvSpPr txBox="1"/>
          <p:nvPr/>
        </p:nvSpPr>
        <p:spPr>
          <a:xfrm>
            <a:off x="497190" y="5350000"/>
            <a:ext cx="67208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조건은 누적 — 아래 수준의 조건을 모두 갖추어야 위로 올라간다. 조건의 어느 항에도 평균은 쓰이지 않는다.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모델 한 장 요약 — 무엇을 만들었고 어떻게 검증하였나</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세 계층 · 16종 · 55문항 · 여섯 수준으로 갖추어졌고, 두 방향으로 검증하였다.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3.5.1, 3.5.2, 3.6, [표 3-11], 부록 E</a:t>
            </a:r>
          </a:p>
        </p:txBody>
      </p:sp>
      <p:sp>
        <p:nvSpPr>
          <p:cNvPr id="9" name="Rounded Rectangle 8"/>
          <p:cNvSpPr/>
          <p:nvPr/>
        </p:nvSpPr>
        <p:spPr>
          <a:xfrm>
            <a:off x="497190"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① 추적성 검증</a:t>
            </a:r>
          </a:p>
          <a:p>
            <a:pPr algn="l"/>
            <a:r>
              <a:rPr sz="1400" b="0" i="0" a:lang="ko-KR">
                <a:solidFill>
                  <a:srgbClr val="111111"/>
                </a:solidFill>
                <a:latin typeface="맑은 고딕"/>
                <a:ea typeface="맑은 고딕"/>
              </a:rPr>
              <a:t>55문항을 두 표준의 전 조항 대조에서 나온 근거 조항까지 추적 — 문항의 내용타당도 근거</a:t>
            </a:r>
          </a:p>
          <a:p>
            <a:pPr algn="l"/>
            <a:r>
              <a:rPr sz="1100" b="0" i="0" a:lang="ko-KR">
                <a:solidFill>
                  <a:srgbClr val="595959"/>
                </a:solidFill>
                <a:latin typeface="맑은 고딕"/>
                <a:ea typeface="맑은 고딕"/>
              </a:rPr>
              <a:t>조항별 판정 전문은 부록 A·B.1</a:t>
            </a:r>
          </a:p>
        </p:txBody>
      </p:sp>
      <p:sp>
        <p:nvSpPr>
          <p:cNvPr id="10" name="Rounded Rectangle 9"/>
          <p:cNvSpPr/>
          <p:nvPr/>
        </p:nvSpPr>
        <p:spPr>
          <a:xfrm>
            <a:off x="5461076"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② 표준 적합성 검증</a:t>
            </a:r>
          </a:p>
          <a:p>
            <a:pPr algn="l"/>
            <a:r>
              <a:rPr sz="1400" b="0" i="0" a:lang="ko-KR">
                <a:solidFill>
                  <a:srgbClr val="111111"/>
                </a:solidFill>
                <a:latin typeface="맑은 고딕"/>
                <a:ea typeface="맑은 고딕"/>
              </a:rPr>
              <a:t>ISO/IEC 33004 요구사항 24건 자체점검 — 충족 22 · 해당 없음 1 · 보완 1</a:t>
            </a:r>
          </a:p>
          <a:p>
            <a:pPr algn="l"/>
            <a:r>
              <a:rPr sz="1100" b="1" i="0" a:lang="ko-KR">
                <a:solidFill>
                  <a:srgbClr val="C00000"/>
                </a:solidFill>
                <a:latin typeface="맑은 고딕"/>
                <a:ea typeface="맑은 고딕"/>
              </a:rPr>
              <a:t>보완 1건 = 55문항과 핵심 문항 지정에 대한 전문가 합의(CVI) — 조사지 설계까지, 실시는 향후 연구 과제</a:t>
            </a:r>
          </a:p>
        </p:txBody>
      </p:sp>
      <p:sp>
        <p:nvSpPr>
          <p:cNvPr id="11" name="TextBox 10"/>
          <p:cNvSpPr txBox="1"/>
          <p:nvPr/>
        </p:nvSpPr>
        <p:spPr>
          <a:xfrm>
            <a:off x="497190" y="6296400"/>
            <a:ext cx="1283072" cy="32256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만든 것</a:t>
            </a:r>
          </a:p>
        </p:txBody>
      </p:sp>
      <p:sp>
        <p:nvSpPr>
          <p:cNvPr id="12" name="Rounded Rectangle 11"/>
          <p:cNvSpPr/>
          <p:nvPr/>
        </p:nvSpPr>
        <p:spPr>
          <a:xfrm>
            <a:off x="178026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16종</a:t>
            </a:r>
          </a:p>
        </p:txBody>
      </p:sp>
      <p:sp>
        <p:nvSpPr>
          <p:cNvPr id="13" name="Right Arrow 12"/>
          <p:cNvSpPr/>
          <p:nvPr/>
        </p:nvSpPr>
        <p:spPr>
          <a:xfrm>
            <a:off x="2854835"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7937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55문항</a:t>
            </a:r>
          </a:p>
        </p:txBody>
      </p:sp>
      <p:sp>
        <p:nvSpPr>
          <p:cNvPr id="15" name="Right Arrow 14"/>
          <p:cNvSpPr/>
          <p:nvPr/>
        </p:nvSpPr>
        <p:spPr>
          <a:xfrm>
            <a:off x="415394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8484" y="6296400"/>
            <a:ext cx="1042496" cy="32256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핵심 4종</a:t>
            </a:r>
          </a:p>
        </p:txBody>
      </p:sp>
      <p:sp>
        <p:nvSpPr>
          <p:cNvPr id="17" name="Right Arrow 16"/>
          <p:cNvSpPr/>
          <p:nvPr/>
        </p:nvSpPr>
        <p:spPr>
          <a:xfrm>
            <a:off x="545305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77594"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ML0~ML5</a:t>
            </a:r>
          </a:p>
        </p:txBody>
      </p:sp>
      <p:sp>
        <p:nvSpPr>
          <p:cNvPr id="19" name="TextBox 18"/>
          <p:cNvSpPr txBox="1"/>
          <p:nvPr/>
        </p:nvSpPr>
        <p:spPr>
          <a:xfrm>
            <a:off x="6816321" y="6296400"/>
            <a:ext cx="3368064" cy="362880"/>
          </a:xfrm>
          <a:prstGeom prst="rect">
            <a:avLst/>
          </a:prstGeom>
          <a:noFill/>
        </p:spPr>
        <p:txBody>
          <a:bodyPr wrap="square" anchor="ctr" lIns="0" rIns="0" tIns="0" bIns="0">
            <a:spAutoFit/>
          </a:bodyPr>
          <a:lstStyle/>
          <a:p>
            <a:r>
              <a:rPr sz="1400" b="1" i="0" a:lang="ko-KR">
                <a:solidFill>
                  <a:srgbClr val="1F3864"/>
                </a:solidFill>
                <a:latin typeface="맑은 고딕"/>
                <a:ea typeface="맑은 고딕"/>
              </a:rPr>
              <a:t>표준의 틀을 따르고, 표준이 정하지 않은 세 곳을 이 연구가 채웠다</a:t>
            </a:r>
          </a:p>
        </p:txBody>
      </p:sp>
      <p:sp>
        <p:nvSpPr>
          <p:cNvPr id="20" name="Terms 1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추적성 검증 = 문항마다 어느 표준 조항에서 나왔는지 따라갈 수 있는지 확인  ·  내용타당도 지수(CVI: Content Validity Index) = 전문가들이 「이 문항이 적절한가」를 평가한 비율  ·  객관적 증거 = 문서·기록처럼 남이 보아도 확인되는 증거</a:t>
            </a:r>
          </a:p>
        </p:txBody>
      </p:sp>
      <p:sp>
        <p:nvSpPr>
          <p:cNvPr id="21" name="card0"/>
          <p:cNvSpPr/>
          <p:nvPr/>
        </p:nvSpPr>
        <p:spPr>
          <a:xfrm>
            <a:off x="4971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참조 모델</a:t>
            </a:r>
          </a:p>
          <a:p>
            <a:pPr algn="ctr">
              <a:spcAft>
                <a:spcPts val="1000"/>
              </a:spcAft>
            </a:pPr>
            <a:r>
              <a:rPr sz="1400" b="0">
                <a:solidFill>
                  <a:srgbClr val="595959"/>
                </a:solidFill>
                <a:latin typeface="맑은 고딕"/>
                <a:ea typeface="맑은 고딕"/>
              </a:rPr>
              <a:t>— 평가할 업무 목록 —</a:t>
            </a:r>
          </a:p>
          <a:p>
            <a:pPr algn="ctr">
              <a:spcAft>
                <a:spcPts val="0"/>
              </a:spcAft>
            </a:pPr>
            <a:r>
              <a:rPr sz="1700" b="1">
                <a:solidFill>
                  <a:srgbClr val="111111"/>
                </a:solidFill>
                <a:latin typeface="맑은 고딕"/>
                <a:ea typeface="맑은 고딕"/>
              </a:rPr>
              <a:t>연계 프로세스 16종</a:t>
            </a:r>
          </a:p>
          <a:p>
            <a:pPr algn="ctr">
              <a:spcAft>
                <a:spcPts val="1400"/>
              </a:spcAft>
            </a:pPr>
            <a:r>
              <a:rPr sz="1300" b="0">
                <a:solidFill>
                  <a:srgbClr val="111111"/>
                </a:solidFill>
                <a:latin typeface="맑은 고딕"/>
                <a:ea typeface="맑은 고딕"/>
              </a:rPr>
              <a:t>계획 8 · 실행 2 · 점검 3 · 개선 3</a:t>
            </a:r>
          </a:p>
          <a:p>
            <a:pPr algn="l"/>
            <a:r>
              <a:rPr sz="1300" b="0">
                <a:solidFill>
                  <a:srgbClr val="1F3864"/>
                </a:solidFill>
                <a:latin typeface="맑은 고딕"/>
                <a:ea typeface="맑은 고딕"/>
              </a:rPr>
              <a:t>새로 만든 것 — 두 표준의 조항을 대응시켜 도출한 연계 프로세스</a:t>
            </a:r>
          </a:p>
        </p:txBody>
      </p:sp>
      <p:sp>
        <p:nvSpPr>
          <p:cNvPr id="22" name="card arr0"/>
          <p:cNvSpPr/>
          <p:nvPr/>
        </p:nvSpPr>
        <p:spPr>
          <a:xfrm>
            <a:off x="354471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1"/>
          <p:cNvSpPr/>
          <p:nvPr/>
        </p:nvSpPr>
        <p:spPr>
          <a:xfrm>
            <a:off x="383724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평가 모델</a:t>
            </a:r>
          </a:p>
          <a:p>
            <a:pPr algn="ctr">
              <a:spcAft>
                <a:spcPts val="1000"/>
              </a:spcAft>
            </a:pPr>
            <a:r>
              <a:rPr sz="1400" b="0">
                <a:solidFill>
                  <a:srgbClr val="595959"/>
                </a:solidFill>
                <a:latin typeface="맑은 고딕"/>
                <a:ea typeface="맑은 고딕"/>
              </a:rPr>
              <a:t>— 채점표 —</a:t>
            </a:r>
          </a:p>
          <a:p>
            <a:pPr algn="ctr">
              <a:spcAft>
                <a:spcPts val="0"/>
              </a:spcAft>
            </a:pPr>
            <a:r>
              <a:rPr sz="1700" b="1">
                <a:solidFill>
                  <a:srgbClr val="111111"/>
                </a:solidFill>
                <a:latin typeface="맑은 고딕"/>
                <a:ea typeface="맑은 고딕"/>
              </a:rPr>
              <a:t>평가 문항 55</a:t>
            </a:r>
          </a:p>
          <a:p>
            <a:pPr algn="ctr">
              <a:spcAft>
                <a:spcPts val="1400"/>
              </a:spcAft>
            </a:pPr>
            <a:r>
              <a:rPr sz="1300" b="0">
                <a:solidFill>
                  <a:srgbClr val="111111"/>
                </a:solidFill>
                <a:latin typeface="맑은 고딕"/>
                <a:ea typeface="맑은 고딕"/>
              </a:rPr>
              <a:t>문항별 판정 기준(BARS 앵커) · 객관적 증거 목록</a:t>
            </a:r>
          </a:p>
          <a:p>
            <a:pPr algn="l"/>
            <a:r>
              <a:rPr sz="1300" b="0">
                <a:solidFill>
                  <a:srgbClr val="1F3864"/>
                </a:solidFill>
                <a:latin typeface="맑은 고딕"/>
                <a:ea typeface="맑은 고딕"/>
              </a:rPr>
              <a:t>새로 만든 것 — 표준이 평가자에게 맡긴 평가지표를 이 분야에 맞게 개발</a:t>
            </a:r>
          </a:p>
        </p:txBody>
      </p:sp>
      <p:sp>
        <p:nvSpPr>
          <p:cNvPr id="24" name="card arr1"/>
          <p:cNvSpPr/>
          <p:nvPr/>
        </p:nvSpPr>
        <p:spPr>
          <a:xfrm>
            <a:off x="688476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rd2"/>
          <p:cNvSpPr/>
          <p:nvPr/>
        </p:nvSpPr>
        <p:spPr>
          <a:xfrm>
            <a:off x="71772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성숙도 모델</a:t>
            </a:r>
          </a:p>
          <a:p>
            <a:pPr algn="ctr">
              <a:spcAft>
                <a:spcPts val="1000"/>
              </a:spcAft>
            </a:pPr>
            <a:r>
              <a:rPr sz="1400" b="0">
                <a:solidFill>
                  <a:srgbClr val="595959"/>
                </a:solidFill>
                <a:latin typeface="맑은 고딕"/>
                <a:ea typeface="맑은 고딕"/>
              </a:rPr>
              <a:t>— 수준 규칙 —</a:t>
            </a:r>
          </a:p>
          <a:p>
            <a:pPr algn="ctr">
              <a:spcAft>
                <a:spcPts val="0"/>
              </a:spcAft>
            </a:pPr>
            <a:r>
              <a:rPr sz="1700" b="1">
                <a:solidFill>
                  <a:srgbClr val="111111"/>
                </a:solidFill>
                <a:latin typeface="맑은 고딕"/>
                <a:ea typeface="맑은 고딕"/>
              </a:rPr>
              <a:t>ML0~ML5 여섯 수준</a:t>
            </a:r>
          </a:p>
          <a:p>
            <a:pPr algn="ctr">
              <a:spcAft>
                <a:spcPts val="1400"/>
              </a:spcAft>
            </a:pPr>
            <a:r>
              <a:rPr sz="1300" b="0">
                <a:solidFill>
                  <a:srgbClr val="111111"/>
                </a:solidFill>
                <a:latin typeface="맑은 고딕"/>
                <a:ea typeface="맑은 고딕"/>
              </a:rPr>
              <a:t>핵심 문항 4종</a:t>
            </a:r>
          </a:p>
          <a:p>
            <a:pPr algn="l"/>
            <a:r>
              <a:rPr sz="1300" b="0">
                <a:solidFill>
                  <a:srgbClr val="1F3864"/>
                </a:solidFill>
                <a:latin typeface="맑은 고딕"/>
                <a:ea typeface="맑은 고딕"/>
              </a:rPr>
              <a:t>새로 만든 것 — 핵심 문항 4종에만 최소충족 판정을 적용한 규칙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모델은 어떻게 만들어졌나 — 반복 개발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19</a:t>
            </a:r>
          </a:p>
        </p:txBody>
      </p:sp>
      <p:sp>
        <p:nvSpPr>
          <p:cNvPr id="7" name="Rectangle 6"/>
          <p:cNvSpPr/>
          <p:nvPr/>
        </p:nvSpPr>
        <p:spPr>
          <a:xfrm>
            <a:off x="497190" y="2171880"/>
            <a:ext cx="9695214" cy="2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7190"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2025.9</a:t>
            </a:r>
          </a:p>
        </p:txBody>
      </p:sp>
      <p:sp>
        <p:nvSpPr>
          <p:cNvPr id="9" name="Oval 8"/>
          <p:cNvSpPr/>
          <p:nvPr/>
        </p:nvSpPr>
        <p:spPr>
          <a:xfrm>
            <a:off x="107629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7190"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연계 구상</a:t>
            </a:r>
          </a:p>
        </p:txBody>
      </p:sp>
      <p:sp>
        <p:nvSpPr>
          <p:cNvPr id="11" name="Rounded Rectangle 10"/>
          <p:cNvSpPr/>
          <p:nvPr/>
        </p:nvSpPr>
        <p:spPr>
          <a:xfrm>
            <a:off x="497190"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두 표준 연계의 목적·범위 정리</a:t>
            </a:r>
          </a:p>
        </p:txBody>
      </p:sp>
      <p:sp>
        <p:nvSpPr>
          <p:cNvPr id="12" name="Rounded Rectangle 11"/>
          <p:cNvSpPr/>
          <p:nvPr/>
        </p:nvSpPr>
        <p:spPr>
          <a:xfrm>
            <a:off x="189596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2025.10</a:t>
            </a:r>
          </a:p>
        </p:txBody>
      </p:sp>
      <p:sp>
        <p:nvSpPr>
          <p:cNvPr id="13" name="Oval 12"/>
          <p:cNvSpPr/>
          <p:nvPr/>
        </p:nvSpPr>
        <p:spPr>
          <a:xfrm>
            <a:off x="247506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9596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전 조항 검토표</a:t>
            </a:r>
          </a:p>
        </p:txBody>
      </p:sp>
      <p:sp>
        <p:nvSpPr>
          <p:cNvPr id="15" name="Rounded Rectangle 14"/>
          <p:cNvSpPr/>
          <p:nvPr/>
        </p:nvSpPr>
        <p:spPr>
          <a:xfrm>
            <a:off x="189596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논문 구성안 · ISO 14001 전 조항 검토표 · 연계표 · 성숙도표 초안</a:t>
            </a:r>
          </a:p>
        </p:txBody>
      </p:sp>
      <p:sp>
        <p:nvSpPr>
          <p:cNvPr id="16" name="Rounded Rectangle 15"/>
          <p:cNvSpPr/>
          <p:nvPr/>
        </p:nvSpPr>
        <p:spPr>
          <a:xfrm>
            <a:off x="3294745"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2026.3</a:t>
            </a:r>
          </a:p>
        </p:txBody>
      </p:sp>
      <p:sp>
        <p:nvSpPr>
          <p:cNvPr id="17" name="Oval 16"/>
          <p:cNvSpPr/>
          <p:nvPr/>
        </p:nvSpPr>
        <p:spPr>
          <a:xfrm>
            <a:off x="387384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94745"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55문항·판정 포인트</a:t>
            </a:r>
          </a:p>
        </p:txBody>
      </p:sp>
      <p:sp>
        <p:nvSpPr>
          <p:cNvPr id="19" name="Rounded Rectangle 18"/>
          <p:cNvSpPr/>
          <p:nvPr/>
        </p:nvSpPr>
        <p:spPr>
          <a:xfrm>
            <a:off x="3294745"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전조항 분석 · 평가 문항 55 · 판정 포인트 · shall/should 기준표(부록 A·B.3의 원자료)</a:t>
            </a:r>
          </a:p>
        </p:txBody>
      </p:sp>
      <p:sp>
        <p:nvSpPr>
          <p:cNvPr id="20" name="Rounded Rectangle 19"/>
          <p:cNvSpPr/>
          <p:nvPr/>
        </p:nvSpPr>
        <p:spPr>
          <a:xfrm>
            <a:off x="4693523"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2026.6</a:t>
            </a:r>
          </a:p>
        </p:txBody>
      </p:sp>
      <p:sp>
        <p:nvSpPr>
          <p:cNvPr id="21" name="Oval 20"/>
          <p:cNvSpPr/>
          <p:nvPr/>
        </p:nvSpPr>
        <p:spPr>
          <a:xfrm>
            <a:off x="5272624"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93523"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채점 기준·핵심 문항</a:t>
            </a:r>
          </a:p>
        </p:txBody>
      </p:sp>
      <p:sp>
        <p:nvSpPr>
          <p:cNvPr id="23" name="Rounded Rectangle 22"/>
          <p:cNvSpPr/>
          <p:nvPr/>
        </p:nvSpPr>
        <p:spPr>
          <a:xfrm>
            <a:off x="4693523"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문항별 체크포인트와 BARS 앵커 체계 · 핵심 문항 4종 · 잠정 채점(종합 2.89)</a:t>
            </a:r>
          </a:p>
        </p:txBody>
      </p:sp>
      <p:sp>
        <p:nvSpPr>
          <p:cNvPr id="24" name="Rounded Rectangle 23"/>
          <p:cNvSpPr/>
          <p:nvPr/>
        </p:nvSpPr>
        <p:spPr>
          <a:xfrm>
            <a:off x="6092301"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2026.7</a:t>
            </a:r>
          </a:p>
        </p:txBody>
      </p:sp>
      <p:sp>
        <p:nvSpPr>
          <p:cNvPr id="25" name="Oval 24"/>
          <p:cNvSpPr/>
          <p:nvPr/>
        </p:nvSpPr>
        <p:spPr>
          <a:xfrm>
            <a:off x="667140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92301"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재검증·확정</a:t>
            </a:r>
          </a:p>
        </p:txBody>
      </p:sp>
      <p:sp>
        <p:nvSpPr>
          <p:cNvPr id="27" name="Rounded Rectangle 26"/>
          <p:cNvSpPr/>
          <p:nvPr/>
        </p:nvSpPr>
        <p:spPr>
          <a:xfrm>
            <a:off x="6092301"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체크포인트 단위 전수 재검증 · 증빙 확정(종합 2.85 · ML2)</a:t>
            </a:r>
          </a:p>
        </p:txBody>
      </p:sp>
      <p:sp>
        <p:nvSpPr>
          <p:cNvPr id="28" name="Rounded Rectangle 27"/>
          <p:cNvSpPr/>
          <p:nvPr/>
        </p:nvSpPr>
        <p:spPr>
          <a:xfrm>
            <a:off x="7491079"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2026.8</a:t>
            </a:r>
          </a:p>
        </p:txBody>
      </p:sp>
      <p:sp>
        <p:nvSpPr>
          <p:cNvPr id="29" name="Oval 28"/>
          <p:cNvSpPr/>
          <p:nvPr/>
        </p:nvSpPr>
        <p:spPr>
          <a:xfrm>
            <a:off x="807017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491079"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표준 대조</a:t>
            </a:r>
          </a:p>
        </p:txBody>
      </p:sp>
      <p:sp>
        <p:nvSpPr>
          <p:cNvPr id="31" name="Rounded Rectangle 30"/>
          <p:cNvSpPr/>
          <p:nvPr/>
        </p:nvSpPr>
        <p:spPr>
          <a:xfrm>
            <a:off x="7491079"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ISO/IEC 33000 계열·KS X ISO 8000-61·62 대조 — 판정 규칙 ML0~ML5 · 연계 프로세스 16종 편성 · Becker 8단계 대응</a:t>
            </a:r>
          </a:p>
        </p:txBody>
      </p:sp>
      <p:sp>
        <p:nvSpPr>
          <p:cNvPr id="32" name="Rounded Rectangle 31"/>
          <p:cNvSpPr/>
          <p:nvPr/>
        </p:nvSpPr>
        <p:spPr>
          <a:xfrm>
            <a:off x="888985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2026.9</a:t>
            </a:r>
          </a:p>
        </p:txBody>
      </p:sp>
      <p:sp>
        <p:nvSpPr>
          <p:cNvPr id="33" name="Oval 32"/>
          <p:cNvSpPr/>
          <p:nvPr/>
        </p:nvSpPr>
        <p:spPr>
          <a:xfrm>
            <a:off x="946895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88985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검토·정리</a:t>
            </a:r>
          </a:p>
        </p:txBody>
      </p:sp>
      <p:sp>
        <p:nvSpPr>
          <p:cNvPr id="35" name="Rounded Rectangle 34"/>
          <p:cNvSpPr/>
          <p:nvPr/>
        </p:nvSpPr>
        <p:spPr>
          <a:xfrm>
            <a:off x="888985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지도교수 검토(9/16)와 용어·구조 정리 · 33004 자체점검 24건</a:t>
            </a:r>
          </a:p>
        </p:txBody>
      </p:sp>
      <p:sp>
        <p:nvSpPr>
          <p:cNvPr id="36" name="Rounded Rectangle 35"/>
          <p:cNvSpPr/>
          <p:nvPr/>
        </p:nvSpPr>
        <p:spPr>
          <a:xfrm>
            <a:off x="497190" y="4843080"/>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1F3864"/>
                </a:solidFill>
                <a:latin typeface="맑은 고딕"/>
                <a:ea typeface="맑은 고딕"/>
              </a:rPr>
              <a:t>표준 대조가 모델을 실제로 보완했다 — KS X ISO 8000-62 4.5.1(최소충족 판정) · ISO/IEC 33004 7.3.6(수준별 프로세스 집합의 도출 규칙) · KS X ISO 8000-61 5.3(프로세스 기술 형식)</a:t>
            </a:r>
          </a:p>
        </p:txBody>
      </p:sp>
      <p:sp>
        <p:nvSpPr>
          <p:cNvPr id="37" name="TextBox 36"/>
          <p:cNvSpPr txBox="1"/>
          <p:nvPr/>
        </p:nvSpPr>
        <p:spPr>
          <a:xfrm>
            <a:off x="497190" y="5599080"/>
            <a:ext cx="9695214" cy="8064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 2025년 10월 성숙도표의 수준 이름 「기초·관리·정의·통제·최적화」가 현행 문항 점수 이름(1~5점)의 유래 — 성숙도 수준 이름(ML0~ML5 도입 전·도입·관리화·체계화·예측화·혁신화)과는 별개(예상 질문 17번).</a:t>
            </a:r>
          </a:p>
          <a:p>
            <a:r>
              <a:rPr sz="1100" b="0" i="0" a:lang="ko-KR">
                <a:solidFill>
                  <a:srgbClr val="595959"/>
                </a:solidFill>
                <a:latin typeface="맑은 고딕"/>
                <a:ea typeface="맑은 고딕"/>
              </a:rPr>
              <a:t>· 8월의 편성에서 55문항이 16종으로 묶였고 기준·명칭·경계는 연구자가 확정하고 지도교수 검토를 거침 — 3.2.1 K1~K4, 3.2.3.</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번에 설계하지 않고 전 조항 대조 → 55문항 → 채점 기준 → 표준 대조의 순서로 다듬었다.</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2.4.5, 3.1, 3.2.1, 3.2.3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평가를 한 그림으로 — 제조기업 A사</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연구 목적의 시범 적용이며, 나오는 판정은 공식 등급이 아니다.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4.1, 4.2, 4.3.5, 4.5, 4.6</a:t>
            </a:r>
          </a:p>
        </p:txBody>
      </p:sp>
      <p:sp>
        <p:nvSpPr>
          <p:cNvPr id="17" name="Terms 19"/>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평가 클래스 3 = ISO/IEC 33002가 정한 평가 등급 가운데 가장 가벼운 것 — 조직 간 비교나 공식 등급이 아닌, 모델이 작동하는지 보는 연구용 평가</a:t>
            </a:r>
          </a:p>
        </p:txBody>
      </p:sp>
      <p:sp>
        <p:nvSpPr>
          <p:cNvPr id="18" name="ev0"/>
          <p:cNvSpPr/>
          <p:nvPr/>
        </p:nvSpPr>
        <p:spPr>
          <a:xfrm>
            <a:off x="497190"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① 문서 받기</a:t>
            </a:r>
          </a:p>
          <a:p>
            <a:pPr algn="ctr">
              <a:spcAft>
                <a:spcPts val="400"/>
              </a:spcAft>
            </a:pPr>
            <a:r>
              <a:rPr sz="1150" b="0">
                <a:solidFill>
                  <a:srgbClr val="111111"/>
                </a:solidFill>
                <a:latin typeface="맑은 고딕"/>
                <a:ea typeface="맑은 고딕"/>
              </a:rPr>
              <a:t>A사 문서 16종(33건)</a:t>
            </a:r>
          </a:p>
          <a:p>
            <a:pPr algn="ctr"/>
            <a:r>
              <a:rPr sz="1300" b="1">
                <a:solidFill>
                  <a:srgbClr val="1F3864"/>
                </a:solidFill>
                <a:latin typeface="맑은 고딕"/>
                <a:ea typeface="맑은 고딕"/>
              </a:rPr>
              <a:t>매뉴얼 · 절차서 · 기록 · 보고서</a:t>
            </a:r>
          </a:p>
        </p:txBody>
      </p:sp>
      <p:sp>
        <p:nvSpPr>
          <p:cNvPr id="19" name="ev arr0"/>
          <p:cNvSpPr/>
          <p:nvPr/>
        </p:nvSpPr>
        <p:spPr>
          <a:xfrm>
            <a:off x="2272714"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v1"/>
          <p:cNvSpPr/>
          <p:nvPr/>
        </p:nvSpPr>
        <p:spPr>
          <a:xfrm>
            <a:off x="2482714"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② 채점</a:t>
            </a:r>
          </a:p>
          <a:p>
            <a:pPr algn="ctr">
              <a:spcAft>
                <a:spcPts val="400"/>
              </a:spcAft>
            </a:pPr>
            <a:r>
              <a:rPr sz="1150" b="0">
                <a:solidFill>
                  <a:srgbClr val="111111"/>
                </a:solidFill>
                <a:latin typeface="맑은 고딕"/>
                <a:ea typeface="맑은 고딕"/>
              </a:rPr>
              <a:t>55문항마다 확인 항목이 있는지 보고 점수</a:t>
            </a:r>
          </a:p>
          <a:p>
            <a:pPr algn="ctr"/>
            <a:r>
              <a:rPr sz="1300" b="1">
                <a:solidFill>
                  <a:srgbClr val="1F3864"/>
                </a:solidFill>
                <a:latin typeface="맑은 고딕"/>
                <a:ea typeface="맑은 고딕"/>
              </a:rPr>
              <a:t>잠정 종합 2.89</a:t>
            </a:r>
          </a:p>
        </p:txBody>
      </p:sp>
      <p:sp>
        <p:nvSpPr>
          <p:cNvPr id="21" name="ev arr1"/>
          <p:cNvSpPr/>
          <p:nvPr/>
        </p:nvSpPr>
        <p:spPr>
          <a:xfrm>
            <a:off x="4258238"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v2"/>
          <p:cNvSpPr/>
          <p:nvPr/>
        </p:nvSpPr>
        <p:spPr>
          <a:xfrm>
            <a:off x="4468238"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③ 다시 확인</a:t>
            </a:r>
          </a:p>
          <a:p>
            <a:pPr algn="ctr">
              <a:spcAft>
                <a:spcPts val="400"/>
              </a:spcAft>
            </a:pPr>
            <a:r>
              <a:rPr sz="1150" b="0">
                <a:solidFill>
                  <a:srgbClr val="111111"/>
                </a:solidFill>
                <a:latin typeface="맑은 고딕"/>
                <a:ea typeface="맑은 고딕"/>
              </a:rPr>
              <a:t>증빙 문서로 하나씩 대조</a:t>
            </a:r>
          </a:p>
          <a:p>
            <a:pPr algn="ctr"/>
            <a:r>
              <a:rPr sz="1300" b="1">
                <a:solidFill>
                  <a:srgbClr val="1F3864"/>
                </a:solidFill>
                <a:latin typeface="맑은 고딕"/>
                <a:ea typeface="맑은 고딕"/>
              </a:rPr>
              <a:t>상향 7 · 하향 9 → 확정 2.85</a:t>
            </a:r>
          </a:p>
        </p:txBody>
      </p:sp>
      <p:sp>
        <p:nvSpPr>
          <p:cNvPr id="23" name="ev arr2"/>
          <p:cNvSpPr/>
          <p:nvPr/>
        </p:nvSpPr>
        <p:spPr>
          <a:xfrm>
            <a:off x="6243762"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v3"/>
          <p:cNvSpPr/>
          <p:nvPr/>
        </p:nvSpPr>
        <p:spPr>
          <a:xfrm>
            <a:off x="6453762" y="1250000"/>
            <a:ext cx="1755524" cy="16002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C00000"/>
                </a:solidFill>
                <a:latin typeface="맑은 고딕"/>
                <a:ea typeface="맑은 고딕"/>
              </a:rPr>
              <a:t>④ 판정</a:t>
            </a:r>
          </a:p>
          <a:p>
            <a:pPr algn="ctr">
              <a:spcAft>
                <a:spcPts val="400"/>
              </a:spcAft>
            </a:pPr>
            <a:r>
              <a:rPr sz="1150" b="0">
                <a:solidFill>
                  <a:srgbClr val="111111"/>
                </a:solidFill>
                <a:latin typeface="맑은 고딕"/>
                <a:ea typeface="맑은 고딕"/>
              </a:rPr>
              <a:t>핵심 문항 4종 확인 — D-1이 2점</a:t>
            </a:r>
          </a:p>
          <a:p>
            <a:pPr algn="ctr"/>
            <a:r>
              <a:rPr sz="1300" b="1">
                <a:solidFill>
                  <a:srgbClr val="C00000"/>
                </a:solidFill>
                <a:latin typeface="맑은 고딕"/>
                <a:ea typeface="맑은 고딕"/>
              </a:rPr>
              <a:t>ML2(관리화)</a:t>
            </a:r>
          </a:p>
        </p:txBody>
      </p:sp>
      <p:sp>
        <p:nvSpPr>
          <p:cNvPr id="25" name="ev arr3"/>
          <p:cNvSpPr/>
          <p:nvPr/>
        </p:nvSpPr>
        <p:spPr>
          <a:xfrm>
            <a:off x="8229286"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v4"/>
          <p:cNvSpPr/>
          <p:nvPr/>
        </p:nvSpPr>
        <p:spPr>
          <a:xfrm>
            <a:off x="8439286"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⑤ 개선</a:t>
            </a:r>
          </a:p>
          <a:p>
            <a:pPr algn="ctr">
              <a:spcAft>
                <a:spcPts val="400"/>
              </a:spcAft>
            </a:pPr>
            <a:r>
              <a:rPr sz="1150" b="0">
                <a:solidFill>
                  <a:srgbClr val="111111"/>
                </a:solidFill>
                <a:latin typeface="맑은 고딕"/>
                <a:ea typeface="맑은 고딕"/>
              </a:rPr>
              <a:t>낮은 점수의 원인 3건 → 과제 R1~R5</a:t>
            </a:r>
          </a:p>
          <a:p>
            <a:pPr algn="ctr"/>
            <a:r>
              <a:rPr sz="1300" b="1">
                <a:solidFill>
                  <a:srgbClr val="1F3864"/>
                </a:solidFill>
                <a:latin typeface="맑은 고딕"/>
                <a:ea typeface="맑은 고딕"/>
              </a:rPr>
              <a:t>완수 시 3.15 · ML3 전망</a:t>
            </a:r>
          </a:p>
        </p:txBody>
      </p:sp>
      <p:sp>
        <p:nvSpPr>
          <p:cNvPr id="27" name="ev info"/>
          <p:cNvSpPr/>
          <p:nvPr/>
        </p:nvSpPr>
        <p:spPr>
          <a:xfrm>
            <a:off x="497190" y="3050200"/>
            <a:ext cx="9697620" cy="1783080"/>
          </a:xfrm>
          <a:prstGeom prst="roundRect">
            <a:avLst/>
          </a:prstGeom>
          <a:no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20000" rIns="120000" tIns="45000" bIns="45000"/>
          <a:lstStyle/>
          <a:p>
            <a:pPr algn="l">
              <a:spcAft>
                <a:spcPts val="300"/>
              </a:spcAft>
            </a:pPr>
            <a:r>
              <a:rPr sz="1250" b="1">
                <a:solidFill>
                  <a:srgbClr val="1F3864"/>
                </a:solidFill>
                <a:latin typeface="맑은 고딕"/>
                <a:ea typeface="맑은 고딕"/>
              </a:rPr>
              <a:t>적용 개요</a:t>
            </a:r>
          </a:p>
          <a:p>
            <a:pPr algn="l">
              <a:spcAft>
                <a:spcPts val="300"/>
              </a:spcAft>
            </a:pPr>
            <a:r>
              <a:rPr sz="1250" b="0">
                <a:solidFill>
                  <a:srgbClr val="111111"/>
                </a:solidFill>
                <a:latin typeface="맑은 고딕"/>
                <a:ea typeface="맑은 고딕"/>
              </a:rPr>
              <a:t>대상 — 제조기업 A사의 환경경영시스템(ISO 14001)과 2025년 제품 전과정평가(LCA)</a:t>
            </a:r>
          </a:p>
          <a:p>
            <a:pPr algn="l">
              <a:spcAft>
                <a:spcPts val="300"/>
              </a:spcAft>
            </a:pPr>
            <a:r>
              <a:rPr sz="1250" b="0">
                <a:solidFill>
                  <a:srgbClr val="111111"/>
                </a:solidFill>
                <a:latin typeface="맑은 고딕"/>
                <a:ea typeface="맑은 고딕"/>
              </a:rPr>
              <a:t>방법 — 문서 심사(면담·현장 관찰 없음), 평가자 1명</a:t>
            </a:r>
          </a:p>
          <a:p>
            <a:pPr algn="l">
              <a:spcAft>
                <a:spcPts val="300"/>
              </a:spcAft>
            </a:pPr>
            <a:r>
              <a:rPr sz="1250" b="0">
                <a:solidFill>
                  <a:srgbClr val="111111"/>
                </a:solidFill>
                <a:latin typeface="맑은 고딕"/>
                <a:ea typeface="맑은 고딕"/>
              </a:rPr>
              <a:t>기간 — 2026년 6~7월</a:t>
            </a:r>
          </a:p>
          <a:p>
            <a:pPr algn="l">
              <a:spcAft>
                <a:spcPts val="300"/>
              </a:spcAft>
            </a:pPr>
            <a:r>
              <a:rPr sz="1250" b="0">
                <a:solidFill>
                  <a:srgbClr val="111111"/>
                </a:solidFill>
                <a:latin typeface="맑은 고딕"/>
                <a:ea typeface="맑은 고딕"/>
              </a:rPr>
              <a:t>비고 — 연구 목적의 시범 적용(ISO/IEC 33002 평가 클래스 3 상당 · 독립성 범주 B 상당), 회사에 공식 성숙도 등급을 주는 평가가 아님</a:t>
            </a:r>
          </a:p>
        </p:txBody>
      </p:sp>
      <p:sp>
        <p:nvSpPr>
          <p:cNvPr id="28" name="ev key"/>
          <p:cNvSpPr/>
          <p:nvPr/>
        </p:nvSpPr>
        <p:spPr>
          <a:xfrm>
            <a:off x="497190" y="4993280"/>
            <a:ext cx="9697620" cy="64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C00000"/>
                </a:solidFill>
                <a:latin typeface="맑은 고딕"/>
                <a:ea typeface="맑은 고딕"/>
              </a:rPr>
              <a:t>목적은 모델의 판정 논리가 실제 자료에서 작동하는지 확인하는 것 — 이 다섯 단계를 차례로 말씀드린다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객관성의 확보 — 판정의 신뢰성</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재검증에서 점수가 낮은 쪽으로 수렴하였다.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4.2.2, 4.2.3, [표 4-4], [표 4-5], [표 4-8], 부록 I</a:t>
            </a:r>
          </a:p>
        </p:txBody>
      </p:sp>
      <p:sp>
        <p:nvSpPr>
          <p:cNvPr id="8" name="Rounded Rectangle 7"/>
          <p:cNvSpPr/>
          <p:nvPr/>
        </p:nvSpPr>
        <p:spPr>
          <a:xfrm>
            <a:off x="497190"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미리 정한 규칙 (판정 관례)</a:t>
            </a:r>
          </a:p>
          <a:p>
            <a:pPr>
              <a:spcBef>
                <a:spcPts val="300"/>
              </a:spcBef>
            </a:pPr>
            <a:r>
              <a:rPr sz="1150" b="0">
                <a:solidFill>
                  <a:srgbClr val="111111"/>
                </a:solidFill>
                <a:latin typeface="맑은 고딕"/>
                <a:ea typeface="맑은 고딕"/>
              </a:rPr>
              <a:t>· 말로만 한 것은 인정하지 않음</a:t>
            </a:r>
          </a:p>
          <a:p>
            <a:pPr>
              <a:spcBef>
                <a:spcPts val="300"/>
              </a:spcBef>
            </a:pPr>
            <a:r>
              <a:rPr sz="1150" b="0">
                <a:solidFill>
                  <a:srgbClr val="111111"/>
                </a:solidFill>
                <a:latin typeface="맑은 고딕"/>
                <a:ea typeface="맑은 고딕"/>
              </a:rPr>
              <a:t>· 양식만 있고 기입이 없으면 미충족</a:t>
            </a:r>
          </a:p>
          <a:p>
            <a:pPr>
              <a:spcBef>
                <a:spcPts val="300"/>
              </a:spcBef>
            </a:pPr>
            <a:r>
              <a:rPr sz="1150" b="0">
                <a:solidFill>
                  <a:srgbClr val="111111"/>
                </a:solidFill>
                <a:latin typeface="맑은 고딕"/>
                <a:ea typeface="맑은 고딕"/>
              </a:rPr>
              <a:t>· 판단이 어려우면 미충족 — 증빙은 체크포인트 단위로 적어 제3자가 재현 가능</a:t>
            </a:r>
          </a:p>
        </p:txBody>
      </p:sp>
      <p:sp>
        <p:nvSpPr>
          <p:cNvPr id="9" name="Rounded Rectangle 8"/>
          <p:cNvSpPr/>
          <p:nvPr/>
        </p:nvSpPr>
        <p:spPr>
          <a:xfrm>
            <a:off x="5461076"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다시 확인한 결과 (재검증)</a:t>
            </a:r>
          </a:p>
          <a:p>
            <a:pPr>
              <a:spcBef>
                <a:spcPts val="300"/>
              </a:spcBef>
            </a:pPr>
            <a:r>
              <a:rPr sz="1150" b="0">
                <a:solidFill>
                  <a:srgbClr val="111111"/>
                </a:solidFill>
                <a:latin typeface="맑은 고딕"/>
                <a:ea typeface="맑은 고딕"/>
              </a:rPr>
              <a:t>· 잠정 점수를 증빙 문서로 하나씩 대조</a:t>
            </a:r>
          </a:p>
          <a:p>
            <a:pPr>
              <a:spcBef>
                <a:spcPts val="300"/>
              </a:spcBef>
            </a:pPr>
            <a:r>
              <a:rPr sz="1150" b="0">
                <a:solidFill>
                  <a:srgbClr val="111111"/>
                </a:solidFill>
                <a:latin typeface="맑은 고딕"/>
                <a:ea typeface="맑은 고딕"/>
              </a:rPr>
              <a:t>· 올라간 것 7건, 내려간 것 9건 (순변동 −2점)</a:t>
            </a:r>
          </a:p>
          <a:p>
            <a:pPr>
              <a:spcBef>
                <a:spcPts val="300"/>
              </a:spcBef>
            </a:pPr>
            <a:r>
              <a:rPr sz="1150" b="0">
                <a:solidFill>
                  <a:srgbClr val="C00000"/>
                </a:solidFill>
                <a:latin typeface="맑은 고딕"/>
                <a:ea typeface="맑은 고딕"/>
              </a:rPr>
              <a:t>· 종합 2.89 → 2.85 — 재검증이 점수가 후해지는 것을 막는 방향으로 작동</a:t>
            </a:r>
          </a:p>
        </p:txBody>
      </p:sp>
      <p:graphicFrame>
        <p:nvGraphicFramePr>
          <p:cNvPr id="10" name="Table 9"/>
          <p:cNvGraphicFramePr>
            <a:graphicFrameLocks noGrp="1"/>
          </p:cNvGraphicFramePr>
          <p:nvPr/>
        </p:nvGraphicFramePr>
        <p:xfrm>
          <a:off x="574575" y="3288800"/>
          <a:ext cx="9542849" cy="2940374"/>
        </p:xfrm>
        <a:graphic>
          <a:graphicData uri="http://schemas.openxmlformats.org/drawingml/2006/table">
            <a:tbl>
              <a:tblPr firstRow="1" bandRow="1">
                <a:tableStyleId>{5C22544A-7EE6-4342-B048-85BDC9FD1C3A}</a:tableStyleId>
              </a:tblPr>
              <a:tblGrid>
                <a:gridCol w="721728"/>
                <a:gridCol w="6816321"/>
                <a:gridCol w="681632"/>
                <a:gridCol w="681632"/>
                <a:gridCol w="641536"/>
              </a:tblGrid>
              <a:tr h="487468">
                <a:tc>
                  <a:txBody>
                    <a:bodyPr wrap="square"/>
                    <a:lstStyle/>
                    <a:p>
                      <a:pPr algn="ctr"/>
                      <a:r>
                        <a:rPr sz="1300" b="1" i="0" a:lang="ko-KR">
                          <a:solidFill>
                            <a:srgbClr val="FFFFFF"/>
                          </a:solidFill>
                          <a:latin typeface="맑은 고딕"/>
                          <a:ea typeface="맑은 고딕"/>
                        </a:rPr>
                        <a:t>문항</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객관적 증거 (평가 기록부 발췌)</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필수</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추가</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점수</a:t>
                      </a:r>
                    </a:p>
                  </a:txBody>
                  <a:tcPr marL="64008" marR="64008" marT="27432" marB="27432" anchor="ctr">
                    <a:solidFill>
                      <a:srgbClr val="1F3864"/>
                    </a:solidFill>
                  </a:tcPr>
                </a:tc>
              </a:tr>
              <a:tr h="725667">
                <a:tc>
                  <a:txBody>
                    <a:bodyPr wrap="square"/>
                    <a:lstStyle/>
                    <a:p>
                      <a:pPr algn="ctr"/>
                      <a:r>
                        <a:rPr sz="1300" b="0" i="0" a:lang="ko-KR">
                          <a:solidFill>
                            <a:srgbClr val="111111"/>
                          </a:solidFill>
                          <a:latin typeface="맑은 고딕"/>
                          <a:ea typeface="맑은 고딕"/>
                        </a:rPr>
                        <a:t>★P-9</a:t>
                      </a:r>
                    </a:p>
                  </a:txBody>
                  <a:tcPr marL="64008" marR="64008" marT="27432" marB="27432" anchor="ctr">
                    <a:solidFill>
                      <a:srgbClr val="FFFFFF"/>
                    </a:solidFill>
                  </a:tcPr>
                </a:tc>
                <a:tc>
                  <a:txBody>
                    <a:bodyPr wrap="square"/>
                    <a:lstStyle/>
                    <a:p>
                      <a:pPr algn="l"/>
                      <a:r>
                        <a:rPr sz="1300" b="0" i="0" a:lang="ko-KR">
                          <a:solidFill>
                            <a:srgbClr val="111111"/>
                          </a:solidFill>
                          <a:latin typeface="맑은 고딕"/>
                          <a:ea typeface="맑은 고딕"/>
                        </a:rPr>
                        <a:t>환경측면·영향평가표(E4)에 원료 단계의 탄소 Hotspot이 전과정평가(LCA) 결과로 등재되고, 실측치로 중대성이 재채점된 기록 · 규정의 목적에 전과정 관점의 고려가 명문화</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1/2</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4</a:t>
                      </a:r>
                    </a:p>
                  </a:txBody>
                  <a:tcPr marL="64008" marR="64008" marT="27432" marB="27432" anchor="ctr">
                    <a:solidFill>
                      <a:srgbClr val="FFFFFF"/>
                    </a:solidFill>
                  </a:tcPr>
                </a:tc>
              </a:tr>
              <a:tr h="725667">
                <a:tc>
                  <a:txBody>
                    <a:bodyPr wrap="square"/>
                    <a:lstStyle/>
                    <a:p>
                      <a:pPr algn="ctr"/>
                      <a:r>
                        <a:rPr sz="1300" b="0" i="0" a:lang="ko-KR">
                          <a:solidFill>
                            <a:srgbClr val="111111"/>
                          </a:solidFill>
                          <a:latin typeface="맑은 고딕"/>
                          <a:ea typeface="맑은 고딕"/>
                        </a:rPr>
                        <a:t>★P-14</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CI 로드맵에 원료 단계 비중을 낮추는 정량 목표와 달성 기한, 연례 전과정평가(LCA) 측정이 기재 · 환경목표 관리대장에 정량지표·기한·모니터링 방법이 기입되고 월별 실적이 기록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r h="500786">
                <a:tc>
                  <a:txBody>
                    <a:bodyPr wrap="square"/>
                    <a:lstStyle/>
                    <a:p>
                      <a:pPr algn="ctr"/>
                      <a:r>
                        <a:rPr sz="1300" b="1" i="0" a:lang="ko-KR">
                          <a:solidFill>
                            <a:srgbClr val="C00000"/>
                          </a:solidFill>
                          <a:latin typeface="맑은 고딕"/>
                          <a:ea typeface="맑은 고딕"/>
                        </a:rPr>
                        <a:t>★D-1</a:t>
                      </a:r>
                    </a:p>
                  </a:txBody>
                  <a:tcPr marL="64008" marR="64008" marT="27432" marB="27432" anchor="ctr">
                    <a:solidFill>
                      <a:srgbClr val="FFFFFF"/>
                    </a:solidFill>
                  </a:tcPr>
                </a:tc>
                <a:tc>
                  <a:txBody>
                    <a:bodyPr wrap="square"/>
                    <a:lstStyle/>
                    <a:p>
                      <a:pPr algn="l"/>
                      <a:r>
                        <a:rPr sz="1300" b="1" i="0" a:lang="ko-KR">
                          <a:solidFill>
                            <a:srgbClr val="C00000"/>
                          </a:solidFill>
                          <a:latin typeface="맑은 고딕"/>
                          <a:ea typeface="맑은 고딕"/>
                        </a:rPr>
                        <a:t>설계·개발 절차서가 없음을 확인 — 환경 관련 사내 위원회 운영 조항·구매 환경성 평가 절차는 실재, LCI 원료 코드의 재생 원료 등재로 설계 산출물의 반영 기록은 확인</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a:t>
                      </a:r>
                    </a:p>
                  </a:txBody>
                  <a:tcPr marL="64008" marR="64008" marT="27432" marB="27432" anchor="ctr">
                    <a:solidFill>
                      <a:srgbClr val="FFFFFF"/>
                    </a:solidFill>
                  </a:tcPr>
                </a:tc>
              </a:tr>
              <a:tr h="500786">
                <a:tc>
                  <a:txBody>
                    <a:bodyPr wrap="square"/>
                    <a:lstStyle/>
                    <a:p>
                      <a:pPr algn="ctr"/>
                      <a:r>
                        <a:rPr sz="1300" b="0" i="0" a:lang="ko-KR">
                          <a:solidFill>
                            <a:srgbClr val="111111"/>
                          </a:solidFill>
                          <a:latin typeface="맑은 고딕"/>
                          <a:ea typeface="맑은 고딕"/>
                        </a:rPr>
                        <a:t>★C-1</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Scope 1의 분기 실측과 확정배출량 신고, Scope 2 전력 사용량과 전년 대비 증감 분석, Scope 3 상류에 해당하는 제품 전과정평가(LCA) 결과가 기간별로 기록·분석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bl>
          </a:graphicData>
        </a:graphic>
      </p:graphicFrame>
      <p:sp>
        <p:nvSpPr>
          <p:cNvPr id="11" name="TextBox 10"/>
          <p:cNvSpPr txBox="1"/>
          <p:nvPr/>
        </p:nvSpPr>
        <p:spPr>
          <a:xfrm>
            <a:off x="497190" y="6259174"/>
            <a:ext cx="9695214" cy="201600"/>
          </a:xfrm>
          <a:prstGeom prst="rect">
            <a:avLst/>
          </a:prstGeom>
          <a:noFill/>
        </p:spPr>
        <p:txBody>
          <a:bodyPr wrap="square" anchor="t" lIns="0" rIns="0" tIns="0" bIns="0">
            <a:spAutoFit/>
          </a:bodyPr>
          <a:lstStyle/>
          <a:p>
            <a:r>
              <a:rPr sz="1000" b="0" i="0" a:lang="ko-KR">
                <a:solidFill>
                  <a:srgbClr val="595959"/>
                </a:solidFill>
                <a:latin typeface="맑은 고딕"/>
                <a:ea typeface="맑은 고딕"/>
              </a:rPr>
              <a:t>[표 4-8] 평가 기록부 발췌 — 핵심 문항 4종. 51문항의 체크포인트 충족 수와 점수는 부록 I.</a:t>
            </a:r>
          </a:p>
        </p:txBody>
      </p:sp>
      <p:sp>
        <p:nvSpPr>
          <p:cNvPr id="12" name="Terms 2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판정 관례 = 「말로만 하면 인정 안 함, 양식만 있고 기입이 없으면 미충족」처럼 채점 전에 미리 적어 둔 판정 규칙  ·  재검증 = 잠정 점수를 증빙 문서로 다시 하나씩 대조한 것</a:t>
            </a:r>
          </a:p>
        </p:txBody>
      </p:sp>
      <p:sp>
        <p:nvSpPr>
          <p:cNvPr id="13" name="obj note"/>
          <p:cNvSpPr txBox="1"/>
          <p:nvPr/>
        </p:nvSpPr>
        <p:spPr>
          <a:xfrm>
            <a:off x="497190" y="2751600"/>
            <a:ext cx="9697620" cy="457200"/>
          </a:xfrm>
          <a:prstGeom prst="rect">
            <a:avLst/>
          </a:prstGeom>
          <a:noFill/>
        </p:spPr>
        <p:txBody>
          <a:bodyPr wrap="square" lIns="45720" rIns="45720" tIns="20000" bIns="20000">
            <a:spAutoFit/>
          </a:bodyPr>
          <a:lstStyle/>
          <a:p>
            <a:r>
              <a:rPr sz="1100" b="0">
                <a:solidFill>
                  <a:srgbClr val="595959"/>
                </a:solidFill>
                <a:latin typeface="맑은 고딕"/>
                <a:ea typeface="맑은 고딕"/>
              </a:rPr>
              <a:t>평가자가 이 회사의 환경경영 업무를 지원한 이력은 공평성 고려 사항으로 밝혔고, 판정은 회사가 생성·기입한 기록의 실재만을 근거로 하였다. 채점 기준은 평가 중 바꾸지 않았다(C-7·A-9 처리만 평가 뒤 3.4.3으로 확정, 점수 불변).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결과</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연계가 계획에서 가장 성숙하고 점검·개선으로 갈수록 얕아진다.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[표 4-13], [표 4-6]</a:t>
            </a:r>
          </a:p>
        </p:txBody>
      </p:sp>
      <p:graphicFrame>
        <p:nvGraphicFramePr>
          <p:cNvPr id="8" name="Table 7"/>
          <p:cNvGraphicFramePr>
            <a:graphicFrameLocks noGrp="1"/>
          </p:cNvGraphicFramePr>
          <p:nvPr/>
        </p:nvGraphicFramePr>
        <p:xfrm>
          <a:off x="497190" y="1331200"/>
          <a:ext cx="6936608" cy="2534096"/>
        </p:xfrm>
        <a:graphic>
          <a:graphicData uri="http://schemas.openxmlformats.org/drawingml/2006/table">
            <a:tbl>
              <a:tblPr firstRow="1" bandRow="1">
                <a:tableStyleId>{5C22544A-7EE6-4342-B048-85BDC9FD1C3A}</a:tableStyleId>
              </a:tblPr>
              <a:tblGrid>
                <a:gridCol w="1202880"/>
                <a:gridCol w="1002400"/>
                <a:gridCol w="1363264"/>
                <a:gridCol w="1002400"/>
                <a:gridCol w="1002400"/>
                <a:gridCol w="1363264"/>
              </a:tblGrid>
              <a:tr h="5040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 (계획)</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 (실행)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 (점검)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 (개선)</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r>
              <a:tr h="504000">
                <a:tc>
                  <a:txBody>
                    <a:bodyPr wrap="square"/>
                    <a:lstStyle/>
                    <a:p>
                      <a:pPr algn="l"/>
                      <a:r>
                        <a:rPr sz="1400" b="0" i="0" a:lang="ko-KR">
                          <a:solidFill>
                            <a:srgbClr val="111111"/>
                          </a:solidFill>
                          <a:latin typeface="맑은 고딕"/>
                          <a:ea typeface="맑은 고딕"/>
                        </a:rPr>
                        <a:t>영역 평점</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2.85</a:t>
                      </a:r>
                    </a:p>
                  </a:txBody>
                  <a:tcPr marL="64008" marR="64008" marT="27432" marB="27432" anchor="ctr">
                    <a:solidFill>
                      <a:srgbClr val="E8EEF7"/>
                    </a:solidFill>
                  </a:tcPr>
                </a:tc>
              </a:tr>
              <a:tr h="1022096">
                <a:tc>
                  <a:txBody>
                    <a:bodyPr wrap="square"/>
                    <a:lstStyle/>
                    <a:p>
                      <a:pPr algn="l"/>
                      <a:r>
                        <a:rPr sz="1400" b="0" i="0" a:lang="ko-KR">
                          <a:solidFill>
                            <a:srgbClr val="111111"/>
                          </a:solidFill>
                          <a:latin typeface="맑은 고딕"/>
                          <a:ea typeface="맑은 고딕"/>
                        </a:rPr>
                        <a:t>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P-9 4점·P-14 3점 통과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2점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C-1 3점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4종 중 3종 통과</a:t>
                      </a:r>
                    </a:p>
                  </a:txBody>
                  <a:tcPr marL="64008" marR="64008" marT="27432" marB="27432" anchor="ctr">
                    <a:solidFill>
                      <a:srgbClr val="FFFFFF"/>
                    </a:solidFill>
                  </a:tcPr>
                </a:tc>
              </a:tr>
              <a:tr h="504000">
                <a:tc>
                  <a:txBody>
                    <a:bodyPr wrap="square"/>
                    <a:lstStyle/>
                    <a:p>
                      <a:pPr algn="l"/>
                      <a:r>
                        <a:rPr sz="1400" b="0" i="0" a:lang="ko-KR">
                          <a:solidFill>
                            <a:srgbClr val="111111"/>
                          </a:solidFill>
                          <a:latin typeface="맑은 고딕"/>
                          <a:ea typeface="맑은 고딕"/>
                        </a:rPr>
                        <a:t>성숙도 수준</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a:t>
                      </a:r>
                    </a:p>
                  </a:txBody>
                  <a:tcPr marL="64008" marR="64008" marT="27432" marB="27432" anchor="ctr">
                    <a:solidFill>
                      <a:srgbClr val="FFFFFF"/>
                    </a:solidFill>
                  </a:tcPr>
                </a:tc>
              </a:tr>
            </a:tbl>
          </a:graphicData>
        </a:graphic>
      </p:graphicFrame>
      <p:graphicFrame>
        <p:nvGraphicFramePr>
          <p:cNvPr id="9" name="Chart 8"/>
          <p:cNvGraphicFramePr>
            <a:graphicFrameLocks noGrp="1"/>
          </p:cNvGraphicFramePr>
          <p:nvPr/>
        </p:nvGraphicFramePr>
        <p:xfrm>
          <a:off x="7578145" y="1180000"/>
          <a:ext cx="2646336" cy="2923200"/>
        </p:xfrm>
        <a:graphic>
          <a:graphicData uri="http://schemas.openxmlformats.org/drawingml/2006/chart">
            <c:chart xmlns:c="http://schemas.openxmlformats.org/drawingml/2006/chart" r:id="rId2"/>
          </a:graphicData>
        </a:graphic>
      </p:graphicFrame>
      <p:sp>
        <p:nvSpPr>
          <p:cNvPr id="10" name="TextBox 9"/>
          <p:cNvSpPr txBox="1"/>
          <p:nvPr/>
        </p:nvSpPr>
        <p:spPr>
          <a:xfrm>
            <a:off x="497190" y="3955296"/>
            <a:ext cx="6896513" cy="2309904"/>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 55문항 중 3점 이상 39문항(70.9%) — 5점은 없음</a:t>
            </a:r>
          </a:p>
          <a:p>
            <a:pPr>
              <a:spcAft>
                <a:spcPts val="400"/>
              </a:spcAft>
            </a:pPr>
            <a:r>
              <a:rPr sz="1600" b="0" i="0" a:lang="ko-KR">
                <a:solidFill>
                  <a:srgbClr val="111111"/>
                </a:solidFill>
                <a:latin typeface="맑은 고딕"/>
                <a:ea typeface="맑은 고딕"/>
              </a:rPr>
              <a:t>· 프로파일 P 3.23 &gt; D 3.00 &gt; A 2.33 &gt; C 2.10</a:t>
            </a:r>
          </a:p>
          <a:p>
            <a:pPr>
              <a:spcAft>
                <a:spcPts val="400"/>
              </a:spcAft>
            </a:pPr>
            <a:r>
              <a:rPr sz="1600" b="0" i="0" a:lang="ko-KR">
                <a:solidFill>
                  <a:srgbClr val="111111"/>
                </a:solidFill>
                <a:latin typeface="맑은 고딕"/>
                <a:ea typeface="맑은 고딕"/>
              </a:rPr>
              <a:t>· LCA 결과가 들어오는 앞부분(환경측면·목표)은 성립 — 그 결과를 검증하고 다시 돌리는 뒷부분(정밀검토·재수행·경영검토 피드백)은 아직 1회차 수행 단계</a:t>
            </a:r>
          </a:p>
        </p:txBody>
      </p:sp>
      <p:sp>
        <p:nvSpPr>
          <p:cNvPr id="11" name="Rounded Rectangle 10"/>
          <p:cNvSpPr/>
          <p:nvPr/>
        </p:nvSpPr>
        <p:spPr>
          <a:xfrm>
            <a:off x="497190" y="6172896"/>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종합점수 2.85는 판정에 쓰지 않는 보조값 — 판정은 핵심 문항이 정한다(다음 장)</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종합 판정 — ML2 (관리화)</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판정은 점수의 크기가 아니라 핵심 문항의 충족 여부로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4.3.5, 4.5.2, [그림 4-2], [그림 4-3]</a:t>
            </a:r>
          </a:p>
        </p:txBody>
      </p:sp>
      <p:sp>
        <p:nvSpPr>
          <p:cNvPr id="8" name="Rounded Rectangle 7"/>
          <p:cNvSpPr/>
          <p:nvPr/>
        </p:nvSpPr>
        <p:spPr>
          <a:xfrm>
            <a:off x="497190"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P-9  4점</a:t>
            </a:r>
          </a:p>
          <a:p>
            <a:pPr algn="ctr"/>
            <a:r>
              <a:rPr sz="1300" b="0" i="0" a:lang="ko-KR">
                <a:solidFill>
                  <a:srgbClr val="FFFFFF"/>
                </a:solidFill>
                <a:latin typeface="맑은 고딕"/>
                <a:ea typeface="맑은 고딕"/>
              </a:rPr>
              <a:t>환경측면 결정  — 통과</a:t>
            </a:r>
          </a:p>
        </p:txBody>
      </p:sp>
      <p:sp>
        <p:nvSpPr>
          <p:cNvPr id="9" name="Rounded Rectangle 8"/>
          <p:cNvSpPr/>
          <p:nvPr/>
        </p:nvSpPr>
        <p:spPr>
          <a:xfrm>
            <a:off x="290295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P-14  3점</a:t>
            </a:r>
          </a:p>
          <a:p>
            <a:pPr algn="ctr"/>
            <a:r>
              <a:rPr sz="1300" b="0" i="0" a:lang="ko-KR">
                <a:solidFill>
                  <a:srgbClr val="FFFFFF"/>
                </a:solidFill>
                <a:latin typeface="맑은 고딕"/>
                <a:ea typeface="맑은 고딕"/>
              </a:rPr>
              <a:t>정량 환경목표  — 통과</a:t>
            </a:r>
          </a:p>
        </p:txBody>
      </p:sp>
      <p:sp>
        <p:nvSpPr>
          <p:cNvPr id="10" name="Rounded Rectangle 9"/>
          <p:cNvSpPr/>
          <p:nvPr/>
        </p:nvSpPr>
        <p:spPr>
          <a:xfrm>
            <a:off x="5308711" y="1234440"/>
            <a:ext cx="2285472" cy="907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D-1  2점</a:t>
            </a:r>
          </a:p>
          <a:p>
            <a:pPr algn="ctr"/>
            <a:r>
              <a:rPr sz="1300" b="0" i="0" a:lang="ko-KR">
                <a:solidFill>
                  <a:srgbClr val="FFFFFF"/>
                </a:solidFill>
                <a:latin typeface="맑은 고딕"/>
                <a:ea typeface="맑은 고딕"/>
              </a:rPr>
              <a:t>설계·개발 반영  — 미달 (기준 3점)</a:t>
            </a:r>
          </a:p>
        </p:txBody>
      </p:sp>
      <p:sp>
        <p:nvSpPr>
          <p:cNvPr id="11" name="Rounded Rectangle 10"/>
          <p:cNvSpPr/>
          <p:nvPr/>
        </p:nvSpPr>
        <p:spPr>
          <a:xfrm>
            <a:off x="771447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C-1  3점</a:t>
            </a:r>
          </a:p>
          <a:p>
            <a:pPr algn="ctr"/>
            <a:r>
              <a:rPr sz="1300" b="0" i="0" a:lang="ko-KR">
                <a:solidFill>
                  <a:srgbClr val="FFFFFF"/>
                </a:solidFill>
                <a:latin typeface="맑은 고딕"/>
                <a:ea typeface="맑은 고딕"/>
              </a:rPr>
              <a:t>성과 모니터링  — 통과</a:t>
            </a:r>
          </a:p>
        </p:txBody>
      </p:sp>
      <p:sp>
        <p:nvSpPr>
          <p:cNvPr id="12" name="path head"/>
          <p:cNvSpPr txBox="1"/>
          <p:nvPr/>
        </p:nvSpPr>
        <p:spPr>
          <a:xfrm>
            <a:off x="497190" y="2439696"/>
            <a:ext cx="9697620" cy="33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판정 경로 — 아래 조건부터 차례로, 「아니오」가 나오는 곳이 수준</a:t>
            </a:r>
          </a:p>
        </p:txBody>
      </p:sp>
      <p:sp>
        <p:nvSpPr>
          <p:cNvPr id="13" name="path0"/>
          <p:cNvSpPr/>
          <p:nvPr/>
        </p:nvSpPr>
        <p:spPr>
          <a:xfrm>
            <a:off x="497190"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ML1 진입</a:t>
            </a:r>
          </a:p>
          <a:p>
            <a:pPr algn="ctr">
              <a:spcAft>
                <a:spcPts val="300"/>
              </a:spcAft>
            </a:pPr>
            <a:r>
              <a:rPr sz="1200" b="0">
                <a:solidFill>
                  <a:srgbClr val="111111"/>
                </a:solidFill>
                <a:latin typeface="맑은 고딕"/>
                <a:ea typeface="맑은 고딕"/>
              </a:rPr>
              <a:t>핵심 문항 4종 모두 2점 이상</a:t>
            </a:r>
          </a:p>
          <a:p>
            <a:pPr algn="ctr"/>
            <a:r>
              <a:rPr sz="1400" b="1">
                <a:solidFill>
                  <a:srgbClr val="111111"/>
                </a:solidFill>
                <a:latin typeface="맑은 고딕"/>
                <a:ea typeface="맑은 고딕"/>
              </a:rPr>
              <a:t>4 · 3 · 2 · 3 — 통과</a:t>
            </a:r>
          </a:p>
        </p:txBody>
      </p:sp>
      <p:sp>
        <p:nvSpPr>
          <p:cNvPr id="14" name="path arr0"/>
          <p:cNvSpPr/>
          <p:nvPr/>
        </p:nvSpPr>
        <p:spPr>
          <a:xfrm>
            <a:off x="274659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th1"/>
          <p:cNvSpPr/>
          <p:nvPr/>
        </p:nvSpPr>
        <p:spPr>
          <a:xfrm>
            <a:off x="2986595"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ML2 진입</a:t>
            </a:r>
          </a:p>
          <a:p>
            <a:pPr algn="ctr">
              <a:spcAft>
                <a:spcPts val="300"/>
              </a:spcAft>
            </a:pPr>
            <a:r>
              <a:rPr sz="1200" b="0">
                <a:solidFill>
                  <a:srgbClr val="111111"/>
                </a:solidFill>
                <a:latin typeface="맑은 고딕"/>
                <a:ea typeface="맑은 고딕"/>
              </a:rPr>
              <a:t>나머지 51문항 중 절반 이상 3점</a:t>
            </a:r>
          </a:p>
          <a:p>
            <a:pPr algn="ctr"/>
            <a:r>
              <a:rPr sz="1400" b="1">
                <a:solidFill>
                  <a:srgbClr val="111111"/>
                </a:solidFill>
                <a:latin typeface="맑은 고딕"/>
                <a:ea typeface="맑은 고딕"/>
              </a:rPr>
              <a:t>36/51 = 70.6% — 통과</a:t>
            </a:r>
          </a:p>
        </p:txBody>
      </p:sp>
      <p:sp>
        <p:nvSpPr>
          <p:cNvPr id="16" name="path arr1"/>
          <p:cNvSpPr/>
          <p:nvPr/>
        </p:nvSpPr>
        <p:spPr>
          <a:xfrm>
            <a:off x="5236000"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ath2"/>
          <p:cNvSpPr/>
          <p:nvPr/>
        </p:nvSpPr>
        <p:spPr>
          <a:xfrm>
            <a:off x="5476000" y="2799696"/>
            <a:ext cx="2229405" cy="141732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ML3 진입</a:t>
            </a:r>
          </a:p>
          <a:p>
            <a:pPr algn="ctr">
              <a:spcAft>
                <a:spcPts val="300"/>
              </a:spcAft>
            </a:pPr>
            <a:r>
              <a:rPr sz="1200" b="0">
                <a:solidFill>
                  <a:srgbClr val="111111"/>
                </a:solidFill>
                <a:latin typeface="맑은 고딕"/>
                <a:ea typeface="맑은 고딕"/>
              </a:rPr>
              <a:t>핵심 문항 4종 모두 3점 이상</a:t>
            </a:r>
          </a:p>
          <a:p>
            <a:pPr algn="ctr"/>
            <a:r>
              <a:rPr sz="1400" b="1">
                <a:solidFill>
                  <a:srgbClr val="C00000"/>
                </a:solidFill>
                <a:latin typeface="맑은 고딕"/>
                <a:ea typeface="맑은 고딕"/>
              </a:rPr>
              <a:t>D-1 = 2점 — 미충족</a:t>
            </a:r>
          </a:p>
        </p:txBody>
      </p:sp>
      <p:sp>
        <p:nvSpPr>
          <p:cNvPr id="18" name="path arr2"/>
          <p:cNvSpPr/>
          <p:nvPr/>
        </p:nvSpPr>
        <p:spPr>
          <a:xfrm>
            <a:off x="772540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th3"/>
          <p:cNvSpPr/>
          <p:nvPr/>
        </p:nvSpPr>
        <p:spPr>
          <a:xfrm>
            <a:off x="7965405" y="2799696"/>
            <a:ext cx="2229405" cy="1417320"/>
          </a:xfrm>
          <a:prstGeom prst="roundRect">
            <a:avLst/>
          </a:prstGeom>
          <a:solidFill>
            <a:srgbClr val="FBECEC"/>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판정</a:t>
            </a:r>
          </a:p>
          <a:p>
            <a:pPr algn="ctr"/>
            <a:r>
              <a:rPr sz="1400" b="1">
                <a:solidFill>
                  <a:srgbClr val="C00000"/>
                </a:solidFill>
                <a:latin typeface="맑은 고딕"/>
                <a:ea typeface="맑은 고딕"/>
              </a:rPr>
              <a:t>ML2 (관리화)</a:t>
            </a:r>
          </a:p>
          <a:p>
            <a:pPr algn="ctr"/>
            <a:r>
              <a:rPr sz="1200" b="0">
                <a:solidFill>
                  <a:srgbClr val="C00000"/>
                </a:solidFill>
                <a:latin typeface="맑은 고딕"/>
                <a:ea typeface="맑은 고딕"/>
              </a:rPr>
              <a:t>종합점수 2.85</a:t>
            </a:r>
          </a:p>
        </p:txBody>
      </p:sp>
      <p:sp>
        <p:nvSpPr>
          <p:cNvPr id="20" name="sens"/>
          <p:cNvSpPr/>
          <p:nvPr/>
        </p:nvSpPr>
        <p:spPr>
          <a:xfrm>
            <a:off x="497190" y="4477016"/>
            <a:ext cx="9697620" cy="86868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50" b="1">
                <a:solidFill>
                  <a:srgbClr val="C00000"/>
                </a:solidFill>
                <a:latin typeface="맑은 고딕"/>
                <a:ea typeface="맑은 고딕"/>
              </a:rPr>
              <a:t>종합점수 2.85는 판정에 쓰지 않는 보조값 — 과반 기준을 50%에서 70%로, 핵심 문항 기준을 4점이나 5점으로 올려도 판정은 ML2 그대로 (민감도)</a:t>
            </a:r>
          </a:p>
        </p:txBody>
      </p:sp>
      <p:sp>
        <p:nvSpPr>
          <p:cNvPr id="21" name="sens note"/>
          <p:cNvSpPr txBox="1"/>
          <p:nvPr/>
        </p:nvSpPr>
        <p:spPr>
          <a:xfrm>
            <a:off x="497190" y="5465696"/>
            <a:ext cx="969762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영역별 평점과 개선 전·후 그래프([그림 4-3])는 백업 B-13a, 판정 경로 원도([그림 4-2])는 논문 4.3.5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결과 요약 — 낮은 점수는 세 가지 원인으로 모인다</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24</a:t>
            </a:r>
          </a:p>
        </p:txBody>
      </p:sp>
      <p:sp>
        <p:nvSpPr>
          <p:cNvPr id="6" name="TextBox 5"/>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4.4, 4.5.1, 4.7, [그림 4-4]</a:t>
            </a:r>
          </a:p>
        </p:txBody>
      </p:sp>
      <p:pic>
        <p:nvPicPr>
          <p:cNvPr id="7" name="Picture 6" descr="ch4_mid.png"/>
          <p:cNvPicPr>
            <a:picLocks noChangeAspect="1"/>
          </p:cNvPicPr>
          <p:nvPr/>
        </p:nvPicPr>
        <p:blipFill>
          <a:blip r:embed="rId2"/>
          <a:stretch>
            <a:fillRect/>
          </a:stretch>
        </p:blipFill>
        <p:spPr>
          <a:xfrm>
            <a:off x="979769" y="1150000"/>
            <a:ext cx="8732461" cy="5326799"/>
          </a:xfrm>
          <a:prstGeom prst="rect">
            <a:avLst/>
          </a:prstGeom>
        </p:spPr>
      </p:pic>
      <p:sp>
        <p:nvSpPr>
          <p:cNvPr id="8" name="TextBox 7"/>
          <p:cNvSpPr txBox="1"/>
          <p:nvPr/>
        </p:nvSpPr>
        <p:spPr>
          <a:xfrm>
            <a:off x="497190" y="6546800"/>
            <a:ext cx="1283072" cy="24192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써 본 것</a:t>
            </a:r>
          </a:p>
        </p:txBody>
      </p:sp>
      <p:sp>
        <p:nvSpPr>
          <p:cNvPr id="9" name="Rounded Rectangle 8"/>
          <p:cNvSpPr/>
          <p:nvPr/>
        </p:nvSpPr>
        <p:spPr>
          <a:xfrm>
            <a:off x="1780263"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2.85</a:t>
            </a:r>
          </a:p>
        </p:txBody>
      </p:sp>
      <p:sp>
        <p:nvSpPr>
          <p:cNvPr id="10" name="Right Arrow 9"/>
          <p:cNvSpPr/>
          <p:nvPr/>
        </p:nvSpPr>
        <p:spPr>
          <a:xfrm>
            <a:off x="2854835"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79373" y="65468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ML2</a:t>
            </a:r>
          </a:p>
        </p:txBody>
      </p:sp>
      <p:sp>
        <p:nvSpPr>
          <p:cNvPr id="12" name="Right Arrow 11"/>
          <p:cNvSpPr/>
          <p:nvPr/>
        </p:nvSpPr>
        <p:spPr>
          <a:xfrm>
            <a:off x="415394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848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R1~R5</a:t>
            </a:r>
          </a:p>
        </p:txBody>
      </p:sp>
      <p:sp>
        <p:nvSpPr>
          <p:cNvPr id="14" name="Right Arrow 13"/>
          <p:cNvSpPr/>
          <p:nvPr/>
        </p:nvSpPr>
        <p:spPr>
          <a:xfrm>
            <a:off x="545305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7759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3.15</a:t>
            </a:r>
          </a:p>
        </p:txBody>
      </p:sp>
      <p:sp>
        <p:nvSpPr>
          <p:cNvPr id="16" name="Right Arrow 15"/>
          <p:cNvSpPr/>
          <p:nvPr/>
        </p:nvSpPr>
        <p:spPr>
          <a:xfrm>
            <a:off x="6752167"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76705"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R1~R5</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진단이 채점에서 끝나지 않고 실행 계획으로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4.6.1, [표 4-15], [그림 4-5]~[그림 4-9]</a:t>
            </a:r>
          </a:p>
        </p:txBody>
      </p:sp>
      <p:graphicFrame>
        <p:nvGraphicFramePr>
          <p:cNvPr id="8" name="Table 7"/>
          <p:cNvGraphicFramePr>
            <a:graphicFrameLocks noGrp="1"/>
          </p:cNvGraphicFramePr>
          <p:nvPr/>
        </p:nvGraphicFramePr>
        <p:xfrm>
          <a:off x="494383" y="1180000"/>
          <a:ext cx="9703232" cy="3880800"/>
        </p:xfrm>
        <a:graphic>
          <a:graphicData uri="http://schemas.openxmlformats.org/drawingml/2006/table">
            <a:tbl>
              <a:tblPr firstRow="1" bandRow="1">
                <a:tableStyleId>{5C22544A-7EE6-4342-B048-85BDC9FD1C3A}</a:tableStyleId>
              </a:tblPr>
              <a:tblGrid>
                <a:gridCol w="882112"/>
                <a:gridCol w="3929408"/>
                <a:gridCol w="1042496"/>
                <a:gridCol w="882112"/>
                <a:gridCol w="1603840"/>
                <a:gridCol w="1363264"/>
              </a:tblGrid>
              <a:tr h="554400">
                <a:tc>
                  <a:txBody>
                    <a:bodyPr wrap="square"/>
                    <a:lstStyle/>
                    <a:p>
                      <a:pPr algn="ctr"/>
                      <a:r>
                        <a:rPr sz="1400" b="1" i="0" a:lang="ko-KR">
                          <a:solidFill>
                            <a:srgbClr val="FFFFFF"/>
                          </a:solidFill>
                          <a:latin typeface="맑은 고딕"/>
                          <a:ea typeface="맑은 고딕"/>
                        </a:rPr>
                        <a:t>과제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무엇을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담당부서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시기</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대상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 효과</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R1</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제외 단계(사용·폐기) 정당화의 공식 문서화 + 경계 정합성 검토 기록</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P-3 · P-18 · A-8 · (D-1 추가④)</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R2</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비교주장 미수행 정책 결정의 문서화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C-7 · A-9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 (각 1→3)</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R3</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 제정 — 환경 고려 단계 공식화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개발부서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+1 → ML2→ML3</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내부 정밀검토 체계 도입 + 내부심사 체크리스트에 LCA 항목 반영</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P-21 · C-5 · (C-9)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 (+1)</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R5</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LCA 연 1회 재수행의 이행 — 개선 전·후 비교 · 민감도 · 일관성 검사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ESG부서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중기~장기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C-2 · A-2 · A-6 · (C-4)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(+1)</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R6 (장기)</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외부 정밀검토 — ML4를 향한 장기 과제(수치 미포함)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장기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C-6</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E8EEF7"/>
                    </a:solidFill>
                  </a:tcPr>
                </a:tc>
              </a:tr>
            </a:tbl>
          </a:graphicData>
        </a:graphic>
      </p:graphicFrame>
      <p:sp>
        <p:nvSpPr>
          <p:cNvPr id="9" name="Rounded Rectangle 8"/>
          <p:cNvSpPr/>
          <p:nvPr/>
        </p:nvSpPr>
        <p:spPr>
          <a:xfrm>
            <a:off x="497190" y="5262400"/>
            <a:ext cx="9695214"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구조적 미비 ①→R3 · ②→R4 · ③→R5, 경계·조건부 문항→R1·R2 — 원인 단위로 최소화한 5건</a:t>
            </a:r>
          </a:p>
          <a:p>
            <a:pPr algn="ctr"/>
            <a:r>
              <a:rPr sz="1300" b="0" i="0" a:lang="ko-KR">
                <a:solidFill>
                  <a:srgbClr val="111111"/>
                </a:solidFill>
                <a:latin typeface="맑은 고딕"/>
                <a:ea typeface="맑은 고딕"/>
              </a:rPr>
              <a:t>과제의 목표 상태는 재평가 기준인 채점 앵커와 같은 문구 → 다음 평가에서 조치 완료 여부를 그대로 판정 (KS I ISO 14004 6.2.3·10.3의 계획 요소)</a:t>
            </a:r>
          </a:p>
        </p:txBody>
      </p:sp>
      <p:sp>
        <p:nvSpPr>
          <p:cNvPr id="10" name="Terms 2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경계(시스템 경계) = LCA에서 어디까지를 계산에 넣을지 정한 범위(A사는 원료~유통, 사용·폐기 제외)  ·  R1~R5 = 개선 과제 다섯 건</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로드맵과 재평가</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평가와 개선과 재평가가 같은 문구로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4.6.2, 4.6.3, [표 4-16], [표 4-18], [그림 4-10]</a:t>
            </a:r>
          </a:p>
        </p:txBody>
      </p:sp>
      <p:pic>
        <p:nvPicPr>
          <p:cNvPr id="8" name="Picture 7" descr="g4-10.png"/>
          <p:cNvPicPr>
            <a:picLocks noChangeAspect="1"/>
          </p:cNvPicPr>
          <p:nvPr/>
        </p:nvPicPr>
        <p:blipFill>
          <a:blip r:embed="rId2"/>
          <a:stretch>
            <a:fillRect/>
          </a:stretch>
        </p:blipFill>
        <p:spPr>
          <a:xfrm>
            <a:off x="1496147" y="1188720"/>
            <a:ext cx="7699705" cy="3657600"/>
          </a:xfrm>
          <a:prstGeom prst="rect">
            <a:avLst/>
          </a:prstGeom>
        </p:spPr>
      </p:pic>
      <p:graphicFrame>
        <p:nvGraphicFramePr>
          <p:cNvPr id="9" name="Table 8"/>
          <p:cNvGraphicFramePr>
            <a:graphicFrameLocks noGrp="1"/>
          </p:cNvGraphicFramePr>
          <p:nvPr/>
        </p:nvGraphicFramePr>
        <p:xfrm>
          <a:off x="1216111" y="4937760"/>
          <a:ext cx="8259776" cy="1445680"/>
        </p:xfrm>
        <a:graphic>
          <a:graphicData uri="http://schemas.openxmlformats.org/drawingml/2006/table">
            <a:tbl>
              <a:tblPr firstRow="1" bandRow="1">
                <a:tableStyleId>{5C22544A-7EE6-4342-B048-85BDC9FD1C3A}</a:tableStyleId>
              </a:tblPr>
              <a:tblGrid>
                <a:gridCol w="2084992"/>
                <a:gridCol w="721728"/>
                <a:gridCol w="721728"/>
                <a:gridCol w="721728"/>
                <a:gridCol w="721728"/>
                <a:gridCol w="801920"/>
                <a:gridCol w="1523648"/>
                <a:gridCol w="962304"/>
              </a:tblGrid>
              <a:tr h="4536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핵심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a:t>
                      </a:r>
                    </a:p>
                  </a:txBody>
                  <a:tcPr marL="64008" marR="64008" marT="27432" marB="27432" anchor="ctr">
                    <a:solidFill>
                      <a:srgbClr val="1F3864"/>
                    </a:solidFill>
                  </a:tcPr>
                </a:tc>
              </a:tr>
              <a:tr h="453600">
                <a:tc>
                  <a:txBody>
                    <a:bodyPr wrap="square"/>
                    <a:lstStyle/>
                    <a:p>
                      <a:pPr algn="l"/>
                      <a:r>
                        <a:rPr sz="1400" b="0" i="0" a:lang="ko-KR">
                          <a:solidFill>
                            <a:srgbClr val="111111"/>
                          </a:solidFill>
                          <a:latin typeface="맑은 고딕"/>
                          <a:ea typeface="맑은 고딕"/>
                        </a:rPr>
                        <a:t>현행 (증빙 확정)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2.85</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미충족</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R1~R5 완수 시 (재산정)</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3.40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3.17</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2.50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3.15</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4종 모두 통과</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ML3</a:t>
                      </a:r>
                    </a:p>
                  </a:txBody>
                  <a:tcPr marL="64008" marR="64008" marT="27432" marB="27432" anchor="ctr">
                    <a:solidFill>
                      <a:srgbClr val="E8EEF7"/>
                    </a:solidFill>
                  </a:tcPr>
                </a:tc>
              </a:tr>
            </a:tbl>
          </a:graphicData>
        </a:graphic>
      </p:graphicFrame>
      <p:sp>
        <p:nvSpPr>
          <p:cNvPr id="10" name="TextBox 9"/>
          <p:cNvSpPr txBox="1"/>
          <p:nvPr/>
        </p:nvSpPr>
        <p:spPr>
          <a:xfrm>
            <a:off x="497190" y="6423440"/>
            <a:ext cx="9695214" cy="54864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완수 시 값은 지금 점수로 다시 계산한 전망이며 이행 결과가 아니다 · R6(외부 정밀검토)은 ML4를 향한 장기 과제라 수치에 넣지 않음 · 단기 1년 이내(LCA 연 1회 재수행 주기) · 중기 3년 이내(ISO 14001 인증 갱신 주기) · 장기 3년 초과 — 4.6.3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장점과 단점, 그리고 한계</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장점 여섯, 단점 여섯, 한계 셋 — 한계는 그대로 향후 연구 과제다.</a:t>
            </a:r>
            <a:r>
              <a:rPr sz="1600" b="1" i="0" a:lang="ko-KR">
                <a:solidFill>
                  <a:srgbClr val="1F3864"/>
                </a:solidFill>
                <a:latin typeface="맑은 고딕"/>
                <a:ea typeface="맑은 고딕"/>
              </a:rPr>
              <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5.2, 5.3, [표 5-1]</a:t>
            </a:r>
          </a:p>
        </p:txBody>
      </p:sp>
      <p:sp>
        <p:nvSpPr>
          <p:cNvPr id="8" name="Rounded Rectangle 7"/>
          <p:cNvSpPr/>
          <p:nvPr/>
        </p:nvSpPr>
        <p:spPr>
          <a:xfrm>
            <a:off x="497190"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장점</a:t>
            </a:r>
          </a:p>
          <a:p>
            <a:pPr algn="l">
              <a:spcAft>
                <a:spcPts val="300"/>
              </a:spcAft>
            </a:pPr>
            <a:r>
              <a:rPr sz="1400" b="0">
                <a:solidFill>
                  <a:srgbClr val="111111"/>
                </a:solidFill>
                <a:latin typeface="맑은 고딕"/>
                <a:ea typeface="맑은 고딕"/>
              </a:rPr>
              <a:t>· 문항의 추적성 — 문항마다 근거 조항을 따라갈 수 있다</a:t>
            </a:r>
          </a:p>
          <a:p>
            <a:pPr algn="l">
              <a:spcAft>
                <a:spcPts val="300"/>
              </a:spcAft>
            </a:pPr>
            <a:r>
              <a:rPr sz="1400" b="0">
                <a:solidFill>
                  <a:srgbClr val="111111"/>
                </a:solidFill>
                <a:latin typeface="맑은 고딕"/>
                <a:ea typeface="맑은 고딕"/>
              </a:rPr>
              <a:t>· 판정 기준의 명문화 — 같은 증거면 같은 점수</a:t>
            </a:r>
          </a:p>
          <a:p>
            <a:pPr algn="l">
              <a:spcAft>
                <a:spcPts val="300"/>
              </a:spcAft>
            </a:pPr>
            <a:r>
              <a:rPr sz="1400" b="0">
                <a:solidFill>
                  <a:srgbClr val="111111"/>
                </a:solidFill>
                <a:latin typeface="맑은 고딕"/>
                <a:ea typeface="맑은 고딕"/>
              </a:rPr>
              <a:t>· 종합점수에 묻히는 미비의 식별 — 필수 네 곳이 빠지면 드러난다</a:t>
            </a:r>
          </a:p>
          <a:p>
            <a:pPr algn="l">
              <a:spcAft>
                <a:spcPts val="300"/>
              </a:spcAft>
            </a:pPr>
            <a:r>
              <a:rPr sz="1400" b="0">
                <a:solidFill>
                  <a:srgbClr val="111111"/>
                </a:solidFill>
                <a:latin typeface="맑은 고딕"/>
                <a:ea typeface="맑은 고딕"/>
              </a:rPr>
              <a:t>· 평가와 개선의 연결 — 고칠 목표가 다음 평가 기준과 같은 말</a:t>
            </a:r>
          </a:p>
          <a:p>
            <a:pPr algn="l">
              <a:spcAft>
                <a:spcPts val="300"/>
              </a:spcAft>
            </a:pPr>
            <a:r>
              <a:rPr sz="1400" b="0">
                <a:solidFill>
                  <a:srgbClr val="111111"/>
                </a:solidFill>
                <a:latin typeface="맑은 고딕"/>
                <a:ea typeface="맑은 고딕"/>
              </a:rPr>
              <a:t>· 표준 구조의 준용 — 판정 구조·평가 방법을 국제표준에서</a:t>
            </a:r>
          </a:p>
          <a:p>
            <a:pPr algn="l">
              <a:spcAft>
                <a:spcPts val="300"/>
              </a:spcAft>
            </a:pPr>
            <a:r>
              <a:rPr sz="1400" b="0">
                <a:solidFill>
                  <a:srgbClr val="111111"/>
                </a:solidFill>
                <a:latin typeface="맑은 고딕"/>
                <a:ea typeface="맑은 고딕"/>
              </a:rPr>
              <a:t>· 수준이 뜻하는 바의 구분 — ML3까지 체계, ML4부터 숫자로 확인</a:t>
            </a:r>
          </a:p>
        </p:txBody>
      </p:sp>
      <p:sp>
        <p:nvSpPr>
          <p:cNvPr id="9" name="Rounded Rectangle 8"/>
          <p:cNvSpPr/>
          <p:nvPr/>
        </p:nvSpPr>
        <p:spPr>
          <a:xfrm>
            <a:off x="5461076"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단점</a:t>
            </a:r>
          </a:p>
          <a:p>
            <a:pPr algn="l">
              <a:spcAft>
                <a:spcPts val="300"/>
              </a:spcAft>
            </a:pPr>
            <a:r>
              <a:rPr sz="1400" b="0">
                <a:solidFill>
                  <a:srgbClr val="111111"/>
                </a:solidFill>
                <a:latin typeface="맑은 고딕"/>
                <a:ea typeface="맑은 고딕"/>
              </a:rPr>
              <a:t>· 핵심 문항 4종에 대한 의존 — 네 문항의 선택은 전문가 검토 전</a:t>
            </a:r>
          </a:p>
          <a:p>
            <a:pPr algn="l">
              <a:spcAft>
                <a:spcPts val="300"/>
              </a:spcAft>
            </a:pPr>
            <a:r>
              <a:rPr sz="1400" b="0">
                <a:solidFill>
                  <a:srgbClr val="111111"/>
                </a:solidFill>
                <a:latin typeface="맑은 고딕"/>
                <a:ea typeface="맑은 고딕"/>
              </a:rPr>
              <a:t>· 판정 파라미터 — 과반 50% 등은 연구자가 정한 값</a:t>
            </a:r>
          </a:p>
          <a:p>
            <a:pPr algn="l">
              <a:spcAft>
                <a:spcPts val="300"/>
              </a:spcAft>
            </a:pPr>
            <a:r>
              <a:rPr sz="1400" b="0">
                <a:solidFill>
                  <a:srgbClr val="111111"/>
                </a:solidFill>
                <a:latin typeface="맑은 고딕"/>
                <a:ea typeface="맑은 고딕"/>
              </a:rPr>
              <a:t>· 평가의 부담 — 55문항 문서 확인, 두 분야를 다 알아야</a:t>
            </a:r>
          </a:p>
          <a:p>
            <a:pPr algn="l">
              <a:spcAft>
                <a:spcPts val="300"/>
              </a:spcAft>
            </a:pPr>
            <a:r>
              <a:rPr sz="1400" b="0">
                <a:solidFill>
                  <a:srgbClr val="111111"/>
                </a:solidFill>
                <a:latin typeface="맑은 고딕"/>
                <a:ea typeface="맑은 고딕"/>
              </a:rPr>
              <a:t>· 적용 대상의 제약 — LCA를 안 하는 회사는 차이가 안 난다</a:t>
            </a:r>
          </a:p>
          <a:p>
            <a:pPr algn="l">
              <a:spcAft>
                <a:spcPts val="300"/>
              </a:spcAft>
            </a:pPr>
            <a:r>
              <a:rPr sz="1400" b="0">
                <a:solidFill>
                  <a:srgbClr val="111111"/>
                </a:solidFill>
                <a:latin typeface="맑은 고딕"/>
                <a:ea typeface="맑은 고딕"/>
              </a:rPr>
              <a:t>· 문항 간 종속 · 문서 심사 방식 — 미비 하나가 여러 점수에, 형식적 이행은 못 가림</a:t>
            </a:r>
          </a:p>
          <a:p>
            <a:pPr algn="l">
              <a:spcAft>
                <a:spcPts val="300"/>
              </a:spcAft>
            </a:pPr>
            <a:r>
              <a:rPr sz="1400" b="0">
                <a:solidFill>
                  <a:srgbClr val="111111"/>
                </a:solidFill>
                <a:latin typeface="맑은 고딕"/>
                <a:ea typeface="맑은 고딕"/>
              </a:rPr>
              <a:t>· 환경성과와의 관계 미검증 — 탄소·비용이 주는지는 확인 안 함</a:t>
            </a:r>
          </a:p>
        </p:txBody>
      </p:sp>
      <p:sp>
        <p:nvSpPr>
          <p:cNvPr id="10" name="Rounded Rectangle 9"/>
          <p:cNvSpPr/>
          <p:nvPr/>
        </p:nvSpPr>
        <p:spPr>
          <a:xfrm>
            <a:off x="497190" y="4959339"/>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C00000"/>
                </a:solidFill>
                <a:latin typeface="맑은 고딕"/>
                <a:ea typeface="맑은 고딕"/>
              </a:rPr>
              <a:t>한계 — 한 회사 · 한 시점 · 평가자 한 명  /  전문가 타당도 조사(CVI)는 아직 하지 않음  /  가장 높은 두 수준(ML4·ML5)은 사례로 확인 못 함</a:t>
            </a:r>
          </a:p>
        </p:txBody>
      </p:sp>
      <p:sp>
        <p:nvSpPr>
          <p:cNvPr id="11" name="TextBox 10"/>
          <p:cNvSpPr txBox="1"/>
          <p:nvPr/>
        </p:nvSpPr>
        <p:spPr>
          <a:xfrm>
            <a:off x="497190" y="5841228"/>
            <a:ext cx="9695214" cy="8064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이 셋이 그대로 향후 연구 과제 — 다사례 적용과 판정 규칙의 재검토, CVI 조사의 실시, 모델의 단체표준화 검토(선례: ISO 9004 부속서 A의 성숙도 자체평가). 기대 효과(탄소 저감 = 비용 감소)는 모델의 구조에서 예상되는 것이며 본 연구에서 확인된 것은 아니다.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전체 한 장 요약</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결론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표준의 연계를 조항 단위로 확인하고 수준으로 판정하며 개선으로 연결하는 척도를 만들어 한 기업에 적용하였다.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5.2, 5.3, [그림 5-1]~[그림 5-3]</a:t>
            </a:r>
          </a:p>
        </p:txBody>
      </p:sp>
      <p:graphicFrame>
        <p:nvGraphicFramePr>
          <p:cNvPr id="8" name="Table 7"/>
          <p:cNvGraphicFramePr>
            <a:graphicFrameLocks noGrp="1"/>
          </p:cNvGraphicFramePr>
          <p:nvPr/>
        </p:nvGraphicFramePr>
        <p:xfrm>
          <a:off x="494383" y="1362880"/>
          <a:ext cx="9703233" cy="4233600"/>
        </p:xfrm>
        <a:graphic>
          <a:graphicData uri="http://schemas.openxmlformats.org/drawingml/2006/table">
            <a:tbl>
              <a:tblPr firstRow="1" bandRow="1">
                <a:tableStyleId>{5C22544A-7EE6-4342-B048-85BDC9FD1C3A}</a:tableStyleId>
              </a:tblPr>
              <a:tblGrid>
                <a:gridCol w="882112"/>
                <a:gridCol w="8821121"/>
              </a:tblGrid>
              <a:tr h="705600">
                <a:tc>
                  <a:txBody>
                    <a:bodyPr wrap="square"/>
                    <a:lstStyle/>
                    <a:p>
                      <a:pPr algn="ctr"/>
                      <a:r>
                        <a:rPr sz="1400" b="1" i="0" a:lang="ko-KR">
                          <a:solidFill>
                            <a:srgbClr val="FFFFFF"/>
                          </a:solidFill>
                          <a:latin typeface="맑은 고딕"/>
                          <a:ea typeface="맑은 고딕"/>
                        </a:rPr>
                        <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내용</a:t>
                      </a:r>
                    </a:p>
                  </a:txBody>
                  <a:tcPr marL="64008" marR="64008" marT="27432" marB="27432" anchor="ctr">
                    <a:solidFill>
                      <a:srgbClr val="1F3864"/>
                    </a:solidFill>
                  </a:tcPr>
                </a:tc>
              </a:tr>
              <a:tr h="705600">
                <a:tc>
                  <a:txBody>
                    <a:bodyPr wrap="square"/>
                    <a:lstStyle/>
                    <a:p>
                      <a:pPr algn="ctr"/>
                      <a:r>
                        <a:rPr sz="1400" b="0" i="0" a:lang="ko-KR">
                          <a:solidFill>
                            <a:srgbClr val="111111"/>
                          </a:solidFill>
                          <a:latin typeface="맑은 고딕"/>
                          <a:ea typeface="맑은 고딕"/>
                        </a:rPr>
                        <a:t>문제</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표준(ISO 14001 · ISO 14044)이 서로를 전제하지 않아 현장에서 따로 운영된다 — 연계 수준을 측정하는 기준은 찾아보기 어렵다</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방법</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두 표준 전조항 양방향 매핑 → 참조 모델(연계 프로세스 16종) · 평가 모델(55문항·BARS) · 성숙도 모델(ML0~ML5·핵심 문항 4종) = LMA · 두 방향 검증(추적성 · 33004 24건)</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결과</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제조기업 A사 시범 적용 — 종합 2.85(P 3.23 · D 3.00 · C 2.10 · A 2.33), 핵심 문항 D-1 미달로 ML2 · 구조적 미비 3건 → 개선 과제 R1~R5 · 완수 시 3.15 · ML3 전망</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의의</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환경경영시스템(ISO 14001)과 전과정평가(LCA)의 연계를 조직 단위로 판정하는 척도 — 평가 결과가 곧 개선 과제로 이어지는 순환 구조</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한계</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단일 기업 · 단일 시점 · 단일 평가자 — 판정은 모델의 판정 논리를 검증한 것이지 A사의 공식 등급이 아님 · CVI 조사와 복수 기업 적용, 단체표준화 검토가 향후 연구 과제</a:t>
                      </a:r>
                    </a:p>
                  </a:txBody>
                  <a:tcPr marL="64008" marR="64008" marT="27432" marB="27432" anchor="ctr">
                    <a:solidFill>
                      <a:srgbClr val="FFFFFF"/>
                    </a:solidFill>
                  </a:tcPr>
                </a:tc>
              </a:tr>
            </a:tbl>
          </a:graphicData>
        </a:graphic>
      </p:graphicFrame>
      <p:sp>
        <p:nvSpPr>
          <p:cNvPr id="9" name="TextBox 8"/>
          <p:cNvSpPr txBox="1"/>
          <p:nvPr/>
        </p:nvSpPr>
        <p:spPr>
          <a:xfrm>
            <a:off x="497190" y="574768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한 줄</a:t>
            </a:r>
          </a:p>
        </p:txBody>
      </p:sp>
      <p:sp>
        <p:nvSpPr>
          <p:cNvPr id="10" name="Rounded Rectangle 9"/>
          <p:cNvSpPr/>
          <p:nvPr/>
        </p:nvSpPr>
        <p:spPr>
          <a:xfrm>
            <a:off x="1780263"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연계</a:t>
            </a:r>
          </a:p>
        </p:txBody>
      </p:sp>
      <p:sp>
        <p:nvSpPr>
          <p:cNvPr id="11" name="Right Arrow 10"/>
          <p:cNvSpPr/>
          <p:nvPr/>
        </p:nvSpPr>
        <p:spPr>
          <a:xfrm>
            <a:off x="2935027"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59565"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모델링</a:t>
            </a:r>
          </a:p>
        </p:txBody>
      </p:sp>
      <p:sp>
        <p:nvSpPr>
          <p:cNvPr id="13" name="Right Arrow 12"/>
          <p:cNvSpPr/>
          <p:nvPr/>
        </p:nvSpPr>
        <p:spPr>
          <a:xfrm>
            <a:off x="4314330"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38868"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평가</a:t>
            </a:r>
          </a:p>
        </p:txBody>
      </p:sp>
      <p:sp>
        <p:nvSpPr>
          <p:cNvPr id="15" name="Right Arrow 14"/>
          <p:cNvSpPr/>
          <p:nvPr/>
        </p:nvSpPr>
        <p:spPr>
          <a:xfrm>
            <a:off x="5693632"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18170"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지속적 개선</a:t>
            </a:r>
          </a:p>
        </p:txBody>
      </p:sp>
      <p:sp>
        <p:nvSpPr>
          <p:cNvPr id="17" name="Right Arrow 16"/>
          <p:cNvSpPr/>
          <p:nvPr/>
        </p:nvSpPr>
        <p:spPr>
          <a:xfrm>
            <a:off x="7072935"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97473" y="5747680"/>
            <a:ext cx="1122688" cy="584606"/>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환경영향 저감</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결론</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결론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29</a:t>
            </a:r>
          </a:p>
        </p:txBody>
      </p:sp>
      <p:sp>
        <p:nvSpPr>
          <p:cNvPr id="6" name="TextBox 5"/>
          <p:cNvSpPr txBox="1"/>
          <p:nvPr/>
        </p:nvSpPr>
        <p:spPr>
          <a:xfrm>
            <a:off x="497190" y="1180000"/>
            <a:ext cx="9695214" cy="3427200"/>
          </a:xfrm>
          <a:prstGeom prst="rect">
            <a:avLst/>
          </a:prstGeom>
          <a:noFill/>
        </p:spPr>
        <p:txBody>
          <a:bodyPr wrap="square" anchor="t" lIns="0" rIns="0" tIns="0" bIns="0">
            <a:spAutoFit/>
          </a:bodyPr>
          <a:lstStyle/>
          <a:p>
            <a:pPr>
              <a:spcAft>
                <a:spcPts val="1800"/>
              </a:spcAft>
            </a:pPr>
            <a:r>
              <a:rPr sz="2000" b="0" i="0" a:lang="ko-KR">
                <a:solidFill>
                  <a:srgbClr val="111111"/>
                </a:solidFill>
                <a:latin typeface="맑은 고딕"/>
                <a:ea typeface="맑은 고딕"/>
              </a:rPr>
              <a:t>환경경영시스템(ISO 14001)과 전과정평가(LCA)는 각각 성숙한 표준이나 서로를 전제하지 않는다.</a:t>
            </a:r>
          </a:p>
          <a:p>
            <a:pPr>
              <a:spcAft>
                <a:spcPts val="1800"/>
              </a:spcAft>
            </a:pPr>
            <a:r>
              <a:rPr sz="2000" b="1" i="0" a:lang="ko-KR">
                <a:solidFill>
                  <a:srgbClr val="1F3864"/>
                </a:solidFill>
                <a:latin typeface="맑은 고딕"/>
                <a:ea typeface="맑은 고딕"/>
              </a:rPr>
              <a:t>본 연구는 두 표준의 연계를 조항 단위로 확인하고 성숙도 수준으로 판정하며 개선 과제로 연결하는 연계 성숙도 평가 모델(LMA)을 개발하고, 이를 한 기업에 적용하여 작동함을 확인하였다.</a:t>
            </a:r>
          </a:p>
          <a:p>
            <a:r>
              <a:rPr sz="2000" b="0" i="0" a:lang="ko-KR">
                <a:solidFill>
                  <a:srgbClr val="111111"/>
                </a:solidFill>
                <a:latin typeface="맑은 고딕"/>
                <a:ea typeface="맑은 고딕"/>
              </a:rPr>
              <a:t>두 표준의 조항을 연계하여 LMA를 만들고, 이 모델로 조직을 평가하여, 그 결과를 환경경영시스템(ISO 14001)의 지속적 개선으로 연결함으로써 전과정의 환경영향을 줄이는 데 기여하고자 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923200"/>
            <a:ext cx="9695214" cy="1209600"/>
          </a:xfrm>
          <a:prstGeom prst="rect">
            <a:avLst/>
          </a:prstGeom>
          <a:noFill/>
        </p:spPr>
        <p:txBody>
          <a:bodyPr wrap="square" anchor="t" lIns="0" rIns="0" tIns="0" bIns="0">
            <a:spAutoFit/>
          </a:bodyPr>
          <a:lstStyle/>
          <a:p>
            <a:pPr algn="ctr"/>
            <a:r>
              <a:rPr sz="4000" b="1" i="0" a:lang="ko-KR">
                <a:solidFill>
                  <a:srgbClr val="1F3864"/>
                </a:solidFill>
                <a:latin typeface="맑은 고딕"/>
                <a:ea typeface="맑은 고딕"/>
              </a:rPr>
              <a:t>감사합니다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822400"/>
            <a:ext cx="9695214" cy="1411200"/>
          </a:xfrm>
          <a:prstGeom prst="rect">
            <a:avLst/>
          </a:prstGeom>
          <a:noFill/>
        </p:spPr>
        <p:txBody>
          <a:bodyPr wrap="square" anchor="t" lIns="0" rIns="0" tIns="0" bIns="0">
            <a:spAutoFit/>
          </a:bodyPr>
          <a:lstStyle/>
          <a:p>
            <a:pPr algn="ctr"/>
            <a:r>
              <a:rPr sz="3400" b="1" i="0" a:lang="ko-KR">
                <a:solidFill>
                  <a:srgbClr val="1F3864"/>
                </a:solidFill>
                <a:latin typeface="맑은 고딕"/>
                <a:ea typeface="맑은 고딕"/>
              </a:rPr>
              <a:t>백업 슬라이드</a:t>
            </a:r>
          </a:p>
          <a:p>
            <a:pPr algn="ctr"/>
            <a:r>
              <a:rPr sz="1600" b="0" i="0" a:lang="ko-KR">
                <a:solidFill>
                  <a:srgbClr val="595959"/>
                </a:solidFill>
                <a:latin typeface="맑은 고딕"/>
                <a:ea typeface="맑은 고딕"/>
              </a:rPr>
              <a:t>질문이 나올 때만 꺼낸다 — B-1~B-16 그림·표(B-1a 등급표 · B-10a 채점 기준 표 · B-11a 진입 조건 표 · B-13a 영역별 그래프 포함) · B-0 장별 요약(1·2장 한 장 요약, 5장 그림 세 장) · B-Q1~B-Q12 예상 질문</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ISO 14001 조항의 연계 가능성 판정 질문 적용 흐름 — [그림 3-3]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32</a:t>
            </a:r>
          </a:p>
        </p:txBody>
      </p:sp>
      <p:pic>
        <p:nvPicPr>
          <p:cNvPr id="6" name="Picture 5" descr="g3-3.png"/>
          <p:cNvPicPr>
            <a:picLocks noChangeAspect="1"/>
          </p:cNvPicPr>
          <p:nvPr/>
        </p:nvPicPr>
        <p:blipFill>
          <a:blip r:embed="rId2"/>
          <a:stretch>
            <a:fillRect/>
          </a:stretch>
        </p:blipFill>
        <p:spPr>
          <a:xfrm>
            <a:off x="480000" y="1952048"/>
            <a:ext cx="9732000" cy="3859697"/>
          </a:xfrm>
          <a:prstGeom prst="rect">
            <a:avLst/>
          </a:prstGeom>
        </p:spPr>
      </p:pic>
      <p:sp>
        <p:nvSpPr>
          <p:cNvPr id="7" name="Guide 32"/>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네 물음을 같은 순서로 물어 네 등급 가운데 하나로 매긴다 — 「예」가 앞에서 나올수록 연계 가능성이 높다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가능성 판정 등급과 요건 — [표 3-2]</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graphicFrame>
        <p:nvGraphicFramePr>
          <p:cNvPr id="9" name="Table 8"/>
          <p:cNvGraphicFramePr>
            <a:graphicFrameLocks noGrp="1"/>
          </p:cNvGraphicFramePr>
          <p:nvPr/>
        </p:nvGraphicFramePr>
        <p:xfrm>
          <a:off x="497190" y="1652080"/>
          <a:ext cx="9702353" cy="4759616"/>
        </p:xfrm>
        <a:graphic>
          <a:graphicData uri="http://schemas.openxmlformats.org/drawingml/2006/table">
            <a:tbl>
              <a:tblPr firstRow="1" bandRow="1">
                <a:tableStyleId>{5C22544A-7EE6-4342-B048-85BDC9FD1C3A}</a:tableStyleId>
              </a:tblPr>
              <a:tblGrid>
                <a:gridCol w="1635696"/>
                <a:gridCol w="5002776"/>
                <a:gridCol w="3063881"/>
              </a:tblGrid>
              <a:tr h="725760">
                <a:tc>
                  <a:txBody>
                    <a:bodyPr wrap="square"/>
                    <a:lstStyle/>
                    <a:p>
                      <a:pPr algn="ctr"/>
                      <a:r>
                        <a:rPr sz="1500" b="1" i="0" a:lang="ko-KR">
                          <a:solidFill>
                            <a:srgbClr val="FFFFFF"/>
                          </a:solidFill>
                          <a:latin typeface="맑은 고딕"/>
                          <a:ea typeface="맑은 고딕"/>
                        </a:rPr>
                        <a:t>판정 등급</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판정 요건 (요지)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해당 조항</a:t>
                      </a:r>
                    </a:p>
                  </a:txBody>
                  <a:tcPr marL="64008" marR="64008" marT="27432" marB="27432" anchor="ctr">
                    <a:solidFill>
                      <a:srgbClr val="1F3864"/>
                    </a:solidFill>
                  </a:tcPr>
                </a:tc>
              </a:tr>
              <a:tr h="1263904">
                <a:tc>
                  <a:txBody>
                    <a:bodyPr wrap="square"/>
                    <a:lstStyle/>
                    <a:p>
                      <a:pPr algn="l"/>
                      <a:r>
                        <a:rPr sz="1500" b="1" i="0" a:lang="ko-KR">
                          <a:solidFill>
                            <a:srgbClr val="C00000"/>
                          </a:solidFill>
                          <a:latin typeface="맑은 고딕"/>
                          <a:ea typeface="맑은 고딕"/>
                        </a:rPr>
                        <a:t>매우 높음 (4)</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① 전과정 관점 명시적 요구 또는 그 결과의 직접 사용 ② LCA 없이 shall 이행 사실상 불완전 ③ LCA 결과가 핵심 산출물</a:t>
                      </a:r>
                    </a:p>
                  </a:txBody>
                  <a:tcPr marL="64008" marR="64008" marT="27432" marB="27432" anchor="ctr">
                    <a:solidFill>
                      <a:srgbClr val="FFFFFF"/>
                    </a:solidFill>
                  </a:tcPr>
                </a:tc>
                <a:tc>
                  <a:txBody>
                    <a:bodyPr wrap="square"/>
                    <a:lstStyle/>
                    <a:p>
                      <a:pPr algn="ctr"/>
                      <a:r>
                        <a:rPr sz="1500" b="1" i="0" a:lang="ko-KR">
                          <a:solidFill>
                            <a:srgbClr val="C00000"/>
                          </a:solidFill>
                          <a:latin typeface="맑은 고딕"/>
                          <a:ea typeface="맑은 고딕"/>
                        </a:rPr>
                        <a:t>6.1.2 · 6.2.1 · 8.1 · 9.1.1</a:t>
                      </a:r>
                    </a:p>
                  </a:txBody>
                  <a:tcPr marL="64008" marR="64008" marT="27432" marB="27432" anchor="ctr">
                    <a:solidFill>
                      <a:srgbClr val="FFFFFF"/>
                    </a:solidFill>
                  </a:tcPr>
                </a:tc>
              </a:tr>
              <a:tr h="1263904">
                <a:tc>
                  <a:txBody>
                    <a:bodyPr wrap="square"/>
                    <a:lstStyle/>
                    <a:p>
                      <a:pPr algn="l"/>
                      <a:r>
                        <a:rPr sz="1500" b="0" i="0" a:lang="ko-KR">
                          <a:solidFill>
                            <a:srgbClr val="111111"/>
                          </a:solidFill>
                          <a:latin typeface="맑은 고딕"/>
                          <a:ea typeface="맑은 고딕"/>
                        </a:rPr>
                        <a:t>높음 (12)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LCA 결과가 주요 입력값 또는 근거 — 없이도 이행 가능하나 품질 저하</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4.2, 4.3, 5.2, 6.1.1, 6.1.4, 6.2.2, 7.2, 7.4, 7.5.1, 9.3, 10.1, 10.3</a:t>
                      </a:r>
                    </a:p>
                  </a:txBody>
                  <a:tcPr marL="64008" marR="64008" marT="27432" marB="27432" anchor="ctr">
                    <a:solidFill>
                      <a:srgbClr val="E8EEF7"/>
                    </a:solidFill>
                  </a:tcPr>
                </a:tc>
              </a:tr>
              <a:tr h="780288">
                <a:tc>
                  <a:txBody>
                    <a:bodyPr wrap="square"/>
                    <a:lstStyle/>
                    <a:p>
                      <a:pPr algn="l"/>
                      <a:r>
                        <a:rPr sz="1500" b="0" i="0" a:lang="ko-KR">
                          <a:solidFill>
                            <a:srgbClr val="111111"/>
                          </a:solidFill>
                          <a:latin typeface="맑은 고딕"/>
                          <a:ea typeface="맑은 고딕"/>
                        </a:rPr>
                        <a:t>중간 (10)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부가적 정보 제공 — 대체 수단으로 충분히 이행 가능</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4.1, 4.4, 5.1, 5.3, 7.1, 7.3, 7.5.2, 7.5.3, 9.2.1, 9.2.2</a:t>
                      </a:r>
                    </a:p>
                  </a:txBody>
                  <a:tcPr marL="64008" marR="64008" marT="27432" marB="27432" anchor="ctr">
                    <a:solidFill>
                      <a:srgbClr val="FFFFFF"/>
                    </a:solidFill>
                  </a:tcPr>
                </a:tc>
              </a:tr>
              <a:tr h="725760">
                <a:tc>
                  <a:txBody>
                    <a:bodyPr wrap="square"/>
                    <a:lstStyle/>
                    <a:p>
                      <a:pPr algn="l"/>
                      <a:r>
                        <a:rPr sz="1500" b="0" i="0" a:lang="ko-KR">
                          <a:solidFill>
                            <a:srgbClr val="111111"/>
                          </a:solidFill>
                          <a:latin typeface="맑은 고딕"/>
                          <a:ea typeface="맑은 고딕"/>
                        </a:rPr>
                        <a:t>낮음 (4)</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간접적 기초 데이터 제공 — 조항 본질이 LCA 영역 밖</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6.1.3, 8.2, 9.1.2, 10.2</a:t>
                      </a:r>
                    </a:p>
                  </a:txBody>
                  <a:tcPr marL="64008" marR="64008" marT="27432" marB="27432" anchor="ctr">
                    <a:solidFill>
                      <a:srgbClr val="E8EEF7"/>
                    </a:solidFill>
                  </a:tcPr>
                </a:tc>
              </a:tr>
            </a:tbl>
          </a:graphicData>
        </a:graphic>
      </p:graphicFrame>
      <p:sp>
        <p:nvSpPr>
          <p:cNvPr id="10" name="Guide 3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등급의 판정 요건과 해당 조항 전문 — 매우 높음 4개 조항이 핵심 문항 4종의 자리</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모델이 따른 표준의 지도 — [그림 1-3]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34</a:t>
            </a:r>
          </a:p>
        </p:txBody>
      </p:sp>
      <p:pic>
        <p:nvPicPr>
          <p:cNvPr id="6" name="Picture 5" descr="g1-3.png"/>
          <p:cNvPicPr>
            <a:picLocks noChangeAspect="1"/>
          </p:cNvPicPr>
          <p:nvPr/>
        </p:nvPicPr>
        <p:blipFill>
          <a:blip r:embed="rId2"/>
          <a:stretch>
            <a:fillRect/>
          </a:stretch>
        </p:blipFill>
        <p:spPr>
          <a:xfrm>
            <a:off x="480000" y="1952048"/>
            <a:ext cx="9732000" cy="4246689"/>
          </a:xfrm>
          <a:prstGeom prst="rect">
            <a:avLst/>
          </a:prstGeom>
        </p:spPr>
      </p:pic>
      <p:sp>
        <p:nvSpPr>
          <p:cNvPr id="7" name="Guide 34"/>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뼈대를 어느 표준에서 가져왔는지 한눈에 — 판정 구조는 KS X ISO 8000-62, 형식과 평가 방법은 ISO/IEC 33000 계열</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평점과 개선 전·후 — [그림 4-3]</a:t>
            </a:r>
          </a:p>
        </p:txBody>
      </p:sp>
      <p:sp>
        <p:nvSpPr>
          <p:cNvPr id="3" name="TextBox 2"/>
          <p:cNvSpPr txBox="1"/>
          <p:nvPr/>
        </p:nvSpPr>
        <p:spPr>
          <a:xfrm>
            <a:off x="6474698" y="110000"/>
            <a:ext cx="3717706"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B-13a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4.6.2, [그림 4-3]</a:t>
            </a:r>
          </a:p>
        </p:txBody>
      </p:sp>
      <p:pic>
        <p:nvPicPr>
          <p:cNvPr id="13" name="Picture 12" descr="g4-3.png"/>
          <p:cNvPicPr>
            <a:picLocks noChangeAspect="1"/>
          </p:cNvPicPr>
          <p:nvPr/>
        </p:nvPicPr>
        <p:blipFill>
          <a:blip r:embed="rId3"/>
          <a:stretch>
            <a:fillRect/>
          </a:stretch>
        </p:blipFill>
        <p:spPr>
          <a:xfrm>
            <a:off x="497190" y="1652080"/>
            <a:ext cx="9697620" cy="3701113"/>
          </a:xfrm>
          <a:prstGeom prst="rect">
            <a:avLst/>
          </a:prstGeom>
        </p:spPr>
      </p:pic>
      <p:sp>
        <p:nvSpPr>
          <p:cNvPr id="14" name="Guide 35"/>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계획·실행은 3점 이상, 점검·개선은 2점대 — 개선 과제 완수 시 모두 오르고 D-1이 통과한다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 조항의 PDCA 배열 — [그림 2-1]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36</a:t>
            </a:r>
          </a:p>
        </p:txBody>
      </p:sp>
      <p:pic>
        <p:nvPicPr>
          <p:cNvPr id="6" name="Picture 5" descr="f2-1.png"/>
          <p:cNvPicPr>
            <a:picLocks noChangeAspect="1"/>
          </p:cNvPicPr>
          <p:nvPr/>
        </p:nvPicPr>
        <p:blipFill>
          <a:blip r:embed="rId2"/>
          <a:stretch>
            <a:fillRect/>
          </a:stretch>
        </p:blipFill>
        <p:spPr>
          <a:xfrm>
            <a:off x="480000" y="1613360"/>
            <a:ext cx="9732000" cy="4516369"/>
          </a:xfrm>
          <a:prstGeom prst="rect">
            <a:avLst/>
          </a:prstGeom>
        </p:spPr>
      </p:pic>
      <p:sp>
        <p:nvSpPr>
          <p:cNvPr id="7" name="Guide 3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ISO 14001 조항은 계획–실행–점검–조치로 돈다 — 빨간 칸 네 곳이 전과정 관점을 요구하는 자리</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경영시스템 표준의 공통 구조와 분야별 요구사항 — [그림 2-2]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37</a:t>
            </a:r>
          </a:p>
        </p:txBody>
      </p:sp>
      <p:pic>
        <p:nvPicPr>
          <p:cNvPr id="6" name="Picture 5" descr="f2-2.png"/>
          <p:cNvPicPr>
            <a:picLocks noChangeAspect="1"/>
          </p:cNvPicPr>
          <p:nvPr/>
        </p:nvPicPr>
        <p:blipFill>
          <a:blip r:embed="rId2"/>
          <a:stretch>
            <a:fillRect/>
          </a:stretch>
        </p:blipFill>
        <p:spPr>
          <a:xfrm>
            <a:off x="1165784" y="1572732"/>
            <a:ext cx="8360430" cy="5225267"/>
          </a:xfrm>
          <a:prstGeom prst="rect">
            <a:avLst/>
          </a:prstGeom>
        </p:spPr>
      </p:pic>
      <p:sp>
        <p:nvSpPr>
          <p:cNvPr id="7" name="Guide 3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경영시스템 표준은 공통 구조(4~10절)를 쓰고 분야별 요구사항만 다르다 — ISO 14001도 그 틀 위에 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14001–LCA 연계의 성숙도 수준 — [그림 2-5]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38</a:t>
            </a:r>
          </a:p>
        </p:txBody>
      </p:sp>
      <p:pic>
        <p:nvPicPr>
          <p:cNvPr id="6" name="Picture 5" descr="g2-5.png"/>
          <p:cNvPicPr>
            <a:picLocks noChangeAspect="1"/>
          </p:cNvPicPr>
          <p:nvPr/>
        </p:nvPicPr>
        <p:blipFill>
          <a:blip r:embed="rId2"/>
          <a:stretch>
            <a:fillRect/>
          </a:stretch>
        </p:blipFill>
        <p:spPr>
          <a:xfrm>
            <a:off x="932401" y="1575241"/>
            <a:ext cx="8827197" cy="5222758"/>
          </a:xfrm>
          <a:prstGeom prst="rect">
            <a:avLst/>
          </a:prstGeom>
        </p:spPr>
      </p:pic>
      <p:sp>
        <p:nvSpPr>
          <p:cNvPr id="7" name="Guide 3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있다 없다가 아니라 ML0~ML5 여섯 수준이다 — LCA 결과가 경영시스템에 얼마나 깊이 들어가는가</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모델의 방법론 구성</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39</a:t>
            </a:r>
          </a:p>
        </p:txBody>
      </p:sp>
      <p:pic>
        <p:nvPicPr>
          <p:cNvPr id="6" name="Picture 5" descr="f3-1.jpg"/>
          <p:cNvPicPr>
            <a:picLocks noChangeAspect="1"/>
          </p:cNvPicPr>
          <p:nvPr/>
        </p:nvPicPr>
        <p:blipFill>
          <a:blip r:embed="rId2"/>
          <a:stretch>
            <a:fillRect/>
          </a:stretch>
        </p:blipFill>
        <p:spPr>
          <a:xfrm>
            <a:off x="1622960" y="1572732"/>
            <a:ext cx="7446078" cy="5225267"/>
          </a:xfrm>
          <a:prstGeom prst="rect">
            <a:avLst/>
          </a:prstGeom>
        </p:spPr>
      </p:pic>
      <p:sp>
        <p:nvSpPr>
          <p:cNvPr id="7" name="Guide 3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 구조·모델 형식·프로세스 기술 형식의 세 계열을 각각 다른 표준에서 가져와 합쳤다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성숙도 평가 모델(LMA)의 구성 — [그림 3-2]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40</a:t>
            </a:r>
          </a:p>
        </p:txBody>
      </p:sp>
      <p:pic>
        <p:nvPicPr>
          <p:cNvPr id="6" name="Picture 5" descr="f3-2r.png"/>
          <p:cNvPicPr>
            <a:picLocks noChangeAspect="1"/>
          </p:cNvPicPr>
          <p:nvPr/>
        </p:nvPicPr>
        <p:blipFill>
          <a:blip r:embed="rId2"/>
          <a:stretch>
            <a:fillRect/>
          </a:stretch>
        </p:blipFill>
        <p:spPr>
          <a:xfrm>
            <a:off x="1813456" y="1889059"/>
            <a:ext cx="7065086" cy="4908940"/>
          </a:xfrm>
          <a:prstGeom prst="rect">
            <a:avLst/>
          </a:prstGeom>
        </p:spPr>
      </p:pic>
      <p:sp>
        <p:nvSpPr>
          <p:cNvPr id="7" name="Guide 40"/>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입력(따른 표준) → 과정(연계 프로세스가 도는 관리 주기) → 출력(세 모델과 적용) — 논문 [그림 3-2] 전체</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품질관리 프로세스의 구조 (KS X ISO 8000-61)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41</a:t>
            </a:r>
          </a:p>
        </p:txBody>
      </p:sp>
      <p:pic>
        <p:nvPicPr>
          <p:cNvPr id="6" name="Picture 5" descr="f3-4.png"/>
          <p:cNvPicPr>
            <a:picLocks noChangeAspect="1"/>
          </p:cNvPicPr>
          <p:nvPr/>
        </p:nvPicPr>
        <p:blipFill>
          <a:blip r:embed="rId2"/>
          <a:stretch>
            <a:fillRect/>
          </a:stretch>
        </p:blipFill>
        <p:spPr>
          <a:xfrm>
            <a:off x="916413" y="1915276"/>
            <a:ext cx="8859173" cy="4882723"/>
          </a:xfrm>
          <a:prstGeom prst="rect">
            <a:avLst/>
          </a:prstGeom>
        </p:spPr>
      </p:pic>
      <p:sp>
        <p:nvSpPr>
          <p:cNvPr id="7" name="Guide 41"/>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프로세스 16종을 적은 형식의 원형 — 데이터 품질관리 프로세스를 「제목·목적·성과·활동」으로 적은 KS X ISO 8000-61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판정 트리 (ML0~ML5) — [그림 3-9]</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42</a:t>
            </a:r>
          </a:p>
        </p:txBody>
      </p:sp>
      <p:pic>
        <p:nvPicPr>
          <p:cNvPr id="6" name="Picture 5" descr="g3-9.jpg"/>
          <p:cNvPicPr>
            <a:picLocks noChangeAspect="1"/>
          </p:cNvPicPr>
          <p:nvPr/>
        </p:nvPicPr>
        <p:blipFill>
          <a:blip r:embed="rId2"/>
          <a:stretch>
            <a:fillRect/>
          </a:stretch>
        </p:blipFill>
        <p:spPr>
          <a:xfrm>
            <a:off x="2619773" y="1572732"/>
            <a:ext cx="5452453" cy="5225267"/>
          </a:xfrm>
          <a:prstGeom prst="rect">
            <a:avLst/>
          </a:prstGeom>
        </p:spPr>
      </p:pic>
      <p:sp>
        <p:nvSpPr>
          <p:cNvPr id="7" name="Guide 42"/>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위에서부터 묻고 「아니오」가 나오는 곳이 그 회사의 수준이다 — 평균은 어디에도 쓰이지 않는다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모델의 구성 — [그림 3-10]</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43</a:t>
            </a:r>
          </a:p>
        </p:txBody>
      </p:sp>
      <p:pic>
        <p:nvPicPr>
          <p:cNvPr id="6" name="Picture 5" descr="f3-8.png"/>
          <p:cNvPicPr>
            <a:picLocks noChangeAspect="1"/>
          </p:cNvPicPr>
          <p:nvPr/>
        </p:nvPicPr>
        <p:blipFill>
          <a:blip r:embed="rId2"/>
          <a:stretch>
            <a:fillRect/>
          </a:stretch>
        </p:blipFill>
        <p:spPr>
          <a:xfrm>
            <a:off x="480000" y="1613360"/>
            <a:ext cx="9732000" cy="4875940"/>
          </a:xfrm>
          <a:prstGeom prst="rect">
            <a:avLst/>
          </a:prstGeom>
        </p:spPr>
      </p:pic>
      <p:sp>
        <p:nvSpPr>
          <p:cNvPr id="7" name="Guide 4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수준별 기준·판정 규칙·핵심 문항 4종의 세 요소로 이루어진다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D-1 채점 기준 — 점수별 상태(BARS 앵커) 전문</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3.3.2, [표 3-6], 부록 C</a:t>
            </a:r>
          </a:p>
        </p:txBody>
      </p:sp>
      <p:sp>
        <p:nvSpPr>
          <p:cNvPr id="10" name="Rounded Rectangle 9"/>
          <p:cNvSpPr/>
          <p:nvPr/>
        </p:nvSpPr>
        <p:spPr>
          <a:xfrm>
            <a:off x="497190" y="1649534"/>
            <a:ext cx="9697620" cy="600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FFFFFF"/>
                </a:solidFill>
                <a:latin typeface="맑은 고딕"/>
                <a:ea typeface="맑은 고딕"/>
              </a:rPr>
              <a:t>예 — ★D-1 설계·개발 단계의 LCA 결과 반영  (14001 8.1 ↔ 14044 4.3.2)</a:t>
            </a:r>
          </a:p>
        </p:txBody>
      </p:sp>
      <p:graphicFrame>
        <p:nvGraphicFramePr>
          <p:cNvPr id="11" name="Table 10"/>
          <p:cNvGraphicFramePr>
            <a:graphicFrameLocks noGrp="1"/>
          </p:cNvGraphicFramePr>
          <p:nvPr/>
        </p:nvGraphicFramePr>
        <p:xfrm>
          <a:off x="497190" y="2261930"/>
          <a:ext cx="9699883" cy="3346620"/>
        </p:xfrm>
        <a:graphic>
          <a:graphicData uri="http://schemas.openxmlformats.org/drawingml/2006/table">
            <a:tbl>
              <a:tblPr firstRow="1" bandRow="1">
                <a:tableStyleId>{5C22544A-7EE6-4342-B048-85BDC9FD1C3A}</a:tableStyleId>
              </a:tblPr>
              <a:tblGrid>
                <a:gridCol w="1732122"/>
                <a:gridCol w="7967761"/>
              </a:tblGrid>
              <a:tr h="557770">
                <a:tc>
                  <a:txBody>
                    <a:bodyPr wrap="square"/>
                    <a:lstStyle/>
                    <a:p>
                      <a:pPr algn="ctr"/>
                      <a:r>
                        <a:rPr sz="1600" b="1" i="0" a:lang="ko-KR">
                          <a:solidFill>
                            <a:srgbClr val="FFFFFF"/>
                          </a:solidFill>
                          <a:latin typeface="맑은 고딕"/>
                          <a:ea typeface="맑은 고딕"/>
                        </a:rPr>
                        <a:t>점수</a:t>
                      </a:r>
                    </a:p>
                  </a:txBody>
                  <a:tcPr marL="64008" marR="64008" marT="27432" marB="27432" anchor="ctr">
                    <a:solidFill>
                      <a:srgbClr val="1F3864"/>
                    </a:solidFill>
                  </a:tcPr>
                </a:tc>
                <a:tc>
                  <a:txBody>
                    <a:bodyPr wrap="square"/>
                    <a:lstStyle/>
                    <a:p>
                      <a:pPr algn="ctr"/>
                      <a:r>
                        <a:rPr sz="1600" b="1" i="0" a:lang="ko-KR">
                          <a:solidFill>
                            <a:srgbClr val="FFFFFF"/>
                          </a:solidFill>
                          <a:latin typeface="맑은 고딕"/>
                          <a:ea typeface="맑은 고딕"/>
                        </a:rPr>
                        <a:t>상태 (BARS 앵커)</a:t>
                      </a:r>
                    </a:p>
                  </a:txBody>
                  <a:tcPr marL="64008" marR="64008" marT="27432" marB="27432" anchor="ctr">
                    <a:solidFill>
                      <a:srgbClr val="1F3864"/>
                    </a:solidFill>
                  </a:tcPr>
                </a:tc>
              </a:tr>
              <a:tr h="557770">
                <a:tc>
                  <a:txBody>
                    <a:bodyPr wrap="square"/>
                    <a:lstStyle/>
                    <a:p>
                      <a:pPr algn="ctr"/>
                      <a:r>
                        <a:rPr sz="1600" b="0" i="0" a:lang="ko-KR">
                          <a:solidFill>
                            <a:srgbClr val="111111"/>
                          </a:solidFill>
                          <a:latin typeface="맑은 고딕"/>
                          <a:ea typeface="맑은 고딕"/>
                        </a:rPr>
                        <a:t>5 최적화</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3/3 + 추가 2/2 — 폐기단계 정당화와 대안 비교까지 갖춘 에코디자인 정착</a:t>
                      </a:r>
                    </a:p>
                  </a:txBody>
                  <a:tcPr marL="64008" marR="64008" marT="27432" marB="27432" anchor="ctr">
                    <a:solidFill>
                      <a:srgbClr val="FFFFFF"/>
                    </a:solidFill>
                  </a:tcPr>
                </a:tc>
              </a:tr>
              <a:tr h="557770">
                <a:tc>
                  <a:txBody>
                    <a:bodyPr wrap="square"/>
                    <a:lstStyle/>
                    <a:p>
                      <a:pPr algn="ctr"/>
                      <a:r>
                        <a:rPr sz="1600" b="0" i="0" a:lang="ko-KR">
                          <a:solidFill>
                            <a:srgbClr val="111111"/>
                          </a:solidFill>
                          <a:latin typeface="맑은 고딕"/>
                          <a:ea typeface="맑은 고딕"/>
                        </a:rPr>
                        <a:t>4 통제</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3/3 + 추가 1/2 — 절차·활용·기록 완비, 정당화 또는 대안 비교 중 하나</a:t>
                      </a:r>
                    </a:p>
                  </a:txBody>
                  <a:tcPr marL="64008" marR="64008" marT="27432" marB="27432" anchor="ctr">
                    <a:solidFill>
                      <a:srgbClr val="E8EEF7"/>
                    </a:solidFill>
                  </a:tcPr>
                </a:tc>
              </a:tr>
              <a:tr h="557770">
                <a:tc>
                  <a:txBody>
                    <a:bodyPr wrap="square"/>
                    <a:lstStyle/>
                    <a:p>
                      <a:pPr algn="ctr"/>
                      <a:r>
                        <a:rPr sz="1600" b="1" i="0" a:lang="ko-KR">
                          <a:solidFill>
                            <a:srgbClr val="C00000"/>
                          </a:solidFill>
                          <a:latin typeface="맑은 고딕"/>
                          <a:ea typeface="맑은 고딕"/>
                        </a:rPr>
                        <a:t>3 정의</a:t>
                      </a:r>
                    </a:p>
                  </a:txBody>
                  <a:tcPr marL="64008" marR="64008" marT="27432" marB="27432" anchor="ctr">
                    <a:solidFill>
                      <a:srgbClr val="FFFFFF"/>
                    </a:solidFill>
                  </a:tcPr>
                </a:tc>
                <a:tc>
                  <a:txBody>
                    <a:bodyPr wrap="square"/>
                    <a:lstStyle/>
                    <a:p>
                      <a:pPr algn="l"/>
                      <a:r>
                        <a:rPr sz="1600" b="1" i="0" a:lang="ko-KR">
                          <a:solidFill>
                            <a:srgbClr val="C00000"/>
                          </a:solidFill>
                          <a:latin typeface="맑은 고딕"/>
                          <a:ea typeface="맑은 고딕"/>
                        </a:rPr>
                        <a:t>필수 3/3 — 설계 프로세스에 LCA 기반 환경 고려가 절차화·기록됨  = shall 충족 기준</a:t>
                      </a:r>
                    </a:p>
                  </a:txBody>
                  <a:tcPr marL="64008" marR="64008" marT="27432" marB="27432" anchor="ctr">
                    <a:solidFill>
                      <a:srgbClr val="FFFFFF"/>
                    </a:solidFill>
                  </a:tcPr>
                </a:tc>
              </a:tr>
              <a:tr h="557770">
                <a:tc>
                  <a:txBody>
                    <a:bodyPr wrap="square"/>
                    <a:lstStyle/>
                    <a:p>
                      <a:pPr algn="ctr"/>
                      <a:r>
                        <a:rPr sz="1600" b="0" i="0" a:lang="ko-KR">
                          <a:solidFill>
                            <a:srgbClr val="111111"/>
                          </a:solidFill>
                          <a:latin typeface="맑은 고딕"/>
                          <a:ea typeface="맑은 고딕"/>
                        </a:rPr>
                        <a:t>2 관리</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1~2/3 — 재생재료 적용 등 부분적 반영, 절차화·기록 미흡</a:t>
                      </a:r>
                    </a:p>
                  </a:txBody>
                  <a:tcPr marL="64008" marR="64008" marT="27432" marB="27432" anchor="ctr">
                    <a:solidFill>
                      <a:srgbClr val="E8EEF7"/>
                    </a:solidFill>
                  </a:tcPr>
                </a:tc>
              </a:tr>
              <a:tr h="557770">
                <a:tc>
                  <a:txBody>
                    <a:bodyPr wrap="square"/>
                    <a:lstStyle/>
                    <a:p>
                      <a:pPr algn="ctr"/>
                      <a:r>
                        <a:rPr sz="1600" b="0" i="0" a:lang="ko-KR">
                          <a:solidFill>
                            <a:srgbClr val="111111"/>
                          </a:solidFill>
                          <a:latin typeface="맑은 고딕"/>
                          <a:ea typeface="맑은 고딕"/>
                        </a:rPr>
                        <a:t>1 기초</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0/3 — 설계에 전과정 고려 없음</a:t>
                      </a:r>
                    </a:p>
                  </a:txBody>
                  <a:tcPr marL="64008" marR="64008" marT="27432" marB="27432" anchor="ctr">
                    <a:solidFill>
                      <a:srgbClr val="FFFFFF"/>
                    </a:solidFill>
                  </a:tcPr>
                </a:tc>
              </a:tr>
            </a:tbl>
          </a:graphicData>
        </a:graphic>
      </p:graphicFrame>
      <p:sp>
        <p:nvSpPr>
          <p:cNvPr id="12" name="TextBox 11"/>
          <p:cNvSpPr txBox="1"/>
          <p:nvPr/>
        </p:nvSpPr>
        <p:spPr>
          <a:xfrm>
            <a:off x="497190" y="5739779"/>
            <a:ext cx="9697620" cy="1209600"/>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필수 체크포인트(shall성) — ① 설계·개발 프로세스에 전과정 고려 절차 반영 ② LCA/LCI 데이터의 설계 입력 활용 ③ 설계 산출물에 반영 결과 기록</a:t>
            </a:r>
          </a:p>
          <a:p>
            <a:r>
              <a:rPr sz="1300" b="0" i="0" a:lang="ko-KR">
                <a:solidFill>
                  <a:srgbClr val="595959"/>
                </a:solidFill>
                <a:latin typeface="맑은 고딕"/>
                <a:ea typeface="맑은 고딕"/>
              </a:rPr>
              <a:t>추가 체크포인트(should성) — ④ 폐기단계 고려 설계 ⑤ 설계 대안 간 LCA 비교 정례화</a:t>
            </a:r>
          </a:p>
        </p:txBody>
      </p:sp>
      <p:sp>
        <p:nvSpPr>
          <p:cNvPr id="13" name="Guide 44"/>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1~5점이 각각 어떤 상태인지 말로 적어 둔 기준 — 필수 전부 있으면 3점, A사는 2개뿐이라 2점</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수준별 기준 (ML0~ML5)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45</a:t>
            </a:r>
          </a:p>
        </p:txBody>
      </p:sp>
      <p:graphicFrame>
        <p:nvGraphicFramePr>
          <p:cNvPr id="6" name="Table 5"/>
          <p:cNvGraphicFramePr>
            <a:graphicFrameLocks noGrp="1"/>
          </p:cNvGraphicFramePr>
          <p:nvPr/>
        </p:nvGraphicFramePr>
        <p:xfrm>
          <a:off x="574575" y="1808898"/>
          <a:ext cx="9542848" cy="4989098"/>
        </p:xfrm>
        <a:graphic>
          <a:graphicData uri="http://schemas.openxmlformats.org/drawingml/2006/table">
            <a:tbl>
              <a:tblPr firstRow="1" bandRow="1">
                <a:tableStyleId>{5C22544A-7EE6-4342-B048-85BDC9FD1C3A}</a:tableStyleId>
              </a:tblPr>
              <a:tblGrid>
                <a:gridCol w="1042496"/>
                <a:gridCol w="2485952"/>
                <a:gridCol w="2967104"/>
                <a:gridCol w="3047296"/>
              </a:tblGrid>
              <a:tr h="622279">
                <a:tc>
                  <a:txBody>
                    <a:bodyPr wrap="square"/>
                    <a:lstStyle/>
                    <a:p>
                      <a:pPr algn="ctr"/>
                      <a:r>
                        <a:rPr sz="10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14001 연계 범위</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14044 충족 요건 (shall/should)</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통합 활동 수준 (요지)</a:t>
                      </a:r>
                    </a:p>
                  </a:txBody>
                  <a:tcPr marL="64008" marR="64008" marT="27432" marB="27432" anchor="ctr">
                    <a:solidFill>
                      <a:srgbClr val="1F3864"/>
                    </a:solidFill>
                  </a:tcPr>
                </a:tc>
              </a:tr>
              <a:tr h="914524">
                <a:tc>
                  <a:txBody>
                    <a:bodyPr wrap="square"/>
                    <a:lstStyle/>
                    <a:p>
                      <a:pPr algn="ctr"/>
                      <a:r>
                        <a:rPr sz="10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(연계 활동 부재)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(진입 조건 없음 — ML1 조건 미달의 잔여 범주)</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연계 결정 요인 활동의 부재 = 구성개념 불성립 — EMS·LCA의 개별 운영 여부와 무관(KS X ISO 8000-62 4.4.2 수준 0 상당) — LCA 미수행 또는 LCA 결과가 환경경영시스템(ISO 14001)의 결정에 쓰이지 않는 상태</a:t>
                      </a:r>
                    </a:p>
                  </a:txBody>
                  <a:tcPr marL="64008" marR="64008" marT="27432" marB="27432" anchor="ctr">
                    <a:solidFill>
                      <a:srgbClr val="FFFFFF"/>
                    </a:solidFill>
                  </a:tcPr>
                </a:tc>
              </a:tr>
              <a:tr h="722647">
                <a:tc>
                  <a:txBody>
                    <a:bodyPr wrap="square"/>
                    <a:lstStyle/>
                    <a:p>
                      <a:pPr algn="ctr"/>
                      <a:r>
                        <a:rPr sz="10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핵심 조항(6.1.2·6.2.1·8.1·9.1.1)에서 연계 활동이 착수됨 — 핵심 문항 4종 모두 2점 이상(필수 체크포인트 일부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일부 충족(핵심 지점만) — LCA 결과가 존재하나 연구 목적(4.2.2)·데이터 수집 절차(4.3.2)는 미확립</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LCA 일회성·부분 도입 — 전과정 관점이 핵심 조항에서만 부분적으로 나타남</a:t>
                      </a:r>
                    </a:p>
                  </a:txBody>
                  <a:tcPr marL="64008" marR="64008" marT="27432" marB="27432" anchor="ctr">
                    <a:solidFill>
                      <a:srgbClr val="E8EEF7"/>
                    </a:solidFill>
                  </a:tcPr>
                </a:tc>
              </a:tr>
              <a:tr h="622279">
                <a:tc>
                  <a:txBody>
                    <a:bodyPr wrap="square"/>
                    <a:lstStyle/>
                    <a:p>
                      <a:pPr algn="ctr"/>
                      <a:r>
                        <a:rPr sz="10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핵심 지점의 활동에 더해 그 밖의 문항 과반이 shall 충족(3점 이상)</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일부 충족 — 목적 정의 수행, 데이터 수집은 조직 내부 공정 한정(4.3.2), 분류·특성화 일부(4.4.2)</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중대한 환경측면 초기 파악, 과반 문항이 문서화된 정보로 관리 — 환경목표와 LCA 결과의 연계 미흡</a:t>
                      </a:r>
                    </a:p>
                  </a:txBody>
                  <a:tcPr marL="64008" marR="64008" marT="27432" marB="27432" anchor="ctr">
                    <a:solidFill>
                      <a:srgbClr val="FFFFFF"/>
                    </a:solidFill>
                  </a:tcPr>
                </a:tc>
              </a:tr>
              <a:tr h="742545">
                <a:tc>
                  <a:txBody>
                    <a:bodyPr wrap="square"/>
                    <a:lstStyle/>
                    <a:p>
                      <a:pPr algn="ctr"/>
                      <a:r>
                        <a:rPr sz="1000" b="0" i="0" a:lang="ko-KR">
                          <a:solidFill>
                            <a:srgbClr val="111111"/>
                          </a:solidFill>
                          <a:latin typeface="맑은 고딕"/>
                          <a:ea typeface="맑은 고딕"/>
                        </a:rPr>
                        <a:t>ML3 체계화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PDCA 전 단계에서 LCA 공식 연계</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전 항목 충족, should 미충족 — 4.2~4.5 전 단계 수행, 데이터 품질 요구사항(4.2.3.6)·완전성·민감도 검사(4.5.3)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절차의 문서화·표준화 — LCA 결과 → 환경측면(6.1.2) → 목표(6.2.1) 연결, 에코디자인(8.1) 초기 적용</a:t>
                      </a:r>
                    </a:p>
                  </a:txBody>
                  <a:tcPr marL="64008" marR="64008" marT="27432" marB="27432" anchor="ctr">
                    <a:solidFill>
                      <a:srgbClr val="E8EEF7"/>
                    </a:solidFill>
                  </a:tcPr>
                </a:tc>
              </a:tr>
              <a:tr h="742545">
                <a:tc>
                  <a:txBody>
                    <a:bodyPr wrap="square"/>
                    <a:lstStyle/>
                    <a:p>
                      <a:pPr algn="ctr"/>
                      <a:r>
                        <a:rPr sz="10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 기반 정량적 성과 관리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완전 충족 + should 일부 충족 — LCIA의 선택적 요소(4.4.3, 조건부 shall)·신뢰도 평가 수행, 내·외부 전문가 검토(6.2, 조건부 shall) 도입</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재수행에 의한 개선 전·후 정량 검증 — 내부심사 통합 점검·경영검토 공식 보고, 외부 전문가 정밀검토 도입</a:t>
                      </a:r>
                    </a:p>
                  </a:txBody>
                  <a:tcPr marL="64008" marR="64008" marT="27432" marB="27432" anchor="ctr">
                    <a:solidFill>
                      <a:srgbClr val="FFFFFF"/>
                    </a:solidFill>
                  </a:tcPr>
                </a:tc>
              </a:tr>
              <a:tr h="622279">
                <a:tc>
                  <a:txBody>
                    <a:bodyPr wrap="square"/>
                    <a:lstStyle/>
                    <a:p>
                      <a:pPr algn="ctr"/>
                      <a:r>
                        <a:rPr sz="10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전사적 LCA 통합, 전략경영 최적화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 should 전 항목 충족 — 선택 요소 완전 활용, 공개 비교주장 보고(5.3)·이해관계자 패널 검토(6.1·6.3)(해당 시)</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통합의 전사적 최적화 — CBAM·EPD 등 외부 규제 선제 대응, 에코디자인 전제품 계열 적용</a:t>
                      </a:r>
                    </a:p>
                  </a:txBody>
                  <a:tcPr marL="64008" marR="64008" marT="27432" marB="27432" anchor="ctr">
                    <a:solidFill>
                      <a:srgbClr val="E8EEF7"/>
                    </a:solidFill>
                  </a:tcPr>
                </a:tc>
              </a:tr>
            </a:tbl>
          </a:graphicData>
        </a:graphic>
      </p:graphicFrame>
      <p:sp>
        <p:nvSpPr>
          <p:cNvPr id="7" name="Guide 45"/>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수준이 올라갈수록 LCA 결과가 더 깊이 경영시스템에 들어간다 — ML3까지 체계, ML4부터 재수행으로 숫자 확인</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진입 조건과 설계 근거 — [표 3-7]</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3.4.1~3.4.4, [표 3-7]</a:t>
            </a:r>
          </a:p>
        </p:txBody>
      </p:sp>
      <p:graphicFrame>
        <p:nvGraphicFramePr>
          <p:cNvPr id="8" name="Table 7"/>
          <p:cNvGraphicFramePr>
            <a:graphicFrameLocks noGrp="1"/>
          </p:cNvGraphicFramePr>
          <p:nvPr/>
        </p:nvGraphicFramePr>
        <p:xfrm>
          <a:off x="497190" y="1708369"/>
          <a:ext cx="9693301" cy="4594930"/>
        </p:xfrm>
        <a:graphic>
          <a:graphicData uri="http://schemas.openxmlformats.org/drawingml/2006/table">
            <a:tbl>
              <a:tblPr firstRow="1" bandRow="1">
                <a:tableStyleId>{5C22544A-7EE6-4342-B048-85BDC9FD1C3A}</a:tableStyleId>
              </a:tblPr>
              <a:tblGrid>
                <a:gridCol w="1961739"/>
                <a:gridCol w="3923479"/>
                <a:gridCol w="3808083"/>
              </a:tblGrid>
              <a:tr h="548974">
                <a:tc>
                  <a:txBody>
                    <a:bodyPr wrap="square"/>
                    <a:lstStyle/>
                    <a:p>
                      <a:pPr algn="ctr"/>
                      <a:r>
                        <a:rPr sz="15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진입 조건 (누적)</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설계 근거</a:t>
                      </a:r>
                    </a:p>
                  </a:txBody>
                  <a:tcPr marL="64008" marR="64008" marT="27432" marB="27432" anchor="ctr">
                    <a:solidFill>
                      <a:srgbClr val="1F3864"/>
                    </a:solidFill>
                  </a:tcPr>
                </a:tc>
              </a:tr>
              <a:tr h="586531">
                <a:tc>
                  <a:txBody>
                    <a:bodyPr wrap="square"/>
                    <a:lstStyle/>
                    <a:p>
                      <a:pPr algn="l"/>
                      <a:r>
                        <a:rPr sz="15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ML1 조건 미달</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연계 결정 요인의 활동 부재 = 구성개념 불성립</a:t>
                      </a:r>
                    </a:p>
                  </a:txBody>
                  <a:tcPr marL="64008" marR="64008" marT="27432" marB="27432" anchor="ctr">
                    <a:solidFill>
                      <a:srgbClr val="FFFFFF"/>
                    </a:solidFill>
                  </a:tcPr>
                </a:tc>
              </a:tr>
              <a:tr h="586531">
                <a:tc>
                  <a:txBody>
                    <a:bodyPr wrap="square"/>
                    <a:lstStyle/>
                    <a:p>
                      <a:pPr algn="l"/>
                      <a:r>
                        <a:rPr sz="15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모든 핵심 문항 ≥ 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필요조건 활동의 수행 증거 (PA.1.1 상당)</a:t>
                      </a:r>
                    </a:p>
                  </a:txBody>
                  <a:tcPr marL="64008" marR="64008" marT="27432" marB="27432" anchor="ctr">
                    <a:solidFill>
                      <a:srgbClr val="E8EEF7"/>
                    </a:solidFill>
                  </a:tcPr>
                </a:tc>
              </a:tr>
              <a:tr h="586531">
                <a:tc>
                  <a:txBody>
                    <a:bodyPr wrap="square"/>
                    <a:lstStyle/>
                    <a:p>
                      <a:pPr algn="l"/>
                      <a:r>
                        <a:rPr sz="15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그 밖의 51문항 중 3점 이상 ≥ 50%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과반이 문서화된 정보로 관리 (PA.2.2 상당)</a:t>
                      </a:r>
                    </a:p>
                  </a:txBody>
                  <a:tcPr marL="64008" marR="64008" marT="27432" marB="27432" anchor="ctr">
                    <a:solidFill>
                      <a:srgbClr val="FFFFFF"/>
                    </a:solidFill>
                  </a:tcPr>
                </a:tc>
              </a:tr>
              <a:tr h="849916">
                <a:tc>
                  <a:txBody>
                    <a:bodyPr wrap="square"/>
                    <a:lstStyle/>
                    <a:p>
                      <a:pPr algn="l"/>
                      <a:r>
                        <a:rPr sz="1500" b="1" i="0" a:lang="ko-KR">
                          <a:solidFill>
                            <a:srgbClr val="C00000"/>
                          </a:solidFill>
                          <a:latin typeface="맑은 고딕"/>
                          <a:ea typeface="맑은 고딕"/>
                        </a:rPr>
                        <a:t>ML3 체계화</a:t>
                      </a:r>
                    </a:p>
                  </a:txBody>
                  <a:tcPr marL="64008" marR="64008" marT="27432" marB="27432" anchor="ctr">
                    <a:solidFill>
                      <a:srgbClr val="E8EEF7"/>
                    </a:solidFill>
                  </a:tcPr>
                </a:tc>
                <a:tc>
                  <a:txBody>
                    <a:bodyPr wrap="square"/>
                    <a:lstStyle/>
                    <a:p>
                      <a:pPr algn="ctr"/>
                      <a:r>
                        <a:rPr sz="1500" b="1" i="0" a:lang="ko-KR">
                          <a:solidFill>
                            <a:srgbClr val="C00000"/>
                          </a:solidFill>
                          <a:latin typeface="맑은 고딕"/>
                          <a:ea typeface="맑은 고딕"/>
                        </a:rPr>
                        <a:t>+ 모든 핵심 문항 ≥ 3</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연계 절차 전부 shall 충족 기준 정의 (PA.3.1 — 8000-62 4.5.1 최소충족)</a:t>
                      </a:r>
                    </a:p>
                  </a:txBody>
                  <a:tcPr marL="64008" marR="64008" marT="27432" marB="27432" anchor="ctr">
                    <a:solidFill>
                      <a:srgbClr val="E8EEF7"/>
                    </a:solidFill>
                  </a:tcPr>
                </a:tc>
              </a:tr>
              <a:tr h="586531">
                <a:tc>
                  <a:txBody>
                    <a:bodyPr wrap="square"/>
                    <a:lstStyle/>
                    <a:p>
                      <a:pPr algn="l"/>
                      <a:r>
                        <a:rPr sz="15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모든 핵심 문항 ≥ 4, C 영역 전부 ≥ 3</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핵심 문항 통제 수준 + 성과 측정 전면 충족 (PA.4 상당)</a:t>
                      </a:r>
                    </a:p>
                  </a:txBody>
                  <a:tcPr marL="64008" marR="64008" marT="27432" marB="27432" anchor="ctr">
                    <a:solidFill>
                      <a:srgbClr val="FFFFFF"/>
                    </a:solidFill>
                  </a:tcPr>
                </a:tc>
              </a:tr>
              <a:tr h="849916">
                <a:tc>
                  <a:txBody>
                    <a:bodyPr wrap="square"/>
                    <a:lstStyle/>
                    <a:p>
                      <a:pPr algn="l"/>
                      <a:r>
                        <a:rPr sz="15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 전 문항 ≥ 3, A 영역 전부 ≥ 4 (A-9는 비교주장 수행 조직에 한함)</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shall 전 항목 충족 + 개선 체계 통제 수준 (PA.5 상당)</a:t>
                      </a:r>
                    </a:p>
                  </a:txBody>
                  <a:tcPr marL="64008" marR="64008" marT="27432" marB="27432" anchor="ctr">
                    <a:solidFill>
                      <a:srgbClr val="E8EEF7"/>
                    </a:solidFill>
                  </a:tcPr>
                </a:tc>
              </a:tr>
            </a:tbl>
          </a:graphicData>
        </a:graphic>
      </p:graphicFrame>
      <p:sp>
        <p:nvSpPr>
          <p:cNvPr id="19" name="TextBox 18"/>
          <p:cNvSpPr txBox="1"/>
          <p:nvPr/>
        </p:nvSpPr>
        <p:spPr>
          <a:xfrm>
            <a:off x="497190" y="6451836"/>
            <a:ext cx="9697620" cy="349584"/>
          </a:xfrm>
          <a:prstGeom prst="rect">
            <a:avLst/>
          </a:prstGeom>
          <a:noFill/>
        </p:spPr>
        <p:txBody>
          <a:bodyPr wrap="square" anchor="t" lIns="0" rIns="0" tIns="0" bIns="0">
            <a:spAutoFit/>
          </a:bodyPr>
          <a:lstStyle/>
          <a:p>
            <a:r>
              <a:rPr sz="1200" b="0" i="0" a:lang="ko-KR">
                <a:solidFill>
                  <a:srgbClr val="595959"/>
                </a:solidFill>
                <a:latin typeface="맑은 고딕"/>
                <a:ea typeface="맑은 고딕"/>
              </a:rPr>
              <a:t>최소충족 원리는 KS X ISO 8000-62 4.5.1에서 가져오고 적용 범위만 네 문항으로 한정 — 그 밖의 51문항은 BARS 5점으로 종합점수에 반영. 비교주장 조건부 shall(C-7·A-9)은 3.4.3의 기준 — 비교주장 미수행 조직은 최저점(1점)·N/A 민감도 병기, 미수행 정책을 문서화하면 3점.</a:t>
            </a:r>
          </a:p>
        </p:txBody>
      </p:sp>
      <p:sp>
        <p:nvSpPr>
          <p:cNvPr id="20" name="Guide 4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각 수준의 진입 조건과 그 근거 전문 — 조건은 누적이고 핵심 문항 4종은 ML1·ML3·ML4 조건에 들어 있다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판정 규칙의 적용 확인 — 현재와 개선 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47</a:t>
            </a:r>
          </a:p>
        </p:txBody>
      </p:sp>
      <p:graphicFrame>
        <p:nvGraphicFramePr>
          <p:cNvPr id="6" name="Table 5"/>
          <p:cNvGraphicFramePr>
            <a:graphicFrameLocks noGrp="1"/>
          </p:cNvGraphicFramePr>
          <p:nvPr/>
        </p:nvGraphicFramePr>
        <p:xfrm>
          <a:off x="574575" y="1521760"/>
          <a:ext cx="9542848" cy="3749760"/>
        </p:xfrm>
        <a:graphic>
          <a:graphicData uri="http://schemas.openxmlformats.org/drawingml/2006/table">
            <a:tbl>
              <a:tblPr firstRow="1" bandRow="1">
                <a:tableStyleId>{5C22544A-7EE6-4342-B048-85BDC9FD1C3A}</a:tableStyleId>
              </a:tblPr>
              <a:tblGrid>
                <a:gridCol w="1283072"/>
                <a:gridCol w="2566144"/>
                <a:gridCol w="2886912"/>
                <a:gridCol w="2806720"/>
              </a:tblGrid>
              <a:tr h="624960">
                <a:tc>
                  <a:txBody>
                    <a:bodyPr wrap="square"/>
                    <a:lstStyle/>
                    <a:p>
                      <a:pPr algn="ctr"/>
                      <a:r>
                        <a:rPr sz="1400" b="1" i="0" a:lang="ko-KR">
                          <a:solidFill>
                            <a:srgbClr val="FFFFFF"/>
                          </a:solidFill>
                          <a:latin typeface="맑은 고딕"/>
                          <a:ea typeface="맑은 고딕"/>
                        </a:rPr>
                        <a:t>단계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조건</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A사 현재 (증빙 확정)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R1~R5 이행 후</a:t>
                      </a:r>
                    </a:p>
                  </a:txBody>
                  <a:tcPr marL="64008" marR="64008" marT="27432" marB="27432" anchor="ctr">
                    <a:solidFill>
                      <a:srgbClr val="1F3864"/>
                    </a:solidFill>
                  </a:tcPr>
                </a:tc>
              </a:tr>
              <a:tr h="624960">
                <a:tc>
                  <a:txBody>
                    <a:bodyPr wrap="square"/>
                    <a:lstStyle/>
                    <a:p>
                      <a:pPr algn="l"/>
                      <a:r>
                        <a:rPr sz="1400" b="0" i="0" a:lang="ko-KR">
                          <a:solidFill>
                            <a:srgbClr val="111111"/>
                          </a:solidFill>
                          <a:latin typeface="맑은 고딕"/>
                          <a:ea typeface="맑은 고딕"/>
                        </a:rPr>
                        <a:t>ML1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 3 · 2 · 3 —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ML2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51문항 과반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36/51 = 70.6% — 통과</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통과 (회복 문항 반영 시 상승)</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ML3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3</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 2 —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 3 (R3) — 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ML4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전 핵심 문항 ≥ 4 + C 영역 전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(도달 전)</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P-14·D-1·C-1 = 3 — 미충족</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판정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 · 종합 2.85</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ML3 (체계화) · 종합 3.15</a:t>
                      </a:r>
                    </a:p>
                  </a:txBody>
                  <a:tcPr marL="64008" marR="64008" marT="27432" marB="27432" anchor="ctr">
                    <a:solidFill>
                      <a:srgbClr val="FFFFFF"/>
                    </a:solidFill>
                  </a:tcPr>
                </a:tc>
              </a:tr>
            </a:tbl>
          </a:graphicData>
        </a:graphic>
      </p:graphicFrame>
      <p:sp>
        <p:nvSpPr>
          <p:cNvPr id="7" name="TextBox 6"/>
          <p:cNvSpPr txBox="1"/>
          <p:nvPr/>
        </p:nvSpPr>
        <p:spPr>
          <a:xfrm>
            <a:off x="497190" y="5503360"/>
            <a:ext cx="9695214" cy="10080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[표 4-17]. 판정의 양상은 KS X ISO 8000-62 부속서 C 그림 C.1(우수 프로세스 복수 + 1개 미달 = 성숙도 수준 2)과 같다. 개선 후는 ML4 조건에서 다시 멈춘다 — R6을 별도의 장기 경로로 두는 근거.</a:t>
            </a:r>
          </a:p>
        </p:txBody>
      </p:sp>
      <p:sp>
        <p:nvSpPr>
          <p:cNvPr id="8" name="Guide 4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지금은 ML3 진입에서 D-1에 걸려 ML2, R1~R5를 마치면 ML3 — 다음 걸림은 ML4 조건</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연계 상태 — 강점과 구조적 미비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48</a:t>
            </a:r>
          </a:p>
        </p:txBody>
      </p:sp>
      <p:pic>
        <p:nvPicPr>
          <p:cNvPr id="6" name="Picture 5" descr="f4-3.png"/>
          <p:cNvPicPr>
            <a:picLocks noChangeAspect="1"/>
          </p:cNvPicPr>
          <p:nvPr/>
        </p:nvPicPr>
        <p:blipFill>
          <a:blip r:embed="rId2"/>
          <a:stretch>
            <a:fillRect/>
          </a:stretch>
        </p:blipFill>
        <p:spPr>
          <a:xfrm>
            <a:off x="1692498" y="1572732"/>
            <a:ext cx="7307003" cy="5225267"/>
          </a:xfrm>
          <a:prstGeom prst="rect">
            <a:avLst/>
          </a:prstGeom>
        </p:spPr>
      </p:pic>
      <p:sp>
        <p:nvSpPr>
          <p:cNvPr id="7" name="Guide 4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LCA가 문서 체계에 들어와 있는 것이 강점, 설계 절차·정밀검토·재수행 주기가 미비 3건</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 — 경계 제외 정당화의 공식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49</a:t>
            </a:r>
          </a:p>
        </p:txBody>
      </p:sp>
      <p:pic>
        <p:nvPicPr>
          <p:cNvPr id="6" name="Picture 5" descr="g4-5.png"/>
          <p:cNvPicPr>
            <a:picLocks noChangeAspect="1"/>
          </p:cNvPicPr>
          <p:nvPr/>
        </p:nvPicPr>
        <p:blipFill>
          <a:blip r:embed="rId2"/>
          <a:stretch>
            <a:fillRect/>
          </a:stretch>
        </p:blipFill>
        <p:spPr>
          <a:xfrm>
            <a:off x="1385135" y="1572732"/>
            <a:ext cx="7921730" cy="5225267"/>
          </a:xfrm>
          <a:prstGeom prst="rect">
            <a:avLst/>
          </a:prstGeom>
        </p:spPr>
      </p:pic>
      <p:sp>
        <p:nvSpPr>
          <p:cNvPr id="7" name="Guide 4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사용·폐기 단계를 뺀 이유를 문서로 남기는 과제 — 단기, +4점</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R2 — 비교주장 미수행 정책의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50</a:t>
            </a:r>
          </a:p>
        </p:txBody>
      </p:sp>
      <p:pic>
        <p:nvPicPr>
          <p:cNvPr id="6" name="Picture 5" descr="g4-6.png"/>
          <p:cNvPicPr>
            <a:picLocks noChangeAspect="1"/>
          </p:cNvPicPr>
          <p:nvPr/>
        </p:nvPicPr>
        <p:blipFill>
          <a:blip r:embed="rId2"/>
          <a:stretch>
            <a:fillRect/>
          </a:stretch>
        </p:blipFill>
        <p:spPr>
          <a:xfrm>
            <a:off x="1259480" y="1572732"/>
            <a:ext cx="8173040" cy="5225267"/>
          </a:xfrm>
          <a:prstGeom prst="rect">
            <a:avLst/>
          </a:prstGeom>
        </p:spPr>
      </p:pic>
      <p:sp>
        <p:nvSpPr>
          <p:cNvPr id="7" name="Guide 50"/>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비교주장을 하지 않는다는 정책을 문서로 정하는 과제 — 단기, C-7·A-9 각 1→3점</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개선 과제 R3 — 설계·개발 절차의 환경 고려 단계 신설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51</a:t>
            </a:r>
          </a:p>
        </p:txBody>
      </p:sp>
      <p:pic>
        <p:nvPicPr>
          <p:cNvPr id="6" name="Picture 5" descr="g4-7.png"/>
          <p:cNvPicPr>
            <a:picLocks noChangeAspect="1"/>
          </p:cNvPicPr>
          <p:nvPr/>
        </p:nvPicPr>
        <p:blipFill>
          <a:blip r:embed="rId2"/>
          <a:stretch>
            <a:fillRect/>
          </a:stretch>
        </p:blipFill>
        <p:spPr>
          <a:xfrm>
            <a:off x="1259480" y="1572732"/>
            <a:ext cx="8173040" cy="5225267"/>
          </a:xfrm>
          <a:prstGeom prst="rect">
            <a:avLst/>
          </a:prstGeom>
        </p:spPr>
      </p:pic>
      <p:sp>
        <p:nvSpPr>
          <p:cNvPr id="7" name="Guide 51"/>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설계·개발 절차에 환경 고려 단계를 넣는 과제 — 중기, D-1을 3점으로 올려 ML2→ML3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R4 — 내부 정밀검토 체계 도입</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52</a:t>
            </a:r>
          </a:p>
        </p:txBody>
      </p:sp>
      <p:pic>
        <p:nvPicPr>
          <p:cNvPr id="6" name="Picture 5" descr="g4-8.png"/>
          <p:cNvPicPr>
            <a:picLocks noChangeAspect="1"/>
          </p:cNvPicPr>
          <p:nvPr/>
        </p:nvPicPr>
        <p:blipFill>
          <a:blip r:embed="rId2"/>
          <a:stretch>
            <a:fillRect/>
          </a:stretch>
        </p:blipFill>
        <p:spPr>
          <a:xfrm>
            <a:off x="1125591" y="1572732"/>
            <a:ext cx="8440817" cy="5225267"/>
          </a:xfrm>
          <a:prstGeom prst="rect">
            <a:avLst/>
          </a:prstGeom>
        </p:spPr>
      </p:pic>
      <p:sp>
        <p:nvSpPr>
          <p:cNvPr id="7" name="Guide 52"/>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내부 정밀검토 체계를 만드는 과제 — 중기, 점검 영역 +3점</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R5 — LCA 연 1회 재수행의 이행 전환</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53</a:t>
            </a:r>
          </a:p>
        </p:txBody>
      </p:sp>
      <p:pic>
        <p:nvPicPr>
          <p:cNvPr id="6" name="Picture 5" descr="g4-9.png"/>
          <p:cNvPicPr>
            <a:picLocks noChangeAspect="1"/>
          </p:cNvPicPr>
          <p:nvPr/>
        </p:nvPicPr>
        <p:blipFill>
          <a:blip r:embed="rId2"/>
          <a:stretch>
            <a:fillRect/>
          </a:stretch>
        </p:blipFill>
        <p:spPr>
          <a:xfrm>
            <a:off x="1385135" y="1572732"/>
            <a:ext cx="7921730" cy="5225267"/>
          </a:xfrm>
          <a:prstGeom prst="rect">
            <a:avLst/>
          </a:prstGeom>
        </p:spPr>
      </p:pic>
      <p:sp>
        <p:nvSpPr>
          <p:cNvPr id="7" name="Guide 5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A사 규정대로 LCA를 연 1회 다시 하여 전·후를 비교하는 과제 — 중기~장기, +4점</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장점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54</a:t>
            </a:r>
          </a:p>
        </p:txBody>
      </p:sp>
      <p:graphicFrame>
        <p:nvGraphicFramePr>
          <p:cNvPr id="6" name="Table 5"/>
          <p:cNvGraphicFramePr>
            <a:graphicFrameLocks noGrp="1"/>
          </p:cNvGraphicFramePr>
          <p:nvPr/>
        </p:nvGraphicFramePr>
        <p:xfrm>
          <a:off x="494383" y="1471360"/>
          <a:ext cx="9703232" cy="4072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67536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문항의 추적성</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55문항이 두 표준의 전 조항 대조에서 도출되었고 판정 흐름과 조항별 판정 전문이 공개되어 있어, 문항의 출처를 조항까지 추적할 수 있다. 환경·LCA 분야의 선행 성숙도 모델에서는 문항을 표준 조항 단위로 도출·추적한 예를 찾아보기 어렵다.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3.2.2, 3.5.1, 부록 A·B.1, 2.5.2</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기준의 명문화</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문항별 체크포인트와 점수별 상태 기술(BARS)을 미리 정해 두어, 같은 증거에 대하여 같은 점수가 나오도록 하였다.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3.3.2, 부록 C</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종합점수에 묻히는 미비의 식별</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4종의 비보상 판정으로, 종합점수로는 보이지 않는 연계의 미성립을 판정에 반영한다. A사는 종합 2.85점이었으나 핵심 문항 D-1의 미달로 ML2로 판정되었다.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3.4.1, 4.3.5</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평가와 개선의 연결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개선 과제의 목표 상태가 재평가 기준과 같은 문구여서, 평가 결과가 개선 과제와 다음 평가로 이어진다.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3.3.5, 4.6.3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표준 구조의 준용</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판정 구조는 KS X ISO 8000-62를, 모델 형식과 평가 방법은 ISO/IEC 33000 계열 표준을 따랐고, ISO/IEC 33004 요구사항 24건의 자체점검으로 구조 요건을 확인하였다.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3.5.2, 부록 E</a:t>
                      </a:r>
                    </a:p>
                  </a:txBody>
                  <a:tcPr marL="64008" marR="64008" marT="27432" marB="27432" anchor="ctr">
                    <a:solidFill>
                      <a:srgbClr val="FFFFFF"/>
                    </a:solidFill>
                  </a:tcPr>
                </a:tc>
              </a:tr>
              <a:tr h="62484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수준이 뜻하는 바의 구분</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ML3까지는 LCA 결과가 환경측면·환경목표·설계·성과 모니터링에 반영되는 체계의 확립을, ML4부터는 재수행에 의한 정량 검증을 요구하므로, 수준의 상승이 무엇을 뜻하는지가 수준별 기준에 정해져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[표 3-7], [표 3-8]</a:t>
                      </a:r>
                    </a:p>
                  </a:txBody>
                  <a:tcPr marL="64008" marR="64008" marT="27432" marB="27432" anchor="ctr">
                    <a:solidFill>
                      <a:srgbClr val="E8EEF7"/>
                    </a:solidFill>
                  </a:tcPr>
                </a:tc>
              </a:tr>
            </a:tbl>
          </a:graphicData>
        </a:graphic>
      </p:graphicFrame>
      <p:sp>
        <p:nvSpPr>
          <p:cNvPr id="7" name="Guide 54"/>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[표 5-1] 장점 여섯 항목의 전문과 근거 위치</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단점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55</a:t>
            </a:r>
          </a:p>
        </p:txBody>
      </p:sp>
      <p:graphicFrame>
        <p:nvGraphicFramePr>
          <p:cNvPr id="6" name="Table 5"/>
          <p:cNvGraphicFramePr>
            <a:graphicFrameLocks noGrp="1"/>
          </p:cNvGraphicFramePr>
          <p:nvPr/>
        </p:nvGraphicFramePr>
        <p:xfrm>
          <a:off x="494383" y="1471360"/>
          <a:ext cx="9703232" cy="4435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4종에 대한 의존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하나의 미달로 성숙도 수준이 정해지며, 4종의 지정은 아직 전문가 합의를 거치지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3.5.2 (4)</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파라미터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ML2의 과반 기준(50%)과 ML4·ML5의 임계는 연구자 확정값이며, 상위 두 수준은 사례로 검증되지 않았다.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3.4.4, 5.3 셋째</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평가의 부담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55문항을 문서와 기록으로 확인하여야 하고(A사는 증빙 문서 16종, 개별 33건), 평가자에게 환경경영시스템(ISO 14001) 심사 역량과 LCA 지식이 함께 요구되어 전환교육을 전제한다.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3.3.4, 4.2.1</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적용 대상의 제약</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문항의 다수가 LCA 산출물의 존재를 전제하므로, LCA를 수행하지 않는 조직에 대해서는 변별할 수 있는 범위가 좁다.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3.2.3, 3.4.3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 간 종속</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하나의 미비가 여러 문항의 점수에 영향을 주므로 종합점수는 미비가 미치는 범위에 민감하다.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4.5.1, 5.3 둘째</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 심사 방식</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문서와 기록의 실재를 기준으로 판정하고 면담과 실행 상태의 현장 관찰을 포함하지 않으므로, 문서화되었으나 실행이 형식적인 경우를 식별하는 데에는 한계가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4.1, 4.2.3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환경성과와의 관계 미검증</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성숙도 수준과 실제 환경성과(환경영향의 저감, 비용)의 관계는 본 연구에서 검증되지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5.3 다섯째</a:t>
                      </a:r>
                    </a:p>
                  </a:txBody>
                  <a:tcPr marL="64008" marR="64008" marT="27432" marB="27432" anchor="ctr">
                    <a:solidFill>
                      <a:srgbClr val="FFFFFF"/>
                    </a:solidFill>
                  </a:tcPr>
                </a:tc>
              </a:tr>
            </a:tbl>
          </a:graphicData>
        </a:graphic>
      </p:graphicFrame>
      <p:sp>
        <p:nvSpPr>
          <p:cNvPr id="7" name="Guide 55"/>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[표 5-1] 단점 일곱 항목의 전문과 근거 위치 — 보완 가능한 것과 설계에서 비롯된 제약을 구분</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ISO/IEC 33004 표준 적합성 자체점검 — 요약</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56</a:t>
            </a:r>
          </a:p>
        </p:txBody>
      </p:sp>
      <p:sp>
        <p:nvSpPr>
          <p:cNvPr id="6" name="TextBox 5"/>
          <p:cNvSpPr txBox="1"/>
          <p:nvPr/>
        </p:nvSpPr>
        <p:spPr>
          <a:xfrm>
            <a:off x="497190" y="1546466"/>
            <a:ext cx="9695214" cy="5644800"/>
          </a:xfrm>
          <a:prstGeom prst="rect">
            <a:avLst/>
          </a:prstGeom>
          <a:noFill/>
        </p:spPr>
        <p:txBody>
          <a:bodyPr wrap="square" anchor="t" lIns="0" rIns="0" tIns="0" bIns="0">
            <a:spAutoFit/>
          </a:bodyPr>
          <a:lstStyle/>
          <a:p>
            <a:pPr>
              <a:spcAft>
                <a:spcPts val="518"/>
              </a:spcAft>
            </a:pPr>
            <a:r>
              <a:rPr sz="1600" b="1" i="0" a:lang="ko-KR">
                <a:solidFill>
                  <a:srgbClr val="1F3864"/>
                </a:solidFill>
                <a:latin typeface="맑은 고딕"/>
                <a:ea typeface="맑은 고딕"/>
              </a:rPr>
              <a:t>24개 요구사항 — 충족 22 · 해당 없음 1 · 보완 1</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5절 참조 모델 요건 — 프로세스 기술 형식(목적·성과), 프로세스 집합의 범위 선언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6절 평가 모델 요건 — 참조 모델과 측정 프레임워크(33020)의 결합, 지표–프로세스 매핑, 프로세스 프로파일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7절 성숙도 모델 요건 — 수준 정의·누적 조건·수준별 프로세스 집합(7.3.5는 본 모델의 핵심 문항 4종/그 밖의 51문항으로 준용) → 충족</a:t>
            </a:r>
          </a:p>
          <a:p>
            <a:pPr>
              <a:spcAft>
                <a:spcPts val="518"/>
              </a:spcAft>
            </a:pPr>
            <a:r>
              <a:rPr sz="1300" b="0" i="0" a:lang="ko-KR">
                <a:solidFill>
                  <a:srgbClr val="595959"/>
                </a:solidFill>
                <a:latin typeface="맑은 고딕"/>
                <a:ea typeface="맑은 고딕"/>
              </a:rPr>
              <a:t>   해당 없음 1건 — 6.3.6 명목척도 조건부 요건(본 모델은 서열척도 BARS)</a:t>
            </a:r>
          </a:p>
          <a:p>
            <a:pPr>
              <a:spcAft>
                <a:spcPts val="518"/>
              </a:spcAft>
            </a:pPr>
            <a:r>
              <a:rPr sz="1600" b="1" i="0" a:lang="ko-KR">
                <a:solidFill>
                  <a:srgbClr val="C00000"/>
                </a:solidFill>
                <a:latin typeface="맑은 고딕"/>
                <a:ea typeface="맑은 고딕"/>
              </a:rPr>
              <a:t>· </a:t>
            </a:r>
            <a:r>
              <a:rPr sz="1600" b="1" i="0" a:lang="ko-KR">
                <a:solidFill>
                  <a:srgbClr val="C00000"/>
                </a:solidFill>
                <a:latin typeface="맑은 고딕"/>
                <a:ea typeface="맑은 고딕"/>
              </a:rPr>
              <a:t>보완 1건 — 55문항과 핵심 문항 지정에 대한 전문가 합의(CVI): 조사지 설계까지, 실시는 향후 연구 과제 → 충족으로 바꾸어 적지 않고 미충족 상태를 그대로 둠</a:t>
            </a:r>
          </a:p>
          <a:p>
            <a:pPr>
              <a:spcAft>
                <a:spcPts val="518"/>
              </a:spcAft>
            </a:pPr>
            <a:r>
              <a:rPr sz="1300" b="0" i="0" a:lang="ko-KR">
                <a:solidFill>
                  <a:srgbClr val="595959"/>
                </a:solidFill>
                <a:latin typeface="맑은 고딕"/>
                <a:ea typeface="맑은 고딕"/>
              </a:rPr>
              <a:t>   점검표 전문은 부록 E</a:t>
            </a:r>
          </a:p>
        </p:txBody>
      </p:sp>
      <p:sp>
        <p:nvSpPr>
          <p:cNvPr id="7" name="Guide 5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요구사항 24건 가운데 충족 22, 해당 없음 1, 보완 1 — 보완 1건은 전문가 합의(CVI)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제1장 한 장 요약 — 왜, 무엇을, 어떻게</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57</a:t>
            </a:r>
          </a:p>
        </p:txBody>
      </p:sp>
      <p:pic>
        <p:nvPicPr>
          <p:cNvPr id="6" name="Picture 5" descr="ch1.png"/>
          <p:cNvPicPr>
            <a:picLocks noChangeAspect="1"/>
          </p:cNvPicPr>
          <p:nvPr/>
        </p:nvPicPr>
        <p:blipFill>
          <a:blip r:embed="rId2"/>
          <a:stretch>
            <a:fillRect/>
          </a:stretch>
        </p:blipFill>
        <p:spPr>
          <a:xfrm>
            <a:off x="2877368" y="1572732"/>
            <a:ext cx="4937262" cy="5225267"/>
          </a:xfrm>
          <a:prstGeom prst="rect">
            <a:avLst/>
          </a:prstGeom>
        </p:spPr>
      </p:pic>
      <p:sp>
        <p:nvSpPr>
          <p:cNvPr id="7" name="Guide 5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왜(규제·따로 운영), 무엇을(연계 측정 척도), 어떻게(매핑 → 모델 → 적용)</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제2장 한 장 요약 — 두 표준의 연계와 성숙도 판정의 근거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58</a:t>
            </a:r>
          </a:p>
        </p:txBody>
      </p:sp>
      <p:pic>
        <p:nvPicPr>
          <p:cNvPr id="6" name="Picture 5" descr="ch2.png"/>
          <p:cNvPicPr>
            <a:picLocks noChangeAspect="1"/>
          </p:cNvPicPr>
          <p:nvPr/>
        </p:nvPicPr>
        <p:blipFill>
          <a:blip r:embed="rId2"/>
          <a:stretch>
            <a:fillRect/>
          </a:stretch>
        </p:blipFill>
        <p:spPr>
          <a:xfrm>
            <a:off x="3314578" y="1572732"/>
            <a:ext cx="4062843" cy="5225267"/>
          </a:xfrm>
          <a:prstGeom prst="rect">
            <a:avLst/>
          </a:prstGeom>
        </p:spPr>
      </p:pic>
      <p:sp>
        <p:nvSpPr>
          <p:cNvPr id="7" name="Guide 5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대상 두 표준에서 서로 비어 있는 곳과, 판정 체계를 가져온 표준들, 선행연구의 빈자리</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[그림 5-1] 연구 결과 요약 — 수행의 경과와 네 가지 연구 문제의 답</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B-0c①</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59</a:t>
            </a:r>
          </a:p>
        </p:txBody>
      </p:sp>
      <p:pic>
        <p:nvPicPr>
          <p:cNvPr id="6" name="Picture 5" descr="g5-1.png"/>
          <p:cNvPicPr>
            <a:picLocks noChangeAspect="1"/>
          </p:cNvPicPr>
          <p:nvPr/>
        </p:nvPicPr>
        <p:blipFill>
          <a:blip r:embed="rId2"/>
          <a:stretch>
            <a:fillRect/>
          </a:stretch>
        </p:blipFill>
        <p:spPr>
          <a:xfrm>
            <a:off x="480000" y="1613360"/>
            <a:ext cx="9732000" cy="4588427"/>
          </a:xfrm>
          <a:prstGeom prst="rect">
            <a:avLst/>
          </a:prstGeom>
        </p:spPr>
      </p:pic>
      <p:sp>
        <p:nvSpPr>
          <p:cNvPr id="7" name="Guide 5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가지 연구 문제의 답 — 매핑 → 구성 → 판정 → 의미</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[그림 5-2] 학문적·실무적 기여와 기대되는 효과</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B-0c②</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60</a:t>
            </a:r>
          </a:p>
        </p:txBody>
      </p:sp>
      <p:pic>
        <p:nvPicPr>
          <p:cNvPr id="6" name="Picture 5" descr="g5-2.png"/>
          <p:cNvPicPr>
            <a:picLocks noChangeAspect="1"/>
          </p:cNvPicPr>
          <p:nvPr/>
        </p:nvPicPr>
        <p:blipFill>
          <a:blip r:embed="rId2"/>
          <a:stretch>
            <a:fillRect/>
          </a:stretch>
        </p:blipFill>
        <p:spPr>
          <a:xfrm>
            <a:off x="1114153" y="1898615"/>
            <a:ext cx="8463693" cy="4899384"/>
          </a:xfrm>
          <a:prstGeom prst="rect">
            <a:avLst/>
          </a:prstGeom>
        </p:spPr>
      </p:pic>
      <p:sp>
        <p:nvSpPr>
          <p:cNvPr id="7" name="Guide 60"/>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기여는 연계를 측정할 수 있게 한 것과 평가가 곧 개선으로 이어지는 것 — 기대 효과는 구조에서 예상되는 것</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[그림 5-3] 한계와 향후 연구 과제 — 성격별 여덟 항목</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B-0c③</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61</a:t>
            </a:r>
          </a:p>
        </p:txBody>
      </p:sp>
      <p:pic>
        <p:nvPicPr>
          <p:cNvPr id="6" name="Picture 5" descr="g5-3.png"/>
          <p:cNvPicPr>
            <a:picLocks noChangeAspect="1"/>
          </p:cNvPicPr>
          <p:nvPr/>
        </p:nvPicPr>
        <p:blipFill>
          <a:blip r:embed="rId2"/>
          <a:stretch>
            <a:fillRect/>
          </a:stretch>
        </p:blipFill>
        <p:spPr>
          <a:xfrm>
            <a:off x="480000" y="1613360"/>
            <a:ext cx="9732000" cy="5126577"/>
          </a:xfrm>
          <a:prstGeom prst="rect">
            <a:avLst/>
          </a:prstGeom>
        </p:spPr>
      </p:pic>
      <p:sp>
        <p:nvSpPr>
          <p:cNvPr id="7" name="Guide 61"/>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한계 여덟 항목을 성격별로 — 단일 사례·CVI 미실시·상위 두 수준 미검증이 그대로 향후 연구 과제</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평균 2.85면 ML3 구간인데 왜 ML2인가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판정은 평균으로 올라가는 보상 방식이 아니라 최소충족 원리를 따른다. 종합점수는 판정에 쓰지 않는 보조값이다.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한 곳이 비어 있으면 나머지가 아무리 높아도 그 수준에 이르지 않은 것으로 본다 — KS X ISO 8000-62 4.5.1과 선행 모델이 공통으로 쓰는 규칙(부속서 C 그림 C.1)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평균으로 가리면 연계의 부재가 보이지 않는다는 것이 이 설계의 이유 — 연계 자체의 부재와 연계 내 성숙도 차이의 구분</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연계 성립의 필요조건인 네 문항에만 적용하고 나머지 51문항은 점수로 반영 — 적용 범위를 표준보다 좁힘</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과반 기준 50→70%, 핵심 문항 임계 3→4·5점으로 바꾸어도 A사 판정은 변하지 않음(민감도)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3.4.1, 3.4.3, 4.3.5, 4.5.2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점수 척도는 어디서 왔나 — 33020의 틀과 BARS의 앵커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틀(속성 → 등급 → 수준)은 ISO/IEC 33020을 따르고, 등급을 매기는 자리에 점수별 상태 기술을 붙인 5점 척도를 놓았다 — BARS에서 가져온 것은 앵커 기법이다.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BARS인가 — 점수마다 어떤 상태면 몇 점인지를 미리 문장(앵커)으로 적어 두면 평가자가 달라도 같은 증거에 같은 점수가 나온다. 널리 쓰이는 기법이고, 새로운 것은 앵커 안의 내용(두 표준 조항에서 뽑은 체크포인트)이다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N·P·L·F가 아니라 5점인가 — 33020의 4등급은 달성 비율의 판단을 평가자에게 남긴다. 본 모델은 필수·추가 체크포인트의 충족 개수로 점수를 정해 ISO/IEC 33003 4.5.1(척도 유형의 정의·객관적 배정 방법)을 이행하였다. 3점 = 필수 전부 = shall 충족 기준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BARS 절차대로 전문가 검증은 했나 — 문항과 앵커는 두 표준의 조항에서 뽑아 전 조항 대조로 확인하였고, 전문가 합의는 내용타당도 조사(CVI)로 설계까지 해 두었으며 실시는 향후 연구 과제로 논문에 적었다</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2.4 [그림 2-6], 3.3.2, 3.5, 부록 C</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측정 프레임워크의 틀과 본 모델의 구체화 — [그림 2-6]</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 그림</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64</a:t>
            </a:r>
          </a:p>
        </p:txBody>
      </p:sp>
      <p:pic>
        <p:nvPicPr>
          <p:cNvPr id="6" name="Picture 5" descr="f2-6.png"/>
          <p:cNvPicPr>
            <a:picLocks noChangeAspect="1"/>
          </p:cNvPicPr>
          <p:nvPr/>
        </p:nvPicPr>
        <p:blipFill>
          <a:blip r:embed="rId2"/>
          <a:stretch>
            <a:fillRect/>
          </a:stretch>
        </p:blipFill>
        <p:spPr>
          <a:xfrm>
            <a:off x="480000" y="1150000"/>
            <a:ext cx="9732000" cy="2595199"/>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연계 프로세스가 왜 16종인가 — 참조 원형은 20종인데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65</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프로세스 수는 참조 원형에 고정되는 값이 아니라 대상 분야의 조항 밀도에 따라 정해진다.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하나의 연계 프로세스를 ISO 14001 상위 구조의 연속 조항 하나에 대응시키는 기준(K1)을 두어 16종 — ISO 14001 조항 대응 14종 + ISO 14044 단독 준거 2종(LC.2·LA.3)</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영역별 P 8 · D 2 · C 3 · A 3 — 계획 영역에 LCA 결과가 가장 널리 관여하는 매핑 결과를 그대로 반영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원형(KS X ISO 8000-61 20종)과 수가 다른 것은 선행연구(2015·2017 모델)에서도 같은 양상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각 프로세스는 제목·목적·성과·활동의 형식 — 8000-61 5.3, ISO/IEC 33004 5절</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3.2.1, 3.2.2, 3.2.3, [표 3-4]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핵심 문항 4종은 왜 그 네 개인가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66</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연계가 성립하기 위해 반드시 있어야 하는 지점, 그것이 없으면 두 체계가 이어졌다고 말할 수 없는 네 지점을 골랐다.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셋으로 나누어 답한다 — 매핑(30조항 전 조항) → 55문항·16종(측정) → 연계 성립의 지점 4곳(판정)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「매우 높음」 4개 조항 = 조항 본문이 전과정 관점을 명시적으로 요구하여 LCA 없이는 shall 이행이 사실상 불완전 — 6.1.2 · 6.2.1 · 8.1 · 9.1.1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관리 주기의 계획–실행–점검에 하나씩(P 2 · D 1 · C 1) — 한 지점이 끊기면 순환이 그 단계에서 멈춤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필요조건에 해당하는 소수 항목을 선별하는 접근은 연구자 선행연구(2023, 핵심품질 항목)에서 제시 — 지정의 적절성은 CVI 조사 2부에서 묻도록 설계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3.2.2 [표 3-1]·[표 3-2], 3.4.1, 3.4.3, 부록 F.3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판정에 쓰인 기준값은 근거가 있는가 — 임의의 숫자가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67</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기준값은 임의로 정한 것이 아니라 원리에서 끌어냈다.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shall 조항의 충족을 3점에 둠(필수 체크포인트 전부 충족) — 척도의 기준선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ML2 과반 기준 50%, ML4·ML5 임계는 그 원리에 맞추어 정한 연구자 확정값 — 대안과 기각 사유를 3.4.4에 기록</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값을 바꾸었을 때 판정이 어떻게 달라지는지를 함께 보임 — A사는 과반 50→70%, 임계 3→5점에서도 ML2</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상위 두 수준(ML4·ML5)은 사례로 검증되지 않음 — 한계로 명시, 다사례 적용이 향후 연구 과제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3.4.4, 4.5.2, 5.3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보완 1건을 그대로 두어도 되는가 — 33004 자체점검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보완으로 남긴 항목이 무엇이고 왜 남았는지를 자체점검표에 그대로 적었다.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보완 1건 = 55문항과 핵심 문항 지정에 대한 전문가 합의 — 조사지 설계까지 마쳤고 실시는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충족으로 바꾸어 적지 않고 미충족 상태를 드러내는 것이 자체 점검의 취지에 맞다고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대신 문항의 내용타당도는 전 조항 대조에 의한 추적성으로 확보</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해당 없음 1건 = 6.3.6 명목척도 조건부 요건(본 모델은 서열척도 BARS)</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3.5.1, 3.5.2, 부록 E, 부록 F</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 표준(KS X ISO 8000-62)을 왜 가져왔는가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판정의 구조는 평가 대상 분야에 종속되지 않는 일반 틀이며, 그 틀을 정한 것이 ISO/IEC 33000 계열이다.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수준 정의·최소충족 원리·프로세스 속성에 의한 등급은 분야와 무관 — 8000-62는 그 틀을 프로세스 참조 모델과 함께 구현한 사례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연구는 그 구조만 따르고 내용(프로세스·문항)은 두 환경 표준의 조항에서 새로 도출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8000-6x 가운데 61(프로세스 참조 모델)·62(조직 프로세스 성숙도 평가)만 준용 — 63(프로세스 측정)은 ISO/IEC 33020의 등급 척도로 대신했고, 64(TPI 방법의 적용, 2022)는 경로가 달라 쓰지 않음(개선의 계획 요소는 KS I ISO 14004로)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품질경영 성숙도(ISO 9004 부속서 A)는 성숙도 접근의 선례로만 언급 — 단체표준화 검토(5.3)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3.1.1, 2.4, 3.4.1, 5.3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문항 제목의 Hotspot은 ISO 14044 용어인가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ISO 14044의 용어는 「중요한 이슈(significant issues)」(4.5.2)이고 Hotspot은 그 실무 명칭이다.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해석 단계(4.5.2)에서 LCI·LCIA 결과에 근거해 중요한 이슈를 규명하도록 요구 — 그 결과가 실무에서 Hotspot</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논문은 2.2 해석 단계 설명에서 두 말을 이미 연결해 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P-13·P-14 문항 제목의 Hotspot은 환경목표가 근거할 정량 결과를 가리키는 말로 유지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A사 사례 — 원료 단계가 전체의 절반 이상(Hotspot) → 그 비중을 낮추는 정량 목표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2.2, 3.3.1, [표 3-6]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실제로 적용해 보니 그 회사가 쓰겠다고 하던가 — 왜 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연구 목적의 시범 적용이었으므로 평가 결과를 공식 판정으로 전달하지는 않았다.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공식 등급으로 전달하려면 ISO/IEC 33002 클래스 1·2 요건을 갖춘 재평가가 별도로 필요 — 복수 기업 적용과 함께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했는가 — 컨설팅 현장에서 두 체계가 따로 운영되는 것을 계속 보았고, 두 표준의 연계 수준을 측정하는 척도가 없어 학술적으로 다룰 가치가 있다고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이번 연구에서는 모델을 만들고 한 조직에 적용해 판정 논리가 작동하는 것까지 확인</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더 필요한 것은 전문가 타당도 조사와 복수 기업 적용 두 가지 — 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4.1, 4.7, 5.3, 1.1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컨설팅한 회사를 본인이 평가했는데 객관성은 어떻게 확보했는가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환경경영 업무를 지원한 이력을 공평성 고려 사항으로 밝혔고, 판정은 조직이 생성·기입한 기록의 실재를 기준으로 하였다.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판정 관례를 미리 문서로 정함 — 구두 진술만으로는 미충족, 양식만 있고 기입이 없으면 미충족</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잠정 채점을 증빙으로 전수 재검증 — 상향 7 · 하향 9, 종합 2.89 → 2.85로 낮은 쪽 수렴(재검증이 관대화를 억제하는 방향으로 작동)</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체크포인트 단위로 증빙을 명시하여 제3자가 재현 가능 — 부록 I</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독립성은 ISO/IEC 33002 부속서 A 유형 구분상 범주 B 상당 — 평가 클래스 3 상당으로 지위 한정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4.2.2, 4.2.3, [표 4-4], [표 4-5], 부록 G.3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개선 과제는 무슨 표준 근거로 만들었는가 — 개선 모델은 없는데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개선 과제의 계획 요소는 KS I ISO 14004(환경경영시스템 — 실행에 대한 일반 지침)의 6.2.3·10.3을 따랐고, 목표 상태는 재평가 기준과 같은 문구로 썼다.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6.2.3 — 환경목표 달성 조치 계획의 요소(역할·책임·프로세스·자원·시간계획·우선순위·조치) ↔ 과제의 무엇을·어떻게·담당·일정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10.3.1 근본 원인 분석 ↔ 구조적 미비 3건으로의 묶음 / 10.3.2 「동시에 모든 분야에서 개선이 일어날 필요는 없다」 ↔ 과제 → 로드맵 → 재평가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과제 1매의 전개는 KS X ISO 8000-61 8.3(지식·역량 공유)·KS Q ISO 10015 5.3(프로그램 구조)을 참조 — 데이터 품질 분야의 개선 규정은 범위 밖</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목표 상태 = BARS 앵커 문구 → 차기 평가에서 조치 완료 여부를 그대로 판정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3.3.5, 4.6.1, 4.6.3, 1.3.3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ISO 14001이 개정되면 이 모델은 못 쓰게 되는 것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74</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매핑과 평가 기준은 ISO 14001:2015에 기반한다고 적용 범위에 밝혔고, 개정판으로의 갱신은 향후 연구 과제로 두었다.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모델의 구조(3계층·판정 규칙)는 조항이 바뀌어도 유지 — 참조 모델의 조항 대응만 갱신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핵심 연계 지점(환경측면·목표·설계·모니터링)은 경영시스템 공통 구조의 자리이므로 개정에도 남을 가능성이 큼 — 확인은 개정판 원문으로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ISO 14001:2026 조항 체계로의 매핑 갱신·기준 재검증을 5.3 넷째 과제로 명시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1.4.2, 5.3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생성형 AI 활용 범위와 저자 책임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75</a:t>
            </a:r>
          </a:p>
        </p:txBody>
      </p:sp>
      <p:sp>
        <p:nvSpPr>
          <p:cNvPr id="6" name="Guide 75"/>
          <p:cNvSpPr txBox="1"/>
          <p:nvPr/>
        </p:nvSpPr>
        <p:spPr>
          <a:xfrm>
            <a:off x="497190" y="740000"/>
            <a:ext cx="9695214" cy="423367"/>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연구와 결정은 연구자가, 정리·대조·형식은 AI가 보조 — 인용한 조항·수치는 연구자가 원문으로 확인</a:t>
            </a:r>
          </a:p>
        </p:txBody>
      </p:sp>
      <p:sp>
        <p:nvSpPr>
          <p:cNvPr id="7" name="ai box0"/>
          <p:cNvSpPr/>
          <p:nvPr/>
        </p:nvSpPr>
        <p:spPr>
          <a:xfrm>
            <a:off x="493776" y="1280160"/>
            <a:ext cx="3139440" cy="45262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1F3864"/>
                </a:solidFill>
                <a:latin typeface="맑은 고딕"/>
                <a:ea typeface="맑은 고딕"/>
              </a:rPr>
              <a:t>연구자가 한 것</a:t>
            </a:r>
          </a:p>
          <a:p>
            <a:pPr algn="l">
              <a:spcAft>
                <a:spcPts val="800"/>
              </a:spcAft>
            </a:pPr>
            <a:r>
              <a:rPr sz="1400" b="0">
                <a:solidFill>
                  <a:srgbClr val="111111"/>
                </a:solidFill>
                <a:latin typeface="맑은 고딕"/>
                <a:ea typeface="맑은 고딕"/>
              </a:rPr>
              <a:t>· 논문 전체 설계 — 연구 문제, 구성안, 로드맵</a:t>
            </a:r>
          </a:p>
          <a:p>
            <a:pPr algn="l">
              <a:spcAft>
                <a:spcPts val="800"/>
              </a:spcAft>
            </a:pPr>
            <a:r>
              <a:rPr sz="1400" b="0">
                <a:solidFill>
                  <a:srgbClr val="111111"/>
                </a:solidFill>
                <a:latin typeface="맑은 고딕"/>
                <a:ea typeface="맑은 고딕"/>
              </a:rPr>
              <a:t>· 두 표준 전 조항 대조(2025.10 검토표 → 2026.3 전조항 분석) — 일부 AI 보조, 연구자가 검토·확정</a:t>
            </a:r>
          </a:p>
          <a:p>
            <a:pPr algn="l">
              <a:spcAft>
                <a:spcPts val="800"/>
              </a:spcAft>
            </a:pPr>
            <a:r>
              <a:rPr sz="1400" b="0">
                <a:solidFill>
                  <a:srgbClr val="111111"/>
                </a:solidFill>
                <a:latin typeface="맑은 고딕"/>
                <a:ea typeface="맑은 고딕"/>
              </a:rPr>
              <a:t>· 55문항·판정 포인트, 채점 기준의 원칙, 핵심 문항 4종 지정</a:t>
            </a:r>
          </a:p>
          <a:p>
            <a:pPr algn="l">
              <a:spcAft>
                <a:spcPts val="800"/>
              </a:spcAft>
            </a:pPr>
            <a:r>
              <a:rPr sz="1400" b="0">
                <a:solidFill>
                  <a:srgbClr val="111111"/>
                </a:solidFill>
                <a:latin typeface="맑은 고딕"/>
                <a:ea typeface="맑은 고딕"/>
              </a:rPr>
              <a:t>· A사 문서 16종·기록물 33건 수집, 55문항 판정·재검증</a:t>
            </a:r>
          </a:p>
          <a:p>
            <a:pPr algn="l">
              <a:spcAft>
                <a:spcPts val="800"/>
              </a:spcAft>
            </a:pPr>
            <a:r>
              <a:rPr sz="1400" b="0">
                <a:solidFill>
                  <a:srgbClr val="111111"/>
                </a:solidFill>
                <a:latin typeface="맑은 고딕"/>
                <a:ea typeface="맑은 고딕"/>
              </a:rPr>
              <a:t>· 개선 과제 R1~R5 도출, 결론 — 그리고 모든 결정</a:t>
            </a:r>
          </a:p>
        </p:txBody>
      </p:sp>
      <p:sp>
        <p:nvSpPr>
          <p:cNvPr id="8" name="ai box1"/>
          <p:cNvSpPr/>
          <p:nvPr/>
        </p:nvSpPr>
        <p:spPr>
          <a:xfrm>
            <a:off x="3770376" y="1280160"/>
            <a:ext cx="3139440" cy="45262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595959"/>
                </a:solidFill>
                <a:latin typeface="맑은 고딕"/>
                <a:ea typeface="맑은 고딕"/>
              </a:rPr>
              <a:t>AI를 도구로 쓴 것</a:t>
            </a:r>
          </a:p>
          <a:p>
            <a:pPr algn="l">
              <a:spcAft>
                <a:spcPts val="800"/>
              </a:spcAft>
            </a:pPr>
            <a:r>
              <a:rPr sz="1400" b="0">
                <a:solidFill>
                  <a:srgbClr val="111111"/>
                </a:solidFill>
                <a:latin typeface="맑은 고딕"/>
                <a:ea typeface="맑은 고딕"/>
              </a:rPr>
              <a:t>· 연구자가 세운 구성안·로드맵의 검토·수정</a:t>
            </a:r>
          </a:p>
          <a:p>
            <a:pPr algn="l">
              <a:spcAft>
                <a:spcPts val="800"/>
              </a:spcAft>
            </a:pPr>
            <a:r>
              <a:rPr sz="1400" b="0">
                <a:solidFill>
                  <a:srgbClr val="111111"/>
                </a:solidFill>
                <a:latin typeface="맑은 고딕"/>
                <a:ea typeface="맑은 고딕"/>
              </a:rPr>
              <a:t>· 55문항 → 연계 프로세스 16종 편성 초안(기준·명칭·경계는 연구자가 확정, 지도교수 검토)</a:t>
            </a:r>
          </a:p>
          <a:p>
            <a:pPr algn="l">
              <a:spcAft>
                <a:spcPts val="800"/>
              </a:spcAft>
            </a:pPr>
            <a:r>
              <a:rPr sz="1400" b="0">
                <a:solidFill>
                  <a:srgbClr val="111111"/>
                </a:solidFill>
                <a:latin typeface="맑은 고딕"/>
                <a:ea typeface="맑은 고딕"/>
              </a:rPr>
              <a:t>· 표준 원문 확보 뒤 대조 보조 — ISO/IEC 33004 자체점검 초안, 판정 규칙의 표준 정합</a:t>
            </a:r>
          </a:p>
          <a:p>
            <a:pPr algn="l">
              <a:spcAft>
                <a:spcPts val="800"/>
              </a:spcAft>
            </a:pPr>
            <a:r>
              <a:rPr sz="1400" b="0">
                <a:solidFill>
                  <a:srgbClr val="111111"/>
                </a:solidFill>
                <a:latin typeface="맑은 고딕"/>
                <a:ea typeface="맑은 고딕"/>
              </a:rPr>
              <a:t>· 문장 다듬기·용어 통일, 표·그림·상호 참조 정합 점검</a:t>
            </a:r>
          </a:p>
          <a:p>
            <a:pPr algn="l">
              <a:spcAft>
                <a:spcPts val="800"/>
              </a:spcAft>
            </a:pPr>
            <a:r>
              <a:rPr sz="1400" b="0">
                <a:solidFill>
                  <a:srgbClr val="111111"/>
                </a:solidFill>
                <a:latin typeface="맑은 고딕"/>
                <a:ea typeface="맑은 고딕"/>
              </a:rPr>
              <a:t>· 그림 작성, 검토표 작성, 발표자료 편집</a:t>
            </a:r>
          </a:p>
        </p:txBody>
      </p:sp>
      <p:sp>
        <p:nvSpPr>
          <p:cNvPr id="9" name="ai box2"/>
          <p:cNvSpPr/>
          <p:nvPr/>
        </p:nvSpPr>
        <p:spPr>
          <a:xfrm>
            <a:off x="7046976" y="1280160"/>
            <a:ext cx="3139440" cy="4526280"/>
          </a:xfrm>
          <a:prstGeom prst="round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C00000"/>
                </a:solidFill>
                <a:latin typeface="맑은 고딕"/>
                <a:ea typeface="맑은 고딕"/>
              </a:rPr>
              <a:t>원칙과 확인</a:t>
            </a:r>
          </a:p>
          <a:p>
            <a:pPr algn="l">
              <a:spcAft>
                <a:spcPts val="800"/>
              </a:spcAft>
            </a:pPr>
            <a:r>
              <a:rPr sz="1400" b="0">
                <a:solidFill>
                  <a:srgbClr val="111111"/>
                </a:solidFill>
                <a:latin typeface="맑은 고딕"/>
                <a:ea typeface="맑은 고딕"/>
              </a:rPr>
              <a:t>· 인용한 조항·문헌은 모두 원문에서 확인 — 찾는 것은 AI, 확인과 판단은 연구자</a:t>
            </a:r>
          </a:p>
          <a:p>
            <a:pPr algn="l">
              <a:spcAft>
                <a:spcPts val="800"/>
              </a:spcAft>
            </a:pPr>
            <a:r>
              <a:rPr sz="1400" b="0">
                <a:solidFill>
                  <a:srgbClr val="111111"/>
                </a:solidFill>
                <a:latin typeface="맑은 고딕"/>
                <a:ea typeface="맑은 고딕"/>
              </a:rPr>
              <a:t>· 수치·판정은 연구자가 산출·확인</a:t>
            </a:r>
          </a:p>
          <a:p>
            <a:pPr algn="l">
              <a:spcAft>
                <a:spcPts val="800"/>
              </a:spcAft>
            </a:pPr>
            <a:r>
              <a:rPr sz="1400" b="0">
                <a:solidFill>
                  <a:srgbClr val="111111"/>
                </a:solidFill>
                <a:latin typeface="맑은 고딕"/>
                <a:ea typeface="맑은 고딕"/>
              </a:rPr>
              <a:t>· 지도교수 검토를 거침</a:t>
            </a:r>
          </a:p>
          <a:p>
            <a:pPr algn="l">
              <a:spcAft>
                <a:spcPts val="800"/>
              </a:spcAft>
            </a:pPr>
            <a:r>
              <a:rPr sz="1400" b="0">
                <a:solidFill>
                  <a:srgbClr val="111111"/>
                </a:solidFill>
                <a:latin typeface="맑은 고딕"/>
                <a:ea typeface="맑은 고딕"/>
              </a:rPr>
              <a:t>· 대학원 지침(2026.2.2)·학위청구논문 심사 안내·학위수여규정·연구윤리준수확인서(서식 6)에 생성형 AI 조항 없음 확인(2026-09-29)</a:t>
            </a:r>
          </a:p>
          <a:p>
            <a:pPr algn="l">
              <a:spcAft>
                <a:spcPts val="800"/>
              </a:spcAft>
            </a:pPr>
            <a:r>
              <a:rPr sz="1400" b="0">
                <a:solidFill>
                  <a:srgbClr val="111111"/>
                </a:solidFill>
                <a:latin typeface="맑은 고딕"/>
                <a:ea typeface="맑은 고딕"/>
              </a:rPr>
              <a:t>· 논문에 별도 표기는 두지 않고, 물으면 범위를 밝힘</a:t>
            </a:r>
          </a:p>
        </p:txBody>
      </p:sp>
      <p:sp>
        <p:nvSpPr>
          <p:cNvPr id="10" name="ai note"/>
          <p:cNvSpPr txBox="1"/>
          <p:nvPr/>
        </p:nvSpPr>
        <p:spPr>
          <a:xfrm>
            <a:off x="493776" y="5989320"/>
            <a:ext cx="96926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근거  예상 질문 43번 답 · 면담 자료 5.2 나-3 · 생성형 AI 조항 유무는 대학원 지침·심사 안내·학위수여규정·서식 6에서 확인(2026-09-29)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