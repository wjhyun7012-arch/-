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75.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19.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박사과정 현욱진입니다. 환경경영시스템(ISO 14001)과 전과정평가(LCA)의 프로세스 연계 모델 개발 및 성숙도 평가에 대한 논문을 발표하겠습니다.</a:t>
            </a:r>
          </a:p>
          <a:p>
            <a:r>
              <a:rPr sz="1200">
                <a:latin typeface="맑은 고딕"/>
              </a:rPr>
              <a:t>먼저 요지만 말씀드리면, 환경경영시스템(ISO 14001)은 전과정 관점을 고려하라고 요구하면서 그 방법은 정하지 않았고, 그 방법은 별개 표준인 ISO 14044에 있어 실무에서는 두 표준이 별도로 운영됩니다. 두 표준이 연계된 정도를 조항 단위로 확인하고 성숙도 수준으로 판정하는 모델을 만든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논문의 장 순서대로 하겠습니다. 1장 왜 이 연구인가, 2장 무엇을 바탕으로 하였는가, 3장 무엇을 만들었는가, 4장 적용하면 어떻게 되고 무엇을 고치는가, 5장 결론입니다.</a:t>
            </a:r>
          </a:p>
          <a:p>
            <a:r>
              <a:t>3장이 판정의 기준을 만드는 장이고, 4장은 그 기준을 바꾸지 않고 한 기업에 적용한 결과와 개선 과제를 다룹니다. 조항별 판정과 문항 전문은 부록에 두었습니다.</a:t>
            </a:r>
          </a:p>
          <a:p>
            <a:r>
              <a:t>〔15초. 숫자(16종·55문항·2.85·ML2·3.15)는 4번에서. 화면에서 뺀 세부 — Ⅰ(1장) 이 연구를 한 장으로 · 두 표준이 서로 비워 둔 곳 · 「LCA를 했다」의 두 상태 · 연구 목적과 연구 문제 / Ⅱ(2장) ISO 14001과 전과정 관점 · LCA의 4단계 · 따른 표준 · 선행연구와 연구 공백 / Ⅲ(3장) LMA 세 계층 · 조항 매핑 · 연계 지점 · 16종 · 55문항과 채점 기준 · 판정 규칙과 핵심 문항 · 한 장 요약과 검증 · 반복 개발 / Ⅳ(4장) 평가를 한 그림으로 · 객관성의 확보 · 영역별 결과 · 종합 판정 ML2 · 결과 요약 / Ⅴ(4.6) 개선 과제 R1~R5 · 개선 로드맵과 재평가 · 장점과 단점, 한계 / 결론(5장)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결과를 받아 중대한 환경측면을 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연계하고 그 수준을 측정하려면 성숙도 모델의 방법을 적용해야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각각 어느 표준에서 가져왔는지 말씀드리면, 업무를 적는 형식은 ISO/IEC 33004와 KS X ISO 8000-61에서, 점수를 매기는 틀은 ISO/IEC 33020과 33003에서, 점수를 수준으로 바꾸는 원리는 KS X ISO 8000-62와 ISO/IEC 33004에서 가져왔습니다. 평가의 수행은 ISO/IEC 33002를 따랐습니다.</a:t>
            </a:r>
          </a:p>
          <a:p>
            <a:r>
              <a:rPr sz="1200">
                <a:latin typeface="맑은 고딕"/>
                <a:ea typeface="맑은 고딕"/>
              </a:rPr>
              <a:t>판정 구조는 KS X ISO 8000-62를, 모델 형식과 평가 방법은 ISO/IEC 33000 계열을 따랐고, 그 적용 선례는 국내 공공데이터 연구입니다.</a:t>
            </a:r>
          </a:p>
          <a:p>
            <a:r>
              <a:rPr sz="1200">
                <a:latin typeface="맑은 고딕"/>
                <a:ea typeface="맑은 고딕"/>
              </a:rPr>
              <a:t>그러면 이 대상을 다룬 연구는 이미 있었는지, 다음 장에서 보겠습니다.</a:t>
            </a:r>
          </a:p>
          <a:p>
            <a:r>
              <a:rPr sz="1200">
                <a:latin typeface="맑은 고딕"/>
                <a:ea typeface="맑은 고딕"/>
              </a:rPr>
              <a:t>〔조항 번호는 읽지 않는다 —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한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영문으로 Linkage Maturity Assessment, 줄여서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표준을 어떻게 맞대었는지입니다.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rPr sz="1200">
                <a:latin typeface="맑은 고딕"/>
                <a:ea typeface="맑은 고딕"/>
              </a:rPr>
              <a:t>「예」가 앞쪽 물음에서 나올수록 연계 가능성이 높고, 네 등급으로 매겼습니다.</a:t>
            </a:r>
          </a:p>
          <a:p>
            <a:r>
              <a:rPr sz="1200">
                <a:latin typeface="맑은 고딕"/>
                <a:ea typeface="맑은 고딕"/>
              </a:rPr>
              <a:t>매우 높음이 네 개 조항입니다. 환경측면 6.1.2, 환경목표 6.2.1, 운용기획 및 관리 8.1, 모니터링 9.1.1입니다. 이 네 곳이 뒤의 핵심 문항 4종의 자리가 됩니다. 높음이 열둘, 중간이 열, 낮음이 넷입니다.</a:t>
            </a:r>
          </a:p>
          <a:p>
            <a:r>
              <a:rPr sz="1200">
                <a:latin typeface="맑은 고딕"/>
                <a:ea typeface="맑은 고딕"/>
              </a:rPr>
              <a:t>네 지점이 어디에 놓이는지 그림으로 보겠습니다.</a:t>
            </a:r>
          </a:p>
          <a:p>
            <a:r>
              <a:rPr sz="1200">
                <a:latin typeface="맑은 고딕"/>
                <a:ea typeface="맑은 고딕"/>
              </a:rPr>
              <a:t>〔「전조항을 매핑했는데 핵심은 4개뿐인가」 → 매핑(30조항) → 55문항·16종 → 연계 성립 지점 4곳. 등급별 판정 요건 전문은 백업 B-1a, 흐름은 B-1.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점수를 매기는 법은 세 단계입니다. 첫째, 문항마다 확인할 항목을 미리 정해 둡니다. 반드시 있어야 할 필수 항목과, 있으면 더 좋은 추가 항목입니다. 이것을 체크포인트라 합니다. 둘째, 회사 문서를 보고 그 항목이 있는지 셉니다. 말로 설명한 것은 인정하지 않고 문서와 기록만 봅니다. 셋째, 센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정하였습니다.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비워 둔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4부는 이 모델을 한 회사에 적용한 결과입니다. 평가가 어떻게 흘러갔는지 한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점수를 매겼습니다.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핵심 문항 4종 중 P-9는 4점, P-14와 C-1은 3점으로 shall 충족 기준 이상으로 통과하였으나, D-1이 2점으로 미달하였습니다.</a:t>
            </a:r>
          </a:p>
          <a:p>
            <a:r>
              <a:rPr sz="1200">
                <a:latin typeface="맑은 고딕"/>
                <a:ea typeface="맑은 고딕"/>
              </a:rPr>
              <a:t>판정 경로는 아래 조건부터 차례로 묻습니다. ML1 진입 조건, 핵심 문항 4종이 모두 2점 이상이어서 통과입니다. ML2 진입 조건, 나머지 쉰한 문항 가운데 절반 이상이 3점이어서 통과입니다. 서른여섯, 70.6%입니다. ML3 진입 조건, 핵심 문항 4종이 모두 3점 이상이어야 하는데 D-1이 2점이라 미충족입니다. 그래서 판정은 ML2, 관리화입니다.</a:t>
            </a:r>
          </a:p>
          <a:p>
            <a:r>
              <a:rPr sz="1200">
                <a:latin typeface="맑은 고딕"/>
                <a:ea typeface="맑은 고딕"/>
              </a:rPr>
              <a:t>종합점수 2.85는 판정에 쓰지 않는 보조값입니다. 과반 기준을 50%에서 70%로 올려도, 핵심 문항의 기준을 4점이나 5점으로 올려도 이 판정은 변하지 않습니다.</a:t>
            </a:r>
          </a:p>
          <a:p>
            <a:r>
              <a:rPr sz="1200">
                <a:latin typeface="맑은 고딕"/>
                <a:ea typeface="맑은 고딕"/>
              </a:rPr>
              <a:t>판정은 점수의 크기가 아니라 핵심 문항의 충족 여부로 정해집니다. 그러면 낮은 점수는 어디에서 왔는지, 다음 장에서 보겠습니다.</a:t>
            </a:r>
          </a:p>
          <a:p>
            <a:r>
              <a:rPr sz="1200">
                <a:latin typeface="맑은 고딕"/>
                <a:ea typeface="맑은 고딕"/>
              </a:rPr>
              <a:t>〔「너무 가혹하지 않은가」 → 백업 B-Q1. 영역별 그래프는 백업 B-13a.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B-Q1~B-Q13 예상 질문. 전문은 예상 질문 v7(48문).〕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행동기술척도(BARS)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모델은 한 번에 설계되지 않았습니다. 일곱 단계로 다듬었습니다.</a:t>
            </a:r>
          </a:p>
          <a:p>
            <a:r>
              <a:rPr sz="1200">
                <a:latin typeface="맑은 고딕"/>
                <a:ea typeface="맑은 고딕"/>
              </a:rPr>
              <a:t>2025년 9월에 두 표준 연계의 목적과 범위를 정리하였고, 10월에 ISO 14001 전 조항 검토표와 연계표, 성숙도표를 만들었습니다.</a:t>
            </a:r>
          </a:p>
          <a:p>
            <a:r>
              <a:rPr sz="1200">
                <a:latin typeface="맑은 고딕"/>
                <a:ea typeface="맑은 고딕"/>
              </a:rPr>
              <a:t>2026년 3월에 전조항 분석으로 평가 문항 쉰다섯 개와 판정 포인트를 정했고, 6월에 문항별 체크포인트와 행동기술척도, 곧 BARS 앵커 체계, 핵심 문항 4종을 정하고 잠정 채점을 하였습니다. 7월에 체크포인트 단위로 전수 재검증하여 종합 2.85, ML2로 확정하였습니다.</a:t>
            </a:r>
          </a:p>
          <a:p>
            <a:r>
              <a:rPr sz="1200">
                <a:latin typeface="맑은 고딕"/>
                <a:ea typeface="맑은 고딕"/>
              </a:rPr>
              <a:t>8월에 ISO/IEC 33000 계열과 KS X ISO 8000-61, 8000-62에 대조하여 판정 규칙과 연계 프로세스 16종 편성을 보완하였고, 9월에 지도교수 검토와 용어·구조 정리, 33004 자체점검 24건을 마쳤습니다.</a:t>
            </a:r>
          </a:p>
          <a:p>
            <a:r>
              <a:rPr sz="1200">
                <a:latin typeface="맑은 고딕"/>
                <a:ea typeface="맑은 고딕"/>
              </a:rPr>
              <a:t>표준 대조가 모델을 실제로 보완하였습니다. 최소충족 판정은 KS X ISO 8000-62 4.5.1에서, 수준별 프로세스 집합의 도출 규칙은 ISO/IEC 33004 7.3.6에서, 프로세스 기술 형식은 KS X ISO 8000-61 5.3에서 가져왔습니다.</a:t>
            </a:r>
          </a:p>
          <a:p>
            <a:r>
              <a:rPr sz="1200">
                <a:latin typeface="맑은 고딕"/>
                <a:ea typeface="맑은 고딕"/>
              </a:rPr>
              <a:t>이제 이 도구로 한 기업을 평가한 결과입니다.</a:t>
            </a:r>
          </a:p>
          <a:p>
            <a:r>
              <a:rPr sz="1200">
                <a:latin typeface="맑은 고딕"/>
                <a:ea typeface="맑은 고딕"/>
              </a:rPr>
              <a:t>〔「처음 설계와 무엇이 달라졌나」 → 2025년 10월 성숙도표의 수준 이름이 현행 문항 점수 이름(1~5점)의 유래, 성숙도 수준 이름과는 별개(예상 질문 17번). 55문항을 16종으로 묶은 기준·명칭·경계는 연구자가 확정하고 지도교수 검토(3.2.1 K1~K4). 1분〕</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 55문항과 채점 기준, A사 판정과 개선 과제, 그리고 모든 결정은 제가 했습니다. 두 표준의 전 조항 대조는 일부 AI의 보조를 받아 제가 검토하고 확정했습니다. AI는 제가 세운 구성안과 로드맵의 검토·수정, 55문항을 연계 프로세스 16종으로 편성하는 초안, 표준 원문을 확보한 뒤의 대조 보조, 문장 다듬기와 상호 참조 점검, 그림과 검토표 작성에 썼습니다. 조항을 찾는 데는 AI를 썼고, 논문에 넣은 조항과 인용은 제가 모두 원문에서 확인했습니다.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결론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맞대어 업무 목록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707992"/>
            <a:ext cx="9697620" cy="54864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요건에 대응. 조항별 판정 전문은 백업 B-1(흐름)·B-1a(등급표)·부록 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점수를 매기는 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있는지 센다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센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결론</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그림·표(B-1a 등급표 · B-10a 채점 기준 표 · B-11a 진입 조건 표 · B-13a 영역별 그래프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표준이 비워 둔 곳과, 판정 체계를 가져온 표준들, 선행연구의 빈자리</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인용한 조항·수치는 연구자가 원문으로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 — 일부 AI 보조, 연구자가 검토·확정</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인용한 조항·문헌은 모두 원문에서 확인 — 찾는 것은 AI, 확인과 판단은 연구자</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